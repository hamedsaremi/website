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g" ContentType="image/jpeg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6" r:id="rId2"/>
    <p:sldId id="271" r:id="rId3"/>
    <p:sldId id="292" r:id="rId4"/>
    <p:sldId id="273" r:id="rId5"/>
    <p:sldId id="274" r:id="rId6"/>
    <p:sldId id="293" r:id="rId7"/>
    <p:sldId id="294" r:id="rId8"/>
    <p:sldId id="295" r:id="rId9"/>
    <p:sldId id="296" r:id="rId10"/>
    <p:sldId id="297" r:id="rId11"/>
    <p:sldId id="279" r:id="rId12"/>
    <p:sldId id="298" r:id="rId13"/>
    <p:sldId id="280" r:id="rId14"/>
    <p:sldId id="299" r:id="rId15"/>
    <p:sldId id="300" r:id="rId16"/>
    <p:sldId id="301" r:id="rId17"/>
    <p:sldId id="302" r:id="rId18"/>
    <p:sldId id="304" r:id="rId19"/>
    <p:sldId id="303" r:id="rId20"/>
    <p:sldId id="306" r:id="rId21"/>
    <p:sldId id="305" r:id="rId22"/>
    <p:sldId id="307" r:id="rId23"/>
    <p:sldId id="308" r:id="rId24"/>
    <p:sldId id="312" r:id="rId25"/>
    <p:sldId id="309" r:id="rId26"/>
    <p:sldId id="319" r:id="rId27"/>
    <p:sldId id="327" r:id="rId28"/>
    <p:sldId id="313" r:id="rId29"/>
    <p:sldId id="320" r:id="rId30"/>
    <p:sldId id="321" r:id="rId31"/>
    <p:sldId id="324" r:id="rId32"/>
    <p:sldId id="323" r:id="rId33"/>
    <p:sldId id="336" r:id="rId34"/>
    <p:sldId id="335" r:id="rId35"/>
    <p:sldId id="339" r:id="rId36"/>
    <p:sldId id="340" r:id="rId37"/>
    <p:sldId id="328" r:id="rId38"/>
    <p:sldId id="343" r:id="rId39"/>
    <p:sldId id="345" r:id="rId40"/>
    <p:sldId id="341" r:id="rId41"/>
    <p:sldId id="342" r:id="rId42"/>
    <p:sldId id="344" r:id="rId43"/>
    <p:sldId id="322" r:id="rId44"/>
    <p:sldId id="329" r:id="rId45"/>
    <p:sldId id="331" r:id="rId46"/>
    <p:sldId id="332" r:id="rId47"/>
    <p:sldId id="333" r:id="rId48"/>
    <p:sldId id="334" r:id="rId49"/>
    <p:sldId id="315" r:id="rId50"/>
    <p:sldId id="316" r:id="rId51"/>
    <p:sldId id="317" r:id="rId52"/>
    <p:sldId id="318" r:id="rId53"/>
    <p:sldId id="290" r:id="rId54"/>
    <p:sldId id="291" r:id="rId55"/>
    <p:sldId id="270" r:id="rId56"/>
    <p:sldId id="264" r:id="rId57"/>
    <p:sldId id="268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3F2"/>
    <a:srgbClr val="0432FF"/>
    <a:srgbClr val="007F50"/>
    <a:srgbClr val="008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5838" autoAdjust="0"/>
  </p:normalViewPr>
  <p:slideViewPr>
    <p:cSldViewPr snapToGrid="0" snapToObjects="1">
      <p:cViewPr varScale="1">
        <p:scale>
          <a:sx n="141" d="100"/>
          <a:sy n="141" d="100"/>
        </p:scale>
        <p:origin x="22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handoutMaster" Target="handoutMasters/handout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4A3CD-A3A5-B346-8CA0-C29EACE95187}" type="datetime1">
              <a:rPr lang="en-US" smtClean="0"/>
              <a:t>8/5/17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7B04E-9D11-7E4F-8B0D-F4AEDBDA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12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67E80-74C8-A146-9534-B39C72A3951C}" type="datetime1">
              <a:rPr lang="en-US" smtClean="0"/>
              <a:t>8/5/17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B667B-CFC3-844D-9F99-34C86AC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61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2CABC9-99CD-3644-BEB1-8E8BB5000C4E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27649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28713" y="690563"/>
            <a:ext cx="4600575" cy="34512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765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65183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F02B80C-B7A0-EC4A-B553-800B1366247B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8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97965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D391580-338D-7C42-8A23-FD21E08FC896}" type="slidenum">
              <a:rPr lang="en-GB" altLang="x-none"/>
              <a:pPr/>
              <a:t>5</a:t>
            </a:fld>
            <a:endParaRPr lang="en-GB" altLang="x-none"/>
          </a:p>
        </p:txBody>
      </p:sp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2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611097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04B2A0F-A780-6345-86B9-EA6A2293A287}" type="slidenum">
              <a:rPr lang="en-GB" altLang="x-none"/>
              <a:pPr/>
              <a:t>11</a:t>
            </a:fld>
            <a:endParaRPr lang="en-GB" altLang="x-none"/>
          </a:p>
        </p:txBody>
      </p:sp>
      <p:sp>
        <p:nvSpPr>
          <p:cNvPr id="35841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2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97327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19BB403-7601-C842-AF33-C9BD0DB5653D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36865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6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54914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26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 smtClean="0"/>
          </a:p>
        </p:txBody>
      </p:sp>
    </p:spTree>
    <p:extLst>
      <p:ext uri="{BB962C8B-B14F-4D97-AF65-F5344CB8AC3E}">
        <p14:creationId xmlns:p14="http://schemas.microsoft.com/office/powerpoint/2010/main" val="567360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27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 smtClean="0"/>
          </a:p>
        </p:txBody>
      </p:sp>
    </p:spTree>
    <p:extLst>
      <p:ext uri="{BB962C8B-B14F-4D97-AF65-F5344CB8AC3E}">
        <p14:creationId xmlns:p14="http://schemas.microsoft.com/office/powerpoint/2010/main" val="135853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2EF29B-D29D-BC41-BE03-AC575F1B1790}" type="slidenum">
              <a:rPr lang="en-US" altLang="x-none"/>
              <a:pPr eaLnBrk="1" hangingPunct="1"/>
              <a:t>31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79871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EA6DB28-7342-0A4D-95D2-17DCD0614723}" type="slidenum">
              <a:rPr lang="en-US" altLang="x-none"/>
              <a:pPr eaLnBrk="1" hangingPunct="1"/>
              <a:t>40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932451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F3FCC1B-9F3B-FB41-940E-DB8E138AB840}" type="slidenum">
              <a:rPr lang="en-US" altLang="x-none"/>
              <a:pPr eaLnBrk="1" hangingPunct="1"/>
              <a:t>41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02589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403AE9D-A85E-A246-B89D-65877D7371F1}" type="slidenum">
              <a:rPr lang="en-US" altLang="x-none"/>
              <a:pPr eaLnBrk="1" hangingPunct="1"/>
              <a:t>42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14877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65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2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77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30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2EF29B-D29D-BC41-BE03-AC575F1B1790}" type="slidenum">
              <a:rPr lang="en-US" altLang="x-none"/>
              <a:pPr eaLnBrk="1" hangingPunct="1"/>
              <a:t>48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6471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FAA4B95-EC4E-E44F-9EBE-477972F6CE96}" type="slidenum">
              <a:rPr lang="en-GB" altLang="x-none"/>
              <a:pPr/>
              <a:t>53</a:t>
            </a:fld>
            <a:endParaRPr lang="en-GB" altLang="x-none"/>
          </a:p>
        </p:txBody>
      </p:sp>
      <p:sp>
        <p:nvSpPr>
          <p:cNvPr id="47105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6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2115020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12FB5A8-4526-CC49-8856-E8D03F1C7836}" type="slidenum">
              <a:rPr lang="en-GB" altLang="x-none"/>
              <a:pPr/>
              <a:t>54</a:t>
            </a:fld>
            <a:endParaRPr lang="en-GB" altLang="x-none"/>
          </a:p>
        </p:txBody>
      </p:sp>
      <p:sp>
        <p:nvSpPr>
          <p:cNvPr id="48129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0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9952263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59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DB02-F888-2949-A40A-1F561219C784}" type="datetime1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9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>
                <a:solidFill>
                  <a:srgbClr val="C00000"/>
                </a:solidFill>
              </a:defRPr>
            </a:lvl3pPr>
            <a:lvl4pPr>
              <a:defRPr>
                <a:solidFill>
                  <a:srgbClr val="007F50"/>
                </a:solidFill>
              </a:defRPr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DB2F-B6DA-294A-A600-72774BEE9009}" type="datetime1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6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4F61C8-7EA4-1F4F-8627-71363F1544B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780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847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4546"/>
            <a:ext cx="8229600" cy="5051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69956644-C519-324B-9831-D004D13DEDDD}" type="datetime1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i="1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dirty="0" smtClean="0"/>
              <a:t>Qahri-Saremi &amp; Sharma, AMCIS 2017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9E0F272A-0FC0-1943-B826-E8D4777EEB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4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FF6600"/>
          </a:solidFill>
          <a:latin typeface="Georgia" charset="0"/>
          <a:ea typeface="Georgia" charset="0"/>
          <a:cs typeface="Georgia" charset="0"/>
        </a:defRPr>
      </a:lvl1pPr>
    </p:titleStyle>
    <p:bodyStyle>
      <a:lvl1pPr marL="342900" indent="-3429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742950" indent="-28575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2000" kern="1200">
          <a:solidFill>
            <a:srgbClr val="0000FF"/>
          </a:solidFill>
          <a:latin typeface="Times New Roman"/>
          <a:ea typeface="+mn-ea"/>
          <a:cs typeface="Times New Roman"/>
        </a:defRPr>
      </a:lvl2pPr>
      <a:lvl3pPr marL="11430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1800" kern="1200">
          <a:solidFill>
            <a:srgbClr val="C00000"/>
          </a:solidFill>
          <a:latin typeface="Times New Roman"/>
          <a:ea typeface="+mn-ea"/>
          <a:cs typeface="Times New Roman"/>
        </a:defRPr>
      </a:lvl3pPr>
      <a:lvl4pPr marL="16002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1600" kern="1200">
          <a:solidFill>
            <a:srgbClr val="007F50"/>
          </a:solidFill>
          <a:latin typeface="Times New Roman"/>
          <a:ea typeface="+mn-ea"/>
          <a:cs typeface="Times New Roman"/>
        </a:defRPr>
      </a:lvl4pPr>
      <a:lvl5pPr marL="20574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»"/>
        <a:defRPr sz="1600" kern="1200">
          <a:solidFill>
            <a:schemeClr val="accent6">
              <a:lumMod val="75000"/>
            </a:schemeClr>
          </a:solidFill>
          <a:latin typeface="Times New Roman"/>
          <a:ea typeface="+mn-ea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://www.prisma-statement.org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6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8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9.wmf"/><Relationship Id="rId5" Type="http://schemas.openxmlformats.org/officeDocument/2006/relationships/image" Target="../media/image10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9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4" Type="http://schemas.openxmlformats.org/officeDocument/2006/relationships/image" Target="../media/image15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4" Type="http://schemas.openxmlformats.org/officeDocument/2006/relationships/image" Target="../media/image15.wmf"/><Relationship Id="rId5" Type="http://schemas.openxmlformats.org/officeDocument/2006/relationships/image" Target="../media/image16.png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17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4" Type="http://schemas.openxmlformats.org/officeDocument/2006/relationships/image" Target="../media/image18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17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8.w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24.wmf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0619" y="786173"/>
            <a:ext cx="7296234" cy="1336739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3600" dirty="0" smtClean="0"/>
              <a:t>Introduction to Meta Analysis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136" y="3009900"/>
            <a:ext cx="3433313" cy="1245351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Hamed Qahri-Saremi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DePaul University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Chicago, IL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710021" y="3009899"/>
            <a:ext cx="3864635" cy="1245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1pPr>
            <a:lvl2pPr marL="4572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2pPr>
            <a:lvl3pPr marL="9144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3pPr>
            <a:lvl4pPr marL="13716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4pPr>
            <a:lvl5pPr marL="18288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 smtClean="0">
                <a:solidFill>
                  <a:schemeClr val="tx1"/>
                </a:solidFill>
              </a:rPr>
              <a:t>Sudeep</a:t>
            </a:r>
            <a:r>
              <a:rPr lang="en-US" b="1" dirty="0" smtClean="0">
                <a:solidFill>
                  <a:schemeClr val="tx1"/>
                </a:solidFill>
              </a:rPr>
              <a:t> Sharma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University of Illinois at Springfield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Springfield, IL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407" y="5254380"/>
            <a:ext cx="1837702" cy="151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8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 smtClean="0"/>
              <a:t>Qahri-Saremi &amp; Sharma, AMCIS 2017</a:t>
            </a:r>
            <a:endParaRPr lang="en-GB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8CE495F-6934-6D47-9189-BF7386F6AD99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51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Overview of the Workshop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  <a:ln/>
        </p:spPr>
        <p:txBody>
          <a:bodyPr/>
          <a:lstStyle/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Topics covered will include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Review of the basic methods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Problem definition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Document Retrieval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Coding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Effect sizes and computation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Analysis of effect sizes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Publication Bias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Cutting edge issues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Interpretation of results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Evaluating the quality of a meta-analysis</a:t>
            </a:r>
          </a:p>
        </p:txBody>
      </p:sp>
    </p:spTree>
    <p:extLst>
      <p:ext uri="{BB962C8B-B14F-4D97-AF65-F5344CB8AC3E}">
        <p14:creationId xmlns:p14="http://schemas.microsoft.com/office/powerpoint/2010/main" val="13877335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Meta-Analysis?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Meta-analysis </a:t>
            </a:r>
            <a:r>
              <a:rPr lang="en-US" dirty="0"/>
              <a:t>is a statistical technique for </a:t>
            </a:r>
            <a:r>
              <a:rPr lang="en-US" dirty="0" smtClean="0"/>
              <a:t>synthesizing </a:t>
            </a:r>
            <a:r>
              <a:rPr lang="en-US" dirty="0"/>
              <a:t>the results of </a:t>
            </a:r>
            <a:r>
              <a:rPr lang="en-US" dirty="0" smtClean="0"/>
              <a:t>a set </a:t>
            </a:r>
            <a:r>
              <a:rPr lang="en-US" dirty="0"/>
              <a:t>of </a:t>
            </a:r>
            <a:r>
              <a:rPr lang="en-US" dirty="0" smtClean="0"/>
              <a:t>independent, quantitative, empirical studies </a:t>
            </a:r>
            <a:r>
              <a:rPr lang="en-US" dirty="0"/>
              <a:t>on </a:t>
            </a:r>
            <a:r>
              <a:rPr lang="en-US" dirty="0" smtClean="0"/>
              <a:t>a topic</a:t>
            </a:r>
            <a:r>
              <a:rPr lang="en-US" dirty="0"/>
              <a:t>, in order </a:t>
            </a:r>
            <a:r>
              <a:rPr lang="en-US" dirty="0" smtClean="0"/>
              <a:t>to determine </a:t>
            </a:r>
            <a:r>
              <a:rPr lang="en-US" dirty="0"/>
              <a:t>an overall estimate of </a:t>
            </a:r>
            <a:r>
              <a:rPr lang="en-US" dirty="0" smtClean="0"/>
              <a:t>a treatment </a:t>
            </a:r>
            <a:r>
              <a:rPr lang="en-US" dirty="0"/>
              <a:t>effect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“</a:t>
            </a:r>
            <a:r>
              <a:rPr lang="mr-IN" dirty="0" smtClean="0"/>
              <a:t>…</a:t>
            </a:r>
            <a:r>
              <a:rPr lang="en-US" dirty="0" smtClean="0"/>
              <a:t> now </a:t>
            </a:r>
            <a:r>
              <a:rPr lang="en-US" dirty="0"/>
              <a:t>widely accepted as a method of summarizing </a:t>
            </a:r>
            <a:r>
              <a:rPr lang="en-US" dirty="0" smtClean="0"/>
              <a:t>the results </a:t>
            </a:r>
            <a:r>
              <a:rPr lang="en-US" dirty="0"/>
              <a:t>of empirical studies within the behavioral</a:t>
            </a:r>
            <a:r>
              <a:rPr lang="en-US" dirty="0" smtClean="0"/>
              <a:t>, social </a:t>
            </a:r>
            <a:r>
              <a:rPr lang="en-US" dirty="0"/>
              <a:t>and health </a:t>
            </a:r>
            <a:r>
              <a:rPr lang="en-US" dirty="0" smtClean="0"/>
              <a:t>sciences.” 								</a:t>
            </a:r>
            <a:r>
              <a:rPr lang="en-US" sz="1400" i="1" dirty="0" err="1" smtClean="0"/>
              <a:t>Lipsey</a:t>
            </a:r>
            <a:r>
              <a:rPr lang="en-US" sz="1400" i="1" dirty="0" smtClean="0"/>
              <a:t> </a:t>
            </a:r>
            <a:r>
              <a:rPr lang="en-US" sz="1400" i="1" dirty="0"/>
              <a:t>and </a:t>
            </a:r>
            <a:r>
              <a:rPr lang="en-US" sz="1400" i="1" dirty="0" smtClean="0"/>
              <a:t>Wilson (2001)</a:t>
            </a:r>
            <a:endParaRPr lang="en-US" sz="1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910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27635E-FDED-814E-92CB-A74EA2E177A5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71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 smtClean="0"/>
              <a:t>A little bit of History</a:t>
            </a:r>
            <a:r>
              <a:rPr lang="mr-IN" altLang="x-none" dirty="0" smtClean="0"/>
              <a:t>…</a:t>
            </a:r>
            <a:endParaRPr lang="en-GB" altLang="x-none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167" y="1285336"/>
            <a:ext cx="4485735" cy="5003321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just"/>
            <a:r>
              <a:rPr lang="en-GB" altLang="x-none" dirty="0"/>
              <a:t>The Great Debate  </a:t>
            </a:r>
            <a:r>
              <a:rPr lang="en-US" sz="1600" i="1" dirty="0"/>
              <a:t>(</a:t>
            </a:r>
            <a:r>
              <a:rPr lang="en-US" sz="1600" i="1" dirty="0" err="1"/>
              <a:t>Lipsey</a:t>
            </a:r>
            <a:r>
              <a:rPr lang="en-US" sz="1600" i="1" dirty="0"/>
              <a:t> and Wilson, 2001)</a:t>
            </a:r>
            <a:endParaRPr lang="en-GB" altLang="x-none" sz="1600" i="1" dirty="0"/>
          </a:p>
          <a:p>
            <a:pPr lvl="1" algn="just"/>
            <a:r>
              <a:rPr lang="en-GB" altLang="x-none" dirty="0"/>
              <a:t>In 1952, Hans J. Eysenck concluded that there were no favourable effects of psychotherapy, starting a raging debate</a:t>
            </a:r>
            <a:r>
              <a:rPr lang="mr-IN" altLang="x-none" dirty="0"/>
              <a:t>…</a:t>
            </a:r>
            <a:endParaRPr lang="en-GB" altLang="x-none" dirty="0"/>
          </a:p>
          <a:p>
            <a:pPr lvl="2" algn="just"/>
            <a:r>
              <a:rPr lang="en-GB" altLang="x-none" dirty="0"/>
              <a:t>20 years of evaluation research and hundreds of studies failed to resolve the debate</a:t>
            </a:r>
          </a:p>
          <a:p>
            <a:pPr lvl="1" algn="just"/>
            <a:endParaRPr lang="en-GB" altLang="x-none" dirty="0"/>
          </a:p>
          <a:p>
            <a:pPr lvl="1" algn="just"/>
            <a:r>
              <a:rPr lang="en-GB" altLang="x-none" dirty="0"/>
              <a:t>In 1977, Smith and Glass statistically aggregated the findings of 375 psychotherapy outcome studies to </a:t>
            </a:r>
            <a:r>
              <a:rPr lang="en-GB" altLang="x-none" dirty="0" smtClean="0"/>
              <a:t>show </a:t>
            </a:r>
            <a:r>
              <a:rPr lang="en-GB" altLang="x-none" dirty="0"/>
              <a:t>Eysenck </a:t>
            </a:r>
            <a:r>
              <a:rPr lang="en-GB" altLang="x-none" dirty="0" smtClean="0"/>
              <a:t>is wrong and psychotherapy </a:t>
            </a:r>
            <a:r>
              <a:rPr lang="en-GB" altLang="x-none" dirty="0"/>
              <a:t>is indeed effective.</a:t>
            </a:r>
          </a:p>
          <a:p>
            <a:pPr lvl="2" algn="just"/>
            <a:r>
              <a:rPr lang="en-GB" altLang="x-none" dirty="0"/>
              <a:t>In their research, they used a method developed by Glass (1976), called “not for want of a less pretentious name - the </a:t>
            </a:r>
            <a:r>
              <a:rPr lang="en-GB" altLang="x-none" b="1" dirty="0">
                <a:solidFill>
                  <a:srgbClr val="FF0000"/>
                </a:solidFill>
              </a:rPr>
              <a:t>meta-analysis of research</a:t>
            </a:r>
            <a:r>
              <a:rPr lang="en-GB" altLang="x-none" dirty="0"/>
              <a:t>” (p. 3).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826" y="1417638"/>
            <a:ext cx="3950898" cy="4743279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25776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758617B-0B74-4C45-A0A2-11DD1CDEC079}" type="slidenum">
              <a:rPr lang="en-GB" altLang="x-none"/>
              <a:pPr/>
              <a:t>5</a:t>
            </a:fld>
            <a:endParaRPr lang="en-GB" altLang="x-none"/>
          </a:p>
        </p:txBody>
      </p:sp>
      <p:sp>
        <p:nvSpPr>
          <p:cNvPr id="819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A little bit of History</a:t>
            </a:r>
            <a:r>
              <a:rPr lang="mr-IN" altLang="x-none" dirty="0"/>
              <a:t>…</a:t>
            </a:r>
            <a:endParaRPr lang="en-GB" altLang="x-none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GB" altLang="x-none" dirty="0"/>
              <a:t>Ideas behind meta-analysis predate Glass’s work</a:t>
            </a:r>
          </a:p>
          <a:p>
            <a:pPr lvl="1" algn="just"/>
            <a:r>
              <a:rPr lang="en-GB" altLang="x-none" dirty="0"/>
              <a:t>Karl Pearson (1904)</a:t>
            </a:r>
          </a:p>
          <a:p>
            <a:pPr lvl="2" algn="just"/>
            <a:r>
              <a:rPr lang="en-GB" altLang="x-none" dirty="0"/>
              <a:t>averaged correlations for studies of the effectiveness of inoculation for typhoid fever</a:t>
            </a:r>
          </a:p>
          <a:p>
            <a:pPr lvl="2" algn="just"/>
            <a:endParaRPr lang="en-GB" altLang="x-none" dirty="0"/>
          </a:p>
          <a:p>
            <a:pPr lvl="1" algn="just"/>
            <a:r>
              <a:rPr lang="en-GB" altLang="x-none" dirty="0"/>
              <a:t>W. G. Cochran (1953)</a:t>
            </a:r>
          </a:p>
          <a:p>
            <a:pPr lvl="2" algn="just"/>
            <a:r>
              <a:rPr lang="en-GB" altLang="x-none" dirty="0"/>
              <a:t>Discusses a method of averaging means across independent studies</a:t>
            </a:r>
          </a:p>
          <a:p>
            <a:pPr lvl="2" algn="just"/>
            <a:r>
              <a:rPr lang="en-GB" altLang="x-none" dirty="0"/>
              <a:t>Laid-out much of the statistical foundation that modern meta-analysis is built upon (e.g., Inverse variance weighting and homogeneity testing)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588707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732547"/>
          </a:xfrm>
        </p:spPr>
        <p:txBody>
          <a:bodyPr/>
          <a:lstStyle/>
          <a:p>
            <a:r>
              <a:rPr lang="en-US" dirty="0" smtClean="0"/>
              <a:t>Meta-Analysis vs. Narrative Reviews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99" y="1074546"/>
            <a:ext cx="4037162" cy="5051617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/>
              <a:t>Let us review this sample of studies and answer the following two questions:</a:t>
            </a:r>
          </a:p>
          <a:p>
            <a:pPr algn="just"/>
            <a:endParaRPr lang="en-US" sz="1800" dirty="0" smtClean="0"/>
          </a:p>
          <a:p>
            <a:pPr marL="403225" lvl="1" indent="-317500" algn="just"/>
            <a:r>
              <a:rPr lang="en-US" sz="1800" i="1" dirty="0" smtClean="0"/>
              <a:t>What </a:t>
            </a:r>
            <a:r>
              <a:rPr lang="en-US" sz="1800" i="1" dirty="0"/>
              <a:t>tentative conclusions </a:t>
            </a:r>
            <a:r>
              <a:rPr lang="en-US" sz="1800" i="1" dirty="0" smtClean="0"/>
              <a:t>can you reach </a:t>
            </a:r>
            <a:r>
              <a:rPr lang="en-US" sz="1800" i="1" dirty="0"/>
              <a:t>about the relationship between </a:t>
            </a:r>
            <a:r>
              <a:rPr lang="en-US" sz="1800" i="1" dirty="0" smtClean="0">
                <a:solidFill>
                  <a:srgbClr val="FF0000"/>
                </a:solidFill>
              </a:rPr>
              <a:t>job satisfaction </a:t>
            </a:r>
            <a:r>
              <a:rPr lang="en-US" sz="1800" i="1" dirty="0"/>
              <a:t>and </a:t>
            </a:r>
            <a:r>
              <a:rPr lang="en-US" sz="1800" i="1" dirty="0">
                <a:solidFill>
                  <a:srgbClr val="FF0000"/>
                </a:solidFill>
              </a:rPr>
              <a:t>organizational </a:t>
            </a:r>
            <a:r>
              <a:rPr lang="en-US" sz="1800" i="1" dirty="0" smtClean="0">
                <a:solidFill>
                  <a:srgbClr val="FF0000"/>
                </a:solidFill>
              </a:rPr>
              <a:t>commitment</a:t>
            </a:r>
            <a:r>
              <a:rPr lang="en-US" sz="1800" i="1" dirty="0" smtClean="0">
                <a:solidFill>
                  <a:srgbClr val="0432FF"/>
                </a:solidFill>
              </a:rPr>
              <a:t>?</a:t>
            </a:r>
            <a:r>
              <a:rPr lang="en-US" sz="1800" i="1" dirty="0" smtClean="0"/>
              <a:t> </a:t>
            </a:r>
          </a:p>
          <a:p>
            <a:pPr marL="403225" lvl="1" indent="-317500" algn="just"/>
            <a:endParaRPr lang="en-US" sz="1800" i="1" dirty="0" smtClean="0"/>
          </a:p>
          <a:p>
            <a:pPr marL="403225" lvl="1" indent="-317500" algn="just"/>
            <a:endParaRPr lang="en-US" sz="1800" i="1" dirty="0" smtClean="0"/>
          </a:p>
          <a:p>
            <a:pPr marL="403225" lvl="1" indent="-317500" algn="just"/>
            <a:r>
              <a:rPr lang="en-US" sz="1800" i="1" dirty="0" smtClean="0"/>
              <a:t>What variables do you believe </a:t>
            </a:r>
            <a:r>
              <a:rPr lang="en-US" sz="1800" i="1" dirty="0" smtClean="0">
                <a:solidFill>
                  <a:srgbClr val="FF0000"/>
                </a:solidFill>
              </a:rPr>
              <a:t>moderate</a:t>
            </a:r>
            <a:r>
              <a:rPr lang="en-US" sz="1800" i="1" dirty="0" smtClean="0"/>
              <a:t> this relationship?</a:t>
            </a:r>
            <a:endParaRPr lang="en-US" sz="1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463" y="920337"/>
            <a:ext cx="4718649" cy="58514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73424" y="649548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37826" y="936099"/>
            <a:ext cx="474453" cy="5489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72664" y="936098"/>
            <a:ext cx="3476448" cy="54892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32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26" y="1048685"/>
            <a:ext cx="6383548" cy="51356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68312" y="613183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1031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preceding review was conducted using standard </a:t>
            </a:r>
            <a:r>
              <a:rPr lang="en-US" dirty="0" smtClean="0"/>
              <a:t>review </a:t>
            </a:r>
            <a:r>
              <a:rPr lang="en-US" dirty="0"/>
              <a:t>practices that </a:t>
            </a:r>
            <a:r>
              <a:rPr lang="en-US" dirty="0" smtClean="0"/>
              <a:t>characterize many </a:t>
            </a:r>
            <a:r>
              <a:rPr lang="en-US" dirty="0"/>
              <a:t>narrative </a:t>
            </a:r>
            <a:r>
              <a:rPr lang="en-US" dirty="0" smtClean="0"/>
              <a:t>reviews in social sciences, including information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7837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4546"/>
            <a:ext cx="8419381" cy="5051617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There is one problem, though:</a:t>
            </a:r>
          </a:p>
          <a:p>
            <a:pPr lvl="1"/>
            <a:r>
              <a:rPr lang="en-US" dirty="0"/>
              <a:t>The data were constructed by a Monte Carlo </a:t>
            </a:r>
            <a:r>
              <a:rPr lang="en-US" dirty="0" smtClean="0"/>
              <a:t>simulation:</a:t>
            </a:r>
          </a:p>
          <a:p>
            <a:pPr lvl="2"/>
            <a:r>
              <a:rPr lang="en-US" dirty="0" smtClean="0"/>
              <a:t>The mean population </a:t>
            </a:r>
            <a:r>
              <a:rPr lang="en-US" dirty="0"/>
              <a:t>correlation was </a:t>
            </a:r>
            <a:r>
              <a:rPr lang="en-US" dirty="0" smtClean="0"/>
              <a:t>assumed </a:t>
            </a:r>
            <a:r>
              <a:rPr lang="en-US" dirty="0"/>
              <a:t>to be </a:t>
            </a:r>
            <a:r>
              <a:rPr lang="en-US" dirty="0" smtClean="0"/>
              <a:t>0.33.</a:t>
            </a:r>
          </a:p>
          <a:p>
            <a:pPr lvl="2"/>
            <a:r>
              <a:rPr lang="en-US" dirty="0" smtClean="0"/>
              <a:t>The </a:t>
            </a:r>
            <a:r>
              <a:rPr lang="en-US" dirty="0"/>
              <a:t>sample </a:t>
            </a:r>
            <a:r>
              <a:rPr lang="en-US" dirty="0" smtClean="0"/>
              <a:t>sizes were randomly </a:t>
            </a:r>
            <a:r>
              <a:rPr lang="en-US" dirty="0"/>
              <a:t>chosen from a distribution centering about </a:t>
            </a:r>
            <a:r>
              <a:rPr lang="en-US" dirty="0" smtClean="0"/>
              <a:t>40.</a:t>
            </a:r>
          </a:p>
          <a:p>
            <a:pPr lvl="2"/>
            <a:r>
              <a:rPr lang="en-US" dirty="0" smtClean="0"/>
              <a:t>The study characteristics were assigned randomly.</a:t>
            </a:r>
          </a:p>
          <a:p>
            <a:pPr lvl="1"/>
            <a:r>
              <a:rPr lang="en-US" dirty="0" smtClean="0"/>
              <a:t>In other words,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The variation among correlations is </a:t>
            </a:r>
            <a:r>
              <a:rPr lang="en-US" dirty="0">
                <a:solidFill>
                  <a:srgbClr val="FF0000"/>
                </a:solidFill>
              </a:rPr>
              <a:t>entirely the result of </a:t>
            </a:r>
            <a:r>
              <a:rPr lang="en-US" b="1" dirty="0" smtClean="0">
                <a:solidFill>
                  <a:srgbClr val="FF0000"/>
                </a:solidFill>
              </a:rPr>
              <a:t>sampling error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The moderator effects </a:t>
            </a:r>
            <a:r>
              <a:rPr lang="en-US" dirty="0" smtClean="0">
                <a:solidFill>
                  <a:srgbClr val="FF0000"/>
                </a:solidFill>
              </a:rPr>
              <a:t>that appear </a:t>
            </a:r>
            <a:r>
              <a:rPr lang="en-US" dirty="0">
                <a:solidFill>
                  <a:srgbClr val="FF0000"/>
                </a:solidFill>
              </a:rPr>
              <a:t>to make </a:t>
            </a:r>
            <a:r>
              <a:rPr lang="en-US" dirty="0" smtClean="0">
                <a:solidFill>
                  <a:srgbClr val="FF0000"/>
                </a:solidFill>
              </a:rPr>
              <a:t>sense are </a:t>
            </a:r>
            <a:r>
              <a:rPr lang="en-US" dirty="0">
                <a:solidFill>
                  <a:srgbClr val="FF0000"/>
                </a:solidFill>
              </a:rPr>
              <a:t>purely the </a:t>
            </a:r>
            <a:r>
              <a:rPr lang="en-US" dirty="0" smtClean="0">
                <a:solidFill>
                  <a:srgbClr val="FF0000"/>
                </a:solidFill>
              </a:rPr>
              <a:t>results of </a:t>
            </a:r>
            <a:r>
              <a:rPr lang="en-US" b="1" dirty="0">
                <a:solidFill>
                  <a:srgbClr val="FF0000"/>
                </a:solidFill>
              </a:rPr>
              <a:t>chance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2"/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/>
              <a:t>The crucial </a:t>
            </a:r>
            <a:r>
              <a:rPr lang="en-US" dirty="0" smtClean="0"/>
              <a:t>lesson: “conflicting results in </a:t>
            </a:r>
            <a:r>
              <a:rPr lang="en-US" dirty="0"/>
              <a:t>the literature” may be entirely </a:t>
            </a:r>
            <a:r>
              <a:rPr lang="en-US" dirty="0" smtClean="0"/>
              <a:t>artefactual.</a:t>
            </a:r>
          </a:p>
          <a:p>
            <a:pPr lvl="1"/>
            <a:r>
              <a:rPr lang="en-US" dirty="0" smtClean="0"/>
              <a:t>Meta-Analysis can help us detect them and differentiate between artefactual and systematic sources of variations in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20297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Meta-Analysis vs. Single Studies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Single </a:t>
            </a:r>
            <a:r>
              <a:rPr lang="en-US" dirty="0"/>
              <a:t>studies </a:t>
            </a:r>
            <a:r>
              <a:rPr lang="en-US" dirty="0" smtClean="0"/>
              <a:t>may not be </a:t>
            </a:r>
            <a:r>
              <a:rPr lang="en-US" dirty="0"/>
              <a:t>sufficient </a:t>
            </a:r>
            <a:r>
              <a:rPr lang="en-US" dirty="0" smtClean="0"/>
              <a:t>to determine </a:t>
            </a:r>
            <a:r>
              <a:rPr lang="en-US" dirty="0"/>
              <a:t>the utility of an </a:t>
            </a:r>
            <a:r>
              <a:rPr lang="en-US" dirty="0" smtClean="0"/>
              <a:t>intervention or </a:t>
            </a:r>
            <a:r>
              <a:rPr lang="en-US" dirty="0"/>
              <a:t>a hypothesis’ </a:t>
            </a:r>
            <a:r>
              <a:rPr lang="en-US" dirty="0" smtClean="0"/>
              <a:t>validity.</a:t>
            </a:r>
          </a:p>
          <a:p>
            <a:pPr lvl="1"/>
            <a:r>
              <a:rPr lang="en-US" dirty="0" smtClean="0"/>
              <a:t>E.g., </a:t>
            </a:r>
            <a:r>
              <a:rPr lang="en-US" dirty="0"/>
              <a:t>‘The Great Debate’ </a:t>
            </a:r>
            <a:r>
              <a:rPr lang="en-US" dirty="0" smtClean="0"/>
              <a:t>on Psychotherapy’s effectiveness (</a:t>
            </a:r>
            <a:r>
              <a:rPr lang="en-US" dirty="0"/>
              <a:t>1952-1978) </a:t>
            </a:r>
            <a:r>
              <a:rPr lang="en-US" i="1" dirty="0"/>
              <a:t>(</a:t>
            </a:r>
            <a:r>
              <a:rPr lang="en-US" i="1" dirty="0" err="1"/>
              <a:t>Lipsey</a:t>
            </a:r>
            <a:r>
              <a:rPr lang="en-US" i="1" dirty="0"/>
              <a:t> and Wilson, 2001</a:t>
            </a:r>
            <a:r>
              <a:rPr lang="en-US" i="1" dirty="0" smtClean="0"/>
              <a:t>)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Single studies are limited in their </a:t>
            </a:r>
            <a:r>
              <a:rPr lang="en-US" b="1" dirty="0" smtClean="0"/>
              <a:t>statistical power</a:t>
            </a:r>
            <a:r>
              <a:rPr lang="en-US" dirty="0" smtClean="0"/>
              <a:t>, unless the sample size is very large, which is not common.</a:t>
            </a:r>
          </a:p>
          <a:p>
            <a:pPr lvl="2"/>
            <a:r>
              <a:rPr lang="en-US" dirty="0" smtClean="0"/>
              <a:t>Low statistical power can increase the error rates well beyond the 5%.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Meta-Analysis can be used </a:t>
            </a:r>
            <a:r>
              <a:rPr lang="en-US" dirty="0"/>
              <a:t>as original </a:t>
            </a:r>
            <a:r>
              <a:rPr lang="en-US" dirty="0" smtClean="0"/>
              <a:t>publications, highlighting directions for future research on a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6890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28B1E38-2491-4E43-95AE-39BBABFC3C68}" type="slidenum">
              <a:rPr lang="en-GB" altLang="x-none"/>
              <a:pPr/>
              <a:t>11</a:t>
            </a:fld>
            <a:endParaRPr lang="en-GB" altLang="x-none"/>
          </a:p>
        </p:txBody>
      </p:sp>
      <p:sp>
        <p:nvSpPr>
          <p:cNvPr id="133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When Can You Do Meta-analysis?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7638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altLang="x-none" dirty="0"/>
              <a:t>Meta-analysis is applicable to collections of research that</a:t>
            </a:r>
          </a:p>
          <a:p>
            <a:pPr lvl="1"/>
            <a:r>
              <a:rPr lang="en-GB" altLang="x-none" dirty="0"/>
              <a:t>Are </a:t>
            </a:r>
            <a:r>
              <a:rPr lang="en-GB" altLang="x-none" dirty="0" smtClean="0"/>
              <a:t>empirical, </a:t>
            </a:r>
            <a:r>
              <a:rPr lang="en-GB" altLang="x-none" dirty="0"/>
              <a:t>rather than </a:t>
            </a:r>
            <a:r>
              <a:rPr lang="en-GB" altLang="x-none" dirty="0" smtClean="0"/>
              <a:t>theoretical.</a:t>
            </a:r>
            <a:endParaRPr lang="en-GB" altLang="x-none" dirty="0"/>
          </a:p>
          <a:p>
            <a:pPr lvl="1"/>
            <a:r>
              <a:rPr lang="en-GB" altLang="x-none" dirty="0"/>
              <a:t>Produce quantitative results, rather than qualitative </a:t>
            </a:r>
            <a:r>
              <a:rPr lang="en-GB" altLang="x-none" dirty="0" smtClean="0"/>
              <a:t>findings.</a:t>
            </a:r>
            <a:endParaRPr lang="en-GB" altLang="x-none" dirty="0"/>
          </a:p>
          <a:p>
            <a:pPr lvl="1"/>
            <a:r>
              <a:rPr lang="en-GB" altLang="x-none" dirty="0"/>
              <a:t>Examine the same constructs and </a:t>
            </a:r>
            <a:r>
              <a:rPr lang="en-GB" altLang="x-none" dirty="0" smtClean="0"/>
              <a:t>relationships.</a:t>
            </a:r>
            <a:endParaRPr lang="en-GB" altLang="x-none" dirty="0"/>
          </a:p>
          <a:p>
            <a:pPr lvl="1"/>
            <a:r>
              <a:rPr lang="en-GB" altLang="x-none" dirty="0" smtClean="0"/>
              <a:t>Provide </a:t>
            </a:r>
            <a:r>
              <a:rPr lang="en-GB" altLang="x-none" dirty="0"/>
              <a:t>findings that can be configured in a comparable statistical </a:t>
            </a:r>
            <a:r>
              <a:rPr lang="en-GB" altLang="x-none" dirty="0" smtClean="0"/>
              <a:t>form as effect sizes. </a:t>
            </a:r>
          </a:p>
          <a:p>
            <a:pPr lvl="1"/>
            <a:r>
              <a:rPr lang="en-GB" altLang="x-none" dirty="0" smtClean="0"/>
              <a:t>Are </a:t>
            </a:r>
            <a:r>
              <a:rPr lang="en-GB" altLang="x-none" dirty="0"/>
              <a:t>“comparable” given the question at </a:t>
            </a:r>
            <a:r>
              <a:rPr lang="en-GB" altLang="x-none" dirty="0" smtClean="0"/>
              <a:t>hand.</a:t>
            </a:r>
            <a:endParaRPr lang="en-GB" altLang="x-none" dirty="0"/>
          </a:p>
          <a:p>
            <a:endParaRPr lang="en-GB" altLang="x-none" dirty="0"/>
          </a:p>
        </p:txBody>
      </p:sp>
      <p:sp>
        <p:nvSpPr>
          <p:cNvPr id="2" name="Rectangle 1"/>
          <p:cNvSpPr/>
          <p:nvPr/>
        </p:nvSpPr>
        <p:spPr>
          <a:xfrm>
            <a:off x="6839204" y="4512416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80648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Eight Steps to Conduct a Meta-Analysis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Problem Definition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Establishing </a:t>
            </a:r>
            <a:r>
              <a:rPr lang="en-US" sz="2000" dirty="0"/>
              <a:t>Inclusion/Exclusion Criteria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Literature </a:t>
            </a:r>
            <a:r>
              <a:rPr lang="en-US" sz="2000" dirty="0"/>
              <a:t>Search and Studies Retrieval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Coding Data and Calculating Effect </a:t>
            </a:r>
            <a:r>
              <a:rPr lang="en-US" sz="2000" dirty="0"/>
              <a:t>Sizes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Doing </a:t>
            </a:r>
            <a:r>
              <a:rPr lang="en-US" sz="2000" dirty="0"/>
              <a:t>the Basic Meta-Analysis </a:t>
            </a:r>
          </a:p>
          <a:p>
            <a:pPr marL="857250" lvl="1" indent="-457200"/>
            <a:r>
              <a:rPr lang="en-US" sz="1800" dirty="0" smtClean="0"/>
              <a:t>Decide on Fixed-Effects </a:t>
            </a:r>
            <a:r>
              <a:rPr lang="en-US" sz="1800" dirty="0"/>
              <a:t>vs. Random-Effects Meta-Analysis </a:t>
            </a:r>
          </a:p>
          <a:p>
            <a:pPr marL="857250" lvl="1" indent="-457200"/>
            <a:r>
              <a:rPr lang="en-US" sz="1800" dirty="0"/>
              <a:t>Decide on Meta-Analysis </a:t>
            </a:r>
            <a:r>
              <a:rPr lang="en-US" sz="1800" dirty="0" smtClean="0"/>
              <a:t>Method to Utilize</a:t>
            </a:r>
            <a:endParaRPr lang="en-US" sz="1800" dirty="0"/>
          </a:p>
          <a:p>
            <a:pPr marL="857250" lvl="1" indent="-457200"/>
            <a:r>
              <a:rPr lang="en-US" sz="1800" dirty="0" smtClean="0"/>
              <a:t>Choose the Tool </a:t>
            </a:r>
            <a:r>
              <a:rPr lang="en-US" sz="1800" dirty="0"/>
              <a:t>for Basic Meta-Analysis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Moderation </a:t>
            </a:r>
            <a:r>
              <a:rPr lang="en-US" sz="2000" dirty="0"/>
              <a:t>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Estimating the Publication Bias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Writing it up!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03027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ACF9A7B-E533-8A41-AC4B-D2EE3C539E18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1433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3902"/>
            <a:ext cx="8229600" cy="681487"/>
          </a:xfrm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2800" dirty="0" smtClean="0"/>
              <a:t>Problem Definition</a:t>
            </a:r>
            <a:endParaRPr lang="en-GB" altLang="x-none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199" y="845390"/>
            <a:ext cx="8324491" cy="5400136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GB" altLang="x-none" dirty="0"/>
              <a:t>Forms of </a:t>
            </a:r>
            <a:r>
              <a:rPr lang="en-GB" altLang="x-none" dirty="0" smtClean="0"/>
              <a:t>Problems Suitable </a:t>
            </a:r>
            <a:r>
              <a:rPr lang="en-GB" altLang="x-none" dirty="0"/>
              <a:t>to </a:t>
            </a:r>
            <a:r>
              <a:rPr lang="en-GB" altLang="x-none" dirty="0" smtClean="0"/>
              <a:t>a Meta-analysis:</a:t>
            </a:r>
          </a:p>
          <a:p>
            <a:pPr marL="114300" indent="0" algn="ctr">
              <a:buNone/>
            </a:pPr>
            <a:r>
              <a:rPr lang="en-GB" altLang="x-none" sz="1500" dirty="0" smtClean="0"/>
              <a:t>(determine the choice of effect size)</a:t>
            </a:r>
          </a:p>
          <a:p>
            <a:pPr marL="114300" indent="0" algn="ctr">
              <a:buNone/>
            </a:pPr>
            <a:endParaRPr lang="en-GB" altLang="x-none" sz="1500" dirty="0" smtClean="0"/>
          </a:p>
          <a:p>
            <a:pPr lvl="1"/>
            <a:r>
              <a:rPr lang="en-GB" altLang="x-none" b="1" u="sng" dirty="0"/>
              <a:t>Association between Variables</a:t>
            </a:r>
          </a:p>
          <a:p>
            <a:pPr lvl="2"/>
            <a:r>
              <a:rPr lang="en-GB" altLang="x-none" dirty="0"/>
              <a:t>What is the correlation between system use and job satisfaction?</a:t>
            </a:r>
          </a:p>
          <a:p>
            <a:pPr lvl="2"/>
            <a:r>
              <a:rPr lang="en-GB" altLang="x-none" dirty="0"/>
              <a:t>Measurement Research</a:t>
            </a:r>
          </a:p>
          <a:p>
            <a:pPr lvl="3"/>
            <a:r>
              <a:rPr lang="en-GB" altLang="x-none" dirty="0"/>
              <a:t>Validation Generalization.</a:t>
            </a:r>
          </a:p>
          <a:p>
            <a:pPr lvl="1"/>
            <a:endParaRPr lang="en-GB" altLang="x-none" dirty="0" smtClean="0"/>
          </a:p>
          <a:p>
            <a:pPr lvl="1"/>
            <a:r>
              <a:rPr lang="en-GB" altLang="x-none" dirty="0" smtClean="0"/>
              <a:t>Central Tendency Description</a:t>
            </a:r>
            <a:endParaRPr lang="en-GB" altLang="x-none" dirty="0"/>
          </a:p>
          <a:p>
            <a:pPr lvl="2"/>
            <a:r>
              <a:rPr lang="en-GB" altLang="x-none" dirty="0"/>
              <a:t>What is the mean level of satisfaction among </a:t>
            </a:r>
            <a:r>
              <a:rPr lang="en-GB" altLang="x-none" dirty="0" smtClean="0"/>
              <a:t>users of a system?</a:t>
            </a:r>
          </a:p>
          <a:p>
            <a:pPr lvl="2"/>
            <a:endParaRPr lang="en-GB" altLang="x-none" dirty="0"/>
          </a:p>
          <a:p>
            <a:pPr lvl="1"/>
            <a:r>
              <a:rPr lang="en-GB" altLang="x-none" dirty="0" smtClean="0"/>
              <a:t>Pre-Post Contrasts</a:t>
            </a:r>
            <a:endParaRPr lang="en-GB" altLang="x-none" dirty="0"/>
          </a:p>
          <a:p>
            <a:pPr lvl="2"/>
            <a:r>
              <a:rPr lang="en-GB" altLang="x-none" dirty="0"/>
              <a:t>How did </a:t>
            </a:r>
            <a:r>
              <a:rPr lang="en-GB" altLang="x-none" dirty="0" smtClean="0"/>
              <a:t>employees’ satisfaction </a:t>
            </a:r>
            <a:r>
              <a:rPr lang="en-GB" altLang="x-none" dirty="0"/>
              <a:t>levels change before and after </a:t>
            </a:r>
            <a:r>
              <a:rPr lang="en-GB" altLang="x-none" dirty="0" smtClean="0"/>
              <a:t>adopting a system?</a:t>
            </a:r>
            <a:endParaRPr lang="en-GB" altLang="x-none" dirty="0"/>
          </a:p>
          <a:p>
            <a:pPr lvl="1"/>
            <a:endParaRPr lang="en-GB" altLang="x-none" dirty="0" smtClean="0"/>
          </a:p>
          <a:p>
            <a:pPr lvl="1"/>
            <a:r>
              <a:rPr lang="en-GB" altLang="x-none" dirty="0" smtClean="0"/>
              <a:t>Group Contrasts</a:t>
            </a:r>
            <a:endParaRPr lang="en-GB" altLang="x-none" dirty="0"/>
          </a:p>
          <a:p>
            <a:pPr lvl="2"/>
            <a:r>
              <a:rPr lang="en-GB" altLang="x-none" dirty="0" smtClean="0"/>
              <a:t>Are employees who are using a system more </a:t>
            </a:r>
            <a:r>
              <a:rPr lang="en-GB" altLang="x-none" dirty="0"/>
              <a:t>satisfied than </a:t>
            </a:r>
            <a:r>
              <a:rPr lang="en-GB" altLang="x-none" dirty="0" smtClean="0"/>
              <a:t>non-users?</a:t>
            </a:r>
            <a:endParaRPr lang="en-GB" altLang="x-none" dirty="0"/>
          </a:p>
        </p:txBody>
      </p:sp>
      <p:sp>
        <p:nvSpPr>
          <p:cNvPr id="7" name="Rectangle 6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744904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Establishing Inclusion/Exclusion Criteria: </a:t>
            </a:r>
            <a:r>
              <a:rPr lang="en-US" sz="1800" dirty="0" smtClean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/>
          </a:bodyPr>
          <a:lstStyle/>
          <a:p>
            <a:r>
              <a:rPr lang="en-US" dirty="0" smtClean="0"/>
              <a:t>Components </a:t>
            </a:r>
            <a:r>
              <a:rPr lang="en-US" dirty="0"/>
              <a:t>of a detailed </a:t>
            </a:r>
            <a:r>
              <a:rPr lang="en-US" dirty="0" smtClean="0"/>
              <a:t>criteria:</a:t>
            </a:r>
            <a:endParaRPr lang="en-US" dirty="0"/>
          </a:p>
          <a:p>
            <a:pPr lvl="1"/>
            <a:r>
              <a:rPr lang="en-US" dirty="0" smtClean="0"/>
              <a:t>Distinguishing Features</a:t>
            </a:r>
          </a:p>
          <a:p>
            <a:pPr lvl="2"/>
            <a:r>
              <a:rPr lang="en-US" dirty="0" smtClean="0"/>
              <a:t>E.g., post-adoption studies.</a:t>
            </a:r>
            <a:endParaRPr lang="en-US" dirty="0"/>
          </a:p>
          <a:p>
            <a:pPr lvl="1"/>
            <a:r>
              <a:rPr lang="en-US" dirty="0" smtClean="0"/>
              <a:t>Research respondents</a:t>
            </a:r>
          </a:p>
          <a:p>
            <a:pPr lvl="2"/>
            <a:r>
              <a:rPr lang="en-US" dirty="0" smtClean="0"/>
              <a:t>E.g., Studies of online banking users.</a:t>
            </a:r>
            <a:endParaRPr lang="en-US" dirty="0"/>
          </a:p>
          <a:p>
            <a:pPr lvl="1"/>
            <a:r>
              <a:rPr lang="en-US" dirty="0" smtClean="0"/>
              <a:t>Key </a:t>
            </a:r>
            <a:r>
              <a:rPr lang="en-US" dirty="0"/>
              <a:t>variables</a:t>
            </a:r>
          </a:p>
          <a:p>
            <a:pPr lvl="1"/>
            <a:r>
              <a:rPr lang="en-US" dirty="0" smtClean="0"/>
              <a:t>Research methods</a:t>
            </a:r>
          </a:p>
          <a:p>
            <a:pPr lvl="2"/>
            <a:r>
              <a:rPr lang="en-US" dirty="0" smtClean="0"/>
              <a:t>E.g., Survey-based research.</a:t>
            </a:r>
            <a:endParaRPr lang="en-US" dirty="0"/>
          </a:p>
          <a:p>
            <a:pPr lvl="1"/>
            <a:r>
              <a:rPr lang="en-US" dirty="0" smtClean="0"/>
              <a:t>Cultural </a:t>
            </a:r>
            <a:r>
              <a:rPr lang="en-US" dirty="0"/>
              <a:t>and linguistic range</a:t>
            </a:r>
          </a:p>
          <a:p>
            <a:pPr lvl="1"/>
            <a:r>
              <a:rPr lang="en-US" dirty="0" smtClean="0"/>
              <a:t>Time </a:t>
            </a:r>
            <a:r>
              <a:rPr lang="en-US" dirty="0"/>
              <a:t>frame</a:t>
            </a:r>
          </a:p>
          <a:p>
            <a:pPr lvl="1"/>
            <a:r>
              <a:rPr lang="en-US" dirty="0" smtClean="0"/>
              <a:t>Publication types</a:t>
            </a:r>
          </a:p>
          <a:p>
            <a:pPr lvl="2"/>
            <a:endParaRPr lang="en-US" sz="1050" dirty="0"/>
          </a:p>
          <a:p>
            <a:r>
              <a:rPr lang="en-US" dirty="0"/>
              <a:t>Refine the criteria as you interact with the literature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8461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Establishing Inclusion/Exclusion Criteria: </a:t>
            </a:r>
            <a:r>
              <a:rPr lang="en-US" sz="1800" dirty="0" smtClean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/>
          </a:bodyPr>
          <a:lstStyle/>
          <a:p>
            <a:r>
              <a:rPr lang="en-US" dirty="0"/>
              <a:t>Include or exclude low quality studies?</a:t>
            </a:r>
          </a:p>
          <a:p>
            <a:pPr lvl="1"/>
            <a:r>
              <a:rPr lang="en-US" dirty="0"/>
              <a:t>The findings of all studies are potentially in error </a:t>
            </a:r>
            <a:endParaRPr lang="en-US" dirty="0" smtClean="0"/>
          </a:p>
          <a:p>
            <a:pPr lvl="2"/>
            <a:r>
              <a:rPr lang="en-US" dirty="0" smtClean="0"/>
              <a:t>Methodological </a:t>
            </a:r>
            <a:r>
              <a:rPr lang="en-US" dirty="0"/>
              <a:t>quality is a continuum, not a </a:t>
            </a:r>
            <a:r>
              <a:rPr lang="en-US" dirty="0" smtClean="0"/>
              <a:t>dichotomy.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Being too restrictive may restrict ability to </a:t>
            </a:r>
            <a:r>
              <a:rPr lang="en-US" dirty="0" smtClean="0"/>
              <a:t>generalize.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Being too inclusive may weaken the confidence that can be placed in the </a:t>
            </a:r>
            <a:r>
              <a:rPr lang="en-US" dirty="0" smtClean="0"/>
              <a:t>findings.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Methodological quality is often in the “eye-of-the-beholder</a:t>
            </a:r>
            <a:r>
              <a:rPr lang="en-US" dirty="0" smtClean="0"/>
              <a:t>”.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You </a:t>
            </a:r>
            <a:r>
              <a:rPr lang="en-US" dirty="0"/>
              <a:t>must strike a balance that is appropriate to your research </a:t>
            </a:r>
            <a:r>
              <a:rPr lang="en-US" dirty="0" smtClean="0"/>
              <a:t>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9521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34050"/>
            <a:ext cx="8367623" cy="545770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400" b="1" u="sng" dirty="0">
                <a:solidFill>
                  <a:srgbClr val="C00000"/>
                </a:solidFill>
              </a:rPr>
              <a:t>Search </a:t>
            </a:r>
            <a:r>
              <a:rPr lang="en-US" sz="3400" b="1" u="sng" dirty="0" smtClean="0">
                <a:solidFill>
                  <a:srgbClr val="C00000"/>
                </a:solidFill>
              </a:rPr>
              <a:t>Far </a:t>
            </a:r>
            <a:r>
              <a:rPr lang="en-US" sz="3400" b="1" u="sng" dirty="0">
                <a:solidFill>
                  <a:srgbClr val="C00000"/>
                </a:solidFill>
              </a:rPr>
              <a:t>&amp; </a:t>
            </a:r>
            <a:r>
              <a:rPr lang="en-US" sz="3400" b="1" u="sng" dirty="0" smtClean="0">
                <a:solidFill>
                  <a:srgbClr val="C00000"/>
                </a:solidFill>
              </a:rPr>
              <a:t>Wide 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(not </a:t>
            </a:r>
            <a:r>
              <a:rPr lang="en-US" dirty="0">
                <a:solidFill>
                  <a:srgbClr val="C00000"/>
                </a:solidFill>
              </a:rPr>
              <a:t>just </a:t>
            </a:r>
            <a:r>
              <a:rPr lang="en-US" dirty="0" smtClean="0">
                <a:solidFill>
                  <a:srgbClr val="C00000"/>
                </a:solidFill>
              </a:rPr>
              <a:t>published studies)</a:t>
            </a:r>
          </a:p>
          <a:p>
            <a:pPr marL="0" indent="0" algn="ctr">
              <a:buNone/>
            </a:pPr>
            <a:endParaRPr lang="en-US" sz="2600" dirty="0" smtClean="0"/>
          </a:p>
          <a:p>
            <a:r>
              <a:rPr lang="en-US" dirty="0" smtClean="0"/>
              <a:t>You </a:t>
            </a:r>
            <a:r>
              <a:rPr lang="en-US" dirty="0"/>
              <a:t>should have EVERY relevant article </a:t>
            </a:r>
            <a:endParaRPr lang="en-US" dirty="0" smtClean="0"/>
          </a:p>
          <a:p>
            <a:pPr lvl="1"/>
            <a:r>
              <a:rPr lang="en-US" dirty="0" smtClean="0"/>
              <a:t>Census</a:t>
            </a:r>
            <a:r>
              <a:rPr lang="en-US" dirty="0"/>
              <a:t>, not a </a:t>
            </a:r>
            <a:r>
              <a:rPr lang="en-US" dirty="0" smtClean="0"/>
              <a:t>sample.</a:t>
            </a:r>
          </a:p>
          <a:p>
            <a:pPr lvl="1"/>
            <a:r>
              <a:rPr lang="en-US" dirty="0"/>
              <a:t>Look for conference presentations and </a:t>
            </a:r>
            <a:r>
              <a:rPr lang="en-US" dirty="0" smtClean="0"/>
              <a:t>proceedings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Search </a:t>
            </a:r>
            <a:r>
              <a:rPr lang="en-US" dirty="0"/>
              <a:t>in electronic reference </a:t>
            </a:r>
            <a:r>
              <a:rPr lang="en-US" dirty="0" smtClean="0"/>
              <a:t>databases.</a:t>
            </a:r>
          </a:p>
          <a:p>
            <a:endParaRPr lang="en-US" dirty="0" smtClean="0"/>
          </a:p>
          <a:p>
            <a:r>
              <a:rPr lang="en-US" dirty="0" smtClean="0"/>
              <a:t>Search bibliography </a:t>
            </a:r>
            <a:r>
              <a:rPr lang="en-US" dirty="0"/>
              <a:t>of previous </a:t>
            </a:r>
            <a:r>
              <a:rPr lang="en-US" dirty="0" smtClean="0"/>
              <a:t>reviews and </a:t>
            </a:r>
            <a:r>
              <a:rPr lang="en-US" dirty="0"/>
              <a:t>pertinent primary </a:t>
            </a:r>
            <a:r>
              <a:rPr lang="en-US" dirty="0" smtClean="0"/>
              <a:t>studies.</a:t>
            </a:r>
          </a:p>
          <a:p>
            <a:endParaRPr lang="en-US" dirty="0" smtClean="0"/>
          </a:p>
          <a:p>
            <a:r>
              <a:rPr lang="en-US" dirty="0" smtClean="0"/>
              <a:t>Hand </a:t>
            </a:r>
            <a:r>
              <a:rPr lang="en-US" dirty="0"/>
              <a:t>search journals that </a:t>
            </a:r>
            <a:r>
              <a:rPr lang="en-US" dirty="0" smtClean="0"/>
              <a:t>frequently publish </a:t>
            </a:r>
            <a:r>
              <a:rPr lang="en-US" dirty="0"/>
              <a:t>on the </a:t>
            </a:r>
            <a:r>
              <a:rPr lang="en-US" dirty="0" smtClean="0"/>
              <a:t>topic.</a:t>
            </a:r>
          </a:p>
          <a:p>
            <a:pPr lvl="1"/>
            <a:r>
              <a:rPr lang="en-US" dirty="0" smtClean="0"/>
              <a:t>AND the important journals in the field.</a:t>
            </a:r>
          </a:p>
          <a:p>
            <a:endParaRPr lang="en-US" dirty="0" smtClean="0"/>
          </a:p>
          <a:p>
            <a:r>
              <a:rPr lang="en-US" dirty="0" smtClean="0"/>
              <a:t>Try </a:t>
            </a:r>
            <a:r>
              <a:rPr lang="en-US" dirty="0"/>
              <a:t>to find “</a:t>
            </a:r>
            <a:r>
              <a:rPr lang="en-US" dirty="0" smtClean="0"/>
              <a:t>special issues” on the topic.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Post to </a:t>
            </a:r>
            <a:r>
              <a:rPr lang="en-US" dirty="0" err="1" smtClean="0"/>
              <a:t>Listservs</a:t>
            </a:r>
            <a:r>
              <a:rPr lang="en-US" dirty="0" smtClean="0"/>
              <a:t> and relevant forums for unpublished work.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Contact </a:t>
            </a:r>
            <a:r>
              <a:rPr lang="en-US" dirty="0" smtClean="0"/>
              <a:t>authors </a:t>
            </a:r>
            <a:r>
              <a:rPr lang="en-US" dirty="0"/>
              <a:t>who have published </a:t>
            </a:r>
            <a:r>
              <a:rPr lang="en-US" dirty="0" smtClean="0"/>
              <a:t>on your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33745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294" y="864236"/>
            <a:ext cx="5641676" cy="552148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127630" y="5061911"/>
            <a:ext cx="298474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Moher 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D,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Liberati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A,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Tetzlaff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J, Altman DG, The PRISMA Group (2009). Preferred Reporting Items for Systematic Reviews and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Meta Analyses: The 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PRISMA Statement.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PLoS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Med 6(7): e1000097.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doi:10.1371/journal.pmed1000097 </a:t>
            </a:r>
          </a:p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  <a:hlinkClick r:id="rId3"/>
              </a:rPr>
              <a:t>www.prisma-statement.org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. 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586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127" y="1047387"/>
            <a:ext cx="8799968" cy="5281804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What to code – An important decision</a:t>
            </a:r>
            <a:r>
              <a:rPr lang="mr-IN" sz="2800" b="1" u="sng" dirty="0" smtClean="0">
                <a:solidFill>
                  <a:srgbClr val="C00000"/>
                </a:solidFill>
              </a:rPr>
              <a:t>…</a:t>
            </a:r>
            <a:endParaRPr lang="en-US" sz="2800" b="1" u="sng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600" dirty="0" smtClean="0"/>
              <a:t>Decide </a:t>
            </a:r>
            <a:r>
              <a:rPr lang="en-US" sz="2600" dirty="0"/>
              <a:t>which characteristics you want to </a:t>
            </a:r>
            <a:r>
              <a:rPr lang="en-US" sz="2600" dirty="0" smtClean="0"/>
              <a:t>code in each study.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Choice of Effect Sizes to </a:t>
            </a:r>
            <a:r>
              <a:rPr lang="en-US" dirty="0" smtClean="0"/>
              <a:t>Code.</a:t>
            </a:r>
            <a:endParaRPr lang="en-US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Depends on Problem Definition.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Choice of potential Moderators to </a:t>
            </a:r>
            <a:r>
              <a:rPr lang="en-US" dirty="0" smtClean="0"/>
              <a:t>Code.</a:t>
            </a:r>
            <a:endParaRPr lang="en-US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Code </a:t>
            </a:r>
            <a:r>
              <a:rPr lang="en-US" dirty="0"/>
              <a:t>everything that might </a:t>
            </a:r>
            <a:r>
              <a:rPr lang="en-US" dirty="0" smtClean="0"/>
              <a:t>explain </a:t>
            </a:r>
            <a:r>
              <a:rPr lang="en-US" dirty="0"/>
              <a:t>variation in findings</a:t>
            </a:r>
          </a:p>
          <a:p>
            <a:pPr lvl="3">
              <a:lnSpc>
                <a:spcPct val="120000"/>
              </a:lnSpc>
            </a:pPr>
            <a:r>
              <a:rPr lang="en-US" sz="1800" dirty="0"/>
              <a:t>Methodological </a:t>
            </a:r>
            <a:r>
              <a:rPr lang="en-US" sz="1800" dirty="0" smtClean="0"/>
              <a:t>Issues</a:t>
            </a:r>
            <a:endParaRPr lang="en-US" sz="1800" dirty="0"/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Variations </a:t>
            </a:r>
            <a:r>
              <a:rPr lang="en-US" sz="1800" dirty="0" smtClean="0"/>
              <a:t>in Measures and Operationalization; </a:t>
            </a:r>
            <a:r>
              <a:rPr lang="en-US" sz="1800" dirty="0" smtClean="0"/>
              <a:t>Survey </a:t>
            </a:r>
            <a:r>
              <a:rPr lang="en-US" sz="1800" dirty="0" smtClean="0"/>
              <a:t>vs. Panel data.</a:t>
            </a:r>
            <a:endParaRPr lang="en-US" sz="1800" dirty="0"/>
          </a:p>
          <a:p>
            <a:pPr lvl="3">
              <a:lnSpc>
                <a:spcPct val="120000"/>
              </a:lnSpc>
            </a:pPr>
            <a:r>
              <a:rPr lang="en-US" sz="1800" dirty="0" smtClean="0"/>
              <a:t>Study Characteristics</a:t>
            </a:r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Contextual Differences; Rigor.</a:t>
            </a:r>
          </a:p>
          <a:p>
            <a:pPr lvl="3">
              <a:lnSpc>
                <a:spcPct val="120000"/>
              </a:lnSpc>
            </a:pPr>
            <a:r>
              <a:rPr lang="en-US" sz="1800" dirty="0" smtClean="0"/>
              <a:t>Theoretical Differences Across Studies</a:t>
            </a:r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Firm Size; Pre-adoption vs. Post-adoption Studies.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5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Effect Size (ES): </a:t>
            </a:r>
            <a:br>
              <a:rPr lang="en-US" sz="2800" dirty="0" smtClean="0"/>
            </a:br>
            <a:r>
              <a:rPr lang="en-US" sz="1800" dirty="0" smtClean="0"/>
              <a:t>The Key to Meta-Analysis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An effect size (ES) is </a:t>
            </a:r>
            <a:r>
              <a:rPr lang="en-US" dirty="0" smtClean="0"/>
              <a:t>a measure </a:t>
            </a:r>
            <a:r>
              <a:rPr lang="en-US" dirty="0"/>
              <a:t>of the magnitude </a:t>
            </a:r>
            <a:r>
              <a:rPr lang="en-US" dirty="0" smtClean="0"/>
              <a:t>and direction of a relationship </a:t>
            </a:r>
            <a:r>
              <a:rPr lang="en-US" dirty="0"/>
              <a:t>between two variables or a </a:t>
            </a:r>
            <a:r>
              <a:rPr lang="en-US" dirty="0" smtClean="0"/>
              <a:t>contrast between groups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the “dependent variable</a:t>
            </a:r>
            <a:r>
              <a:rPr lang="en-US" dirty="0" smtClean="0"/>
              <a:t>” in meta-analysis.</a:t>
            </a:r>
          </a:p>
          <a:p>
            <a:pPr lvl="1"/>
            <a:r>
              <a:rPr lang="en-US" dirty="0"/>
              <a:t>The ES encodes the selected research findings on a numeric </a:t>
            </a:r>
            <a:r>
              <a:rPr lang="en-US" dirty="0" smtClean="0"/>
              <a:t>scale.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smtClean="0"/>
              <a:t>An ES should be:</a:t>
            </a:r>
          </a:p>
          <a:p>
            <a:pPr lvl="1" algn="just"/>
            <a:r>
              <a:rPr lang="en-GB" altLang="x-none" dirty="0" smtClean="0"/>
              <a:t>Comparable </a:t>
            </a:r>
            <a:r>
              <a:rPr lang="en-GB" altLang="x-none" dirty="0"/>
              <a:t>across studies (generally requires </a:t>
            </a:r>
            <a:r>
              <a:rPr lang="en-GB" altLang="x-none" dirty="0" smtClean="0"/>
              <a:t>standardization across studies).</a:t>
            </a:r>
            <a:endParaRPr lang="en-GB" altLang="x-none" dirty="0"/>
          </a:p>
          <a:p>
            <a:pPr lvl="1"/>
            <a:r>
              <a:rPr lang="en-GB" altLang="x-none" dirty="0" smtClean="0"/>
              <a:t>Independent </a:t>
            </a:r>
            <a:r>
              <a:rPr lang="en-GB" altLang="x-none" dirty="0"/>
              <a:t>of sample </a:t>
            </a:r>
            <a:r>
              <a:rPr lang="en-GB" altLang="x-none" dirty="0" smtClean="0"/>
              <a:t>size.</a:t>
            </a:r>
          </a:p>
          <a:p>
            <a:pPr lvl="1"/>
            <a:endParaRPr lang="en-GB" altLang="x-none" dirty="0"/>
          </a:p>
          <a:p>
            <a:pPr algn="just"/>
            <a:r>
              <a:rPr lang="en-GB" altLang="x-none" dirty="0"/>
              <a:t>Different meta-analyses use different effect size indices depending on their objectives.</a:t>
            </a:r>
          </a:p>
          <a:p>
            <a:pPr lvl="1" algn="just"/>
            <a:r>
              <a:rPr lang="en-GB" altLang="x-none" dirty="0"/>
              <a:t>Each ES type may also have multiple methods of computation</a:t>
            </a:r>
            <a:r>
              <a:rPr lang="en-GB" altLang="x-none" dirty="0" smtClean="0"/>
              <a:t>.</a:t>
            </a:r>
            <a:endParaRPr lang="en-GB" altLang="x-none" dirty="0"/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25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73B2-5AB0-EB44-A94D-5669E39C824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sz="3100" dirty="0" smtClean="0"/>
              <a:t>The </a:t>
            </a:r>
            <a:r>
              <a:rPr lang="en-US" altLang="x-none" sz="3100" dirty="0"/>
              <a:t>Correlation Coefficient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7419" y="2612554"/>
            <a:ext cx="8419381" cy="2735823"/>
          </a:xfrm>
        </p:spPr>
        <p:txBody>
          <a:bodyPr/>
          <a:lstStyle/>
          <a:p>
            <a:r>
              <a:rPr lang="en-US" altLang="x-none" dirty="0"/>
              <a:t>Represents the strength of </a:t>
            </a:r>
            <a:r>
              <a:rPr lang="en-US" altLang="x-none" dirty="0">
                <a:solidFill>
                  <a:srgbClr val="FF0000"/>
                </a:solidFill>
              </a:rPr>
              <a:t>association</a:t>
            </a:r>
            <a:r>
              <a:rPr lang="en-US" altLang="x-none" dirty="0"/>
              <a:t> between two </a:t>
            </a:r>
            <a:r>
              <a:rPr lang="en-US" altLang="x-none" i="1" dirty="0"/>
              <a:t>inherently continuous</a:t>
            </a:r>
            <a:r>
              <a:rPr lang="en-US" altLang="x-none" dirty="0"/>
              <a:t> </a:t>
            </a:r>
            <a:r>
              <a:rPr lang="en-US" altLang="x-none" dirty="0" smtClean="0"/>
              <a:t>variables.</a:t>
            </a:r>
          </a:p>
          <a:p>
            <a:endParaRPr lang="en-US" altLang="x-none" dirty="0"/>
          </a:p>
          <a:p>
            <a:r>
              <a:rPr lang="en-US" altLang="x-none" dirty="0"/>
              <a:t>Generally reported directly as “r” (the Pearson product moment coefficient)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924051"/>
              </p:ext>
            </p:extLst>
          </p:nvPr>
        </p:nvGraphicFramePr>
        <p:xfrm>
          <a:off x="3652089" y="1449567"/>
          <a:ext cx="1839821" cy="710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" name="Equation" r:id="rId3" imgW="457200" imgH="177480" progId="Equation.3">
                  <p:embed/>
                </p:oleObj>
              </mc:Choice>
              <mc:Fallback>
                <p:oleObj name="Equation" r:id="rId3" imgW="457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089" y="1449567"/>
                        <a:ext cx="1839821" cy="710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647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7208-6579-1E45-A173-16E03B4B3D9F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dirty="0" smtClean="0"/>
              <a:t>The </a:t>
            </a:r>
            <a:r>
              <a:rPr lang="en-US" altLang="x-none" dirty="0"/>
              <a:t>Standardized Mean Difference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43225"/>
            <a:ext cx="8229600" cy="3187700"/>
          </a:xfrm>
        </p:spPr>
        <p:txBody>
          <a:bodyPr>
            <a:normAutofit/>
          </a:bodyPr>
          <a:lstStyle/>
          <a:p>
            <a:r>
              <a:rPr lang="en-US" altLang="x-none" dirty="0"/>
              <a:t>Represents a </a:t>
            </a:r>
            <a:r>
              <a:rPr lang="en-US" altLang="x-none" dirty="0">
                <a:solidFill>
                  <a:srgbClr val="FF0000"/>
                </a:solidFill>
              </a:rPr>
              <a:t>standardized group contrast </a:t>
            </a:r>
            <a:r>
              <a:rPr lang="en-US" altLang="x-none" dirty="0"/>
              <a:t>on an </a:t>
            </a:r>
            <a:r>
              <a:rPr lang="en-US" altLang="x-none" i="1" dirty="0"/>
              <a:t>inherently continuous</a:t>
            </a:r>
            <a:r>
              <a:rPr lang="en-US" altLang="x-none" dirty="0"/>
              <a:t> </a:t>
            </a:r>
            <a:r>
              <a:rPr lang="en-US" altLang="x-none" dirty="0" smtClean="0"/>
              <a:t>measure.</a:t>
            </a:r>
          </a:p>
          <a:p>
            <a:endParaRPr lang="en-US" altLang="x-none" dirty="0"/>
          </a:p>
          <a:p>
            <a:r>
              <a:rPr lang="en-US" altLang="x-none" dirty="0"/>
              <a:t>Uses the pooled standard deviation (some situations use control group standard deviation</a:t>
            </a:r>
            <a:r>
              <a:rPr lang="en-US" altLang="x-none" dirty="0" smtClean="0"/>
              <a:t>).</a:t>
            </a:r>
          </a:p>
          <a:p>
            <a:pPr lvl="1"/>
            <a:r>
              <a:rPr lang="en-US" altLang="x-none" dirty="0" smtClean="0"/>
              <a:t>Cohen’s d</a:t>
            </a:r>
          </a:p>
          <a:p>
            <a:pPr lvl="1"/>
            <a:r>
              <a:rPr lang="en-US" altLang="x-none" dirty="0" smtClean="0"/>
              <a:t>Hedge’s g</a:t>
            </a:r>
            <a:endParaRPr lang="en-US" altLang="x-none" dirty="0"/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371833"/>
              </p:ext>
            </p:extLst>
          </p:nvPr>
        </p:nvGraphicFramePr>
        <p:xfrm>
          <a:off x="4217183" y="1403650"/>
          <a:ext cx="4177892" cy="1088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" name="Equation" r:id="rId3" imgW="1892160" imgH="495000" progId="Equation.3">
                  <p:embed/>
                </p:oleObj>
              </mc:Choice>
              <mc:Fallback>
                <p:oleObj name="Equation" r:id="rId3" imgW="18921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183" y="1403650"/>
                        <a:ext cx="4177892" cy="1088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752025" y="1403650"/>
            <a:ext cx="2372175" cy="1088048"/>
            <a:chOff x="790088" y="1571147"/>
            <a:chExt cx="2071688" cy="909638"/>
          </a:xfrm>
        </p:grpSpPr>
        <p:graphicFrame>
          <p:nvGraphicFramePr>
            <p:cNvPr id="717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002216"/>
                </p:ext>
              </p:extLst>
            </p:nvPr>
          </p:nvGraphicFramePr>
          <p:xfrm>
            <a:off x="790088" y="1571147"/>
            <a:ext cx="2071688" cy="909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1" name="Equation" r:id="rId5" imgW="1041120" imgH="457200" progId="Equation.3">
                    <p:embed/>
                  </p:oleObj>
                </mc:Choice>
                <mc:Fallback>
                  <p:oleObj name="Equation" r:id="rId5" imgW="104112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088" y="1571147"/>
                          <a:ext cx="2071688" cy="909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790088" y="1698450"/>
              <a:ext cx="533400" cy="15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28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9D4-33F8-3F49-BDBF-6DD55C2040F5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sz="2700" dirty="0" smtClean="0"/>
              <a:t/>
            </a:r>
            <a:br>
              <a:rPr lang="en-US" altLang="x-none" sz="2700" dirty="0" smtClean="0"/>
            </a:br>
            <a:r>
              <a:rPr lang="en-US" altLang="x-none" dirty="0" smtClean="0"/>
              <a:t>The </a:t>
            </a:r>
            <a:r>
              <a:rPr lang="en-US" altLang="x-none" dirty="0"/>
              <a:t>Odds-Ratio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147865"/>
            <a:ext cx="8117456" cy="2028151"/>
          </a:xfrm>
        </p:spPr>
        <p:txBody>
          <a:bodyPr>
            <a:noAutofit/>
          </a:bodyPr>
          <a:lstStyle/>
          <a:p>
            <a:r>
              <a:rPr lang="en-US" altLang="x-none" sz="2000" dirty="0"/>
              <a:t>Represents a </a:t>
            </a:r>
            <a:r>
              <a:rPr lang="en-US" altLang="x-none" sz="2000" dirty="0" smtClean="0">
                <a:solidFill>
                  <a:srgbClr val="FF0000"/>
                </a:solidFill>
              </a:rPr>
              <a:t>group </a:t>
            </a:r>
            <a:r>
              <a:rPr lang="en-US" altLang="x-none" sz="2000" dirty="0">
                <a:solidFill>
                  <a:srgbClr val="FF0000"/>
                </a:solidFill>
              </a:rPr>
              <a:t>contrast </a:t>
            </a:r>
            <a:r>
              <a:rPr lang="en-US" altLang="x-none" sz="2000" dirty="0"/>
              <a:t>on an </a:t>
            </a:r>
            <a:r>
              <a:rPr lang="en-US" altLang="x-none" sz="2000" i="1" dirty="0"/>
              <a:t>inherently </a:t>
            </a:r>
            <a:r>
              <a:rPr lang="en-US" altLang="x-none" sz="2000" i="1" dirty="0" smtClean="0"/>
              <a:t>dichotomized</a:t>
            </a:r>
            <a:r>
              <a:rPr lang="en-US" altLang="x-none" sz="2000" dirty="0" smtClean="0"/>
              <a:t> </a:t>
            </a:r>
            <a:r>
              <a:rPr lang="en-US" altLang="x-none" sz="2000" dirty="0"/>
              <a:t>measure</a:t>
            </a:r>
            <a:r>
              <a:rPr lang="en-US" altLang="x-none" sz="2000" dirty="0" smtClean="0"/>
              <a:t>.</a:t>
            </a:r>
          </a:p>
          <a:p>
            <a:r>
              <a:rPr lang="en-US" altLang="x-none" sz="2000" dirty="0" smtClean="0"/>
              <a:t>The </a:t>
            </a:r>
            <a:r>
              <a:rPr lang="en-US" altLang="x-none" sz="2000" dirty="0"/>
              <a:t>odds-ratio is based on a 2 </a:t>
            </a:r>
            <a:r>
              <a:rPr lang="en-US" altLang="x-none" sz="2000" dirty="0" smtClean="0"/>
              <a:t>x </a:t>
            </a:r>
            <a:r>
              <a:rPr lang="en-US" altLang="x-none" sz="2000" dirty="0"/>
              <a:t>2 contingency </a:t>
            </a:r>
            <a:r>
              <a:rPr lang="en-US" altLang="x-none" sz="2000" dirty="0" smtClean="0"/>
              <a:t>table:</a:t>
            </a:r>
          </a:p>
          <a:p>
            <a:pPr lvl="1"/>
            <a:r>
              <a:rPr lang="en-US" altLang="x-none" sz="1800" dirty="0" smtClean="0"/>
              <a:t>The </a:t>
            </a:r>
            <a:r>
              <a:rPr lang="en-US" altLang="x-none" sz="1800" dirty="0"/>
              <a:t>odds of success in the treatment group relative to the odds of success in the control </a:t>
            </a:r>
            <a:r>
              <a:rPr lang="en-US" altLang="x-none" sz="1800" dirty="0" smtClean="0"/>
              <a:t>group.</a:t>
            </a:r>
            <a:endParaRPr lang="en-US" altLang="x-none" sz="1800" dirty="0"/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1728"/>
              </p:ext>
            </p:extLst>
          </p:nvPr>
        </p:nvGraphicFramePr>
        <p:xfrm>
          <a:off x="1045234" y="4270713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" name="Document" r:id="rId3" imgW="3724200" imgH="1285920" progId="WP8Doc">
                  <p:embed/>
                </p:oleObj>
              </mc:Choice>
              <mc:Fallback>
                <p:oleObj name="Document" r:id="rId3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4" y="4270713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553200" y="4270713"/>
            <a:ext cx="1936630" cy="785411"/>
            <a:chOff x="6232585" y="2968002"/>
            <a:chExt cx="1936630" cy="78541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2585" y="2968002"/>
              <a:ext cx="1936630" cy="785411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6234550" y="3118446"/>
              <a:ext cx="604653" cy="523220"/>
            </a:xfrm>
            <a:prstGeom prst="rect">
              <a:avLst/>
            </a:prstGeom>
            <a:solidFill>
              <a:srgbClr val="F2F3F2"/>
            </a:solidFill>
          </p:spPr>
          <p:txBody>
            <a:bodyPr wrap="none" rtlCol="0">
              <a:spAutoFit/>
            </a:bodyPr>
            <a:lstStyle/>
            <a:p>
              <a:r>
                <a:rPr lang="en-US" sz="2700" smtClean="0">
                  <a:latin typeface="Times New Roman" charset="0"/>
                  <a:ea typeface="Times New Roman" charset="0"/>
                  <a:cs typeface="Times New Roman" charset="0"/>
                </a:rPr>
                <a:t>ES</a:t>
              </a:r>
              <a:endParaRPr lang="en-US" sz="270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6" name="Rounded Rectangular Callout 5"/>
          <p:cNvSpPr/>
          <p:nvPr/>
        </p:nvSpPr>
        <p:spPr>
          <a:xfrm>
            <a:off x="2947359" y="3434808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Satisfaction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657045" y="3439476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25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AA39-D136-EB41-93EE-A42159D08479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dirty="0" smtClean="0"/>
              <a:t/>
            </a:r>
            <a:br>
              <a:rPr lang="en-US" altLang="x-none" dirty="0" smtClean="0"/>
            </a:br>
            <a:r>
              <a:rPr lang="en-US" altLang="x-none" dirty="0" smtClean="0"/>
              <a:t>The </a:t>
            </a:r>
            <a:r>
              <a:rPr lang="en-US" altLang="x-none" dirty="0"/>
              <a:t>Risk Ratio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0289"/>
            <a:ext cx="8229600" cy="4883959"/>
          </a:xfrm>
        </p:spPr>
        <p:txBody>
          <a:bodyPr>
            <a:normAutofit/>
          </a:bodyPr>
          <a:lstStyle/>
          <a:p>
            <a:r>
              <a:rPr lang="en-US" altLang="x-none" sz="2000"/>
              <a:t>Represents a </a:t>
            </a:r>
            <a:r>
              <a:rPr lang="en-US" altLang="x-none" sz="2000">
                <a:solidFill>
                  <a:srgbClr val="FF0000"/>
                </a:solidFill>
              </a:rPr>
              <a:t>group contrast </a:t>
            </a:r>
            <a:r>
              <a:rPr lang="en-US" altLang="x-none" sz="2000"/>
              <a:t>on an </a:t>
            </a:r>
            <a:r>
              <a:rPr lang="en-US" altLang="x-none" sz="2000" i="1"/>
              <a:t>inherently dichotomized</a:t>
            </a:r>
            <a:r>
              <a:rPr lang="en-US" altLang="x-none" sz="2000"/>
              <a:t> measure.</a:t>
            </a:r>
          </a:p>
          <a:p>
            <a:r>
              <a:rPr lang="en-US" altLang="x-none" sz="2000" dirty="0" smtClean="0"/>
              <a:t>The </a:t>
            </a:r>
            <a:r>
              <a:rPr lang="en-US" altLang="x-none" sz="2000" dirty="0"/>
              <a:t>risk ratio is also based on data from a 2 by 2 contingency </a:t>
            </a:r>
            <a:r>
              <a:rPr lang="en-US" altLang="x-none" sz="2000" dirty="0" smtClean="0"/>
              <a:t>table:</a:t>
            </a:r>
          </a:p>
          <a:p>
            <a:pPr lvl="1"/>
            <a:r>
              <a:rPr lang="en-US" altLang="x-none" sz="1800" dirty="0"/>
              <a:t>T</a:t>
            </a:r>
            <a:r>
              <a:rPr lang="en-US" altLang="x-none" sz="1800" dirty="0" smtClean="0"/>
              <a:t>he </a:t>
            </a:r>
            <a:r>
              <a:rPr lang="en-US" altLang="x-none" sz="1800" dirty="0"/>
              <a:t>ratio of the probability of success (or failure) for each </a:t>
            </a:r>
            <a:r>
              <a:rPr lang="en-US" altLang="x-none" sz="1800" dirty="0" smtClean="0"/>
              <a:t>group.</a:t>
            </a:r>
            <a:endParaRPr lang="en-US" altLang="x-none" sz="1800" dirty="0"/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375127"/>
              </p:ext>
            </p:extLst>
          </p:nvPr>
        </p:nvGraphicFramePr>
        <p:xfrm>
          <a:off x="6286229" y="4063679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4" name="Equation" r:id="rId3" imgW="1028520" imgH="419040" progId="Equation.COEE2">
                  <p:embed/>
                </p:oleObj>
              </mc:Choice>
              <mc:Fallback>
                <p:oleObj name="Equation" r:id="rId3" imgW="1028520" imgH="419040" progId="Equation.COEE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229" y="4063679"/>
                        <a:ext cx="205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776061"/>
              </p:ext>
            </p:extLst>
          </p:nvPr>
        </p:nvGraphicFramePr>
        <p:xfrm>
          <a:off x="1045233" y="4063679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" name="Document" r:id="rId5" imgW="3724200" imgH="1285920" progId="WP8Doc">
                  <p:embed/>
                </p:oleObj>
              </mc:Choice>
              <mc:Fallback>
                <p:oleObj name="Document" r:id="rId5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3" y="4063679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ounded Rectangular Callout 10"/>
          <p:cNvSpPr/>
          <p:nvPr/>
        </p:nvSpPr>
        <p:spPr>
          <a:xfrm>
            <a:off x="2947358" y="3227774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Promotion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657044" y="3232442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14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603D-ED49-4247-BE89-75AF1370C15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52086" y="304800"/>
            <a:ext cx="7992374" cy="1143000"/>
          </a:xfrm>
        </p:spPr>
        <p:txBody>
          <a:bodyPr>
            <a:noAutofit/>
          </a:bodyPr>
          <a:lstStyle/>
          <a:p>
            <a:r>
              <a:rPr lang="en-US" sz="2400" dirty="0"/>
              <a:t>Effect Size (ES): </a:t>
            </a:r>
            <a:r>
              <a:rPr lang="en-US" altLang="x-none" sz="2800" dirty="0" smtClean="0"/>
              <a:t/>
            </a:r>
            <a:br>
              <a:rPr lang="en-US" altLang="x-none" sz="2800" dirty="0" smtClean="0"/>
            </a:br>
            <a:r>
              <a:rPr lang="en-US" altLang="x-none" sz="2800" dirty="0" smtClean="0"/>
              <a:t>Additional Data </a:t>
            </a:r>
            <a:r>
              <a:rPr lang="en-US" altLang="x-none" sz="2800" dirty="0"/>
              <a:t>to Code Along With the ES</a:t>
            </a:r>
          </a:p>
        </p:txBody>
      </p:sp>
      <p:sp>
        <p:nvSpPr>
          <p:cNvPr id="3584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800600"/>
          </a:xfrm>
        </p:spPr>
        <p:txBody>
          <a:bodyPr/>
          <a:lstStyle/>
          <a:p>
            <a:endParaRPr lang="en-US" altLang="x-none" dirty="0" smtClean="0"/>
          </a:p>
          <a:p>
            <a:r>
              <a:rPr lang="en-US" altLang="x-none" dirty="0" smtClean="0"/>
              <a:t>Sample Size</a:t>
            </a:r>
          </a:p>
          <a:p>
            <a:r>
              <a:rPr lang="en-US" altLang="x-none" dirty="0" smtClean="0"/>
              <a:t>Construct Measurement Scale</a:t>
            </a:r>
          </a:p>
          <a:p>
            <a:r>
              <a:rPr lang="en-US" altLang="x-none" dirty="0" smtClean="0"/>
              <a:t>Reliability of Constructs </a:t>
            </a:r>
          </a:p>
          <a:p>
            <a:pPr lvl="1"/>
            <a:r>
              <a:rPr lang="en-US" altLang="x-none" dirty="0" smtClean="0"/>
              <a:t>E.g., Cronbach’s Alpha.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573772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altLang="x-none" dirty="0" smtClean="0"/>
              <a:t>Issues </a:t>
            </a:r>
            <a:r>
              <a:rPr lang="en-US" altLang="x-none" dirty="0"/>
              <a:t>in Coding Effect Sizes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326"/>
            <a:ext cx="8229600" cy="4909838"/>
          </a:xfrm>
        </p:spPr>
        <p:txBody>
          <a:bodyPr/>
          <a:lstStyle/>
          <a:p>
            <a:r>
              <a:rPr lang="en-US" dirty="0"/>
              <a:t>Not every article will have a nice correlation table with </a:t>
            </a:r>
            <a:r>
              <a:rPr lang="en-US" dirty="0" smtClean="0"/>
              <a:t>sample size (N), </a:t>
            </a:r>
            <a:r>
              <a:rPr lang="en-US" dirty="0"/>
              <a:t>alphas, etc.</a:t>
            </a:r>
          </a:p>
          <a:p>
            <a:r>
              <a:rPr lang="en-US" dirty="0" smtClean="0"/>
              <a:t>So, you may need to look </a:t>
            </a:r>
            <a:r>
              <a:rPr lang="en-US" dirty="0"/>
              <a:t>for “r” substitutes:</a:t>
            </a:r>
          </a:p>
          <a:p>
            <a:pPr lvl="1"/>
            <a:r>
              <a:rPr lang="en-US" dirty="0" smtClean="0"/>
              <a:t>Beta values </a:t>
            </a:r>
            <a:r>
              <a:rPr lang="en-US" dirty="0"/>
              <a:t>if there is only one </a:t>
            </a:r>
            <a:r>
              <a:rPr lang="en-US" dirty="0" smtClean="0"/>
              <a:t>independent variable (IV) in the regression equation.</a:t>
            </a:r>
            <a:endParaRPr lang="en-US" dirty="0"/>
          </a:p>
          <a:p>
            <a:pPr lvl="1"/>
            <a:r>
              <a:rPr lang="en-US" dirty="0" smtClean="0"/>
              <a:t>Beta </a:t>
            </a:r>
            <a:r>
              <a:rPr lang="en-US" dirty="0"/>
              <a:t>if this is the first step in hierarchical </a:t>
            </a:r>
            <a:r>
              <a:rPr lang="en-US" dirty="0" smtClean="0"/>
              <a:t>regression.</a:t>
            </a:r>
            <a:endParaRPr lang="en-US" dirty="0"/>
          </a:p>
          <a:p>
            <a:pPr lvl="1"/>
            <a:r>
              <a:rPr lang="en-US" dirty="0"/>
              <a:t>A path coefficient in SEM (if no other IVs affecting that </a:t>
            </a:r>
            <a:r>
              <a:rPr lang="en-US" dirty="0" smtClean="0"/>
              <a:t>dependent variable).</a:t>
            </a:r>
          </a:p>
          <a:p>
            <a:pPr marL="457200" lvl="1" indent="0">
              <a:buNone/>
            </a:pPr>
            <a:endParaRPr lang="en-US" sz="1400" i="1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sz="1600" i="1" dirty="0" smtClean="0">
                <a:solidFill>
                  <a:srgbClr val="C00000"/>
                </a:solidFill>
              </a:rPr>
              <a:t>(See</a:t>
            </a:r>
            <a:r>
              <a:rPr lang="en-US" sz="1600" i="1" dirty="0" smtClean="0">
                <a:solidFill>
                  <a:srgbClr val="C00000"/>
                </a:solidFill>
              </a:rPr>
              <a:t>: Appendix B in Montazemi &amp; Qahri-Saremi (2015))</a:t>
            </a:r>
            <a:endParaRPr lang="en-US" sz="1600" i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52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26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dirty="0"/>
              <a:t>Effect Size (ES):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altLang="x-none" sz="2800" dirty="0" smtClean="0"/>
              <a:t>Independent Set of Effect Sizes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199" y="1417638"/>
            <a:ext cx="840614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dirty="0"/>
              <a:t>Must be dealing with an independent set of effect sizes before proceeding with the analysis.</a:t>
            </a:r>
          </a:p>
          <a:p>
            <a:pPr lvl="1"/>
            <a:r>
              <a:rPr lang="en-US" altLang="x-none" dirty="0"/>
              <a:t>One ES per </a:t>
            </a:r>
            <a:r>
              <a:rPr lang="en-US" altLang="x-none" dirty="0" smtClean="0"/>
              <a:t>a study </a:t>
            </a:r>
            <a:r>
              <a:rPr lang="en-US" altLang="x-none" dirty="0"/>
              <a:t>OR</a:t>
            </a:r>
          </a:p>
          <a:p>
            <a:pPr lvl="1"/>
            <a:r>
              <a:rPr lang="en-US" altLang="x-none" dirty="0"/>
              <a:t>One ES per </a:t>
            </a:r>
            <a:r>
              <a:rPr lang="en-US" altLang="x-none" dirty="0" smtClean="0"/>
              <a:t>each subsample </a:t>
            </a:r>
            <a:r>
              <a:rPr lang="en-US" altLang="x-none" dirty="0"/>
              <a:t>within a </a:t>
            </a:r>
            <a:r>
              <a:rPr lang="en-US" altLang="x-none" dirty="0" smtClean="0"/>
              <a:t>study</a:t>
            </a:r>
          </a:p>
          <a:p>
            <a:pPr lvl="1"/>
            <a:endParaRPr lang="en-US" altLang="x-none" dirty="0"/>
          </a:p>
          <a:p>
            <a:r>
              <a:rPr lang="en-US" altLang="x-none" b="1" dirty="0" smtClean="0"/>
              <a:t>Remember:</a:t>
            </a:r>
          </a:p>
          <a:p>
            <a:pPr lvl="1"/>
            <a:r>
              <a:rPr lang="en-US" altLang="x-none" dirty="0" smtClean="0"/>
              <a:t>One paper can report multiple independent studies (e.g., study1, study </a:t>
            </a:r>
            <a:r>
              <a:rPr lang="en-US" altLang="x-none" dirty="0" smtClean="0"/>
              <a:t>2)</a:t>
            </a:r>
            <a:endParaRPr lang="en-US" altLang="x-none" dirty="0" smtClean="0"/>
          </a:p>
          <a:p>
            <a:pPr lvl="2"/>
            <a:r>
              <a:rPr lang="en-US" altLang="x-none" dirty="0" smtClean="0"/>
              <a:t>Therefore, one paper can provide multiple ES, one for each independent sample.</a:t>
            </a:r>
          </a:p>
          <a:p>
            <a:pPr lvl="1"/>
            <a:r>
              <a:rPr lang="en-US" altLang="x-none" dirty="0" smtClean="0"/>
              <a:t>Multiple studies might be based on the same sample</a:t>
            </a:r>
          </a:p>
          <a:p>
            <a:pPr lvl="2"/>
            <a:r>
              <a:rPr lang="en-US" altLang="x-none" dirty="0" smtClean="0"/>
              <a:t>In this case, only one ES from that sample should be drawn.</a:t>
            </a:r>
            <a:endParaRPr lang="en-US" altLang="x-none" dirty="0"/>
          </a:p>
        </p:txBody>
      </p:sp>
      <p:sp>
        <p:nvSpPr>
          <p:cNvPr id="6" name="Rectangle 5"/>
          <p:cNvSpPr/>
          <p:nvPr/>
        </p:nvSpPr>
        <p:spPr>
          <a:xfrm>
            <a:off x="6584830" y="6102434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3501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27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dirty="0"/>
              <a:t>Effect Size (</a:t>
            </a:r>
            <a:r>
              <a:rPr lang="en-US"/>
              <a:t>ES</a:t>
            </a:r>
            <a:r>
              <a:rPr lang="en-US" smtClean="0"/>
              <a:t>)</a:t>
            </a:r>
            <a:endParaRPr lang="en-US" altLang="x-none" sz="3600" dirty="0" smtClean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588" y="1417638"/>
            <a:ext cx="314155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sz="1800" dirty="0" smtClean="0"/>
              <a:t>So far, you should have a list of studies with their:</a:t>
            </a:r>
          </a:p>
          <a:p>
            <a:pPr lvl="1"/>
            <a:r>
              <a:rPr lang="en-US" altLang="x-none" sz="1600" dirty="0" smtClean="0"/>
              <a:t>Effect sizes</a:t>
            </a:r>
          </a:p>
          <a:p>
            <a:pPr lvl="1"/>
            <a:r>
              <a:rPr lang="en-US" altLang="x-none" sz="1600" dirty="0" smtClean="0"/>
              <a:t>Sample sizes</a:t>
            </a:r>
          </a:p>
          <a:p>
            <a:pPr lvl="1"/>
            <a:r>
              <a:rPr lang="en-US" altLang="x-none" sz="1600" dirty="0" smtClean="0"/>
              <a:t>Reliabilities of Measures </a:t>
            </a:r>
          </a:p>
          <a:p>
            <a:pPr lvl="1"/>
            <a:r>
              <a:rPr lang="en-US" altLang="x-none" sz="1600" dirty="0" smtClean="0"/>
              <a:t>Potential moderators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838" y="1535332"/>
            <a:ext cx="5895736" cy="33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74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Fixed-Effects Meta-Analysis:</a:t>
            </a:r>
          </a:p>
          <a:p>
            <a:pPr lvl="1" algn="just"/>
            <a:r>
              <a:rPr lang="en-US" dirty="0" smtClean="0"/>
              <a:t>All studies are drawn from ONE homogenous population and any variation among their effect sizes is the result of sampling errors. </a:t>
            </a:r>
          </a:p>
          <a:p>
            <a:pPr lvl="2" algn="just"/>
            <a:r>
              <a:rPr lang="en-US" dirty="0" smtClean="0"/>
              <a:t>There is a fixed effect that varies in different samples (studies) as a result of sampling error.</a:t>
            </a:r>
          </a:p>
          <a:p>
            <a:pPr lvl="2" algn="just"/>
            <a:endParaRPr lang="en-US" dirty="0" smtClean="0"/>
          </a:p>
          <a:p>
            <a:pPr lvl="1" algn="just"/>
            <a:r>
              <a:rPr lang="en-US" dirty="0" smtClean="0"/>
              <a:t>The variance for the pooled ES is made up only </a:t>
            </a:r>
            <a:r>
              <a:rPr lang="en-US" dirty="0"/>
              <a:t>sampling errors (within study variance)</a:t>
            </a:r>
            <a:r>
              <a:rPr lang="en-US" dirty="0" smtClean="0"/>
              <a:t>.</a:t>
            </a:r>
          </a:p>
          <a:p>
            <a:pPr lvl="2" algn="just"/>
            <a:r>
              <a:rPr lang="en-US" dirty="0" smtClean="0"/>
              <a:t>E.g., Hedges &amp; </a:t>
            </a:r>
            <a:r>
              <a:rPr lang="en-US" dirty="0" err="1" smtClean="0"/>
              <a:t>Olkin</a:t>
            </a:r>
            <a:r>
              <a:rPr lang="en-US" dirty="0" smtClean="0"/>
              <a:t> (1985) fixed-effects method.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765493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99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Random-Effects Meta-Analysis:</a:t>
            </a:r>
          </a:p>
          <a:p>
            <a:pPr lvl="1" algn="just"/>
            <a:r>
              <a:rPr lang="en-US" dirty="0"/>
              <a:t>The </a:t>
            </a:r>
            <a:r>
              <a:rPr lang="en-US" dirty="0" smtClean="0"/>
              <a:t>assumption </a:t>
            </a:r>
            <a:r>
              <a:rPr lang="en-US" dirty="0"/>
              <a:t>is that the average effect size in the population varies randomly from </a:t>
            </a:r>
            <a:r>
              <a:rPr lang="en-US" dirty="0" smtClean="0"/>
              <a:t>study to </a:t>
            </a:r>
            <a:r>
              <a:rPr lang="en-US" dirty="0"/>
              <a:t>study: </a:t>
            </a:r>
            <a:endParaRPr lang="en-US" dirty="0" smtClean="0"/>
          </a:p>
          <a:p>
            <a:pPr lvl="2" algn="just"/>
            <a:r>
              <a:rPr lang="en-US" dirty="0" smtClean="0"/>
              <a:t>Studies </a:t>
            </a:r>
            <a:r>
              <a:rPr lang="en-US" dirty="0"/>
              <a:t>in a meta-analysis come from populations that have different </a:t>
            </a:r>
            <a:r>
              <a:rPr lang="en-US" dirty="0" smtClean="0"/>
              <a:t>average effect </a:t>
            </a:r>
            <a:r>
              <a:rPr lang="en-US" dirty="0"/>
              <a:t>sizes, so population effect sizes can be thought of as being sampled from </a:t>
            </a:r>
            <a:r>
              <a:rPr lang="en-US" dirty="0" smtClean="0"/>
              <a:t>a ‘super population’. </a:t>
            </a:r>
          </a:p>
          <a:p>
            <a:pPr lvl="2" algn="just"/>
            <a:r>
              <a:rPr lang="en-US" dirty="0" smtClean="0"/>
              <a:t>In </a:t>
            </a:r>
            <a:r>
              <a:rPr lang="en-US" dirty="0"/>
              <a:t>this case, the effect sizes should be </a:t>
            </a:r>
            <a:r>
              <a:rPr lang="en-US" dirty="0" smtClean="0"/>
              <a:t>heterogeneous because </a:t>
            </a:r>
            <a:r>
              <a:rPr lang="en-US" dirty="0"/>
              <a:t>they come from populations with varying average effect sizes</a:t>
            </a:r>
            <a:r>
              <a:rPr lang="en-US" dirty="0" smtClean="0"/>
              <a:t>. </a:t>
            </a:r>
          </a:p>
          <a:p>
            <a:pPr lvl="1" algn="just"/>
            <a:r>
              <a:rPr lang="en-US" dirty="0" smtClean="0"/>
              <a:t>The variance for the pooled ES includes both sampling error (within study variance) and between-study variance.</a:t>
            </a:r>
          </a:p>
          <a:p>
            <a:pPr lvl="2" algn="just"/>
            <a:r>
              <a:rPr lang="en-US" dirty="0"/>
              <a:t>E.g., </a:t>
            </a:r>
            <a:r>
              <a:rPr lang="en-US" dirty="0" smtClean="0"/>
              <a:t>Hunter &amp; Schmidt (2004); Hedges </a:t>
            </a:r>
            <a:r>
              <a:rPr lang="en-US" dirty="0"/>
              <a:t>&amp; </a:t>
            </a:r>
            <a:r>
              <a:rPr lang="en-US" dirty="0" err="1"/>
              <a:t>Olkin</a:t>
            </a:r>
            <a:r>
              <a:rPr lang="en-US" dirty="0"/>
              <a:t> (1985) </a:t>
            </a:r>
            <a:r>
              <a:rPr lang="en-US" dirty="0" smtClean="0"/>
              <a:t>random-effects </a:t>
            </a:r>
            <a:r>
              <a:rPr lang="en-US" dirty="0"/>
              <a:t>method.</a:t>
            </a:r>
          </a:p>
          <a:p>
            <a:pPr lvl="2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872247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21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Which Approach Should be Selected for the Meta-Analysis?</a:t>
            </a:r>
          </a:p>
          <a:p>
            <a:pPr lvl="1" algn="just"/>
            <a:r>
              <a:rPr lang="en-US" b="1" dirty="0" smtClean="0"/>
              <a:t>Fixed-effect </a:t>
            </a:r>
            <a:r>
              <a:rPr lang="en-US" b="1" dirty="0"/>
              <a:t>models </a:t>
            </a:r>
            <a:r>
              <a:rPr lang="en-US" dirty="0" smtClean="0"/>
              <a:t>are appropriate </a:t>
            </a:r>
            <a:r>
              <a:rPr lang="en-US" dirty="0"/>
              <a:t>for inferences that extend only to the studies included in the </a:t>
            </a:r>
            <a:r>
              <a:rPr lang="en-US" dirty="0" smtClean="0"/>
              <a:t>meta-analysis (conditional </a:t>
            </a:r>
            <a:r>
              <a:rPr lang="en-US" dirty="0"/>
              <a:t>inferences</a:t>
            </a:r>
            <a:r>
              <a:rPr lang="en-US" dirty="0" smtClean="0"/>
              <a:t>).</a:t>
            </a:r>
          </a:p>
          <a:p>
            <a:pPr lvl="2" algn="just"/>
            <a:r>
              <a:rPr lang="en-US" dirty="0" smtClean="0"/>
              <a:t>Only if the effect sizes are homogenous.</a:t>
            </a:r>
          </a:p>
          <a:p>
            <a:pPr lvl="1" algn="just"/>
            <a:r>
              <a:rPr lang="en-US" b="1" dirty="0" smtClean="0"/>
              <a:t>Random-effects </a:t>
            </a:r>
            <a:r>
              <a:rPr lang="en-US" b="1" dirty="0"/>
              <a:t>models </a:t>
            </a:r>
            <a:r>
              <a:rPr lang="en-US" dirty="0"/>
              <a:t>allow inferences </a:t>
            </a:r>
            <a:r>
              <a:rPr lang="en-US" dirty="0" smtClean="0"/>
              <a:t>that generalize </a:t>
            </a:r>
            <a:r>
              <a:rPr lang="en-US" dirty="0"/>
              <a:t>beyond the studies included in the meta-analysis (unconditional inferences</a:t>
            </a:r>
            <a:r>
              <a:rPr lang="en-US" dirty="0" smtClean="0"/>
              <a:t>).</a:t>
            </a:r>
          </a:p>
          <a:p>
            <a:pPr lvl="2" algn="just"/>
            <a:r>
              <a:rPr lang="en-US" dirty="0" smtClean="0"/>
              <a:t>When the effect sizes are not homogenous.</a:t>
            </a:r>
            <a:endParaRPr lang="en-US" dirty="0"/>
          </a:p>
          <a:p>
            <a:pPr lvl="2" algn="just"/>
            <a:r>
              <a:rPr lang="en-US" dirty="0" smtClean="0"/>
              <a:t>Data suggest that </a:t>
            </a:r>
            <a:r>
              <a:rPr lang="en-US" dirty="0"/>
              <a:t>a random-effects approach should be the norm in social </a:t>
            </a:r>
            <a:r>
              <a:rPr lang="en-US" dirty="0" smtClean="0"/>
              <a:t>sciences </a:t>
            </a:r>
            <a:r>
              <a:rPr lang="en-US" dirty="0"/>
              <a:t>data</a:t>
            </a:r>
            <a:r>
              <a:rPr lang="en-US" dirty="0" smtClean="0"/>
              <a:t>.</a:t>
            </a:r>
          </a:p>
          <a:p>
            <a:pPr lvl="2" algn="just"/>
            <a:r>
              <a:rPr lang="en-US" dirty="0" smtClean="0"/>
              <a:t>Note </a:t>
            </a:r>
            <a:r>
              <a:rPr lang="en-US" dirty="0"/>
              <a:t>that </a:t>
            </a:r>
            <a:r>
              <a:rPr lang="en-US" dirty="0" smtClean="0"/>
              <a:t>the </a:t>
            </a:r>
            <a:r>
              <a:rPr lang="en-US" dirty="0"/>
              <a:t>consequences of applying </a:t>
            </a:r>
            <a:r>
              <a:rPr lang="en-US" dirty="0" smtClean="0"/>
              <a:t>fixed-effects methods </a:t>
            </a:r>
            <a:r>
              <a:rPr lang="en-US" dirty="0"/>
              <a:t>to random-effects data can be quite dramatic: </a:t>
            </a:r>
            <a:endParaRPr lang="en-US" dirty="0" smtClean="0"/>
          </a:p>
          <a:p>
            <a:pPr lvl="3" algn="just"/>
            <a:r>
              <a:rPr lang="en-US" dirty="0" smtClean="0"/>
              <a:t>Significance </a:t>
            </a:r>
            <a:r>
              <a:rPr lang="en-US" dirty="0"/>
              <a:t>tests of the </a:t>
            </a:r>
            <a:r>
              <a:rPr lang="en-US" dirty="0" smtClean="0"/>
              <a:t>estimate of </a:t>
            </a:r>
            <a:r>
              <a:rPr lang="en-US" dirty="0"/>
              <a:t>the population effect </a:t>
            </a:r>
            <a:r>
              <a:rPr lang="en-US" dirty="0" smtClean="0"/>
              <a:t>size (pooled effect size) have </a:t>
            </a:r>
            <a:r>
              <a:rPr lang="en-US" dirty="0"/>
              <a:t>Type I error rates inflated from the normal 5% to </a:t>
            </a:r>
            <a:r>
              <a:rPr lang="en-US" dirty="0" smtClean="0"/>
              <a:t>11% – 80%. </a:t>
            </a:r>
            <a:endParaRPr lang="en-US" dirty="0"/>
          </a:p>
          <a:p>
            <a:pPr lvl="3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58310" y="5924901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Field &amp; Gillette (2010)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189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7485"/>
            <a:ext cx="8229600" cy="4858678"/>
          </a:xfrm>
        </p:spPr>
        <p:txBody>
          <a:bodyPr>
            <a:normAutofit lnSpcReduction="10000"/>
          </a:bodyPr>
          <a:lstStyle/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Correct </a:t>
            </a:r>
            <a:r>
              <a:rPr lang="en-US" altLang="x-none" dirty="0"/>
              <a:t>the effect sizes for unreliability </a:t>
            </a: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Standardize the effect sizes using Fisher’s Z Transformation</a:t>
            </a:r>
            <a:endParaRPr lang="en-US" altLang="x-none" dirty="0"/>
          </a:p>
          <a:p>
            <a:pPr marL="514350" indent="-457200">
              <a:lnSpc>
                <a:spcPct val="80000"/>
              </a:lnSpc>
              <a:buFont typeface="+mj-lt"/>
              <a:buAutoNum type="arabicParenR"/>
            </a:pPr>
            <a:endParaRPr lang="en-US" altLang="x-none" i="1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Weight </a:t>
            </a:r>
            <a:r>
              <a:rPr lang="en-US" altLang="x-none" dirty="0"/>
              <a:t>the effect sizes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</a:t>
            </a:r>
            <a:r>
              <a:rPr lang="en-US" altLang="x-none" dirty="0"/>
              <a:t>the overall weighted mean effect </a:t>
            </a:r>
            <a:r>
              <a:rPr lang="en-US" altLang="x-none" dirty="0" smtClean="0"/>
              <a:t>size (pooled effect size)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the credibility interval for the pooled effect size.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/>
              <a:t>Calculate the </a:t>
            </a:r>
            <a:r>
              <a:rPr lang="en-US" altLang="x-none" dirty="0" smtClean="0"/>
              <a:t>homogeneity index (Q statistic) </a:t>
            </a:r>
            <a:r>
              <a:rPr lang="en-US" altLang="x-none" dirty="0"/>
              <a:t>for the pooled effect size</a:t>
            </a:r>
            <a:r>
              <a:rPr lang="en-US" altLang="x-none" dirty="0" smtClean="0"/>
              <a:t>.</a:t>
            </a:r>
          </a:p>
          <a:p>
            <a:pPr marL="914400" lvl="1" indent="-514350">
              <a:lnSpc>
                <a:spcPct val="80000"/>
              </a:lnSpc>
            </a:pPr>
            <a:r>
              <a:rPr lang="en-US" altLang="x-none" dirty="0" smtClean="0"/>
              <a:t>Provide the ground for moderation analysis.</a:t>
            </a: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8226" y="130175"/>
            <a:ext cx="8229600" cy="901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 smtClean="0"/>
              <a:t>The Basic Meta-Analysis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34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 smtClean="0"/>
              <a:t>Correction for the sources of errors in effect sizes:</a:t>
            </a:r>
          </a:p>
          <a:p>
            <a:pPr lvl="1"/>
            <a:r>
              <a:rPr lang="en-US" dirty="0" smtClean="0"/>
              <a:t>Such as measurement errors (measures reliability):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altLang="x-none" b="1" dirty="0"/>
              <a:t>So if: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xy</a:t>
            </a:r>
            <a:r>
              <a:rPr lang="en-US" altLang="x-none" b="1" dirty="0"/>
              <a:t> </a:t>
            </a:r>
            <a:r>
              <a:rPr lang="en-US" altLang="x-none" dirty="0"/>
              <a:t>=</a:t>
            </a:r>
            <a:r>
              <a:rPr lang="en-US" altLang="x-none" b="1" dirty="0"/>
              <a:t> </a:t>
            </a:r>
            <a:r>
              <a:rPr lang="en-US" altLang="x-none" dirty="0"/>
              <a:t>.45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xx</a:t>
            </a:r>
            <a:r>
              <a:rPr lang="en-US" altLang="x-none" dirty="0"/>
              <a:t> = .93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yy</a:t>
            </a:r>
            <a:r>
              <a:rPr lang="en-US" altLang="x-none" dirty="0"/>
              <a:t> = .91</a:t>
            </a:r>
          </a:p>
          <a:p>
            <a:pPr lvl="1">
              <a:lnSpc>
                <a:spcPct val="90000"/>
              </a:lnSpc>
            </a:pPr>
            <a:endParaRPr lang="en-US" altLang="x-none" dirty="0"/>
          </a:p>
          <a:p>
            <a:pPr lvl="2">
              <a:lnSpc>
                <a:spcPct val="90000"/>
              </a:lnSpc>
            </a:pPr>
            <a:r>
              <a:rPr lang="en-US" altLang="x-none" dirty="0"/>
              <a:t>Then  </a:t>
            </a:r>
            <a:r>
              <a:rPr lang="en-US" altLang="x-none" b="1" dirty="0" err="1" smtClean="0"/>
              <a:t>r</a:t>
            </a:r>
            <a:r>
              <a:rPr lang="en-US" altLang="x-none" b="1" baseline="-25000" dirty="0" err="1" smtClean="0"/>
              <a:t>c</a:t>
            </a:r>
            <a:r>
              <a:rPr lang="en-US" altLang="x-none" b="1" dirty="0" smtClean="0"/>
              <a:t> </a:t>
            </a:r>
            <a:r>
              <a:rPr lang="en-US" altLang="x-none" dirty="0"/>
              <a:t>= </a:t>
            </a:r>
            <a:r>
              <a:rPr lang="en-US" altLang="x-none" dirty="0" smtClean="0"/>
              <a:t>0.45 / </a:t>
            </a:r>
            <a:r>
              <a:rPr lang="en-US" altLang="x-none" dirty="0" err="1" smtClean="0"/>
              <a:t>sqrt</a:t>
            </a:r>
            <a:r>
              <a:rPr lang="en-US" altLang="x-none" dirty="0" smtClean="0"/>
              <a:t>(0.93 x 0.91) = 0.49</a:t>
            </a:r>
            <a:endParaRPr lang="en-US" altLang="x-none" baseline="-25000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No reliability reported = 1.</a:t>
            </a:r>
          </a:p>
          <a:p>
            <a:pPr lvl="1"/>
            <a:endParaRPr lang="en-US" dirty="0"/>
          </a:p>
          <a:p>
            <a:pPr marL="57150" indent="0">
              <a:buNone/>
            </a:pPr>
            <a:r>
              <a:rPr lang="en-US" sz="1700" dirty="0" smtClean="0"/>
              <a:t>For other </a:t>
            </a:r>
            <a:r>
              <a:rPr lang="en-US" sz="1700" dirty="0"/>
              <a:t>possible corrections, see:  </a:t>
            </a:r>
            <a:endParaRPr lang="en-US" sz="1700" dirty="0" smtClean="0"/>
          </a:p>
          <a:p>
            <a:pPr marL="457200" lvl="1" indent="0">
              <a:buNone/>
            </a:pPr>
            <a:r>
              <a:rPr lang="en-US" sz="1500" i="1" dirty="0" smtClean="0"/>
              <a:t>Hunter</a:t>
            </a:r>
            <a:r>
              <a:rPr lang="en-US" sz="1500" i="1" dirty="0"/>
              <a:t>, J.E., and Schmidt, F.L. 2004. Methods of Meta-Analysis: Correcting Error and Bias in Research Findings, (Second ed</a:t>
            </a:r>
            <a:r>
              <a:rPr lang="en-US" sz="1500" i="1" dirty="0" smtClean="0"/>
              <a:t>.), </a:t>
            </a:r>
            <a:r>
              <a:rPr lang="en-US" sz="1500" i="1" dirty="0"/>
              <a:t>Sage Publications, Inc</a:t>
            </a:r>
            <a:r>
              <a:rPr lang="en-US" sz="1500" i="1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168" y="2290312"/>
            <a:ext cx="1875096" cy="914399"/>
          </a:xfrm>
          <a:prstGeom prst="rect">
            <a:avLst/>
          </a:prstGeom>
        </p:spPr>
      </p:pic>
      <p:sp>
        <p:nvSpPr>
          <p:cNvPr id="8" name="Line Callout 1 7"/>
          <p:cNvSpPr/>
          <p:nvPr/>
        </p:nvSpPr>
        <p:spPr>
          <a:xfrm>
            <a:off x="6167886" y="2134864"/>
            <a:ext cx="2130725" cy="612648"/>
          </a:xfrm>
          <a:prstGeom prst="borderCallout1">
            <a:avLst>
              <a:gd name="adj1" fmla="val 18750"/>
              <a:gd name="adj2" fmla="val -8333"/>
              <a:gd name="adj3" fmla="val 60402"/>
              <a:gd name="adj4" fmla="val -5290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Observed Correlation between variables 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553200" y="3294030"/>
            <a:ext cx="1518250" cy="612648"/>
          </a:xfrm>
          <a:prstGeom prst="borderCallout1">
            <a:avLst>
              <a:gd name="adj1" fmla="val 18750"/>
              <a:gd name="adj2" fmla="val -8333"/>
              <a:gd name="adj3" fmla="val -17041"/>
              <a:gd name="adj4" fmla="val -11173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Reliabilities for </a:t>
            </a:r>
          </a:p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variables </a:t>
            </a:r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" name="Line Callout 1 9"/>
          <p:cNvSpPr/>
          <p:nvPr/>
        </p:nvSpPr>
        <p:spPr>
          <a:xfrm>
            <a:off x="759124" y="2134864"/>
            <a:ext cx="2130725" cy="612648"/>
          </a:xfrm>
          <a:prstGeom prst="borderCallout1">
            <a:avLst>
              <a:gd name="adj1" fmla="val 17342"/>
              <a:gd name="adj2" fmla="val 104622"/>
              <a:gd name="adj3" fmla="val 88564"/>
              <a:gd name="adj4" fmla="val 12684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Corrected </a:t>
            </a:r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Correlation between variables 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07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 smtClean="0"/>
              <a:t>Your Turn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7485"/>
            <a:ext cx="8229600" cy="5088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For exercise, download the “Exercise” Excel file from the following address: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226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850" y="1348748"/>
            <a:ext cx="1875096" cy="9143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 smtClean="0"/>
              <a:t>Your Turn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 smtClean="0"/>
              <a:t>Use the “Exercise</a:t>
            </a:r>
            <a:r>
              <a:rPr lang="en-US" dirty="0" smtClean="0"/>
              <a:t>” Excel </a:t>
            </a:r>
            <a:r>
              <a:rPr lang="en-US" dirty="0"/>
              <a:t>file </a:t>
            </a:r>
            <a:r>
              <a:rPr lang="en-US" dirty="0" smtClean="0"/>
              <a:t>and </a:t>
            </a:r>
            <a:r>
              <a:rPr lang="en-US" dirty="0" smtClean="0"/>
              <a:t>correct the effect sizes for the measurement errors (reliabilities):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52" y="2505829"/>
            <a:ext cx="7387408" cy="3759986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3920148" y="1955551"/>
            <a:ext cx="2534969" cy="959667"/>
          </a:xfrm>
          <a:custGeom>
            <a:avLst/>
            <a:gdLst>
              <a:gd name="connsiteX0" fmla="*/ 2326741 w 2326741"/>
              <a:gd name="connsiteY0" fmla="*/ 0 h 959667"/>
              <a:gd name="connsiteX1" fmla="*/ 2181886 w 2326741"/>
              <a:gd name="connsiteY1" fmla="*/ 18107 h 959667"/>
              <a:gd name="connsiteX2" fmla="*/ 1865014 w 2326741"/>
              <a:gd name="connsiteY2" fmla="*/ 27160 h 959667"/>
              <a:gd name="connsiteX3" fmla="*/ 1747319 w 2326741"/>
              <a:gd name="connsiteY3" fmla="*/ 36214 h 959667"/>
              <a:gd name="connsiteX4" fmla="*/ 1674892 w 2326741"/>
              <a:gd name="connsiteY4" fmla="*/ 45267 h 959667"/>
              <a:gd name="connsiteX5" fmla="*/ 1584357 w 2326741"/>
              <a:gd name="connsiteY5" fmla="*/ 54321 h 959667"/>
              <a:gd name="connsiteX6" fmla="*/ 1530036 w 2326741"/>
              <a:gd name="connsiteY6" fmla="*/ 63374 h 959667"/>
              <a:gd name="connsiteX7" fmla="*/ 1421395 w 2326741"/>
              <a:gd name="connsiteY7" fmla="*/ 72428 h 959667"/>
              <a:gd name="connsiteX8" fmla="*/ 1376127 w 2326741"/>
              <a:gd name="connsiteY8" fmla="*/ 81481 h 959667"/>
              <a:gd name="connsiteX9" fmla="*/ 1285593 w 2326741"/>
              <a:gd name="connsiteY9" fmla="*/ 108641 h 959667"/>
              <a:gd name="connsiteX10" fmla="*/ 1167898 w 2326741"/>
              <a:gd name="connsiteY10" fmla="*/ 153909 h 959667"/>
              <a:gd name="connsiteX11" fmla="*/ 1095470 w 2326741"/>
              <a:gd name="connsiteY11" fmla="*/ 181069 h 959667"/>
              <a:gd name="connsiteX12" fmla="*/ 1059256 w 2326741"/>
              <a:gd name="connsiteY12" fmla="*/ 199176 h 959667"/>
              <a:gd name="connsiteX13" fmla="*/ 1004935 w 2326741"/>
              <a:gd name="connsiteY13" fmla="*/ 217283 h 959667"/>
              <a:gd name="connsiteX14" fmla="*/ 923454 w 2326741"/>
              <a:gd name="connsiteY14" fmla="*/ 262550 h 959667"/>
              <a:gd name="connsiteX15" fmla="*/ 851026 w 2326741"/>
              <a:gd name="connsiteY15" fmla="*/ 307818 h 959667"/>
              <a:gd name="connsiteX16" fmla="*/ 814812 w 2326741"/>
              <a:gd name="connsiteY16" fmla="*/ 325925 h 959667"/>
              <a:gd name="connsiteX17" fmla="*/ 769545 w 2326741"/>
              <a:gd name="connsiteY17" fmla="*/ 334978 h 959667"/>
              <a:gd name="connsiteX18" fmla="*/ 715224 w 2326741"/>
              <a:gd name="connsiteY18" fmla="*/ 353085 h 959667"/>
              <a:gd name="connsiteX19" fmla="*/ 633743 w 2326741"/>
              <a:gd name="connsiteY19" fmla="*/ 398352 h 959667"/>
              <a:gd name="connsiteX20" fmla="*/ 579422 w 2326741"/>
              <a:gd name="connsiteY20" fmla="*/ 434566 h 959667"/>
              <a:gd name="connsiteX21" fmla="*/ 506995 w 2326741"/>
              <a:gd name="connsiteY21" fmla="*/ 516047 h 959667"/>
              <a:gd name="connsiteX22" fmla="*/ 488888 w 2326741"/>
              <a:gd name="connsiteY22" fmla="*/ 570368 h 959667"/>
              <a:gd name="connsiteX23" fmla="*/ 470781 w 2326741"/>
              <a:gd name="connsiteY23" fmla="*/ 642796 h 959667"/>
              <a:gd name="connsiteX24" fmla="*/ 488888 w 2326741"/>
              <a:gd name="connsiteY24" fmla="*/ 841972 h 959667"/>
              <a:gd name="connsiteX25" fmla="*/ 497941 w 2326741"/>
              <a:gd name="connsiteY25" fmla="*/ 869133 h 959667"/>
              <a:gd name="connsiteX26" fmla="*/ 534155 w 2326741"/>
              <a:gd name="connsiteY26" fmla="*/ 923453 h 959667"/>
              <a:gd name="connsiteX27" fmla="*/ 588476 w 2326741"/>
              <a:gd name="connsiteY27" fmla="*/ 959667 h 959667"/>
              <a:gd name="connsiteX28" fmla="*/ 733331 w 2326741"/>
              <a:gd name="connsiteY28" fmla="*/ 950614 h 959667"/>
              <a:gd name="connsiteX29" fmla="*/ 760492 w 2326741"/>
              <a:gd name="connsiteY29" fmla="*/ 941560 h 959667"/>
              <a:gd name="connsiteX30" fmla="*/ 832919 w 2326741"/>
              <a:gd name="connsiteY30" fmla="*/ 860079 h 959667"/>
              <a:gd name="connsiteX31" fmla="*/ 841973 w 2326741"/>
              <a:gd name="connsiteY31" fmla="*/ 832919 h 959667"/>
              <a:gd name="connsiteX32" fmla="*/ 851026 w 2326741"/>
              <a:gd name="connsiteY32" fmla="*/ 787651 h 959667"/>
              <a:gd name="connsiteX33" fmla="*/ 841973 w 2326741"/>
              <a:gd name="connsiteY33" fmla="*/ 642796 h 959667"/>
              <a:gd name="connsiteX34" fmla="*/ 832919 w 2326741"/>
              <a:gd name="connsiteY34" fmla="*/ 606582 h 959667"/>
              <a:gd name="connsiteX35" fmla="*/ 805759 w 2326741"/>
              <a:gd name="connsiteY35" fmla="*/ 570368 h 959667"/>
              <a:gd name="connsiteX36" fmla="*/ 760492 w 2326741"/>
              <a:gd name="connsiteY36" fmla="*/ 506994 h 959667"/>
              <a:gd name="connsiteX37" fmla="*/ 742385 w 2326741"/>
              <a:gd name="connsiteY37" fmla="*/ 479834 h 959667"/>
              <a:gd name="connsiteX38" fmla="*/ 679010 w 2326741"/>
              <a:gd name="connsiteY38" fmla="*/ 443620 h 959667"/>
              <a:gd name="connsiteX39" fmla="*/ 642797 w 2326741"/>
              <a:gd name="connsiteY39" fmla="*/ 416459 h 959667"/>
              <a:gd name="connsiteX40" fmla="*/ 525101 w 2326741"/>
              <a:gd name="connsiteY40" fmla="*/ 362138 h 959667"/>
              <a:gd name="connsiteX41" fmla="*/ 479834 w 2326741"/>
              <a:gd name="connsiteY41" fmla="*/ 325925 h 959667"/>
              <a:gd name="connsiteX42" fmla="*/ 153909 w 2326741"/>
              <a:gd name="connsiteY42" fmla="*/ 172016 h 959667"/>
              <a:gd name="connsiteX43" fmla="*/ 63375 w 2326741"/>
              <a:gd name="connsiteY43" fmla="*/ 135802 h 959667"/>
              <a:gd name="connsiteX44" fmla="*/ 0 w 2326741"/>
              <a:gd name="connsiteY44" fmla="*/ 117695 h 9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326741" h="959667">
                <a:moveTo>
                  <a:pt x="2326741" y="0"/>
                </a:moveTo>
                <a:cubicBezTo>
                  <a:pt x="2263422" y="15829"/>
                  <a:pt x="2279128" y="13969"/>
                  <a:pt x="2181886" y="18107"/>
                </a:cubicBezTo>
                <a:cubicBezTo>
                  <a:pt x="2076314" y="22599"/>
                  <a:pt x="1970638" y="24142"/>
                  <a:pt x="1865014" y="27160"/>
                </a:cubicBezTo>
                <a:lnTo>
                  <a:pt x="1747319" y="36214"/>
                </a:lnTo>
                <a:cubicBezTo>
                  <a:pt x="1723098" y="38521"/>
                  <a:pt x="1699073" y="42580"/>
                  <a:pt x="1674892" y="45267"/>
                </a:cubicBezTo>
                <a:cubicBezTo>
                  <a:pt x="1644749" y="48616"/>
                  <a:pt x="1614452" y="50559"/>
                  <a:pt x="1584357" y="54321"/>
                </a:cubicBezTo>
                <a:cubicBezTo>
                  <a:pt x="1566142" y="56598"/>
                  <a:pt x="1548280" y="61347"/>
                  <a:pt x="1530036" y="63374"/>
                </a:cubicBezTo>
                <a:cubicBezTo>
                  <a:pt x="1493919" y="67387"/>
                  <a:pt x="1457609" y="69410"/>
                  <a:pt x="1421395" y="72428"/>
                </a:cubicBezTo>
                <a:cubicBezTo>
                  <a:pt x="1406306" y="75446"/>
                  <a:pt x="1391149" y="78143"/>
                  <a:pt x="1376127" y="81481"/>
                </a:cubicBezTo>
                <a:cubicBezTo>
                  <a:pt x="1344369" y="88538"/>
                  <a:pt x="1316480" y="96761"/>
                  <a:pt x="1285593" y="108641"/>
                </a:cubicBezTo>
                <a:cubicBezTo>
                  <a:pt x="1246361" y="123730"/>
                  <a:pt x="1206765" y="137905"/>
                  <a:pt x="1167898" y="153909"/>
                </a:cubicBezTo>
                <a:cubicBezTo>
                  <a:pt x="1094736" y="184035"/>
                  <a:pt x="1168581" y="162792"/>
                  <a:pt x="1095470" y="181069"/>
                </a:cubicBezTo>
                <a:cubicBezTo>
                  <a:pt x="1083399" y="187105"/>
                  <a:pt x="1071787" y="194164"/>
                  <a:pt x="1059256" y="199176"/>
                </a:cubicBezTo>
                <a:cubicBezTo>
                  <a:pt x="1041535" y="206265"/>
                  <a:pt x="1004935" y="217283"/>
                  <a:pt x="1004935" y="217283"/>
                </a:cubicBezTo>
                <a:cubicBezTo>
                  <a:pt x="942674" y="258791"/>
                  <a:pt x="971259" y="246616"/>
                  <a:pt x="923454" y="262550"/>
                </a:cubicBezTo>
                <a:cubicBezTo>
                  <a:pt x="895156" y="281416"/>
                  <a:pt x="883786" y="289618"/>
                  <a:pt x="851026" y="307818"/>
                </a:cubicBezTo>
                <a:cubicBezTo>
                  <a:pt x="839228" y="314372"/>
                  <a:pt x="827616" y="321657"/>
                  <a:pt x="814812" y="325925"/>
                </a:cubicBezTo>
                <a:cubicBezTo>
                  <a:pt x="800214" y="330791"/>
                  <a:pt x="784391" y="330929"/>
                  <a:pt x="769545" y="334978"/>
                </a:cubicBezTo>
                <a:cubicBezTo>
                  <a:pt x="751131" y="340000"/>
                  <a:pt x="732295" y="344549"/>
                  <a:pt x="715224" y="353085"/>
                </a:cubicBezTo>
                <a:cubicBezTo>
                  <a:pt x="674897" y="373248"/>
                  <a:pt x="675424" y="371828"/>
                  <a:pt x="633743" y="398352"/>
                </a:cubicBezTo>
                <a:cubicBezTo>
                  <a:pt x="615383" y="410035"/>
                  <a:pt x="594810" y="419178"/>
                  <a:pt x="579422" y="434566"/>
                </a:cubicBezTo>
                <a:cubicBezTo>
                  <a:pt x="563029" y="450959"/>
                  <a:pt x="519920" y="486965"/>
                  <a:pt x="506995" y="516047"/>
                </a:cubicBezTo>
                <a:cubicBezTo>
                  <a:pt x="499243" y="533488"/>
                  <a:pt x="493517" y="551851"/>
                  <a:pt x="488888" y="570368"/>
                </a:cubicBezTo>
                <a:lnTo>
                  <a:pt x="470781" y="642796"/>
                </a:lnTo>
                <a:cubicBezTo>
                  <a:pt x="477171" y="757830"/>
                  <a:pt x="467405" y="766781"/>
                  <a:pt x="488888" y="841972"/>
                </a:cubicBezTo>
                <a:cubicBezTo>
                  <a:pt x="491510" y="851148"/>
                  <a:pt x="493306" y="860791"/>
                  <a:pt x="497941" y="869133"/>
                </a:cubicBezTo>
                <a:cubicBezTo>
                  <a:pt x="508509" y="888156"/>
                  <a:pt x="516048" y="911382"/>
                  <a:pt x="534155" y="923453"/>
                </a:cubicBezTo>
                <a:lnTo>
                  <a:pt x="588476" y="959667"/>
                </a:lnTo>
                <a:cubicBezTo>
                  <a:pt x="636761" y="956649"/>
                  <a:pt x="685218" y="955679"/>
                  <a:pt x="733331" y="950614"/>
                </a:cubicBezTo>
                <a:cubicBezTo>
                  <a:pt x="742822" y="949615"/>
                  <a:pt x="752959" y="947419"/>
                  <a:pt x="760492" y="941560"/>
                </a:cubicBezTo>
                <a:cubicBezTo>
                  <a:pt x="780122" y="926292"/>
                  <a:pt x="818617" y="888682"/>
                  <a:pt x="832919" y="860079"/>
                </a:cubicBezTo>
                <a:cubicBezTo>
                  <a:pt x="837187" y="851543"/>
                  <a:pt x="839658" y="842177"/>
                  <a:pt x="841973" y="832919"/>
                </a:cubicBezTo>
                <a:cubicBezTo>
                  <a:pt x="845705" y="817990"/>
                  <a:pt x="848008" y="802740"/>
                  <a:pt x="851026" y="787651"/>
                </a:cubicBezTo>
                <a:cubicBezTo>
                  <a:pt x="848008" y="739366"/>
                  <a:pt x="846787" y="690935"/>
                  <a:pt x="841973" y="642796"/>
                </a:cubicBezTo>
                <a:cubicBezTo>
                  <a:pt x="840735" y="630415"/>
                  <a:pt x="838484" y="617711"/>
                  <a:pt x="832919" y="606582"/>
                </a:cubicBezTo>
                <a:cubicBezTo>
                  <a:pt x="826171" y="593086"/>
                  <a:pt x="814812" y="582439"/>
                  <a:pt x="805759" y="570368"/>
                </a:cubicBezTo>
                <a:cubicBezTo>
                  <a:pt x="789123" y="520463"/>
                  <a:pt x="807359" y="561672"/>
                  <a:pt x="760492" y="506994"/>
                </a:cubicBezTo>
                <a:cubicBezTo>
                  <a:pt x="753411" y="498733"/>
                  <a:pt x="750079" y="487528"/>
                  <a:pt x="742385" y="479834"/>
                </a:cubicBezTo>
                <a:cubicBezTo>
                  <a:pt x="725771" y="463221"/>
                  <a:pt x="697946" y="455455"/>
                  <a:pt x="679010" y="443620"/>
                </a:cubicBezTo>
                <a:cubicBezTo>
                  <a:pt x="666215" y="435623"/>
                  <a:pt x="655898" y="423945"/>
                  <a:pt x="642797" y="416459"/>
                </a:cubicBezTo>
                <a:cubicBezTo>
                  <a:pt x="573452" y="376833"/>
                  <a:pt x="575863" y="379059"/>
                  <a:pt x="525101" y="362138"/>
                </a:cubicBezTo>
                <a:cubicBezTo>
                  <a:pt x="510012" y="350067"/>
                  <a:pt x="495912" y="336644"/>
                  <a:pt x="479834" y="325925"/>
                </a:cubicBezTo>
                <a:cubicBezTo>
                  <a:pt x="398636" y="271793"/>
                  <a:pt x="180676" y="182723"/>
                  <a:pt x="153909" y="172016"/>
                </a:cubicBezTo>
                <a:cubicBezTo>
                  <a:pt x="123731" y="159945"/>
                  <a:pt x="94025" y="146620"/>
                  <a:pt x="63375" y="135802"/>
                </a:cubicBezTo>
                <a:cubicBezTo>
                  <a:pt x="42657" y="128490"/>
                  <a:pt x="0" y="117695"/>
                  <a:pt x="0" y="11769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55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</a:t>
            </a:r>
            <a:r>
              <a:rPr lang="en-US" sz="2800" dirty="0" smtClean="0"/>
              <a:t>Meta-Analysis</a:t>
            </a:r>
            <a:r>
              <a:rPr lang="en-US" sz="2800" dirty="0" smtClean="0"/>
              <a:t>: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4928"/>
            <a:ext cx="8229600" cy="50516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2"/>
            </a:pPr>
            <a:r>
              <a:rPr lang="en-US" altLang="x-none" sz="2000" dirty="0" smtClean="0"/>
              <a:t>Transform Corrected Correlations to Fisher’s Z (standardization)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arenR" startAt="2"/>
            </a:pPr>
            <a:endParaRPr lang="en-US" altLang="x-none" sz="2000" dirty="0"/>
          </a:p>
          <a:p>
            <a:pPr marL="914400" lvl="1" indent="-514350">
              <a:lnSpc>
                <a:spcPct val="80000"/>
              </a:lnSpc>
            </a:pPr>
            <a:r>
              <a:rPr lang="en-US" altLang="x-none" sz="1800" dirty="0"/>
              <a:t>The unstandardized corrected r has a problematic standard error </a:t>
            </a:r>
            <a:r>
              <a:rPr lang="en-US" altLang="x-none" sz="1800" dirty="0" smtClean="0"/>
              <a:t>formulation, </a:t>
            </a:r>
            <a:r>
              <a:rPr lang="en-US" altLang="x-none" sz="1800" dirty="0"/>
              <a:t>so we transform it</a:t>
            </a:r>
            <a:r>
              <a:rPr lang="en-US" altLang="x-none" sz="1800" dirty="0" smtClean="0"/>
              <a:t>:</a:t>
            </a:r>
            <a:endParaRPr lang="en-US" altLang="x-none" sz="1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6883502"/>
              </p:ext>
            </p:extLst>
          </p:nvPr>
        </p:nvGraphicFramePr>
        <p:xfrm>
          <a:off x="2982014" y="2403506"/>
          <a:ext cx="3571186" cy="1257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2" name="Equation" r:id="rId3" imgW="1143000" imgH="431640" progId="Equation.3">
                  <p:embed/>
                </p:oleObj>
              </mc:Choice>
              <mc:Fallback>
                <p:oleObj name="Equation" r:id="rId3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014" y="2403506"/>
                        <a:ext cx="3571186" cy="1257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577566" y="4546255"/>
            <a:ext cx="5988867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3600" dirty="0" smtClean="0">
                <a:latin typeface="Times New Roman" charset="0"/>
              </a:rPr>
              <a:t>= 0.5 x ln </a:t>
            </a:r>
            <a:r>
              <a:rPr lang="en-US" altLang="x-none" sz="3600" dirty="0">
                <a:latin typeface="Times New Roman" charset="0"/>
              </a:rPr>
              <a:t>(( 1 + </a:t>
            </a:r>
            <a:r>
              <a:rPr lang="en-US" altLang="x-none" sz="3600" dirty="0" smtClean="0">
                <a:latin typeface="Times New Roman" charset="0"/>
              </a:rPr>
              <a:t>.49)/(</a:t>
            </a:r>
            <a:r>
              <a:rPr lang="en-US" altLang="x-none" sz="3600" dirty="0">
                <a:latin typeface="Times New Roman" charset="0"/>
              </a:rPr>
              <a:t>1 - .</a:t>
            </a:r>
            <a:r>
              <a:rPr lang="en-US" altLang="x-none" sz="3600" dirty="0" smtClean="0">
                <a:latin typeface="Times New Roman" charset="0"/>
              </a:rPr>
              <a:t>49))</a:t>
            </a:r>
            <a:endParaRPr lang="en-US" altLang="x-none" sz="3600" dirty="0">
              <a:latin typeface="Times New Roman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x-none" sz="3600" dirty="0" smtClean="0">
                <a:latin typeface="Times New Roman" charset="0"/>
              </a:rPr>
              <a:t>= 0.53.</a:t>
            </a:r>
            <a:endParaRPr lang="en-US" altLang="x-none" sz="3600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040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 smtClean="0"/>
              <a:t>Your Turn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2"/>
            </a:pPr>
            <a:r>
              <a:rPr lang="en-US" sz="2000" dirty="0" smtClean="0"/>
              <a:t>Use the “Exercise</a:t>
            </a:r>
            <a:r>
              <a:rPr lang="en-US" sz="2000" dirty="0" smtClean="0"/>
              <a:t>” Excel </a:t>
            </a:r>
            <a:r>
              <a:rPr lang="en-US" sz="2000" dirty="0"/>
              <a:t>file </a:t>
            </a:r>
            <a:r>
              <a:rPr lang="en-US" sz="2000" dirty="0" smtClean="0"/>
              <a:t>and </a:t>
            </a:r>
            <a:r>
              <a:rPr lang="en-US" altLang="x-none" sz="2000" dirty="0"/>
              <a:t>Transform Corrected Correlations to Fisher’s Z (standardization</a:t>
            </a:r>
            <a:r>
              <a:rPr lang="en-US" altLang="x-none" sz="2000" dirty="0" smtClean="0"/>
              <a:t>)</a:t>
            </a:r>
            <a:r>
              <a:rPr lang="en-US" sz="2000" dirty="0" smtClean="0"/>
              <a:t>:</a:t>
            </a:r>
            <a:endParaRPr lang="en-US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490056"/>
              </p:ext>
            </p:extLst>
          </p:nvPr>
        </p:nvGraphicFramePr>
        <p:xfrm>
          <a:off x="6019800" y="1519768"/>
          <a:ext cx="2314264" cy="814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5" name="Equation" r:id="rId3" imgW="1143000" imgH="431640" progId="Equation.3">
                  <p:embed/>
                </p:oleObj>
              </mc:Choice>
              <mc:Fallback>
                <p:oleObj name="Equation" r:id="rId3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519768"/>
                        <a:ext cx="2314264" cy="814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2" y="2494210"/>
            <a:ext cx="8120955" cy="3769007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4979406" y="2100404"/>
            <a:ext cx="1330859" cy="751438"/>
          </a:xfrm>
          <a:custGeom>
            <a:avLst/>
            <a:gdLst>
              <a:gd name="connsiteX0" fmla="*/ 1258431 w 1258431"/>
              <a:gd name="connsiteY0" fmla="*/ 0 h 751438"/>
              <a:gd name="connsiteX1" fmla="*/ 1222217 w 1258431"/>
              <a:gd name="connsiteY1" fmla="*/ 27160 h 751438"/>
              <a:gd name="connsiteX2" fmla="*/ 1167897 w 1258431"/>
              <a:gd name="connsiteY2" fmla="*/ 45267 h 751438"/>
              <a:gd name="connsiteX3" fmla="*/ 1095469 w 1258431"/>
              <a:gd name="connsiteY3" fmla="*/ 63374 h 751438"/>
              <a:gd name="connsiteX4" fmla="*/ 1068309 w 1258431"/>
              <a:gd name="connsiteY4" fmla="*/ 72428 h 751438"/>
              <a:gd name="connsiteX5" fmla="*/ 959667 w 1258431"/>
              <a:gd name="connsiteY5" fmla="*/ 81481 h 751438"/>
              <a:gd name="connsiteX6" fmla="*/ 769544 w 1258431"/>
              <a:gd name="connsiteY6" fmla="*/ 90535 h 751438"/>
              <a:gd name="connsiteX7" fmla="*/ 597528 w 1258431"/>
              <a:gd name="connsiteY7" fmla="*/ 108642 h 751438"/>
              <a:gd name="connsiteX8" fmla="*/ 570368 w 1258431"/>
              <a:gd name="connsiteY8" fmla="*/ 117695 h 751438"/>
              <a:gd name="connsiteX9" fmla="*/ 497940 w 1258431"/>
              <a:gd name="connsiteY9" fmla="*/ 135802 h 751438"/>
              <a:gd name="connsiteX10" fmla="*/ 443619 w 1258431"/>
              <a:gd name="connsiteY10" fmla="*/ 153909 h 751438"/>
              <a:gd name="connsiteX11" fmla="*/ 371192 w 1258431"/>
              <a:gd name="connsiteY11" fmla="*/ 172016 h 751438"/>
              <a:gd name="connsiteX12" fmla="*/ 280657 w 1258431"/>
              <a:gd name="connsiteY12" fmla="*/ 208230 h 751438"/>
              <a:gd name="connsiteX13" fmla="*/ 190122 w 1258431"/>
              <a:gd name="connsiteY13" fmla="*/ 244444 h 751438"/>
              <a:gd name="connsiteX14" fmla="*/ 63374 w 1258431"/>
              <a:gd name="connsiteY14" fmla="*/ 316871 h 751438"/>
              <a:gd name="connsiteX15" fmla="*/ 36214 w 1258431"/>
              <a:gd name="connsiteY15" fmla="*/ 344032 h 751438"/>
              <a:gd name="connsiteX16" fmla="*/ 18107 w 1258431"/>
              <a:gd name="connsiteY16" fmla="*/ 380246 h 751438"/>
              <a:gd name="connsiteX17" fmla="*/ 0 w 1258431"/>
              <a:gd name="connsiteY17" fmla="*/ 443620 h 751438"/>
              <a:gd name="connsiteX18" fmla="*/ 18107 w 1258431"/>
              <a:gd name="connsiteY18" fmla="*/ 615636 h 751438"/>
              <a:gd name="connsiteX19" fmla="*/ 27160 w 1258431"/>
              <a:gd name="connsiteY19" fmla="*/ 642796 h 751438"/>
              <a:gd name="connsiteX20" fmla="*/ 63374 w 1258431"/>
              <a:gd name="connsiteY20" fmla="*/ 697117 h 751438"/>
              <a:gd name="connsiteX21" fmla="*/ 99588 w 1258431"/>
              <a:gd name="connsiteY21" fmla="*/ 724277 h 751438"/>
              <a:gd name="connsiteX22" fmla="*/ 162962 w 1258431"/>
              <a:gd name="connsiteY22" fmla="*/ 751438 h 751438"/>
              <a:gd name="connsiteX23" fmla="*/ 307817 w 1258431"/>
              <a:gd name="connsiteY23" fmla="*/ 742384 h 751438"/>
              <a:gd name="connsiteX24" fmla="*/ 416459 w 1258431"/>
              <a:gd name="connsiteY24" fmla="*/ 706170 h 751438"/>
              <a:gd name="connsiteX25" fmla="*/ 443619 w 1258431"/>
              <a:gd name="connsiteY25" fmla="*/ 679010 h 751438"/>
              <a:gd name="connsiteX26" fmla="*/ 488887 w 1258431"/>
              <a:gd name="connsiteY26" fmla="*/ 597529 h 751438"/>
              <a:gd name="connsiteX27" fmla="*/ 479833 w 1258431"/>
              <a:gd name="connsiteY27" fmla="*/ 552261 h 751438"/>
              <a:gd name="connsiteX28" fmla="*/ 452673 w 1258431"/>
              <a:gd name="connsiteY28" fmla="*/ 516047 h 751438"/>
              <a:gd name="connsiteX29" fmla="*/ 425513 w 1258431"/>
              <a:gd name="connsiteY29" fmla="*/ 470780 h 751438"/>
              <a:gd name="connsiteX30" fmla="*/ 407406 w 1258431"/>
              <a:gd name="connsiteY30" fmla="*/ 443620 h 751438"/>
              <a:gd name="connsiteX31" fmla="*/ 389299 w 1258431"/>
              <a:gd name="connsiteY31" fmla="*/ 407406 h 751438"/>
              <a:gd name="connsiteX32" fmla="*/ 353085 w 1258431"/>
              <a:gd name="connsiteY32" fmla="*/ 371192 h 751438"/>
              <a:gd name="connsiteX33" fmla="*/ 334978 w 1258431"/>
              <a:gd name="connsiteY33" fmla="*/ 344032 h 751438"/>
              <a:gd name="connsiteX34" fmla="*/ 298764 w 1258431"/>
              <a:gd name="connsiteY34" fmla="*/ 325925 h 751438"/>
              <a:gd name="connsiteX35" fmla="*/ 244443 w 1258431"/>
              <a:gd name="connsiteY35" fmla="*/ 271604 h 751438"/>
              <a:gd name="connsiteX36" fmla="*/ 217283 w 1258431"/>
              <a:gd name="connsiteY36" fmla="*/ 244444 h 751438"/>
              <a:gd name="connsiteX37" fmla="*/ 190122 w 1258431"/>
              <a:gd name="connsiteY37" fmla="*/ 208230 h 751438"/>
              <a:gd name="connsiteX38" fmla="*/ 117695 w 1258431"/>
              <a:gd name="connsiteY38" fmla="*/ 162962 h 751438"/>
              <a:gd name="connsiteX39" fmla="*/ 90534 w 1258431"/>
              <a:gd name="connsiteY39" fmla="*/ 144855 h 751438"/>
              <a:gd name="connsiteX40" fmla="*/ 54320 w 1258431"/>
              <a:gd name="connsiteY40" fmla="*/ 135802 h 751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58431" h="751438">
                <a:moveTo>
                  <a:pt x="1258431" y="0"/>
                </a:moveTo>
                <a:cubicBezTo>
                  <a:pt x="1246360" y="9053"/>
                  <a:pt x="1235713" y="20412"/>
                  <a:pt x="1222217" y="27160"/>
                </a:cubicBezTo>
                <a:cubicBezTo>
                  <a:pt x="1205146" y="35696"/>
                  <a:pt x="1186004" y="39231"/>
                  <a:pt x="1167897" y="45267"/>
                </a:cubicBezTo>
                <a:cubicBezTo>
                  <a:pt x="1105805" y="65965"/>
                  <a:pt x="1182879" y="41521"/>
                  <a:pt x="1095469" y="63374"/>
                </a:cubicBezTo>
                <a:cubicBezTo>
                  <a:pt x="1086211" y="65689"/>
                  <a:pt x="1077768" y="71167"/>
                  <a:pt x="1068309" y="72428"/>
                </a:cubicBezTo>
                <a:cubicBezTo>
                  <a:pt x="1032288" y="77231"/>
                  <a:pt x="995940" y="79283"/>
                  <a:pt x="959667" y="81481"/>
                </a:cubicBezTo>
                <a:cubicBezTo>
                  <a:pt x="896337" y="85319"/>
                  <a:pt x="832867" y="86577"/>
                  <a:pt x="769544" y="90535"/>
                </a:cubicBezTo>
                <a:cubicBezTo>
                  <a:pt x="701991" y="94757"/>
                  <a:pt x="661962" y="100587"/>
                  <a:pt x="597528" y="108642"/>
                </a:cubicBezTo>
                <a:cubicBezTo>
                  <a:pt x="588475" y="111660"/>
                  <a:pt x="579575" y="115184"/>
                  <a:pt x="570368" y="117695"/>
                </a:cubicBezTo>
                <a:cubicBezTo>
                  <a:pt x="546359" y="124243"/>
                  <a:pt x="521549" y="127932"/>
                  <a:pt x="497940" y="135802"/>
                </a:cubicBezTo>
                <a:cubicBezTo>
                  <a:pt x="479833" y="141838"/>
                  <a:pt x="462136" y="149280"/>
                  <a:pt x="443619" y="153909"/>
                </a:cubicBezTo>
                <a:cubicBezTo>
                  <a:pt x="419477" y="159945"/>
                  <a:pt x="394800" y="164147"/>
                  <a:pt x="371192" y="172016"/>
                </a:cubicBezTo>
                <a:cubicBezTo>
                  <a:pt x="247550" y="213230"/>
                  <a:pt x="373907" y="168266"/>
                  <a:pt x="280657" y="208230"/>
                </a:cubicBezTo>
                <a:cubicBezTo>
                  <a:pt x="250782" y="221034"/>
                  <a:pt x="219194" y="229908"/>
                  <a:pt x="190122" y="244444"/>
                </a:cubicBezTo>
                <a:cubicBezTo>
                  <a:pt x="128499" y="275255"/>
                  <a:pt x="107615" y="278950"/>
                  <a:pt x="63374" y="316871"/>
                </a:cubicBezTo>
                <a:cubicBezTo>
                  <a:pt x="53653" y="325203"/>
                  <a:pt x="43656" y="333613"/>
                  <a:pt x="36214" y="344032"/>
                </a:cubicBezTo>
                <a:cubicBezTo>
                  <a:pt x="28370" y="355014"/>
                  <a:pt x="23424" y="367841"/>
                  <a:pt x="18107" y="380246"/>
                </a:cubicBezTo>
                <a:cubicBezTo>
                  <a:pt x="10311" y="398435"/>
                  <a:pt x="4596" y="425235"/>
                  <a:pt x="0" y="443620"/>
                </a:cubicBezTo>
                <a:cubicBezTo>
                  <a:pt x="5372" y="518830"/>
                  <a:pt x="2481" y="553134"/>
                  <a:pt x="18107" y="615636"/>
                </a:cubicBezTo>
                <a:cubicBezTo>
                  <a:pt x="20422" y="624894"/>
                  <a:pt x="22526" y="634454"/>
                  <a:pt x="27160" y="642796"/>
                </a:cubicBezTo>
                <a:cubicBezTo>
                  <a:pt x="37728" y="661819"/>
                  <a:pt x="45964" y="684060"/>
                  <a:pt x="63374" y="697117"/>
                </a:cubicBezTo>
                <a:cubicBezTo>
                  <a:pt x="75445" y="706170"/>
                  <a:pt x="87310" y="715507"/>
                  <a:pt x="99588" y="724277"/>
                </a:cubicBezTo>
                <a:cubicBezTo>
                  <a:pt x="133255" y="748324"/>
                  <a:pt x="120591" y="740845"/>
                  <a:pt x="162962" y="751438"/>
                </a:cubicBezTo>
                <a:cubicBezTo>
                  <a:pt x="211247" y="748420"/>
                  <a:pt x="259811" y="748385"/>
                  <a:pt x="307817" y="742384"/>
                </a:cubicBezTo>
                <a:cubicBezTo>
                  <a:pt x="335991" y="738862"/>
                  <a:pt x="389087" y="725721"/>
                  <a:pt x="416459" y="706170"/>
                </a:cubicBezTo>
                <a:cubicBezTo>
                  <a:pt x="426878" y="698728"/>
                  <a:pt x="435759" y="689116"/>
                  <a:pt x="443619" y="679010"/>
                </a:cubicBezTo>
                <a:cubicBezTo>
                  <a:pt x="479938" y="632315"/>
                  <a:pt x="475226" y="638508"/>
                  <a:pt x="488887" y="597529"/>
                </a:cubicBezTo>
                <a:cubicBezTo>
                  <a:pt x="485869" y="582440"/>
                  <a:pt x="486083" y="566323"/>
                  <a:pt x="479833" y="552261"/>
                </a:cubicBezTo>
                <a:cubicBezTo>
                  <a:pt x="473705" y="538472"/>
                  <a:pt x="461043" y="528602"/>
                  <a:pt x="452673" y="516047"/>
                </a:cubicBezTo>
                <a:cubicBezTo>
                  <a:pt x="442912" y="501406"/>
                  <a:pt x="434839" y="485702"/>
                  <a:pt x="425513" y="470780"/>
                </a:cubicBezTo>
                <a:cubicBezTo>
                  <a:pt x="419746" y="461553"/>
                  <a:pt x="412804" y="453067"/>
                  <a:pt x="407406" y="443620"/>
                </a:cubicBezTo>
                <a:cubicBezTo>
                  <a:pt x="400710" y="431902"/>
                  <a:pt x="397397" y="418203"/>
                  <a:pt x="389299" y="407406"/>
                </a:cubicBezTo>
                <a:cubicBezTo>
                  <a:pt x="379056" y="393749"/>
                  <a:pt x="364195" y="384154"/>
                  <a:pt x="353085" y="371192"/>
                </a:cubicBezTo>
                <a:cubicBezTo>
                  <a:pt x="346004" y="362931"/>
                  <a:pt x="343337" y="350998"/>
                  <a:pt x="334978" y="344032"/>
                </a:cubicBezTo>
                <a:cubicBezTo>
                  <a:pt x="324610" y="335392"/>
                  <a:pt x="310835" y="331961"/>
                  <a:pt x="298764" y="325925"/>
                </a:cubicBezTo>
                <a:lnTo>
                  <a:pt x="244443" y="271604"/>
                </a:lnTo>
                <a:cubicBezTo>
                  <a:pt x="235390" y="262551"/>
                  <a:pt x="224965" y="254687"/>
                  <a:pt x="217283" y="244444"/>
                </a:cubicBezTo>
                <a:cubicBezTo>
                  <a:pt x="208229" y="232373"/>
                  <a:pt x="201800" y="217785"/>
                  <a:pt x="190122" y="208230"/>
                </a:cubicBezTo>
                <a:cubicBezTo>
                  <a:pt x="168088" y="190202"/>
                  <a:pt x="141384" y="178754"/>
                  <a:pt x="117695" y="162962"/>
                </a:cubicBezTo>
                <a:cubicBezTo>
                  <a:pt x="108641" y="156926"/>
                  <a:pt x="100535" y="149141"/>
                  <a:pt x="90534" y="144855"/>
                </a:cubicBezTo>
                <a:cubicBezTo>
                  <a:pt x="79097" y="139954"/>
                  <a:pt x="54320" y="135802"/>
                  <a:pt x="54320" y="13580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660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 smtClean="0"/>
              <a:t>Weight </a:t>
            </a:r>
            <a:r>
              <a:rPr lang="en-US" altLang="x-none" sz="2000" dirty="0"/>
              <a:t>the effect sizes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altLang="x-none" sz="1800" dirty="0"/>
              <a:t>The standard error (SE) is a direct index of ES precision.</a:t>
            </a:r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/>
              <a:t>The smaller the SE, the more precise the ES</a:t>
            </a:r>
            <a:r>
              <a:rPr lang="en-US" altLang="x-none" sz="1600" dirty="0" smtClean="0"/>
              <a:t>.</a:t>
            </a:r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 smtClean="0"/>
              <a:t>We would like to reduce the effect of effect sizes that are less precise (have larger SE) on our results.</a:t>
            </a:r>
            <a:endParaRPr lang="en-US" altLang="x-none" sz="1600" dirty="0"/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 smtClean="0"/>
              <a:t>Hedges </a:t>
            </a:r>
            <a:r>
              <a:rPr lang="en-US" altLang="x-none" sz="1600" dirty="0"/>
              <a:t>showed that the optimal weight for </a:t>
            </a:r>
            <a:r>
              <a:rPr lang="en-US" altLang="x-none" sz="1600" dirty="0" smtClean="0"/>
              <a:t>effect sizes </a:t>
            </a:r>
            <a:r>
              <a:rPr lang="en-US" altLang="x-none" sz="1600" dirty="0"/>
              <a:t>is: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lvl="1" algn="just"/>
            <a:endParaRPr lang="en-US" sz="1800" dirty="0" smtClean="0"/>
          </a:p>
          <a:p>
            <a:pPr lvl="1" algn="just"/>
            <a:r>
              <a:rPr lang="en-US" sz="1800" dirty="0" smtClean="0"/>
              <a:t>The </a:t>
            </a:r>
            <a:r>
              <a:rPr lang="en-US" sz="1800" dirty="0"/>
              <a:t>weight (w) for the transformed r (</a:t>
            </a:r>
            <a:r>
              <a:rPr lang="en-US" sz="1800" dirty="0" err="1"/>
              <a:t>Zr</a:t>
            </a:r>
            <a:r>
              <a:rPr lang="en-US" sz="1800" dirty="0"/>
              <a:t>) is simply:</a:t>
            </a:r>
          </a:p>
          <a:p>
            <a:pPr lvl="2"/>
            <a:r>
              <a:rPr lang="en-US" sz="1600" dirty="0" smtClean="0"/>
              <a:t>n = sample size for the pertinent effect size.</a:t>
            </a:r>
          </a:p>
          <a:p>
            <a:pPr marL="457200" lvl="1" indent="0" algn="ctr">
              <a:buNone/>
            </a:pPr>
            <a:r>
              <a:rPr lang="en-US" sz="3600" dirty="0" smtClean="0">
                <a:solidFill>
                  <a:schemeClr val="tx1"/>
                </a:solidFill>
              </a:rPr>
              <a:t>n-3 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37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688427"/>
              </p:ext>
            </p:extLst>
          </p:nvPr>
        </p:nvGraphicFramePr>
        <p:xfrm>
          <a:off x="3623271" y="2816915"/>
          <a:ext cx="1915562" cy="1267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7" name="Equation" r:id="rId3" imgW="571320" imgH="393480" progId="Equation.3">
                  <p:embed/>
                </p:oleObj>
              </mc:Choice>
              <mc:Fallback>
                <p:oleObj name="Equation" r:id="rId3" imgW="571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3271" y="2816915"/>
                        <a:ext cx="1915562" cy="12671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7757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 smtClean="0"/>
              <a:t>Weight </a:t>
            </a:r>
            <a:r>
              <a:rPr lang="en-US" altLang="x-none" sz="2000" dirty="0"/>
              <a:t>the effect sizes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altLang="x-none" sz="1800" dirty="0" smtClean="0"/>
              <a:t>Calculate the weighted average effect size:</a:t>
            </a:r>
            <a:endParaRPr lang="en-US" altLang="x-none" sz="16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en-US" altLang="x-none" sz="2000" dirty="0" smtClean="0"/>
              <a:t>Remember: 	</a:t>
            </a:r>
            <a:r>
              <a:rPr lang="en-US" altLang="x-none" sz="2000" i="1" dirty="0" smtClean="0"/>
              <a:t>w = n-3.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buNone/>
            </a:pPr>
            <a:r>
              <a:rPr lang="en-US" altLang="x-none" sz="2000" dirty="0" smtClean="0"/>
              <a:t>							= 1780.03 </a:t>
            </a:r>
            <a:r>
              <a:rPr lang="en-US" altLang="x-none" sz="2000" dirty="0"/>
              <a:t>/ </a:t>
            </a:r>
            <a:r>
              <a:rPr lang="en-US" altLang="x-none" sz="2000" dirty="0" smtClean="0"/>
              <a:t>2888</a:t>
            </a:r>
            <a:endParaRPr lang="en-US" altLang="x-none" sz="2000" dirty="0"/>
          </a:p>
          <a:p>
            <a:pPr marL="0" indent="0">
              <a:buNone/>
            </a:pPr>
            <a:r>
              <a:rPr lang="en-US" altLang="x-none" sz="2000" dirty="0"/>
              <a:t> </a:t>
            </a:r>
            <a:r>
              <a:rPr lang="en-US" altLang="x-none" sz="2000" dirty="0" smtClean="0"/>
              <a:t>							= 0.62.</a:t>
            </a:r>
          </a:p>
          <a:p>
            <a:pPr lvl="1"/>
            <a:endParaRPr lang="en-US" altLang="x-none" sz="1600" dirty="0" smtClean="0"/>
          </a:p>
          <a:p>
            <a:pPr lvl="1"/>
            <a:r>
              <a:rPr lang="en-US" altLang="x-none" sz="1600" dirty="0" smtClean="0"/>
              <a:t>Since we have considered sampling error (SE) as the only component of variance for weighting the effect sizes, this is the “fixed-effect” pooled effect size.</a:t>
            </a:r>
            <a:endParaRPr lang="en-US" altLang="x-none" sz="1600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38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2220630"/>
            <a:ext cx="3067050" cy="1339850"/>
            <a:chOff x="3038475" y="2220630"/>
            <a:chExt cx="3067050" cy="1339850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6040548"/>
                </p:ext>
              </p:extLst>
            </p:nvPr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27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2899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/>
              <a:t>Weight the effect sizes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altLang="x-none" sz="1800" dirty="0" smtClean="0"/>
              <a:t>To Calculate </a:t>
            </a:r>
            <a:r>
              <a:rPr lang="en-US" altLang="x-none" sz="1800"/>
              <a:t>the </a:t>
            </a:r>
            <a:r>
              <a:rPr lang="en-US" altLang="x-none" sz="1800" smtClean="0"/>
              <a:t>random-effects pooled effect size, we :</a:t>
            </a:r>
            <a:endParaRPr lang="en-US" altLang="x-none" sz="16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en-US" altLang="x-none" sz="2000" dirty="0" smtClean="0"/>
              <a:t>Remember: 	</a:t>
            </a:r>
            <a:r>
              <a:rPr lang="en-US" altLang="x-none" sz="2000" i="1" dirty="0" smtClean="0"/>
              <a:t>w = n-3.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buNone/>
            </a:pPr>
            <a:r>
              <a:rPr lang="en-US" altLang="x-none" sz="2000" dirty="0" smtClean="0"/>
              <a:t>							= 1780.03 </a:t>
            </a:r>
            <a:r>
              <a:rPr lang="en-US" altLang="x-none" sz="2000" dirty="0"/>
              <a:t>/ </a:t>
            </a:r>
            <a:r>
              <a:rPr lang="en-US" altLang="x-none" sz="2000" dirty="0" smtClean="0"/>
              <a:t>2888</a:t>
            </a:r>
            <a:endParaRPr lang="en-US" altLang="x-none" sz="2000" dirty="0"/>
          </a:p>
          <a:p>
            <a:pPr marL="0" indent="0">
              <a:buNone/>
            </a:pPr>
            <a:r>
              <a:rPr lang="en-US" altLang="x-none" sz="2000" dirty="0"/>
              <a:t> </a:t>
            </a:r>
            <a:r>
              <a:rPr lang="en-US" altLang="x-none" sz="2000" dirty="0" smtClean="0"/>
              <a:t>							= 0.62.</a:t>
            </a:r>
          </a:p>
          <a:p>
            <a:pPr lvl="1"/>
            <a:endParaRPr lang="en-US" altLang="x-none" sz="1600" dirty="0" smtClean="0"/>
          </a:p>
          <a:p>
            <a:pPr lvl="1"/>
            <a:r>
              <a:rPr lang="en-US" altLang="x-none" sz="1600" dirty="0" smtClean="0"/>
              <a:t>Since we have considered sampling error (SE) as the only component of variance for weighting the effect sizes, this is the “fixed-effect” pooled effect size.</a:t>
            </a:r>
            <a:endParaRPr lang="en-US" altLang="x-none" sz="1600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254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b="1"/>
              <a:t>iii) weight results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924800" cy="3581400"/>
          </a:xfrm>
        </p:spPr>
        <p:txBody>
          <a:bodyPr/>
          <a:lstStyle/>
          <a:p>
            <a:pPr eaLnBrk="1" hangingPunct="1"/>
            <a:r>
              <a:rPr lang="en-US" altLang="x-none" b="1" dirty="0">
                <a:solidFill>
                  <a:srgbClr val="FF0000"/>
                </a:solidFill>
              </a:rPr>
              <a:t>The standard error (SE) is a direct index of ES precision</a:t>
            </a:r>
            <a:r>
              <a:rPr lang="en-US" altLang="x-none" b="1" dirty="0"/>
              <a:t>.</a:t>
            </a:r>
          </a:p>
          <a:p>
            <a:pPr eaLnBrk="1" hangingPunct="1"/>
            <a:r>
              <a:rPr lang="en-US" altLang="x-none" b="1" dirty="0"/>
              <a:t>The smaller the SE, the more precise the ES.</a:t>
            </a:r>
          </a:p>
          <a:p>
            <a:pPr eaLnBrk="1" hangingPunct="1"/>
            <a:r>
              <a:rPr lang="en-US" altLang="x-none" b="1" dirty="0">
                <a:solidFill>
                  <a:srgbClr val="FF0000"/>
                </a:solidFill>
              </a:rPr>
              <a:t>Hedges’ showed that the optimal weight for meta-analysis is</a:t>
            </a:r>
            <a:r>
              <a:rPr lang="en-US" altLang="x-none" b="1" dirty="0"/>
              <a:t>:</a:t>
            </a: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2819400" y="5029200"/>
          <a:ext cx="27813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1" name="Equation" r:id="rId4" imgW="571320" imgH="393480" progId="Equation.3">
                  <p:embed/>
                </p:oleObj>
              </mc:Choice>
              <mc:Fallback>
                <p:oleObj name="Equation" r:id="rId4" imgW="571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029200"/>
                        <a:ext cx="27813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44444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x-none" sz="4800"/>
              <a:t>Weight results (two steps)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x-none" b="1" dirty="0"/>
              <a:t>The weight (w) for the transformed r (</a:t>
            </a:r>
            <a:r>
              <a:rPr lang="en-US" altLang="x-none" b="1" dirty="0" err="1"/>
              <a:t>Z</a:t>
            </a:r>
            <a:r>
              <a:rPr lang="en-US" altLang="x-none" b="1" baseline="-25000" dirty="0" err="1"/>
              <a:t>r</a:t>
            </a:r>
            <a:r>
              <a:rPr lang="en-US" altLang="x-none" b="1" dirty="0"/>
              <a:t>) is simply:</a:t>
            </a:r>
          </a:p>
          <a:p>
            <a:pPr lvl="1" eaLnBrk="1" hangingPunct="1">
              <a:buFontTx/>
              <a:buNone/>
            </a:pPr>
            <a:r>
              <a:rPr lang="en-US" altLang="x-none" b="1" dirty="0"/>
              <a:t>		</a:t>
            </a:r>
            <a:r>
              <a:rPr lang="en-US" altLang="x-none" sz="3200" b="1" dirty="0">
                <a:solidFill>
                  <a:srgbClr val="FF0000"/>
                </a:solidFill>
              </a:rPr>
              <a:t>n-3</a:t>
            </a:r>
            <a:r>
              <a:rPr lang="en-US" altLang="x-none" sz="3200" b="1" dirty="0"/>
              <a:t>  </a:t>
            </a:r>
          </a:p>
          <a:p>
            <a:pPr eaLnBrk="1" hangingPunct="1"/>
            <a:r>
              <a:rPr lang="en-US" altLang="x-none" b="1" dirty="0">
                <a:solidFill>
                  <a:srgbClr val="FF0000"/>
                </a:solidFill>
              </a:rPr>
              <a:t>However, because r was corrected for  unreliability, then w also needs to be adjusted to w’ or:</a:t>
            </a:r>
          </a:p>
          <a:p>
            <a:pPr eaLnBrk="1" hangingPunct="1"/>
            <a:r>
              <a:rPr lang="en-US" altLang="x-none" b="1" dirty="0">
                <a:solidFill>
                  <a:srgbClr val="FF0000"/>
                </a:solidFill>
              </a:rPr>
              <a:t>  w’ = w(</a:t>
            </a:r>
            <a:r>
              <a:rPr lang="en-US" altLang="x-none" b="1" dirty="0" err="1">
                <a:solidFill>
                  <a:srgbClr val="FF0000"/>
                </a:solidFill>
              </a:rPr>
              <a:t>r</a:t>
            </a:r>
            <a:r>
              <a:rPr lang="en-US" altLang="x-none" b="1" baseline="-25000" dirty="0" err="1">
                <a:solidFill>
                  <a:srgbClr val="FF0000"/>
                </a:solidFill>
              </a:rPr>
              <a:t>xx</a:t>
            </a:r>
            <a:r>
              <a:rPr lang="en-US" altLang="x-none" b="1" dirty="0">
                <a:solidFill>
                  <a:srgbClr val="FF0000"/>
                </a:solidFill>
              </a:rPr>
              <a:t>)(</a:t>
            </a:r>
            <a:r>
              <a:rPr lang="en-US" altLang="x-none" b="1" dirty="0" err="1">
                <a:solidFill>
                  <a:srgbClr val="FF0000"/>
                </a:solidFill>
              </a:rPr>
              <a:t>r</a:t>
            </a:r>
            <a:r>
              <a:rPr lang="en-US" altLang="x-none" b="1" baseline="-25000" dirty="0" err="1">
                <a:solidFill>
                  <a:srgbClr val="FF0000"/>
                </a:solidFill>
              </a:rPr>
              <a:t>yy</a:t>
            </a:r>
            <a:r>
              <a:rPr lang="en-US" altLang="x-none" b="1" dirty="0">
                <a:solidFill>
                  <a:srgbClr val="FF0000"/>
                </a:solidFill>
              </a:rPr>
              <a:t>) </a:t>
            </a:r>
          </a:p>
          <a:p>
            <a:pPr lvl="1" eaLnBrk="1" hangingPunct="1">
              <a:buFontTx/>
              <a:buNone/>
            </a:pPr>
            <a:r>
              <a:rPr lang="en-US" altLang="x-none" b="1" dirty="0">
                <a:solidFill>
                  <a:srgbClr val="FF0000"/>
                </a:solidFill>
              </a:rPr>
              <a:t>		   = (99 – 3) (.93)(.91) = 81.24</a:t>
            </a:r>
          </a:p>
          <a:p>
            <a:pPr eaLnBrk="1" hangingPunct="1"/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666075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x-none" sz="4000"/>
              <a:t>Calculate the Weighted Mean Effect Size</a:t>
            </a: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>
            <p:ph idx="1"/>
          </p:nvPr>
        </p:nvGraphicFramePr>
        <p:xfrm>
          <a:off x="2057400" y="2763838"/>
          <a:ext cx="3067050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5" name="Equation" r:id="rId4" imgW="1104840" imgH="482400" progId="Equation.3">
                  <p:embed/>
                </p:oleObj>
              </mc:Choice>
              <mc:Fallback>
                <p:oleObj name="Equation" r:id="rId4" imgW="11048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763838"/>
                        <a:ext cx="3067050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7"/>
          <p:cNvSpPr txBox="1">
            <a:spLocks noChangeArrowheads="1"/>
          </p:cNvSpPr>
          <p:nvPr/>
        </p:nvSpPr>
        <p:spPr bwMode="auto">
          <a:xfrm>
            <a:off x="974725" y="1644650"/>
            <a:ext cx="1479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3600">
                <a:latin typeface="Times New Roman" charset="0"/>
              </a:rPr>
              <a:t>Recall:</a:t>
            </a:r>
          </a:p>
        </p:txBody>
      </p:sp>
      <p:sp>
        <p:nvSpPr>
          <p:cNvPr id="7173" name="Text Box 8"/>
          <p:cNvSpPr txBox="1">
            <a:spLocks noChangeArrowheads="1"/>
          </p:cNvSpPr>
          <p:nvPr/>
        </p:nvSpPr>
        <p:spPr bwMode="auto">
          <a:xfrm>
            <a:off x="2514600" y="4648200"/>
            <a:ext cx="30654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2800" dirty="0"/>
              <a:t> = 317.27 / 464.24</a:t>
            </a:r>
          </a:p>
          <a:p>
            <a:pPr eaLnBrk="1" hangingPunct="1"/>
            <a:r>
              <a:rPr lang="en-US" altLang="x-none" sz="2800" dirty="0"/>
              <a:t> = .68 </a:t>
            </a:r>
          </a:p>
        </p:txBody>
      </p:sp>
    </p:spTree>
    <p:extLst>
      <p:ext uri="{BB962C8B-B14F-4D97-AF65-F5344CB8AC3E}">
        <p14:creationId xmlns:p14="http://schemas.microsoft.com/office/powerpoint/2010/main" val="6110034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Two most widely used methods of Meta-Analysis are:</a:t>
            </a:r>
          </a:p>
          <a:p>
            <a:pPr lvl="1" algn="just"/>
            <a:endParaRPr lang="en-US" sz="1800" dirty="0"/>
          </a:p>
          <a:p>
            <a:pPr lvl="1" algn="just"/>
            <a:r>
              <a:rPr lang="en-US" sz="1800" dirty="0" smtClean="0"/>
              <a:t>Hunter and Schmidt				</a:t>
            </a:r>
            <a:r>
              <a:rPr lang="en-US" sz="1050" i="1" dirty="0" smtClean="0"/>
              <a:t>(Hunter </a:t>
            </a:r>
            <a:r>
              <a:rPr lang="en-US" sz="1050" i="1" dirty="0"/>
              <a:t>and </a:t>
            </a:r>
            <a:r>
              <a:rPr lang="en-US" sz="1050" i="1" dirty="0" smtClean="0"/>
              <a:t>Schmidt, 2004)</a:t>
            </a:r>
          </a:p>
          <a:p>
            <a:pPr lvl="2" algn="just"/>
            <a:r>
              <a:rPr lang="en-US" sz="1600" dirty="0" smtClean="0"/>
              <a:t>Is a random-effects method.</a:t>
            </a:r>
            <a:endParaRPr lang="en-US" sz="1600" dirty="0"/>
          </a:p>
          <a:p>
            <a:pPr lvl="1" algn="just"/>
            <a:endParaRPr lang="en-US" sz="1800" dirty="0" smtClean="0"/>
          </a:p>
          <a:p>
            <a:pPr lvl="1" algn="just"/>
            <a:r>
              <a:rPr lang="en-US" sz="1800" dirty="0" smtClean="0"/>
              <a:t>Hedges </a:t>
            </a:r>
            <a:r>
              <a:rPr lang="en-US" sz="1800" dirty="0"/>
              <a:t>and colleagues 			</a:t>
            </a:r>
            <a:r>
              <a:rPr lang="en-US" sz="1050" i="1" dirty="0"/>
              <a:t>(Hedges,1992; Hedges &amp; </a:t>
            </a:r>
            <a:r>
              <a:rPr lang="en-US" sz="1050" i="1" dirty="0" err="1"/>
              <a:t>Olkin</a:t>
            </a:r>
            <a:r>
              <a:rPr lang="en-US" sz="1050" i="1" dirty="0"/>
              <a:t>, 1985; Hedges &amp; </a:t>
            </a:r>
            <a:r>
              <a:rPr lang="en-US" sz="1050" i="1" dirty="0" err="1"/>
              <a:t>Vevea</a:t>
            </a:r>
            <a:r>
              <a:rPr lang="en-US" sz="1050" i="1" dirty="0"/>
              <a:t>, 1998)</a:t>
            </a:r>
            <a:endParaRPr lang="en-US" sz="1800" i="1" dirty="0"/>
          </a:p>
          <a:p>
            <a:pPr lvl="2" algn="just"/>
            <a:r>
              <a:rPr lang="en-US" sz="1600" dirty="0"/>
              <a:t>Provide both fixed- and random-effects methods.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While both of these methods are widely used in the literature, several studies comparing them have shown a slightly less bias in estimation of pooled effect sizes in Hunter &amp; Schmidt method than Hedges and colleagues method.</a:t>
            </a:r>
          </a:p>
          <a:p>
            <a:pPr lvl="1" algn="just"/>
            <a:r>
              <a:rPr lang="en-US" sz="1600" dirty="0" smtClean="0"/>
              <a:t>See Field (2005); Field &amp; Gillette (2010)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936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4"/>
            </a:pPr>
            <a:r>
              <a:rPr lang="en-US" altLang="x-none" sz="2000" dirty="0"/>
              <a:t>Calculate the credibility interval for the pooled effect size</a:t>
            </a:r>
            <a:r>
              <a:rPr lang="en-US" altLang="x-none" sz="2000" dirty="0" smtClean="0"/>
              <a:t>.</a:t>
            </a:r>
          </a:p>
          <a:p>
            <a:pPr marL="857250" lvl="1" indent="-457200"/>
            <a:r>
              <a:rPr lang="en-US" altLang="x-none" sz="1800" dirty="0" smtClean="0"/>
              <a:t>Credibility interval indicates the generalizability of a pooled effect size.</a:t>
            </a:r>
          </a:p>
          <a:p>
            <a:pPr marL="857250" lvl="1" indent="-457200"/>
            <a:r>
              <a:rPr lang="en-US" altLang="x-none" sz="1800" dirty="0" smtClean="0"/>
              <a:t>It is different than confidence interval, which shows the precision of estimation.</a:t>
            </a:r>
          </a:p>
          <a:p>
            <a:pPr marL="457200" indent="-457200">
              <a:buFont typeface="+mj-lt"/>
              <a:buAutoNum type="arabicParenR" startAt="4"/>
            </a:pPr>
            <a:endParaRPr lang="en-US" altLang="x-none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429" y="2587925"/>
            <a:ext cx="5508367" cy="1418917"/>
          </a:xfrm>
          <a:prstGeom prst="rect">
            <a:avLst/>
          </a:prstGeom>
        </p:spPr>
      </p:pic>
      <p:sp>
        <p:nvSpPr>
          <p:cNvPr id="11" name="Line Callout 1 10"/>
          <p:cNvSpPr/>
          <p:nvPr/>
        </p:nvSpPr>
        <p:spPr>
          <a:xfrm>
            <a:off x="7139796" y="2231498"/>
            <a:ext cx="1590256" cy="515444"/>
          </a:xfrm>
          <a:prstGeom prst="borderCallout1">
            <a:avLst>
              <a:gd name="adj1" fmla="val 18750"/>
              <a:gd name="adj2" fmla="val -8333"/>
              <a:gd name="adj3" fmla="val 91169"/>
              <a:gd name="adj4" fmla="val -5668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Two-tailed Z-score for alpha = 0.05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336" y="5162599"/>
            <a:ext cx="2871276" cy="9432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369" y="4126534"/>
            <a:ext cx="2889260" cy="8530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717" y="5171653"/>
            <a:ext cx="2374122" cy="9432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7" name="Straight Connector 16"/>
          <p:cNvCxnSpPr/>
          <p:nvPr/>
        </p:nvCxnSpPr>
        <p:spPr>
          <a:xfrm>
            <a:off x="871268" y="4006842"/>
            <a:ext cx="7211683" cy="1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ne Callout 1 19"/>
          <p:cNvSpPr/>
          <p:nvPr/>
        </p:nvSpPr>
        <p:spPr>
          <a:xfrm>
            <a:off x="1397479" y="4246720"/>
            <a:ext cx="1299312" cy="676002"/>
          </a:xfrm>
          <a:prstGeom prst="borderCallout1">
            <a:avLst>
              <a:gd name="adj1" fmla="val 17342"/>
              <a:gd name="adj2" fmla="val 104622"/>
              <a:gd name="adj3" fmla="val 38797"/>
              <a:gd name="adj4" fmla="val 14241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Between-Study Variance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" name="Line Callout 1 20"/>
          <p:cNvSpPr/>
          <p:nvPr/>
        </p:nvSpPr>
        <p:spPr>
          <a:xfrm>
            <a:off x="6624714" y="4246720"/>
            <a:ext cx="1518250" cy="685056"/>
          </a:xfrm>
          <a:prstGeom prst="borderCallout1">
            <a:avLst>
              <a:gd name="adj1" fmla="val 18750"/>
              <a:gd name="adj2" fmla="val -8333"/>
              <a:gd name="adj3" fmla="val 42909"/>
              <a:gd name="adj4" fmla="val -5662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Within-Study Variance (sampling error)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2" name="Line Callout 1 21"/>
          <p:cNvSpPr/>
          <p:nvPr/>
        </p:nvSpPr>
        <p:spPr>
          <a:xfrm>
            <a:off x="211375" y="5425760"/>
            <a:ext cx="879895" cy="505331"/>
          </a:xfrm>
          <a:prstGeom prst="borderCallout1">
            <a:avLst>
              <a:gd name="adj1" fmla="val 17342"/>
              <a:gd name="adj2" fmla="val 104622"/>
              <a:gd name="adj3" fmla="val 30262"/>
              <a:gd name="adj4" fmla="val 15515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Total 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Variance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873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65838"/>
            <a:ext cx="2926961" cy="469051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4"/>
            </a:pPr>
            <a:r>
              <a:rPr lang="en-US" altLang="x-none" sz="1800" dirty="0"/>
              <a:t>Calculate the credibility interval for the pooled effect size</a:t>
            </a:r>
            <a:r>
              <a:rPr lang="en-US" altLang="x-none" sz="1800" dirty="0" smtClean="0"/>
              <a:t>.</a:t>
            </a:r>
          </a:p>
          <a:p>
            <a:pPr marL="457200" indent="-457200">
              <a:buFont typeface="+mj-lt"/>
              <a:buAutoNum type="arabicParenR" startAt="4"/>
            </a:pPr>
            <a:endParaRPr lang="en-US" altLang="x-none" sz="1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6" y="2994311"/>
            <a:ext cx="2856125" cy="7357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56" y="1345978"/>
            <a:ext cx="6146188" cy="4140420"/>
          </a:xfrm>
          <a:prstGeom prst="rect">
            <a:avLst/>
          </a:prstGeom>
        </p:spPr>
      </p:pic>
      <p:sp>
        <p:nvSpPr>
          <p:cNvPr id="9" name="Freeform 8"/>
          <p:cNvSpPr/>
          <p:nvPr/>
        </p:nvSpPr>
        <p:spPr>
          <a:xfrm>
            <a:off x="887240" y="3730028"/>
            <a:ext cx="7025489" cy="2437141"/>
          </a:xfrm>
          <a:custGeom>
            <a:avLst/>
            <a:gdLst>
              <a:gd name="connsiteX0" fmla="*/ 0 w 7025489"/>
              <a:gd name="connsiteY0" fmla="*/ 0 h 2437141"/>
              <a:gd name="connsiteX1" fmla="*/ 18107 w 7025489"/>
              <a:gd name="connsiteY1" fmla="*/ 217283 h 2437141"/>
              <a:gd name="connsiteX2" fmla="*/ 27160 w 7025489"/>
              <a:gd name="connsiteY2" fmla="*/ 271604 h 2437141"/>
              <a:gd name="connsiteX3" fmla="*/ 72427 w 7025489"/>
              <a:gd name="connsiteY3" fmla="*/ 380245 h 2437141"/>
              <a:gd name="connsiteX4" fmla="*/ 99588 w 7025489"/>
              <a:gd name="connsiteY4" fmla="*/ 443620 h 2437141"/>
              <a:gd name="connsiteX5" fmla="*/ 162962 w 7025489"/>
              <a:gd name="connsiteY5" fmla="*/ 543208 h 2437141"/>
              <a:gd name="connsiteX6" fmla="*/ 280657 w 7025489"/>
              <a:gd name="connsiteY6" fmla="*/ 697117 h 2437141"/>
              <a:gd name="connsiteX7" fmla="*/ 434566 w 7025489"/>
              <a:gd name="connsiteY7" fmla="*/ 869132 h 2437141"/>
              <a:gd name="connsiteX8" fmla="*/ 579421 w 7025489"/>
              <a:gd name="connsiteY8" fmla="*/ 1013988 h 2437141"/>
              <a:gd name="connsiteX9" fmla="*/ 651849 w 7025489"/>
              <a:gd name="connsiteY9" fmla="*/ 1086416 h 2437141"/>
              <a:gd name="connsiteX10" fmla="*/ 796705 w 7025489"/>
              <a:gd name="connsiteY10" fmla="*/ 1213164 h 2437141"/>
              <a:gd name="connsiteX11" fmla="*/ 1023041 w 7025489"/>
              <a:gd name="connsiteY11" fmla="*/ 1394233 h 2437141"/>
              <a:gd name="connsiteX12" fmla="*/ 1240324 w 7025489"/>
              <a:gd name="connsiteY12" fmla="*/ 1539089 h 2437141"/>
              <a:gd name="connsiteX13" fmla="*/ 1602463 w 7025489"/>
              <a:gd name="connsiteY13" fmla="*/ 1765425 h 2437141"/>
              <a:gd name="connsiteX14" fmla="*/ 1720158 w 7025489"/>
              <a:gd name="connsiteY14" fmla="*/ 1819746 h 2437141"/>
              <a:gd name="connsiteX15" fmla="*/ 1792586 w 7025489"/>
              <a:gd name="connsiteY15" fmla="*/ 1846907 h 2437141"/>
              <a:gd name="connsiteX16" fmla="*/ 1883120 w 7025489"/>
              <a:gd name="connsiteY16" fmla="*/ 1892174 h 2437141"/>
              <a:gd name="connsiteX17" fmla="*/ 1973655 w 7025489"/>
              <a:gd name="connsiteY17" fmla="*/ 1919334 h 2437141"/>
              <a:gd name="connsiteX18" fmla="*/ 2163778 w 7025489"/>
              <a:gd name="connsiteY18" fmla="*/ 2000816 h 2437141"/>
              <a:gd name="connsiteX19" fmla="*/ 2344847 w 7025489"/>
              <a:gd name="connsiteY19" fmla="*/ 2055136 h 2437141"/>
              <a:gd name="connsiteX20" fmla="*/ 2444435 w 7025489"/>
              <a:gd name="connsiteY20" fmla="*/ 2082297 h 2437141"/>
              <a:gd name="connsiteX21" fmla="*/ 2625505 w 7025489"/>
              <a:gd name="connsiteY21" fmla="*/ 2118511 h 2437141"/>
              <a:gd name="connsiteX22" fmla="*/ 2716039 w 7025489"/>
              <a:gd name="connsiteY22" fmla="*/ 2145671 h 2437141"/>
              <a:gd name="connsiteX23" fmla="*/ 2806574 w 7025489"/>
              <a:gd name="connsiteY23" fmla="*/ 2163778 h 2437141"/>
              <a:gd name="connsiteX24" fmla="*/ 3069124 w 7025489"/>
              <a:gd name="connsiteY24" fmla="*/ 2218099 h 2437141"/>
              <a:gd name="connsiteX25" fmla="*/ 3313568 w 7025489"/>
              <a:gd name="connsiteY25" fmla="*/ 2245259 h 2437141"/>
              <a:gd name="connsiteX26" fmla="*/ 3449370 w 7025489"/>
              <a:gd name="connsiteY26" fmla="*/ 2263366 h 2437141"/>
              <a:gd name="connsiteX27" fmla="*/ 3702867 w 7025489"/>
              <a:gd name="connsiteY27" fmla="*/ 2290526 h 2437141"/>
              <a:gd name="connsiteX28" fmla="*/ 3983524 w 7025489"/>
              <a:gd name="connsiteY28" fmla="*/ 2344847 h 2437141"/>
              <a:gd name="connsiteX29" fmla="*/ 4110273 w 7025489"/>
              <a:gd name="connsiteY29" fmla="*/ 2362954 h 2437141"/>
              <a:gd name="connsiteX30" fmla="*/ 4218914 w 7025489"/>
              <a:gd name="connsiteY30" fmla="*/ 2372008 h 2437141"/>
              <a:gd name="connsiteX31" fmla="*/ 4445251 w 7025489"/>
              <a:gd name="connsiteY31" fmla="*/ 2399168 h 2437141"/>
              <a:gd name="connsiteX32" fmla="*/ 4581053 w 7025489"/>
              <a:gd name="connsiteY32" fmla="*/ 2426328 h 2437141"/>
              <a:gd name="connsiteX33" fmla="*/ 5251010 w 7025489"/>
              <a:gd name="connsiteY33" fmla="*/ 2426328 h 2437141"/>
              <a:gd name="connsiteX34" fmla="*/ 5585988 w 7025489"/>
              <a:gd name="connsiteY34" fmla="*/ 2408222 h 2437141"/>
              <a:gd name="connsiteX35" fmla="*/ 5649362 w 7025489"/>
              <a:gd name="connsiteY35" fmla="*/ 2390115 h 2437141"/>
              <a:gd name="connsiteX36" fmla="*/ 5694629 w 7025489"/>
              <a:gd name="connsiteY36" fmla="*/ 2381061 h 2437141"/>
              <a:gd name="connsiteX37" fmla="*/ 5803271 w 7025489"/>
              <a:gd name="connsiteY37" fmla="*/ 2335794 h 2437141"/>
              <a:gd name="connsiteX38" fmla="*/ 5884752 w 7025489"/>
              <a:gd name="connsiteY38" fmla="*/ 2317687 h 2437141"/>
              <a:gd name="connsiteX39" fmla="*/ 5930019 w 7025489"/>
              <a:gd name="connsiteY39" fmla="*/ 2299580 h 2437141"/>
              <a:gd name="connsiteX40" fmla="*/ 5957180 w 7025489"/>
              <a:gd name="connsiteY40" fmla="*/ 2290526 h 2437141"/>
              <a:gd name="connsiteX41" fmla="*/ 6029608 w 7025489"/>
              <a:gd name="connsiteY41" fmla="*/ 2254313 h 2437141"/>
              <a:gd name="connsiteX42" fmla="*/ 6065821 w 7025489"/>
              <a:gd name="connsiteY42" fmla="*/ 2236206 h 2437141"/>
              <a:gd name="connsiteX43" fmla="*/ 6102035 w 7025489"/>
              <a:gd name="connsiteY43" fmla="*/ 2209045 h 2437141"/>
              <a:gd name="connsiteX44" fmla="*/ 6138249 w 7025489"/>
              <a:gd name="connsiteY44" fmla="*/ 2190938 h 2437141"/>
              <a:gd name="connsiteX45" fmla="*/ 6192570 w 7025489"/>
              <a:gd name="connsiteY45" fmla="*/ 2136618 h 2437141"/>
              <a:gd name="connsiteX46" fmla="*/ 6274051 w 7025489"/>
              <a:gd name="connsiteY46" fmla="*/ 2073243 h 2437141"/>
              <a:gd name="connsiteX47" fmla="*/ 6301211 w 7025489"/>
              <a:gd name="connsiteY47" fmla="*/ 2055136 h 2437141"/>
              <a:gd name="connsiteX48" fmla="*/ 6355532 w 7025489"/>
              <a:gd name="connsiteY48" fmla="*/ 2000816 h 2437141"/>
              <a:gd name="connsiteX49" fmla="*/ 6382693 w 7025489"/>
              <a:gd name="connsiteY49" fmla="*/ 1964602 h 2437141"/>
              <a:gd name="connsiteX50" fmla="*/ 6400800 w 7025489"/>
              <a:gd name="connsiteY50" fmla="*/ 1937441 h 2437141"/>
              <a:gd name="connsiteX51" fmla="*/ 6427960 w 7025489"/>
              <a:gd name="connsiteY51" fmla="*/ 1910281 h 2437141"/>
              <a:gd name="connsiteX52" fmla="*/ 6437013 w 7025489"/>
              <a:gd name="connsiteY52" fmla="*/ 1883121 h 2437141"/>
              <a:gd name="connsiteX53" fmla="*/ 6482281 w 7025489"/>
              <a:gd name="connsiteY53" fmla="*/ 1810693 h 2437141"/>
              <a:gd name="connsiteX54" fmla="*/ 6500388 w 7025489"/>
              <a:gd name="connsiteY54" fmla="*/ 1774479 h 2437141"/>
              <a:gd name="connsiteX55" fmla="*/ 6554709 w 7025489"/>
              <a:gd name="connsiteY55" fmla="*/ 1647730 h 2437141"/>
              <a:gd name="connsiteX56" fmla="*/ 6590922 w 7025489"/>
              <a:gd name="connsiteY56" fmla="*/ 1566249 h 2437141"/>
              <a:gd name="connsiteX57" fmla="*/ 6599976 w 7025489"/>
              <a:gd name="connsiteY57" fmla="*/ 1539089 h 2437141"/>
              <a:gd name="connsiteX58" fmla="*/ 6590922 w 7025489"/>
              <a:gd name="connsiteY58" fmla="*/ 1285592 h 2437141"/>
              <a:gd name="connsiteX59" fmla="*/ 6581869 w 7025489"/>
              <a:gd name="connsiteY59" fmla="*/ 1240324 h 2437141"/>
              <a:gd name="connsiteX60" fmla="*/ 6563762 w 7025489"/>
              <a:gd name="connsiteY60" fmla="*/ 1176950 h 2437141"/>
              <a:gd name="connsiteX61" fmla="*/ 6545655 w 7025489"/>
              <a:gd name="connsiteY61" fmla="*/ 1131683 h 2437141"/>
              <a:gd name="connsiteX62" fmla="*/ 6536602 w 7025489"/>
              <a:gd name="connsiteY62" fmla="*/ 1095469 h 2437141"/>
              <a:gd name="connsiteX63" fmla="*/ 6518495 w 7025489"/>
              <a:gd name="connsiteY63" fmla="*/ 1068309 h 2437141"/>
              <a:gd name="connsiteX64" fmla="*/ 6500388 w 7025489"/>
              <a:gd name="connsiteY64" fmla="*/ 1013988 h 2437141"/>
              <a:gd name="connsiteX65" fmla="*/ 6482281 w 7025489"/>
              <a:gd name="connsiteY65" fmla="*/ 977774 h 2437141"/>
              <a:gd name="connsiteX66" fmla="*/ 6473227 w 7025489"/>
              <a:gd name="connsiteY66" fmla="*/ 941560 h 2437141"/>
              <a:gd name="connsiteX67" fmla="*/ 6446067 w 7025489"/>
              <a:gd name="connsiteY67" fmla="*/ 896293 h 2437141"/>
              <a:gd name="connsiteX68" fmla="*/ 6437013 w 7025489"/>
              <a:gd name="connsiteY68" fmla="*/ 851025 h 2437141"/>
              <a:gd name="connsiteX69" fmla="*/ 6400800 w 7025489"/>
              <a:gd name="connsiteY69" fmla="*/ 787651 h 2437141"/>
              <a:gd name="connsiteX70" fmla="*/ 6373639 w 7025489"/>
              <a:gd name="connsiteY70" fmla="*/ 751437 h 2437141"/>
              <a:gd name="connsiteX71" fmla="*/ 6346479 w 7025489"/>
              <a:gd name="connsiteY71" fmla="*/ 724277 h 2437141"/>
              <a:gd name="connsiteX72" fmla="*/ 6328372 w 7025489"/>
              <a:gd name="connsiteY72" fmla="*/ 697117 h 2437141"/>
              <a:gd name="connsiteX73" fmla="*/ 6292158 w 7025489"/>
              <a:gd name="connsiteY73" fmla="*/ 660903 h 2437141"/>
              <a:gd name="connsiteX74" fmla="*/ 6237837 w 7025489"/>
              <a:gd name="connsiteY74" fmla="*/ 597528 h 2437141"/>
              <a:gd name="connsiteX75" fmla="*/ 6210677 w 7025489"/>
              <a:gd name="connsiteY75" fmla="*/ 588475 h 2437141"/>
              <a:gd name="connsiteX76" fmla="*/ 6111089 w 7025489"/>
              <a:gd name="connsiteY76" fmla="*/ 534154 h 2437141"/>
              <a:gd name="connsiteX77" fmla="*/ 6074875 w 7025489"/>
              <a:gd name="connsiteY77" fmla="*/ 525101 h 2437141"/>
              <a:gd name="connsiteX78" fmla="*/ 6038661 w 7025489"/>
              <a:gd name="connsiteY78" fmla="*/ 506994 h 2437141"/>
              <a:gd name="connsiteX79" fmla="*/ 5920966 w 7025489"/>
              <a:gd name="connsiteY79" fmla="*/ 479833 h 2437141"/>
              <a:gd name="connsiteX80" fmla="*/ 5893806 w 7025489"/>
              <a:gd name="connsiteY80" fmla="*/ 470780 h 2437141"/>
              <a:gd name="connsiteX81" fmla="*/ 5794217 w 7025489"/>
              <a:gd name="connsiteY81" fmla="*/ 461726 h 2437141"/>
              <a:gd name="connsiteX82" fmla="*/ 5730843 w 7025489"/>
              <a:gd name="connsiteY82" fmla="*/ 470780 h 2437141"/>
              <a:gd name="connsiteX83" fmla="*/ 5703683 w 7025489"/>
              <a:gd name="connsiteY83" fmla="*/ 479833 h 2437141"/>
              <a:gd name="connsiteX84" fmla="*/ 5658415 w 7025489"/>
              <a:gd name="connsiteY84" fmla="*/ 488887 h 2437141"/>
              <a:gd name="connsiteX85" fmla="*/ 5622202 w 7025489"/>
              <a:gd name="connsiteY85" fmla="*/ 506994 h 2437141"/>
              <a:gd name="connsiteX86" fmla="*/ 5595041 w 7025489"/>
              <a:gd name="connsiteY86" fmla="*/ 525101 h 2437141"/>
              <a:gd name="connsiteX87" fmla="*/ 5567881 w 7025489"/>
              <a:gd name="connsiteY87" fmla="*/ 534154 h 2437141"/>
              <a:gd name="connsiteX88" fmla="*/ 5540720 w 7025489"/>
              <a:gd name="connsiteY88" fmla="*/ 552261 h 2437141"/>
              <a:gd name="connsiteX89" fmla="*/ 5432079 w 7025489"/>
              <a:gd name="connsiteY89" fmla="*/ 606582 h 2437141"/>
              <a:gd name="connsiteX90" fmla="*/ 5368705 w 7025489"/>
              <a:gd name="connsiteY90" fmla="*/ 642796 h 2437141"/>
              <a:gd name="connsiteX91" fmla="*/ 5323437 w 7025489"/>
              <a:gd name="connsiteY91" fmla="*/ 697117 h 2437141"/>
              <a:gd name="connsiteX92" fmla="*/ 5305330 w 7025489"/>
              <a:gd name="connsiteY92" fmla="*/ 751437 h 2437141"/>
              <a:gd name="connsiteX93" fmla="*/ 5296277 w 7025489"/>
              <a:gd name="connsiteY93" fmla="*/ 778598 h 2437141"/>
              <a:gd name="connsiteX94" fmla="*/ 5314384 w 7025489"/>
              <a:gd name="connsiteY94" fmla="*/ 869132 h 2437141"/>
              <a:gd name="connsiteX95" fmla="*/ 5350598 w 7025489"/>
              <a:gd name="connsiteY95" fmla="*/ 932507 h 2437141"/>
              <a:gd name="connsiteX96" fmla="*/ 5377758 w 7025489"/>
              <a:gd name="connsiteY96" fmla="*/ 968721 h 2437141"/>
              <a:gd name="connsiteX97" fmla="*/ 5441132 w 7025489"/>
              <a:gd name="connsiteY97" fmla="*/ 1032095 h 2437141"/>
              <a:gd name="connsiteX98" fmla="*/ 5495453 w 7025489"/>
              <a:gd name="connsiteY98" fmla="*/ 1068309 h 2437141"/>
              <a:gd name="connsiteX99" fmla="*/ 5522613 w 7025489"/>
              <a:gd name="connsiteY99" fmla="*/ 1086416 h 2437141"/>
              <a:gd name="connsiteX100" fmla="*/ 5567881 w 7025489"/>
              <a:gd name="connsiteY100" fmla="*/ 1104522 h 2437141"/>
              <a:gd name="connsiteX101" fmla="*/ 5595041 w 7025489"/>
              <a:gd name="connsiteY101" fmla="*/ 1122629 h 2437141"/>
              <a:gd name="connsiteX102" fmla="*/ 5649362 w 7025489"/>
              <a:gd name="connsiteY102" fmla="*/ 1140736 h 2437141"/>
              <a:gd name="connsiteX103" fmla="*/ 5721790 w 7025489"/>
              <a:gd name="connsiteY103" fmla="*/ 1167897 h 2437141"/>
              <a:gd name="connsiteX104" fmla="*/ 5911912 w 7025489"/>
              <a:gd name="connsiteY104" fmla="*/ 1186004 h 2437141"/>
              <a:gd name="connsiteX105" fmla="*/ 6002447 w 7025489"/>
              <a:gd name="connsiteY105" fmla="*/ 1176950 h 2437141"/>
              <a:gd name="connsiteX106" fmla="*/ 6083928 w 7025489"/>
              <a:gd name="connsiteY106" fmla="*/ 1167897 h 2437141"/>
              <a:gd name="connsiteX107" fmla="*/ 6210677 w 7025489"/>
              <a:gd name="connsiteY107" fmla="*/ 1158843 h 2437141"/>
              <a:gd name="connsiteX108" fmla="*/ 6283105 w 7025489"/>
              <a:gd name="connsiteY108" fmla="*/ 1149790 h 2437141"/>
              <a:gd name="connsiteX109" fmla="*/ 6418907 w 7025489"/>
              <a:gd name="connsiteY109" fmla="*/ 1131683 h 2437141"/>
              <a:gd name="connsiteX110" fmla="*/ 6799152 w 7025489"/>
              <a:gd name="connsiteY110" fmla="*/ 1122629 h 2437141"/>
              <a:gd name="connsiteX111" fmla="*/ 7025489 w 7025489"/>
              <a:gd name="connsiteY111" fmla="*/ 1113576 h 2437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7025489" h="2437141">
                <a:moveTo>
                  <a:pt x="0" y="0"/>
                </a:moveTo>
                <a:cubicBezTo>
                  <a:pt x="12671" y="240757"/>
                  <a:pt x="-2961" y="101409"/>
                  <a:pt x="18107" y="217283"/>
                </a:cubicBezTo>
                <a:cubicBezTo>
                  <a:pt x="21391" y="235344"/>
                  <a:pt x="22708" y="253795"/>
                  <a:pt x="27160" y="271604"/>
                </a:cubicBezTo>
                <a:cubicBezTo>
                  <a:pt x="41358" y="328397"/>
                  <a:pt x="47668" y="326600"/>
                  <a:pt x="72427" y="380245"/>
                </a:cubicBezTo>
                <a:cubicBezTo>
                  <a:pt x="82058" y="401113"/>
                  <a:pt x="89310" y="423063"/>
                  <a:pt x="99588" y="443620"/>
                </a:cubicBezTo>
                <a:cubicBezTo>
                  <a:pt x="109737" y="463918"/>
                  <a:pt x="151872" y="528203"/>
                  <a:pt x="162962" y="543208"/>
                </a:cubicBezTo>
                <a:cubicBezTo>
                  <a:pt x="201350" y="595145"/>
                  <a:pt x="237592" y="648986"/>
                  <a:pt x="280657" y="697117"/>
                </a:cubicBezTo>
                <a:cubicBezTo>
                  <a:pt x="331960" y="754455"/>
                  <a:pt x="380162" y="814727"/>
                  <a:pt x="434566" y="869132"/>
                </a:cubicBezTo>
                <a:lnTo>
                  <a:pt x="579421" y="1013988"/>
                </a:lnTo>
                <a:cubicBezTo>
                  <a:pt x="603564" y="1038131"/>
                  <a:pt x="626154" y="1063933"/>
                  <a:pt x="651849" y="1086416"/>
                </a:cubicBezTo>
                <a:lnTo>
                  <a:pt x="796705" y="1213164"/>
                </a:lnTo>
                <a:cubicBezTo>
                  <a:pt x="870807" y="1276680"/>
                  <a:pt x="944170" y="1336597"/>
                  <a:pt x="1023041" y="1394233"/>
                </a:cubicBezTo>
                <a:cubicBezTo>
                  <a:pt x="1163243" y="1496689"/>
                  <a:pt x="1108597" y="1451271"/>
                  <a:pt x="1240324" y="1539089"/>
                </a:cubicBezTo>
                <a:cubicBezTo>
                  <a:pt x="1368449" y="1624506"/>
                  <a:pt x="1450839" y="1695445"/>
                  <a:pt x="1602463" y="1765425"/>
                </a:cubicBezTo>
                <a:cubicBezTo>
                  <a:pt x="1641695" y="1783532"/>
                  <a:pt x="1680443" y="1802725"/>
                  <a:pt x="1720158" y="1819746"/>
                </a:cubicBezTo>
                <a:cubicBezTo>
                  <a:pt x="1743858" y="1829903"/>
                  <a:pt x="1769024" y="1836435"/>
                  <a:pt x="1792586" y="1846907"/>
                </a:cubicBezTo>
                <a:cubicBezTo>
                  <a:pt x="1823418" y="1860610"/>
                  <a:pt x="1851793" y="1879643"/>
                  <a:pt x="1883120" y="1892174"/>
                </a:cubicBezTo>
                <a:cubicBezTo>
                  <a:pt x="1912374" y="1903875"/>
                  <a:pt x="1944212" y="1908118"/>
                  <a:pt x="1973655" y="1919334"/>
                </a:cubicBezTo>
                <a:cubicBezTo>
                  <a:pt x="2107107" y="1970173"/>
                  <a:pt x="2035576" y="1958082"/>
                  <a:pt x="2163778" y="2000816"/>
                </a:cubicBezTo>
                <a:cubicBezTo>
                  <a:pt x="2223558" y="2020743"/>
                  <a:pt x="2284332" y="2037567"/>
                  <a:pt x="2344847" y="2055136"/>
                </a:cubicBezTo>
                <a:cubicBezTo>
                  <a:pt x="2377891" y="2064729"/>
                  <a:pt x="2410582" y="2076142"/>
                  <a:pt x="2444435" y="2082297"/>
                </a:cubicBezTo>
                <a:cubicBezTo>
                  <a:pt x="2501567" y="2092685"/>
                  <a:pt x="2568671" y="2103555"/>
                  <a:pt x="2625505" y="2118511"/>
                </a:cubicBezTo>
                <a:cubicBezTo>
                  <a:pt x="2655974" y="2126529"/>
                  <a:pt x="2685473" y="2138030"/>
                  <a:pt x="2716039" y="2145671"/>
                </a:cubicBezTo>
                <a:cubicBezTo>
                  <a:pt x="2745896" y="2153135"/>
                  <a:pt x="2776458" y="2157438"/>
                  <a:pt x="2806574" y="2163778"/>
                </a:cubicBezTo>
                <a:cubicBezTo>
                  <a:pt x="2900665" y="2183587"/>
                  <a:pt x="2965803" y="2202203"/>
                  <a:pt x="3069124" y="2218099"/>
                </a:cubicBezTo>
                <a:cubicBezTo>
                  <a:pt x="3327722" y="2257883"/>
                  <a:pt x="3041541" y="2217119"/>
                  <a:pt x="3313568" y="2245259"/>
                </a:cubicBezTo>
                <a:cubicBezTo>
                  <a:pt x="3358994" y="2249958"/>
                  <a:pt x="3403981" y="2258323"/>
                  <a:pt x="3449370" y="2263366"/>
                </a:cubicBezTo>
                <a:cubicBezTo>
                  <a:pt x="3576981" y="2277545"/>
                  <a:pt x="3561485" y="2266461"/>
                  <a:pt x="3702867" y="2290526"/>
                </a:cubicBezTo>
                <a:cubicBezTo>
                  <a:pt x="3796804" y="2306515"/>
                  <a:pt x="3889193" y="2331371"/>
                  <a:pt x="3983524" y="2344847"/>
                </a:cubicBezTo>
                <a:cubicBezTo>
                  <a:pt x="4025774" y="2350883"/>
                  <a:pt x="4067876" y="2358062"/>
                  <a:pt x="4110273" y="2362954"/>
                </a:cubicBezTo>
                <a:cubicBezTo>
                  <a:pt x="4146373" y="2367119"/>
                  <a:pt x="4182855" y="2367501"/>
                  <a:pt x="4218914" y="2372008"/>
                </a:cubicBezTo>
                <a:cubicBezTo>
                  <a:pt x="4494135" y="2406411"/>
                  <a:pt x="4154017" y="2376767"/>
                  <a:pt x="4445251" y="2399168"/>
                </a:cubicBezTo>
                <a:cubicBezTo>
                  <a:pt x="4490518" y="2408221"/>
                  <a:pt x="4535322" y="2420020"/>
                  <a:pt x="4581053" y="2426328"/>
                </a:cubicBezTo>
                <a:cubicBezTo>
                  <a:pt x="4756219" y="2450489"/>
                  <a:pt x="5230731" y="2426666"/>
                  <a:pt x="5251010" y="2426328"/>
                </a:cubicBezTo>
                <a:cubicBezTo>
                  <a:pt x="5272007" y="2425488"/>
                  <a:pt x="5518402" y="2418893"/>
                  <a:pt x="5585988" y="2408222"/>
                </a:cubicBezTo>
                <a:cubicBezTo>
                  <a:pt x="5607689" y="2404796"/>
                  <a:pt x="5628048" y="2395444"/>
                  <a:pt x="5649362" y="2390115"/>
                </a:cubicBezTo>
                <a:cubicBezTo>
                  <a:pt x="5664290" y="2386383"/>
                  <a:pt x="5679540" y="2384079"/>
                  <a:pt x="5694629" y="2381061"/>
                </a:cubicBezTo>
                <a:cubicBezTo>
                  <a:pt x="5745226" y="2355763"/>
                  <a:pt x="5749351" y="2350500"/>
                  <a:pt x="5803271" y="2335794"/>
                </a:cubicBezTo>
                <a:cubicBezTo>
                  <a:pt x="5842716" y="2325036"/>
                  <a:pt x="5848183" y="2329876"/>
                  <a:pt x="5884752" y="2317687"/>
                </a:cubicBezTo>
                <a:cubicBezTo>
                  <a:pt x="5900169" y="2312548"/>
                  <a:pt x="5914802" y="2305286"/>
                  <a:pt x="5930019" y="2299580"/>
                </a:cubicBezTo>
                <a:cubicBezTo>
                  <a:pt x="5938955" y="2296229"/>
                  <a:pt x="5948492" y="2294475"/>
                  <a:pt x="5957180" y="2290526"/>
                </a:cubicBezTo>
                <a:cubicBezTo>
                  <a:pt x="5981753" y="2279357"/>
                  <a:pt x="6005465" y="2266384"/>
                  <a:pt x="6029608" y="2254313"/>
                </a:cubicBezTo>
                <a:cubicBezTo>
                  <a:pt x="6041679" y="2248278"/>
                  <a:pt x="6055024" y="2244304"/>
                  <a:pt x="6065821" y="2236206"/>
                </a:cubicBezTo>
                <a:cubicBezTo>
                  <a:pt x="6077892" y="2227152"/>
                  <a:pt x="6089239" y="2217042"/>
                  <a:pt x="6102035" y="2209045"/>
                </a:cubicBezTo>
                <a:cubicBezTo>
                  <a:pt x="6113480" y="2201892"/>
                  <a:pt x="6127710" y="2199369"/>
                  <a:pt x="6138249" y="2190938"/>
                </a:cubicBezTo>
                <a:cubicBezTo>
                  <a:pt x="6158245" y="2174942"/>
                  <a:pt x="6172357" y="2152339"/>
                  <a:pt x="6192570" y="2136618"/>
                </a:cubicBezTo>
                <a:cubicBezTo>
                  <a:pt x="6219730" y="2115493"/>
                  <a:pt x="6245422" y="2092330"/>
                  <a:pt x="6274051" y="2073243"/>
                </a:cubicBezTo>
                <a:cubicBezTo>
                  <a:pt x="6283104" y="2067207"/>
                  <a:pt x="6293079" y="2062365"/>
                  <a:pt x="6301211" y="2055136"/>
                </a:cubicBezTo>
                <a:cubicBezTo>
                  <a:pt x="6320350" y="2038124"/>
                  <a:pt x="6340168" y="2021301"/>
                  <a:pt x="6355532" y="2000816"/>
                </a:cubicBezTo>
                <a:cubicBezTo>
                  <a:pt x="6364586" y="1988745"/>
                  <a:pt x="6373923" y="1976881"/>
                  <a:pt x="6382693" y="1964602"/>
                </a:cubicBezTo>
                <a:cubicBezTo>
                  <a:pt x="6389018" y="1955748"/>
                  <a:pt x="6393834" y="1945800"/>
                  <a:pt x="6400800" y="1937441"/>
                </a:cubicBezTo>
                <a:cubicBezTo>
                  <a:pt x="6408996" y="1927605"/>
                  <a:pt x="6418907" y="1919334"/>
                  <a:pt x="6427960" y="1910281"/>
                </a:cubicBezTo>
                <a:cubicBezTo>
                  <a:pt x="6430978" y="1901228"/>
                  <a:pt x="6432745" y="1891657"/>
                  <a:pt x="6437013" y="1883121"/>
                </a:cubicBezTo>
                <a:cubicBezTo>
                  <a:pt x="6471164" y="1814819"/>
                  <a:pt x="6453552" y="1860968"/>
                  <a:pt x="6482281" y="1810693"/>
                </a:cubicBezTo>
                <a:cubicBezTo>
                  <a:pt x="6488977" y="1798975"/>
                  <a:pt x="6495072" y="1786884"/>
                  <a:pt x="6500388" y="1774479"/>
                </a:cubicBezTo>
                <a:cubicBezTo>
                  <a:pt x="6519705" y="1729406"/>
                  <a:pt x="6531164" y="1688935"/>
                  <a:pt x="6554709" y="1647730"/>
                </a:cubicBezTo>
                <a:cubicBezTo>
                  <a:pt x="6589141" y="1587472"/>
                  <a:pt x="6559306" y="1661093"/>
                  <a:pt x="6590922" y="1566249"/>
                </a:cubicBezTo>
                <a:lnTo>
                  <a:pt x="6599976" y="1539089"/>
                </a:lnTo>
                <a:cubicBezTo>
                  <a:pt x="6596958" y="1454590"/>
                  <a:pt x="6596037" y="1369990"/>
                  <a:pt x="6590922" y="1285592"/>
                </a:cubicBezTo>
                <a:cubicBezTo>
                  <a:pt x="6589991" y="1270232"/>
                  <a:pt x="6585207" y="1255346"/>
                  <a:pt x="6581869" y="1240324"/>
                </a:cubicBezTo>
                <a:cubicBezTo>
                  <a:pt x="6576683" y="1216988"/>
                  <a:pt x="6572007" y="1198937"/>
                  <a:pt x="6563762" y="1176950"/>
                </a:cubicBezTo>
                <a:cubicBezTo>
                  <a:pt x="6558056" y="1161733"/>
                  <a:pt x="6550794" y="1147100"/>
                  <a:pt x="6545655" y="1131683"/>
                </a:cubicBezTo>
                <a:cubicBezTo>
                  <a:pt x="6541720" y="1119879"/>
                  <a:pt x="6541503" y="1106906"/>
                  <a:pt x="6536602" y="1095469"/>
                </a:cubicBezTo>
                <a:cubicBezTo>
                  <a:pt x="6532316" y="1085468"/>
                  <a:pt x="6522914" y="1078252"/>
                  <a:pt x="6518495" y="1068309"/>
                </a:cubicBezTo>
                <a:cubicBezTo>
                  <a:pt x="6510743" y="1050868"/>
                  <a:pt x="6508924" y="1031059"/>
                  <a:pt x="6500388" y="1013988"/>
                </a:cubicBezTo>
                <a:cubicBezTo>
                  <a:pt x="6494352" y="1001917"/>
                  <a:pt x="6487020" y="990411"/>
                  <a:pt x="6482281" y="977774"/>
                </a:cubicBezTo>
                <a:cubicBezTo>
                  <a:pt x="6477912" y="966123"/>
                  <a:pt x="6478281" y="952930"/>
                  <a:pt x="6473227" y="941560"/>
                </a:cubicBezTo>
                <a:cubicBezTo>
                  <a:pt x="6466080" y="925480"/>
                  <a:pt x="6455120" y="911382"/>
                  <a:pt x="6446067" y="896293"/>
                </a:cubicBezTo>
                <a:cubicBezTo>
                  <a:pt x="6443049" y="881204"/>
                  <a:pt x="6441879" y="865624"/>
                  <a:pt x="6437013" y="851025"/>
                </a:cubicBezTo>
                <a:cubicBezTo>
                  <a:pt x="6430382" y="831133"/>
                  <a:pt x="6413218" y="805035"/>
                  <a:pt x="6400800" y="787651"/>
                </a:cubicBezTo>
                <a:cubicBezTo>
                  <a:pt x="6392030" y="775372"/>
                  <a:pt x="6383459" y="762894"/>
                  <a:pt x="6373639" y="751437"/>
                </a:cubicBezTo>
                <a:cubicBezTo>
                  <a:pt x="6365307" y="741716"/>
                  <a:pt x="6354676" y="734113"/>
                  <a:pt x="6346479" y="724277"/>
                </a:cubicBezTo>
                <a:cubicBezTo>
                  <a:pt x="6339513" y="715918"/>
                  <a:pt x="6335453" y="705378"/>
                  <a:pt x="6328372" y="697117"/>
                </a:cubicBezTo>
                <a:cubicBezTo>
                  <a:pt x="6317262" y="684155"/>
                  <a:pt x="6303268" y="673865"/>
                  <a:pt x="6292158" y="660903"/>
                </a:cubicBezTo>
                <a:cubicBezTo>
                  <a:pt x="6261937" y="625645"/>
                  <a:pt x="6285894" y="631855"/>
                  <a:pt x="6237837" y="597528"/>
                </a:cubicBezTo>
                <a:cubicBezTo>
                  <a:pt x="6230072" y="591981"/>
                  <a:pt x="6219730" y="591493"/>
                  <a:pt x="6210677" y="588475"/>
                </a:cubicBezTo>
                <a:cubicBezTo>
                  <a:pt x="6180931" y="568645"/>
                  <a:pt x="6143949" y="542369"/>
                  <a:pt x="6111089" y="534154"/>
                </a:cubicBezTo>
                <a:lnTo>
                  <a:pt x="6074875" y="525101"/>
                </a:lnTo>
                <a:cubicBezTo>
                  <a:pt x="6062804" y="519065"/>
                  <a:pt x="6051465" y="511262"/>
                  <a:pt x="6038661" y="506994"/>
                </a:cubicBezTo>
                <a:cubicBezTo>
                  <a:pt x="5971072" y="484464"/>
                  <a:pt x="5978412" y="494195"/>
                  <a:pt x="5920966" y="479833"/>
                </a:cubicBezTo>
                <a:cubicBezTo>
                  <a:pt x="5911708" y="477518"/>
                  <a:pt x="5903253" y="472130"/>
                  <a:pt x="5893806" y="470780"/>
                </a:cubicBezTo>
                <a:cubicBezTo>
                  <a:pt x="5860808" y="466066"/>
                  <a:pt x="5827413" y="464744"/>
                  <a:pt x="5794217" y="461726"/>
                </a:cubicBezTo>
                <a:cubicBezTo>
                  <a:pt x="5773092" y="464744"/>
                  <a:pt x="5751768" y="466595"/>
                  <a:pt x="5730843" y="470780"/>
                </a:cubicBezTo>
                <a:cubicBezTo>
                  <a:pt x="5721485" y="472652"/>
                  <a:pt x="5712941" y="477518"/>
                  <a:pt x="5703683" y="479833"/>
                </a:cubicBezTo>
                <a:cubicBezTo>
                  <a:pt x="5688754" y="483565"/>
                  <a:pt x="5673504" y="485869"/>
                  <a:pt x="5658415" y="488887"/>
                </a:cubicBezTo>
                <a:cubicBezTo>
                  <a:pt x="5646344" y="494923"/>
                  <a:pt x="5633920" y="500298"/>
                  <a:pt x="5622202" y="506994"/>
                </a:cubicBezTo>
                <a:cubicBezTo>
                  <a:pt x="5612755" y="512393"/>
                  <a:pt x="5604773" y="520235"/>
                  <a:pt x="5595041" y="525101"/>
                </a:cubicBezTo>
                <a:cubicBezTo>
                  <a:pt x="5586505" y="529369"/>
                  <a:pt x="5576934" y="531136"/>
                  <a:pt x="5567881" y="534154"/>
                </a:cubicBezTo>
                <a:cubicBezTo>
                  <a:pt x="5558827" y="540190"/>
                  <a:pt x="5550272" y="547051"/>
                  <a:pt x="5540720" y="552261"/>
                </a:cubicBezTo>
                <a:cubicBezTo>
                  <a:pt x="5540707" y="552268"/>
                  <a:pt x="5450192" y="597525"/>
                  <a:pt x="5432079" y="606582"/>
                </a:cubicBezTo>
                <a:cubicBezTo>
                  <a:pt x="5409939" y="617652"/>
                  <a:pt x="5387902" y="626799"/>
                  <a:pt x="5368705" y="642796"/>
                </a:cubicBezTo>
                <a:cubicBezTo>
                  <a:pt x="5342562" y="664582"/>
                  <a:pt x="5341242" y="670409"/>
                  <a:pt x="5323437" y="697117"/>
                </a:cubicBezTo>
                <a:lnTo>
                  <a:pt x="5305330" y="751437"/>
                </a:lnTo>
                <a:lnTo>
                  <a:pt x="5296277" y="778598"/>
                </a:lnTo>
                <a:cubicBezTo>
                  <a:pt x="5301633" y="816094"/>
                  <a:pt x="5300838" y="837526"/>
                  <a:pt x="5314384" y="869132"/>
                </a:cubicBezTo>
                <a:cubicBezTo>
                  <a:pt x="5325752" y="895656"/>
                  <a:pt x="5334362" y="909776"/>
                  <a:pt x="5350598" y="932507"/>
                </a:cubicBezTo>
                <a:cubicBezTo>
                  <a:pt x="5359368" y="944786"/>
                  <a:pt x="5367608" y="957556"/>
                  <a:pt x="5377758" y="968721"/>
                </a:cubicBezTo>
                <a:cubicBezTo>
                  <a:pt x="5397854" y="990827"/>
                  <a:pt x="5416275" y="1015523"/>
                  <a:pt x="5441132" y="1032095"/>
                </a:cubicBezTo>
                <a:lnTo>
                  <a:pt x="5495453" y="1068309"/>
                </a:lnTo>
                <a:cubicBezTo>
                  <a:pt x="5504506" y="1074345"/>
                  <a:pt x="5512510" y="1082375"/>
                  <a:pt x="5522613" y="1086416"/>
                </a:cubicBezTo>
                <a:cubicBezTo>
                  <a:pt x="5537702" y="1092451"/>
                  <a:pt x="5553345" y="1097254"/>
                  <a:pt x="5567881" y="1104522"/>
                </a:cubicBezTo>
                <a:cubicBezTo>
                  <a:pt x="5577613" y="1109388"/>
                  <a:pt x="5585098" y="1118210"/>
                  <a:pt x="5595041" y="1122629"/>
                </a:cubicBezTo>
                <a:cubicBezTo>
                  <a:pt x="5612482" y="1130381"/>
                  <a:pt x="5631641" y="1133647"/>
                  <a:pt x="5649362" y="1140736"/>
                </a:cubicBezTo>
                <a:cubicBezTo>
                  <a:pt x="5697892" y="1160148"/>
                  <a:pt x="5671389" y="1159497"/>
                  <a:pt x="5721790" y="1167897"/>
                </a:cubicBezTo>
                <a:cubicBezTo>
                  <a:pt x="5781496" y="1177848"/>
                  <a:pt x="5853673" y="1181524"/>
                  <a:pt x="5911912" y="1186004"/>
                </a:cubicBezTo>
                <a:lnTo>
                  <a:pt x="6002447" y="1176950"/>
                </a:lnTo>
                <a:cubicBezTo>
                  <a:pt x="6029624" y="1174089"/>
                  <a:pt x="6056703" y="1170264"/>
                  <a:pt x="6083928" y="1167897"/>
                </a:cubicBezTo>
                <a:cubicBezTo>
                  <a:pt x="6126126" y="1164228"/>
                  <a:pt x="6168494" y="1162678"/>
                  <a:pt x="6210677" y="1158843"/>
                </a:cubicBezTo>
                <a:cubicBezTo>
                  <a:pt x="6234908" y="1156640"/>
                  <a:pt x="6259019" y="1153231"/>
                  <a:pt x="6283105" y="1149790"/>
                </a:cubicBezTo>
                <a:cubicBezTo>
                  <a:pt x="6336597" y="1142148"/>
                  <a:pt x="6360543" y="1133972"/>
                  <a:pt x="6418907" y="1131683"/>
                </a:cubicBezTo>
                <a:cubicBezTo>
                  <a:pt x="6545594" y="1126715"/>
                  <a:pt x="6672404" y="1125647"/>
                  <a:pt x="6799152" y="1122629"/>
                </a:cubicBezTo>
                <a:cubicBezTo>
                  <a:pt x="6928623" y="1108244"/>
                  <a:pt x="6853306" y="1113576"/>
                  <a:pt x="7025489" y="111357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475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5"/>
            </a:pPr>
            <a:r>
              <a:rPr lang="en-US" altLang="x-none" sz="2000" dirty="0"/>
              <a:t>Calculate the homogeneity index (Q statistic) for the pooled effect size</a:t>
            </a:r>
            <a:r>
              <a:rPr lang="en-US" altLang="x-none" sz="2000" dirty="0" smtClean="0"/>
              <a:t>.</a:t>
            </a:r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r>
              <a:rPr lang="en-US" altLang="x-none" sz="1800" dirty="0" smtClean="0"/>
              <a:t>Q has a chi-square distribution, with number </a:t>
            </a:r>
            <a:r>
              <a:rPr lang="en-US" altLang="x-none" sz="1800" dirty="0"/>
              <a:t>of effect </a:t>
            </a:r>
            <a:r>
              <a:rPr lang="en-US" altLang="x-none" sz="1800" dirty="0" smtClean="0"/>
              <a:t>sizes (k) </a:t>
            </a:r>
            <a:r>
              <a:rPr lang="mr-IN" altLang="x-none" sz="1800" dirty="0" smtClean="0"/>
              <a:t>–</a:t>
            </a:r>
            <a:r>
              <a:rPr lang="en-US" altLang="x-none" sz="1800" dirty="0" smtClean="0"/>
              <a:t> 1 degrees of freedom (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).</a:t>
            </a:r>
          </a:p>
          <a:p>
            <a:pPr marL="857250" lvl="1" indent="-457200"/>
            <a:r>
              <a:rPr lang="en-US" altLang="x-none" sz="1800" dirty="0" smtClean="0"/>
              <a:t>To assess existence of heterogeneity, Q should be compared with the critical value in chi-square distribution with 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 = k-1 for alpha level (0.05).</a:t>
            </a:r>
            <a:endParaRPr lang="en-US" altLang="x-none" sz="1600" dirty="0" smtClean="0"/>
          </a:p>
          <a:p>
            <a:pPr marL="1257300" lvl="2" indent="-457200"/>
            <a:r>
              <a:rPr lang="en-US" altLang="x-none" sz="1600" dirty="0" smtClean="0"/>
              <a:t>Compare with </a:t>
            </a:r>
            <a:r>
              <a:rPr lang="hr-HR" sz="1600" b="1" dirty="0" smtClean="0"/>
              <a:t>6.571</a:t>
            </a:r>
            <a:r>
              <a:rPr lang="hr-HR" sz="1600" dirty="0" smtClean="0"/>
              <a:t> for K = 15-1 = 14 </a:t>
            </a:r>
            <a:r>
              <a:rPr lang="hr-HR" sz="1600" dirty="0" err="1" smtClean="0"/>
              <a:t>and</a:t>
            </a:r>
            <a:r>
              <a:rPr lang="hr-HR" sz="1600" dirty="0" smtClean="0"/>
              <a:t> </a:t>
            </a:r>
            <a:r>
              <a:rPr lang="hr-HR" sz="1600" dirty="0" err="1" smtClean="0"/>
              <a:t>alpha</a:t>
            </a:r>
            <a:r>
              <a:rPr lang="hr-HR" sz="1600" dirty="0" smtClean="0"/>
              <a:t>=0.05</a:t>
            </a:r>
            <a:r>
              <a:rPr lang="en-US" altLang="x-none" sz="1600" dirty="0" smtClean="0"/>
              <a:t>.</a:t>
            </a:r>
          </a:p>
          <a:p>
            <a:pPr marL="1257300" lvl="2" indent="-457200"/>
            <a:endParaRPr lang="en-US" altLang="x-none" sz="1600" dirty="0" smtClean="0"/>
          </a:p>
          <a:p>
            <a:pPr marL="857250" lvl="1" indent="-457200"/>
            <a:r>
              <a:rPr lang="en-US" altLang="x-none" dirty="0" smtClean="0"/>
              <a:t>Other homogeneity indices:</a:t>
            </a:r>
          </a:p>
          <a:p>
            <a:pPr marL="457200" indent="-457200">
              <a:buFont typeface="+mj-lt"/>
              <a:buAutoNum type="arabicParenR" startAt="5"/>
            </a:pPr>
            <a:endParaRPr lang="en-US" altLang="x-none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46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2227152" y="1756376"/>
            <a:ext cx="4399985" cy="1041499"/>
            <a:chOff x="2073244" y="1834555"/>
            <a:chExt cx="4711951" cy="1099120"/>
          </a:xfrm>
        </p:grpSpPr>
        <p:grpSp>
          <p:nvGrpSpPr>
            <p:cNvPr id="9" name="Group 8"/>
            <p:cNvGrpSpPr/>
            <p:nvPr/>
          </p:nvGrpSpPr>
          <p:grpSpPr>
            <a:xfrm>
              <a:off x="2073244" y="1834555"/>
              <a:ext cx="4711951" cy="1099120"/>
              <a:chOff x="2073244" y="1834555"/>
              <a:chExt cx="4711951" cy="1099120"/>
            </a:xfrm>
          </p:grpSpPr>
          <p:graphicFrame>
            <p:nvGraphicFramePr>
              <p:cNvPr id="16" name="Object 4"/>
              <p:cNvGraphicFramePr>
                <a:graphicFrameLocks noChangeAspect="1"/>
              </p:cNvGraphicFramePr>
              <p:nvPr/>
            </p:nvGraphicFramePr>
            <p:xfrm>
              <a:off x="2073244" y="1834555"/>
              <a:ext cx="4711951" cy="1099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77" name="Equation" r:id="rId4" imgW="2044440" imgH="507960" progId="Equation.3">
                      <p:embed/>
                    </p:oleObj>
                  </mc:Choice>
                  <mc:Fallback>
                    <p:oleObj name="Equation" r:id="rId4" imgW="2044440" imgH="5079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73244" y="1834555"/>
                            <a:ext cx="4711951" cy="1099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Rectangle 18"/>
              <p:cNvSpPr/>
              <p:nvPr/>
            </p:nvSpPr>
            <p:spPr>
              <a:xfrm>
                <a:off x="3259249" y="2275473"/>
                <a:ext cx="262549" cy="2866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 baseline="-25000" dirty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459943" y="2009868"/>
                <a:ext cx="244442" cy="2716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 baseline="-25000" dirty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5848540" y="2562131"/>
                <a:ext cx="284428" cy="2716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 baseline="-25000" dirty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3196625" y="2132084"/>
              <a:ext cx="424762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n</a:t>
              </a:r>
              <a:r>
                <a:rPr lang="en-US" sz="2000" i="1" baseline="-25000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78373" y="2443050"/>
              <a:ext cx="424762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n</a:t>
              </a:r>
              <a:r>
                <a:rPr lang="en-US" sz="2000" i="1" baseline="-25000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369079" y="1880552"/>
              <a:ext cx="424761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n</a:t>
              </a:r>
              <a:r>
                <a:rPr lang="en-US" sz="2000" i="1" baseline="-25000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097071" y="2275473"/>
              <a:ext cx="239534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baseline="-2500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60849" y="2029518"/>
              <a:ext cx="197674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baseline="-2500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6895824" y="6102434"/>
            <a:ext cx="221832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Huedo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-Medina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et al., (2006)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81" y="5408351"/>
            <a:ext cx="1435419" cy="7894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919" y="5344929"/>
            <a:ext cx="2510778" cy="90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7412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5"/>
            </a:pPr>
            <a:r>
              <a:rPr lang="en-US" altLang="x-none" sz="2000" dirty="0"/>
              <a:t>Calculate the homogeneity index (Q statistic) for the pooled effect size</a:t>
            </a:r>
            <a:r>
              <a:rPr lang="en-US" altLang="x-none" sz="2000" dirty="0" smtClean="0"/>
              <a:t>.</a:t>
            </a:r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07" y="1583717"/>
            <a:ext cx="7157585" cy="48631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5803271"/>
            <a:ext cx="1973655" cy="7115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863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Correct </a:t>
            </a:r>
            <a:r>
              <a:rPr lang="en-US" altLang="x-none" dirty="0"/>
              <a:t>the effect sizes for unreliability </a:t>
            </a:r>
          </a:p>
          <a:p>
            <a:pPr marL="514350" indent="-457200">
              <a:lnSpc>
                <a:spcPct val="80000"/>
              </a:lnSpc>
              <a:buFont typeface="+mj-lt"/>
              <a:buAutoNum type="arabicParenR"/>
            </a:pPr>
            <a:endParaRPr lang="en-US" altLang="x-none" i="1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Weigh </a:t>
            </a:r>
            <a:r>
              <a:rPr lang="en-US" altLang="x-none" dirty="0"/>
              <a:t>the effect sizes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</a:t>
            </a:r>
            <a:r>
              <a:rPr lang="en-US" altLang="x-none" dirty="0"/>
              <a:t>the overall weighted mean effect </a:t>
            </a:r>
            <a:r>
              <a:rPr lang="en-US" altLang="x-none" dirty="0" smtClean="0"/>
              <a:t>size (pooled effect size)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the credibility interval for the pooled effect size.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/>
              <a:t>Calculate the </a:t>
            </a:r>
            <a:r>
              <a:rPr lang="en-US" altLang="x-none" dirty="0" smtClean="0"/>
              <a:t>homogeneity index (Q statistic) </a:t>
            </a:r>
            <a:r>
              <a:rPr lang="en-US" altLang="x-none" dirty="0"/>
              <a:t>for the pooled effect size</a:t>
            </a:r>
            <a:r>
              <a:rPr lang="en-US" altLang="x-none" dirty="0" smtClean="0"/>
              <a:t>.</a:t>
            </a:r>
          </a:p>
          <a:p>
            <a:pPr marL="914400" lvl="1" indent="-514350">
              <a:lnSpc>
                <a:spcPct val="80000"/>
              </a:lnSpc>
            </a:pPr>
            <a:r>
              <a:rPr lang="en-US" altLang="x-none" dirty="0" smtClean="0"/>
              <a:t>Provide the ground for moderation analysis.</a:t>
            </a: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8226" y="130175"/>
            <a:ext cx="8229600" cy="847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z="2200" dirty="0" smtClean="0"/>
              <a:t>The Basic 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5952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488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646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273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894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 smtClean="0"/>
              <a:t>Qahri-Saremi &amp; Sharma, AMCIS 2017</a:t>
            </a:r>
            <a:endParaRPr lang="en-GB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86BA3E-BAE3-1C42-829F-97EEDD9DDE21}" type="slidenum">
              <a:rPr lang="en-GB" altLang="x-none"/>
              <a:pPr/>
              <a:t>53</a:t>
            </a:fld>
            <a:endParaRPr lang="en-GB" altLang="x-none"/>
          </a:p>
        </p:txBody>
      </p:sp>
      <p:sp>
        <p:nvSpPr>
          <p:cNvPr id="2457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Strengths of Meta-analysis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  <a:ln/>
        </p:spPr>
        <p:txBody>
          <a:bodyPr/>
          <a:lstStyle/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Imposes a discipline on the process of summing up research findings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Represents findings in a more differentiated and sophisticated manner than conventional reviews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Capable of finding relationships across studies that are obscured in other approaches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Protects against over-interpreting differences across studies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Can handle a large numbers of studies (this would overwhelm traditional approaches to review)</a:t>
            </a:r>
          </a:p>
        </p:txBody>
      </p:sp>
    </p:spTree>
    <p:extLst>
      <p:ext uri="{BB962C8B-B14F-4D97-AF65-F5344CB8AC3E}">
        <p14:creationId xmlns:p14="http://schemas.microsoft.com/office/powerpoint/2010/main" val="9870457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 smtClean="0"/>
              <a:t>Qahri-Saremi &amp; Sharma, AMCIS 2017</a:t>
            </a:r>
            <a:endParaRPr lang="en-GB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070FC04-B863-914B-814D-A4C346FC9852}" type="slidenum">
              <a:rPr lang="en-GB" altLang="x-none"/>
              <a:pPr/>
              <a:t>54</a:t>
            </a:fld>
            <a:endParaRPr lang="en-GB" altLang="x-none"/>
          </a:p>
        </p:txBody>
      </p:sp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Weaknesses of Meta-analysis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66800"/>
            <a:ext cx="8229600" cy="5173663"/>
          </a:xfrm>
          <a:ln/>
        </p:spPr>
        <p:txBody>
          <a:bodyPr/>
          <a:lstStyle/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Requires a good deal of effort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Mechanical aspects don’t lend themselves to capturing more qualitative distinctions between studies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“Apples and oranges” criticism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Most meta-analyses include “blemished” studies to one degree or another (e.g., a randomized design with attrition)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Selection bias posses a continual threat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Negative and null finding studies that you were unable to find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Outcomes for which there were negative or null findings that were not reported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Analysis of between study differences is fundamentally correlational</a:t>
            </a:r>
          </a:p>
        </p:txBody>
      </p:sp>
    </p:spTree>
    <p:extLst>
      <p:ext uri="{BB962C8B-B14F-4D97-AF65-F5344CB8AC3E}">
        <p14:creationId xmlns:p14="http://schemas.microsoft.com/office/powerpoint/2010/main" val="20044369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95686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Conceptualization of Users’ Orientations toward Information Systems (IS</a:t>
            </a:r>
            <a:r>
              <a:rPr lang="en-US" sz="2400" dirty="0"/>
              <a:t>) as </a:t>
            </a:r>
            <a:r>
              <a:rPr lang="en-US" sz="2400" dirty="0" smtClean="0"/>
              <a:t>a </a:t>
            </a:r>
            <a:r>
              <a:rPr lang="en-US" sz="2400" dirty="0" err="1" smtClean="0"/>
              <a:t>Unidimensional</a:t>
            </a:r>
            <a:r>
              <a:rPr lang="en-US" sz="2400" dirty="0" smtClean="0"/>
              <a:t> Bipolar Continuum</a:t>
            </a:r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195590" y="2904675"/>
            <a:ext cx="2678831" cy="0"/>
          </a:xfrm>
          <a:prstGeom prst="line">
            <a:avLst/>
          </a:prstGeom>
          <a:ln w="76200" cmpd="sng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01731" y="2465550"/>
            <a:ext cx="1301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Users’ </a:t>
            </a:r>
            <a:r>
              <a:rPr lang="en-US" sz="1600" b="1" dirty="0" smtClean="0">
                <a:solidFill>
                  <a:srgbClr val="008000"/>
                </a:solidFill>
                <a:latin typeface="Times New Roman"/>
                <a:cs typeface="Times New Roman"/>
              </a:rPr>
              <a:t>Positive</a:t>
            </a:r>
            <a:r>
              <a:rPr lang="en-US" sz="1600" b="1" dirty="0" smtClean="0">
                <a:latin typeface="Times New Roman"/>
                <a:cs typeface="Times New Roman"/>
              </a:rPr>
              <a:t> Orientation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10235" y="2451895"/>
            <a:ext cx="1465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Users’ </a:t>
            </a:r>
            <a:r>
              <a:rPr lang="en-US" sz="16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Negative</a:t>
            </a:r>
            <a:r>
              <a:rPr lang="en-US" sz="1600" b="1" dirty="0" smtClean="0">
                <a:latin typeface="Times New Roman"/>
                <a:cs typeface="Times New Roman"/>
              </a:rPr>
              <a:t> Orientation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96721" y="4042362"/>
            <a:ext cx="132784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Continued Use of IS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76686" y="4042362"/>
            <a:ext cx="152632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Discontinued Use of IS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2230193" y="3457829"/>
            <a:ext cx="387917" cy="420446"/>
          </a:xfrm>
          <a:prstGeom prst="downArrow">
            <a:avLst/>
          </a:prstGeom>
          <a:solidFill>
            <a:schemeClr val="accent6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8" name="Cloud Callout 27"/>
          <p:cNvSpPr/>
          <p:nvPr/>
        </p:nvSpPr>
        <p:spPr>
          <a:xfrm>
            <a:off x="7062560" y="1690659"/>
            <a:ext cx="1624240" cy="803439"/>
          </a:xfrm>
          <a:prstGeom prst="cloudCallout">
            <a:avLst>
              <a:gd name="adj1" fmla="val -39431"/>
              <a:gd name="adj2" fmla="val 67919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e.g., Perceived Usefulness</a:t>
            </a:r>
            <a:endParaRPr lang="en-US" sz="12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9" name="Cloud Callout 28"/>
          <p:cNvSpPr/>
          <p:nvPr/>
        </p:nvSpPr>
        <p:spPr>
          <a:xfrm>
            <a:off x="261902" y="1690659"/>
            <a:ext cx="1624240" cy="803439"/>
          </a:xfrm>
          <a:prstGeom prst="cloudCallout">
            <a:avLst>
              <a:gd name="adj1" fmla="val 37597"/>
              <a:gd name="adj2" fmla="val 64381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e.g., Perceived Threat</a:t>
            </a:r>
            <a:endParaRPr lang="en-US" sz="12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04564" y="5088898"/>
            <a:ext cx="2436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>
                <a:latin typeface="Times New Roman"/>
                <a:cs typeface="Times New Roman"/>
              </a:rPr>
              <a:t>(e.g</a:t>
            </a:r>
            <a:r>
              <a:rPr lang="en-US" sz="1200" dirty="0">
                <a:latin typeface="Times New Roman"/>
                <a:cs typeface="Times New Roman"/>
              </a:rPr>
              <a:t>.</a:t>
            </a:r>
            <a:r>
              <a:rPr lang="en-US" sz="1200" dirty="0" smtClean="0">
                <a:latin typeface="Times New Roman"/>
                <a:cs typeface="Times New Roman"/>
              </a:rPr>
              <a:t>, Davis 1993; Davis et al. 1992; </a:t>
            </a:r>
            <a:r>
              <a:rPr lang="en-US" sz="1200" dirty="0" err="1" smtClean="0">
                <a:latin typeface="Times New Roman"/>
                <a:cs typeface="Times New Roman"/>
              </a:rPr>
              <a:t>Venkatesh</a:t>
            </a:r>
            <a:r>
              <a:rPr lang="en-US" sz="1200" dirty="0" smtClean="0">
                <a:latin typeface="Times New Roman"/>
                <a:cs typeface="Times New Roman"/>
              </a:rPr>
              <a:t> et al. 2008; </a:t>
            </a:r>
            <a:r>
              <a:rPr lang="en-US" sz="1200" dirty="0" err="1" smtClean="0">
                <a:latin typeface="Times New Roman"/>
                <a:cs typeface="Times New Roman"/>
              </a:rPr>
              <a:t>Venkatesh</a:t>
            </a:r>
            <a:r>
              <a:rPr lang="en-US" sz="1200" dirty="0" smtClean="0">
                <a:latin typeface="Times New Roman"/>
                <a:cs typeface="Times New Roman"/>
              </a:rPr>
              <a:t> et al. 2003</a:t>
            </a:r>
            <a:r>
              <a:rPr lang="en-US" sz="120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98165" y="5088898"/>
            <a:ext cx="25704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Times New Roman"/>
                <a:cs typeface="Times New Roman"/>
              </a:rPr>
              <a:t>(e.g.</a:t>
            </a:r>
            <a:r>
              <a:rPr lang="en-US" sz="1200" dirty="0" smtClean="0">
                <a:latin typeface="Times New Roman"/>
                <a:cs typeface="Times New Roman"/>
              </a:rPr>
              <a:t>, </a:t>
            </a:r>
            <a:r>
              <a:rPr lang="en-US" sz="1200" dirty="0" err="1" smtClean="0">
                <a:latin typeface="Times New Roman"/>
                <a:cs typeface="Times New Roman"/>
              </a:rPr>
              <a:t>Cenfetelli</a:t>
            </a:r>
            <a:r>
              <a:rPr lang="en-US" sz="1200" dirty="0" smtClean="0">
                <a:latin typeface="Times New Roman"/>
                <a:cs typeface="Times New Roman"/>
              </a:rPr>
              <a:t> and Schwarz 2011; Maier et al. 2015</a:t>
            </a:r>
            <a:r>
              <a:rPr lang="en-US" sz="1200" dirty="0">
                <a:latin typeface="Times New Roman"/>
                <a:cs typeface="Times New Roman"/>
              </a:rPr>
              <a:t>; </a:t>
            </a:r>
            <a:r>
              <a:rPr lang="en-US" sz="1200" dirty="0" err="1">
                <a:latin typeface="Times New Roman"/>
                <a:cs typeface="Times New Roman"/>
              </a:rPr>
              <a:t>Bhattacherjee</a:t>
            </a:r>
            <a:r>
              <a:rPr lang="en-US" sz="1200" dirty="0">
                <a:latin typeface="Times New Roman"/>
                <a:cs typeface="Times New Roman"/>
              </a:rPr>
              <a:t> and </a:t>
            </a:r>
            <a:r>
              <a:rPr lang="en-US" sz="1200" dirty="0" err="1">
                <a:latin typeface="Times New Roman"/>
                <a:cs typeface="Times New Roman"/>
              </a:rPr>
              <a:t>Hikmet</a:t>
            </a:r>
            <a:r>
              <a:rPr lang="en-US" sz="1200" dirty="0">
                <a:latin typeface="Times New Roman"/>
                <a:cs typeface="Times New Roman"/>
              </a:rPr>
              <a:t>, 2007; Liang and </a:t>
            </a:r>
            <a:r>
              <a:rPr lang="en-US" sz="1200" dirty="0" err="1">
                <a:latin typeface="Times New Roman"/>
                <a:cs typeface="Times New Roman"/>
              </a:rPr>
              <a:t>Xue</a:t>
            </a:r>
            <a:r>
              <a:rPr lang="en-US" sz="1200" dirty="0">
                <a:latin typeface="Times New Roman"/>
                <a:cs typeface="Times New Roman"/>
              </a:rPr>
              <a:t>, 2009)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359241" y="3457829"/>
            <a:ext cx="387917" cy="420446"/>
          </a:xfrm>
          <a:prstGeom prst="downArrow">
            <a:avLst/>
          </a:prstGeom>
          <a:solidFill>
            <a:schemeClr val="accent6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7355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“Ambivalence”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Individuals may simultaneously experience different levels of both </a:t>
            </a:r>
            <a:r>
              <a:rPr lang="en-US" dirty="0" smtClean="0">
                <a:solidFill>
                  <a:srgbClr val="FF0000"/>
                </a:solidFill>
              </a:rPr>
              <a:t>negative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008000"/>
                </a:solidFill>
              </a:rPr>
              <a:t>positive</a:t>
            </a:r>
            <a:r>
              <a:rPr lang="en-US" dirty="0" smtClean="0"/>
              <a:t> orientations toward objects and behaviors, such as using an IS.</a:t>
            </a:r>
          </a:p>
          <a:p>
            <a:pPr lvl="1" algn="just"/>
            <a:r>
              <a:rPr lang="en-US" dirty="0"/>
              <a:t>“</a:t>
            </a:r>
            <a:r>
              <a:rPr lang="en-US" dirty="0" smtClean="0"/>
              <a:t>Ambivalence” occurs when opposing cognitions, emotions, or cognitions and emotions clash.</a:t>
            </a:r>
          </a:p>
          <a:p>
            <a:pPr lvl="2" algn="just"/>
            <a:r>
              <a:rPr lang="en-US" dirty="0" smtClean="0"/>
              <a:t>Having “mixed feelings”.</a:t>
            </a:r>
          </a:p>
          <a:p>
            <a:pPr lvl="2" algn="just"/>
            <a:r>
              <a:rPr lang="en-US" dirty="0" smtClean="0"/>
              <a:t>“Love &amp; Hate relationship”.</a:t>
            </a:r>
          </a:p>
          <a:p>
            <a:pPr lvl="2" algn="just"/>
            <a:r>
              <a:rPr lang="en-US" dirty="0" smtClean="0"/>
              <a:t>“Feeling torn” between conflicting ideas/emotions toward an object and</a:t>
            </a:r>
            <a:r>
              <a:rPr lang="en-US" dirty="0"/>
              <a:t>/</a:t>
            </a:r>
            <a:r>
              <a:rPr lang="en-US" dirty="0" smtClean="0"/>
              <a:t>or a behavior</a:t>
            </a:r>
            <a:r>
              <a:rPr lang="en-US" dirty="0"/>
              <a:t>.</a:t>
            </a:r>
            <a:endParaRPr lang="en-US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3646278" y="5250416"/>
            <a:ext cx="1869978" cy="1164881"/>
            <a:chOff x="4082271" y="5390374"/>
            <a:chExt cx="1727806" cy="1022722"/>
          </a:xfrm>
        </p:grpSpPr>
        <p:pic>
          <p:nvPicPr>
            <p:cNvPr id="6" name="Picture 5" descr="avoid-criticism-533x360-640x360 copy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2271" y="5392575"/>
              <a:ext cx="864174" cy="1020521"/>
            </a:xfrm>
            <a:prstGeom prst="rect">
              <a:avLst/>
            </a:prstGeom>
          </p:spPr>
        </p:pic>
        <p:pic>
          <p:nvPicPr>
            <p:cNvPr id="7" name="Picture 6" descr="avoid-criticism-533x360-640x360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6445" y="5390374"/>
              <a:ext cx="863632" cy="1022722"/>
            </a:xfrm>
            <a:prstGeom prst="rect">
              <a:avLst/>
            </a:prstGeom>
          </p:spPr>
        </p:pic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44255" y="4506564"/>
            <a:ext cx="75953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(e.g.</a:t>
            </a:r>
            <a:r>
              <a:rPr lang="en-US" sz="1200" dirty="0" smtClean="0">
                <a:latin typeface="Times New Roman"/>
                <a:cs typeface="Times New Roman"/>
              </a:rPr>
              <a:t>, </a:t>
            </a:r>
            <a:r>
              <a:rPr lang="en-US" sz="1200" dirty="0" err="1" smtClean="0">
                <a:latin typeface="Times New Roman"/>
                <a:cs typeface="Times New Roman"/>
              </a:rPr>
              <a:t>Ashforth</a:t>
            </a:r>
            <a:r>
              <a:rPr lang="en-US" sz="1200" dirty="0" smtClean="0">
                <a:latin typeface="Times New Roman"/>
                <a:cs typeface="Times New Roman"/>
              </a:rPr>
              <a:t> et al. 2014; Conner et al. 2002; Horney 1946; Hirschman 1970; Pratt and </a:t>
            </a:r>
            <a:r>
              <a:rPr lang="en-US" sz="1200" dirty="0" err="1" smtClean="0">
                <a:latin typeface="Times New Roman"/>
                <a:cs typeface="Times New Roman"/>
              </a:rPr>
              <a:t>Doucet</a:t>
            </a:r>
            <a:r>
              <a:rPr lang="en-US" sz="1200" dirty="0" smtClean="0">
                <a:latin typeface="Times New Roman"/>
                <a:cs typeface="Times New Roman"/>
              </a:rPr>
              <a:t> 2000</a:t>
            </a:r>
            <a:r>
              <a:rPr lang="en-US" sz="120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5159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11167</TotalTime>
  <Words>3584</Words>
  <Application>Microsoft Macintosh PowerPoint</Application>
  <PresentationFormat>On-screen Show (4:3)</PresentationFormat>
  <Paragraphs>594</Paragraphs>
  <Slides>57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57</vt:i4>
      </vt:variant>
    </vt:vector>
  </HeadingPairs>
  <TitlesOfParts>
    <vt:vector size="67" baseType="lpstr">
      <vt:lpstr>Georgia</vt:lpstr>
      <vt:lpstr>Arial</vt:lpstr>
      <vt:lpstr>Calibri</vt:lpstr>
      <vt:lpstr>DejaVu Sans</vt:lpstr>
      <vt:lpstr>Times New Roman</vt:lpstr>
      <vt:lpstr>Wingdings</vt:lpstr>
      <vt:lpstr>Office Theme</vt:lpstr>
      <vt:lpstr>Equation</vt:lpstr>
      <vt:lpstr>Document</vt:lpstr>
      <vt:lpstr>Microsoft Equation 3.0</vt:lpstr>
      <vt:lpstr>Introduction to Meta Analysis</vt:lpstr>
      <vt:lpstr>Overview of the Workshop</vt:lpstr>
      <vt:lpstr>What is a Meta-Analysis?</vt:lpstr>
      <vt:lpstr>A little bit of History…</vt:lpstr>
      <vt:lpstr>A little bit of History…</vt:lpstr>
      <vt:lpstr>Meta-Analysis vs. Narrative Reviews</vt:lpstr>
      <vt:lpstr>Meta-Analysis vs. Narrative Reviews</vt:lpstr>
      <vt:lpstr>Meta-Analysis vs. Narrative Reviews</vt:lpstr>
      <vt:lpstr>Meta-Analysis vs. Narrative Reviews</vt:lpstr>
      <vt:lpstr>Meta-Analysis vs. Single Studies</vt:lpstr>
      <vt:lpstr>When Can You Do Meta-analysis?</vt:lpstr>
      <vt:lpstr>Eight Steps to Conduct a Meta-Analysis</vt:lpstr>
      <vt:lpstr>Problem Definition</vt:lpstr>
      <vt:lpstr>Establishing Inclusion/Exclusion Criteria: Which Studies to Include? </vt:lpstr>
      <vt:lpstr>Establishing Inclusion/Exclusion Criteria: Which Studies to Include? </vt:lpstr>
      <vt:lpstr>Literature Search and Studies Retrieval </vt:lpstr>
      <vt:lpstr>Literature Search and Studies Retrieval </vt:lpstr>
      <vt:lpstr>Coding Data</vt:lpstr>
      <vt:lpstr>Effect Size (ES):  The Key to Meta-Analysis</vt:lpstr>
      <vt:lpstr>Effect Size (ES):  The Correlation Coefficient</vt:lpstr>
      <vt:lpstr>Effect Size (ES):  The Standardized Mean Difference</vt:lpstr>
      <vt:lpstr>Effect Size (ES):  The Odds-Ratio</vt:lpstr>
      <vt:lpstr>Effect Size (ES):  The Risk Ratio</vt:lpstr>
      <vt:lpstr>Effect Size (ES):  Additional Data to Code Along With the ES</vt:lpstr>
      <vt:lpstr>Effect Size (ES):  Issues in Coding Effect Sizes</vt:lpstr>
      <vt:lpstr>Effect Size (ES):  Independent Set of Effect Sizes</vt:lpstr>
      <vt:lpstr>Effect Size (ES)</vt:lpstr>
      <vt:lpstr>The Basic Meta-Analysis Fixed-Effects vs. Random-Effects Meta-Analysis</vt:lpstr>
      <vt:lpstr>The Basic Meta-Analysis Fixed-Effects vs. Random-Effects Meta-Analysis</vt:lpstr>
      <vt:lpstr>The Basic Meta-Analysis Fixed-Effects vs. Random-Effects Meta-Analysis</vt:lpstr>
      <vt:lpstr>PowerPoint Presentation</vt:lpstr>
      <vt:lpstr>The Basic Meta-Analysis:</vt:lpstr>
      <vt:lpstr>Your Turn</vt:lpstr>
      <vt:lpstr>Your Turn</vt:lpstr>
      <vt:lpstr>The Basic Meta-Analysis:</vt:lpstr>
      <vt:lpstr>Your Turn</vt:lpstr>
      <vt:lpstr>The Basic Meta-Analysis:</vt:lpstr>
      <vt:lpstr>The Basic Meta-Analysis:</vt:lpstr>
      <vt:lpstr>The Basic Meta-Analysis:</vt:lpstr>
      <vt:lpstr>iii) weight results</vt:lpstr>
      <vt:lpstr>Weight results (two steps)</vt:lpstr>
      <vt:lpstr>Calculate the Weighted Mean Effect Size</vt:lpstr>
      <vt:lpstr>The Basic Meta-Analysis</vt:lpstr>
      <vt:lpstr>The Basic Meta-Analysis: Hunter &amp; Schmidt Method</vt:lpstr>
      <vt:lpstr>The Basic Meta-Analysis: Hunter &amp; Schmidt Method</vt:lpstr>
      <vt:lpstr>The Basic Meta-Analysis: Hunter &amp; Schmidt Method</vt:lpstr>
      <vt:lpstr>The Basic Meta-Analysis: Hunter &amp; Schmidt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Strengths of Meta-analysis</vt:lpstr>
      <vt:lpstr>Weaknesses of Meta-analysis</vt:lpstr>
      <vt:lpstr>PowerPoint Presentation</vt:lpstr>
      <vt:lpstr>Conceptualization of Users’ Orientations toward Information Systems (IS) as a Unidimensional Bipolar Continuum</vt:lpstr>
      <vt:lpstr>“Ambivalence”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Qahri-Saremi</dc:creator>
  <cp:lastModifiedBy>Hamed Qahri Saremi</cp:lastModifiedBy>
  <cp:revision>1291</cp:revision>
  <dcterms:created xsi:type="dcterms:W3CDTF">2015-10-04T21:24:22Z</dcterms:created>
  <dcterms:modified xsi:type="dcterms:W3CDTF">2017-08-05T17:37:38Z</dcterms:modified>
</cp:coreProperties>
</file>