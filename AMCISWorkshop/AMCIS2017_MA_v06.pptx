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1"/>
  </p:notesMasterIdLst>
  <p:handoutMasterIdLst>
    <p:handoutMasterId r:id="rId82"/>
  </p:handoutMasterIdLst>
  <p:sldIdLst>
    <p:sldId id="256" r:id="rId2"/>
    <p:sldId id="271" r:id="rId3"/>
    <p:sldId id="292" r:id="rId4"/>
    <p:sldId id="273" r:id="rId5"/>
    <p:sldId id="293" r:id="rId6"/>
    <p:sldId id="294" r:id="rId7"/>
    <p:sldId id="295" r:id="rId8"/>
    <p:sldId id="296" r:id="rId9"/>
    <p:sldId id="383" r:id="rId10"/>
    <p:sldId id="297" r:id="rId11"/>
    <p:sldId id="279" r:id="rId12"/>
    <p:sldId id="298" r:id="rId13"/>
    <p:sldId id="280" r:id="rId14"/>
    <p:sldId id="299" r:id="rId15"/>
    <p:sldId id="301" r:id="rId16"/>
    <p:sldId id="300" r:id="rId17"/>
    <p:sldId id="302" r:id="rId18"/>
    <p:sldId id="304" r:id="rId19"/>
    <p:sldId id="303" r:id="rId20"/>
    <p:sldId id="306" r:id="rId21"/>
    <p:sldId id="305" r:id="rId22"/>
    <p:sldId id="307" r:id="rId23"/>
    <p:sldId id="308" r:id="rId24"/>
    <p:sldId id="309" r:id="rId25"/>
    <p:sldId id="319" r:id="rId26"/>
    <p:sldId id="327" r:id="rId27"/>
    <p:sldId id="313" r:id="rId28"/>
    <p:sldId id="320" r:id="rId29"/>
    <p:sldId id="321" r:id="rId30"/>
    <p:sldId id="324" r:id="rId31"/>
    <p:sldId id="371" r:id="rId32"/>
    <p:sldId id="372" r:id="rId33"/>
    <p:sldId id="323" r:id="rId34"/>
    <p:sldId id="335" r:id="rId35"/>
    <p:sldId id="339" r:id="rId36"/>
    <p:sldId id="340" r:id="rId37"/>
    <p:sldId id="328" r:id="rId38"/>
    <p:sldId id="346" r:id="rId39"/>
    <p:sldId id="343" r:id="rId40"/>
    <p:sldId id="352" r:id="rId41"/>
    <p:sldId id="353" r:id="rId42"/>
    <p:sldId id="355" r:id="rId43"/>
    <p:sldId id="358" r:id="rId44"/>
    <p:sldId id="360" r:id="rId45"/>
    <p:sldId id="361" r:id="rId46"/>
    <p:sldId id="357" r:id="rId47"/>
    <p:sldId id="356" r:id="rId48"/>
    <p:sldId id="362" r:id="rId49"/>
    <p:sldId id="363" r:id="rId50"/>
    <p:sldId id="373" r:id="rId51"/>
    <p:sldId id="348" r:id="rId52"/>
    <p:sldId id="349" r:id="rId53"/>
    <p:sldId id="351" r:id="rId54"/>
    <p:sldId id="368" r:id="rId55"/>
    <p:sldId id="369" r:id="rId56"/>
    <p:sldId id="370" r:id="rId57"/>
    <p:sldId id="374" r:id="rId58"/>
    <p:sldId id="375" r:id="rId59"/>
    <p:sldId id="364" r:id="rId60"/>
    <p:sldId id="376" r:id="rId61"/>
    <p:sldId id="378" r:id="rId62"/>
    <p:sldId id="377" r:id="rId63"/>
    <p:sldId id="385" r:id="rId64"/>
    <p:sldId id="386" r:id="rId65"/>
    <p:sldId id="388" r:id="rId66"/>
    <p:sldId id="387" r:id="rId67"/>
    <p:sldId id="389" r:id="rId68"/>
    <p:sldId id="390" r:id="rId69"/>
    <p:sldId id="391" r:id="rId70"/>
    <p:sldId id="392" r:id="rId71"/>
    <p:sldId id="393" r:id="rId72"/>
    <p:sldId id="394" r:id="rId73"/>
    <p:sldId id="379" r:id="rId74"/>
    <p:sldId id="365" r:id="rId75"/>
    <p:sldId id="366" r:id="rId76"/>
    <p:sldId id="384" r:id="rId77"/>
    <p:sldId id="380" r:id="rId78"/>
    <p:sldId id="381" r:id="rId79"/>
    <p:sldId id="382" r:id="rId8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07F50"/>
    <a:srgbClr val="F2F3F2"/>
    <a:srgbClr val="008E5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6" autoAdjust="0"/>
    <p:restoredTop sz="95838" autoAdjust="0"/>
  </p:normalViewPr>
  <p:slideViewPr>
    <p:cSldViewPr snapToGrid="0" snapToObjects="1">
      <p:cViewPr varScale="1">
        <p:scale>
          <a:sx n="68" d="100"/>
          <a:sy n="68" d="100"/>
        </p:scale>
        <p:origin x="140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04A3CD-A3A5-B346-8CA0-C29EACE95187}" type="datetime1">
              <a:rPr lang="en-US" smtClean="0"/>
              <a:t>8/7/2017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137B04E-9D11-7E4F-8B0D-F4AEDBDA8442}" type="slidenum">
              <a:rPr lang="en-US" smtClean="0"/>
              <a:t>‹#›</a:t>
            </a:fld>
            <a:endParaRPr lang="en-US"/>
          </a:p>
        </p:txBody>
      </p:sp>
    </p:spTree>
    <p:extLst>
      <p:ext uri="{BB962C8B-B14F-4D97-AF65-F5344CB8AC3E}">
        <p14:creationId xmlns:p14="http://schemas.microsoft.com/office/powerpoint/2010/main" val="30544312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B67E80-74C8-A146-9534-B39C72A3951C}" type="datetime1">
              <a:rPr lang="en-US" smtClean="0"/>
              <a:t>8/7/2017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5B667B-CFC3-844D-9F99-34C86AC659BF}" type="slidenum">
              <a:rPr lang="en-US" smtClean="0"/>
              <a:t>‹#›</a:t>
            </a:fld>
            <a:endParaRPr lang="en-US"/>
          </a:p>
        </p:txBody>
      </p:sp>
    </p:spTree>
    <p:extLst>
      <p:ext uri="{BB962C8B-B14F-4D97-AF65-F5344CB8AC3E}">
        <p14:creationId xmlns:p14="http://schemas.microsoft.com/office/powerpoint/2010/main" val="157016125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6E2CABC9-99CD-3644-BEB1-8E8BB5000C4E}" type="slidenum">
              <a:rPr lang="en-GB" altLang="x-none"/>
              <a:pPr/>
              <a:t>2</a:t>
            </a:fld>
            <a:endParaRPr lang="en-GB" altLang="x-none"/>
          </a:p>
        </p:txBody>
      </p:sp>
      <p:sp>
        <p:nvSpPr>
          <p:cNvPr id="27649" name="Text Box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27650" name="Text Box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x-none" altLang="x-none"/>
          </a:p>
        </p:txBody>
      </p:sp>
    </p:spTree>
    <p:extLst>
      <p:ext uri="{BB962C8B-B14F-4D97-AF65-F5344CB8AC3E}">
        <p14:creationId xmlns:p14="http://schemas.microsoft.com/office/powerpoint/2010/main" val="1965183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2F02B80C-B7A0-EC4A-B553-800B1366247B}" type="slidenum">
              <a:rPr lang="en-GB" altLang="x-none"/>
              <a:pPr/>
              <a:t>4</a:t>
            </a:fld>
            <a:endParaRPr lang="en-GB" altLang="x-none"/>
          </a:p>
        </p:txBody>
      </p:sp>
      <p:sp>
        <p:nvSpPr>
          <p:cNvPr id="29697"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9698" name="Text Box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x-none" altLang="x-none"/>
          </a:p>
        </p:txBody>
      </p:sp>
    </p:spTree>
    <p:extLst>
      <p:ext uri="{BB962C8B-B14F-4D97-AF65-F5344CB8AC3E}">
        <p14:creationId xmlns:p14="http://schemas.microsoft.com/office/powerpoint/2010/main" val="1797965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804B2A0F-A780-6345-86B9-EA6A2293A287}" type="slidenum">
              <a:rPr lang="en-GB" altLang="x-none"/>
              <a:pPr/>
              <a:t>11</a:t>
            </a:fld>
            <a:endParaRPr lang="en-GB" altLang="x-none"/>
          </a:p>
        </p:txBody>
      </p:sp>
      <p:sp>
        <p:nvSpPr>
          <p:cNvPr id="35841"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842" name="Text Box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x-none" altLang="x-none"/>
          </a:p>
        </p:txBody>
      </p:sp>
    </p:spTree>
    <p:extLst>
      <p:ext uri="{BB962C8B-B14F-4D97-AF65-F5344CB8AC3E}">
        <p14:creationId xmlns:p14="http://schemas.microsoft.com/office/powerpoint/2010/main" val="1997327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019BB403-7601-C842-AF33-C9BD0DB5653D}" type="slidenum">
              <a:rPr lang="en-GB" altLang="x-none"/>
              <a:pPr/>
              <a:t>13</a:t>
            </a:fld>
            <a:endParaRPr lang="en-GB" altLang="x-none"/>
          </a:p>
        </p:txBody>
      </p:sp>
      <p:sp>
        <p:nvSpPr>
          <p:cNvPr id="36865"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6866" name="Text Box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x-none" altLang="x-none"/>
          </a:p>
        </p:txBody>
      </p:sp>
    </p:spTree>
    <p:extLst>
      <p:ext uri="{BB962C8B-B14F-4D97-AF65-F5344CB8AC3E}">
        <p14:creationId xmlns:p14="http://schemas.microsoft.com/office/powerpoint/2010/main" val="1754914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6"/>
          <p:cNvSpPr>
            <a:spLocks noGrp="1" noChangeArrowheads="1"/>
          </p:cNvSpPr>
          <p:nvPr>
            <p:ph type="ftr" sz="quarter"/>
          </p:nvPr>
        </p:nvSpPr>
        <p:spPr/>
        <p:txBody>
          <a:bodyPr/>
          <a:lstStyle/>
          <a:p>
            <a:pPr>
              <a:defRPr/>
            </a:pPr>
            <a:r>
              <a:rPr lang="en-US" altLang="x-none"/>
              <a:t>Analysis Overheads</a:t>
            </a:r>
          </a:p>
        </p:txBody>
      </p:sp>
      <p:sp>
        <p:nvSpPr>
          <p:cNvPr id="7" name="Rectangle 7"/>
          <p:cNvSpPr>
            <a:spLocks noGrp="1" noChangeArrowheads="1"/>
          </p:cNvSpPr>
          <p:nvPr>
            <p:ph type="sldNum" sz="quarter"/>
          </p:nvPr>
        </p:nvSpPr>
        <p:spPr/>
        <p:txBody>
          <a:bodyPr/>
          <a:lstStyle>
            <a:lvl1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1pPr>
            <a:lvl2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2pPr>
            <a:lvl3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3pPr>
            <a:lvl4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4pPr>
            <a:lvl5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9pPr>
          </a:lstStyle>
          <a:p>
            <a:pPr>
              <a:buClrTx/>
              <a:buFontTx/>
              <a:buNone/>
            </a:pPr>
            <a:fld id="{FC6B912E-2C7A-7745-81C0-DD937DD1D9A5}" type="slidenum">
              <a:rPr lang="en-US" altLang="x-none" sz="1200">
                <a:solidFill>
                  <a:srgbClr val="000000"/>
                </a:solidFill>
                <a:latin typeface="Arial" charset="0"/>
              </a:rPr>
              <a:pPr>
                <a:buClrTx/>
                <a:buFontTx/>
                <a:buNone/>
              </a:pPr>
              <a:t>25</a:t>
            </a:fld>
            <a:endParaRPr lang="en-US" altLang="x-none" sz="1200">
              <a:solidFill>
                <a:srgbClr val="000000"/>
              </a:solidFill>
              <a:latin typeface="Arial" charset="0"/>
            </a:endParaRPr>
          </a:p>
        </p:txBody>
      </p:sp>
      <p:sp>
        <p:nvSpPr>
          <p:cNvPr id="57345" name="Text Box 1"/>
          <p:cNvSpPr txBox="1">
            <a:spLocks noGrp="1" noRot="1" noChangeAspect="1" noChangeArrowheads="1"/>
          </p:cNvSpPr>
          <p:nvPr>
            <p:ph type="sldImg"/>
          </p:nvPr>
        </p:nvSpPr>
        <p:spPr>
          <a:xfrm>
            <a:off x="1130300" y="690563"/>
            <a:ext cx="4598988" cy="3449637"/>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57346" name="Text Box 2"/>
          <p:cNvSpPr txBox="1">
            <a:spLocks noGrp="1" noChangeArrowheads="1"/>
          </p:cNvSpPr>
          <p:nvPr>
            <p:ph type="body" idx="1"/>
          </p:nvPr>
        </p:nvSpPr>
        <p:spPr>
          <a:xfrm>
            <a:off x="914400" y="4370388"/>
            <a:ext cx="5029200" cy="4138612"/>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lstStyle/>
          <a:p>
            <a:pPr>
              <a:defRPr/>
            </a:pPr>
            <a:endParaRPr lang="x-none" altLang="x-none"/>
          </a:p>
        </p:txBody>
      </p:sp>
    </p:spTree>
    <p:extLst>
      <p:ext uri="{BB962C8B-B14F-4D97-AF65-F5344CB8AC3E}">
        <p14:creationId xmlns:p14="http://schemas.microsoft.com/office/powerpoint/2010/main" val="567360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6"/>
          <p:cNvSpPr>
            <a:spLocks noGrp="1" noChangeArrowheads="1"/>
          </p:cNvSpPr>
          <p:nvPr>
            <p:ph type="ftr" sz="quarter"/>
          </p:nvPr>
        </p:nvSpPr>
        <p:spPr/>
        <p:txBody>
          <a:bodyPr/>
          <a:lstStyle/>
          <a:p>
            <a:pPr>
              <a:defRPr/>
            </a:pPr>
            <a:r>
              <a:rPr lang="en-US" altLang="x-none"/>
              <a:t>Analysis Overheads</a:t>
            </a:r>
          </a:p>
        </p:txBody>
      </p:sp>
      <p:sp>
        <p:nvSpPr>
          <p:cNvPr id="7" name="Rectangle 7"/>
          <p:cNvSpPr>
            <a:spLocks noGrp="1" noChangeArrowheads="1"/>
          </p:cNvSpPr>
          <p:nvPr>
            <p:ph type="sldNum" sz="quarter"/>
          </p:nvPr>
        </p:nvSpPr>
        <p:spPr/>
        <p:txBody>
          <a:bodyPr/>
          <a:lstStyle>
            <a:lvl1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1pPr>
            <a:lvl2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2pPr>
            <a:lvl3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3pPr>
            <a:lvl4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4pPr>
            <a:lvl5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9pPr>
          </a:lstStyle>
          <a:p>
            <a:pPr>
              <a:buClrTx/>
              <a:buFontTx/>
              <a:buNone/>
            </a:pPr>
            <a:fld id="{FC6B912E-2C7A-7745-81C0-DD937DD1D9A5}" type="slidenum">
              <a:rPr lang="en-US" altLang="x-none" sz="1200">
                <a:solidFill>
                  <a:srgbClr val="000000"/>
                </a:solidFill>
                <a:latin typeface="Arial" charset="0"/>
              </a:rPr>
              <a:pPr>
                <a:buClrTx/>
                <a:buFontTx/>
                <a:buNone/>
              </a:pPr>
              <a:t>26</a:t>
            </a:fld>
            <a:endParaRPr lang="en-US" altLang="x-none" sz="1200">
              <a:solidFill>
                <a:srgbClr val="000000"/>
              </a:solidFill>
              <a:latin typeface="Arial" charset="0"/>
            </a:endParaRPr>
          </a:p>
        </p:txBody>
      </p:sp>
      <p:sp>
        <p:nvSpPr>
          <p:cNvPr id="57345" name="Text Box 1"/>
          <p:cNvSpPr txBox="1">
            <a:spLocks noGrp="1" noRot="1" noChangeAspect="1" noChangeArrowheads="1"/>
          </p:cNvSpPr>
          <p:nvPr>
            <p:ph type="sldImg"/>
          </p:nvPr>
        </p:nvSpPr>
        <p:spPr>
          <a:xfrm>
            <a:off x="1130300" y="690563"/>
            <a:ext cx="4598988" cy="3449637"/>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57346" name="Text Box 2"/>
          <p:cNvSpPr txBox="1">
            <a:spLocks noGrp="1" noChangeArrowheads="1"/>
          </p:cNvSpPr>
          <p:nvPr>
            <p:ph type="body" idx="1"/>
          </p:nvPr>
        </p:nvSpPr>
        <p:spPr>
          <a:xfrm>
            <a:off x="914400" y="4370388"/>
            <a:ext cx="5029200" cy="4138612"/>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lstStyle/>
          <a:p>
            <a:pPr>
              <a:defRPr/>
            </a:pPr>
            <a:endParaRPr lang="x-none" altLang="x-none"/>
          </a:p>
        </p:txBody>
      </p:sp>
    </p:spTree>
    <p:extLst>
      <p:ext uri="{BB962C8B-B14F-4D97-AF65-F5344CB8AC3E}">
        <p14:creationId xmlns:p14="http://schemas.microsoft.com/office/powerpoint/2010/main" val="135853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x-none" altLang="x-none"/>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12EF29B-D29D-BC41-BE03-AC575F1B1790}" type="slidenum">
              <a:rPr lang="en-US" altLang="x-none"/>
              <a:pPr eaLnBrk="1" hangingPunct="1"/>
              <a:t>30</a:t>
            </a:fld>
            <a:endParaRPr lang="en-US" altLang="x-none"/>
          </a:p>
        </p:txBody>
      </p:sp>
    </p:spTree>
    <p:extLst>
      <p:ext uri="{BB962C8B-B14F-4D97-AF65-F5344CB8AC3E}">
        <p14:creationId xmlns:p14="http://schemas.microsoft.com/office/powerpoint/2010/main" val="1579871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40</a:t>
            </a:fld>
            <a:endParaRPr lang="en-US"/>
          </a:p>
        </p:txBody>
      </p:sp>
    </p:spTree>
    <p:extLst>
      <p:ext uri="{BB962C8B-B14F-4D97-AF65-F5344CB8AC3E}">
        <p14:creationId xmlns:p14="http://schemas.microsoft.com/office/powerpoint/2010/main" val="1553207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44</a:t>
            </a:fld>
            <a:endParaRPr lang="en-US"/>
          </a:p>
        </p:txBody>
      </p:sp>
    </p:spTree>
    <p:extLst>
      <p:ext uri="{BB962C8B-B14F-4D97-AF65-F5344CB8AC3E}">
        <p14:creationId xmlns:p14="http://schemas.microsoft.com/office/powerpoint/2010/main" val="350271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45</a:t>
            </a:fld>
            <a:endParaRPr lang="en-US"/>
          </a:p>
        </p:txBody>
      </p:sp>
    </p:spTree>
    <p:extLst>
      <p:ext uri="{BB962C8B-B14F-4D97-AF65-F5344CB8AC3E}">
        <p14:creationId xmlns:p14="http://schemas.microsoft.com/office/powerpoint/2010/main" val="1269046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48</a:t>
            </a:fld>
            <a:endParaRPr lang="en-US"/>
          </a:p>
        </p:txBody>
      </p:sp>
    </p:spTree>
    <p:extLst>
      <p:ext uri="{BB962C8B-B14F-4D97-AF65-F5344CB8AC3E}">
        <p14:creationId xmlns:p14="http://schemas.microsoft.com/office/powerpoint/2010/main" val="1480129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53</a:t>
            </a:fld>
            <a:endParaRPr lang="en-US"/>
          </a:p>
        </p:txBody>
      </p:sp>
    </p:spTree>
    <p:extLst>
      <p:ext uri="{BB962C8B-B14F-4D97-AF65-F5344CB8AC3E}">
        <p14:creationId xmlns:p14="http://schemas.microsoft.com/office/powerpoint/2010/main" val="596253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54</a:t>
            </a:fld>
            <a:endParaRPr lang="en-US"/>
          </a:p>
        </p:txBody>
      </p:sp>
    </p:spTree>
    <p:extLst>
      <p:ext uri="{BB962C8B-B14F-4D97-AF65-F5344CB8AC3E}">
        <p14:creationId xmlns:p14="http://schemas.microsoft.com/office/powerpoint/2010/main" val="329225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55</a:t>
            </a:fld>
            <a:endParaRPr lang="en-US"/>
          </a:p>
        </p:txBody>
      </p:sp>
    </p:spTree>
    <p:extLst>
      <p:ext uri="{BB962C8B-B14F-4D97-AF65-F5344CB8AC3E}">
        <p14:creationId xmlns:p14="http://schemas.microsoft.com/office/powerpoint/2010/main" val="436690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56</a:t>
            </a:fld>
            <a:endParaRPr lang="en-US"/>
          </a:p>
        </p:txBody>
      </p:sp>
    </p:spTree>
    <p:extLst>
      <p:ext uri="{BB962C8B-B14F-4D97-AF65-F5344CB8AC3E}">
        <p14:creationId xmlns:p14="http://schemas.microsoft.com/office/powerpoint/2010/main" val="1435090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B667B-CFC3-844D-9F99-34C86AC659BF}" type="slidenum">
              <a:rPr lang="en-US" smtClean="0"/>
              <a:t>58</a:t>
            </a:fld>
            <a:endParaRPr lang="en-US"/>
          </a:p>
        </p:txBody>
      </p:sp>
    </p:spTree>
    <p:extLst>
      <p:ext uri="{BB962C8B-B14F-4D97-AF65-F5344CB8AC3E}">
        <p14:creationId xmlns:p14="http://schemas.microsoft.com/office/powerpoint/2010/main" val="1272757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4026A80-8559-0948-88E0-970D550B2E5C}" type="datetime1">
              <a:rPr lang="en-US" smtClean="0"/>
              <a:t>8/7/2017</a:t>
            </a:fld>
            <a:endParaRPr lang="en-US"/>
          </a:p>
        </p:txBody>
      </p:sp>
      <p:sp>
        <p:nvSpPr>
          <p:cNvPr id="5" name="Footer Placeholder 4"/>
          <p:cNvSpPr>
            <a:spLocks noGrp="1"/>
          </p:cNvSpPr>
          <p:nvPr>
            <p:ph type="ftr" sz="quarter" idx="11"/>
          </p:nvPr>
        </p:nvSpPr>
        <p:spPr/>
        <p:txBody>
          <a:bodyPr/>
          <a:lstStyle/>
          <a:p>
            <a:r>
              <a:rPr lang="en-US"/>
              <a:t>Qahri-Saremi &amp; Sharma, AMCIS 2017</a:t>
            </a:r>
          </a:p>
        </p:txBody>
      </p:sp>
      <p:sp>
        <p:nvSpPr>
          <p:cNvPr id="6" name="Slide Number Placeholder 5"/>
          <p:cNvSpPr>
            <a:spLocks noGrp="1"/>
          </p:cNvSpPr>
          <p:nvPr>
            <p:ph type="sldNum" sz="quarter" idx="12"/>
          </p:nvPr>
        </p:nvSpPr>
        <p:spPr/>
        <p:txBody>
          <a:bodyPr/>
          <a:lstStyle/>
          <a:p>
            <a:fld id="{9E0F272A-0FC0-1943-B826-E8D4777EEB37}" type="slidenum">
              <a:rPr lang="en-US" smtClean="0"/>
              <a:t>‹#›</a:t>
            </a:fld>
            <a:endParaRPr lang="en-US"/>
          </a:p>
        </p:txBody>
      </p:sp>
    </p:spTree>
    <p:extLst>
      <p:ext uri="{BB962C8B-B14F-4D97-AF65-F5344CB8AC3E}">
        <p14:creationId xmlns:p14="http://schemas.microsoft.com/office/powerpoint/2010/main" val="347039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atin typeface="Georgia" charset="0"/>
                <a:ea typeface="Georgia" charset="0"/>
                <a:cs typeface="Georgia" charset="0"/>
              </a:defRPr>
            </a:lvl1pPr>
          </a:lstStyle>
          <a:p>
            <a:r>
              <a:rPr lang="en-US"/>
              <a:t>Click to edit Master title style</a:t>
            </a:r>
          </a:p>
        </p:txBody>
      </p:sp>
      <p:sp>
        <p:nvSpPr>
          <p:cNvPr id="3" name="Content Placeholder 2"/>
          <p:cNvSpPr>
            <a:spLocks noGrp="1"/>
          </p:cNvSpPr>
          <p:nvPr>
            <p:ph idx="1"/>
          </p:nvPr>
        </p:nvSpPr>
        <p:spPr/>
        <p:txBody>
          <a:bodyPr/>
          <a:lstStyle>
            <a:lvl3pPr>
              <a:defRPr>
                <a:solidFill>
                  <a:srgbClr val="C00000"/>
                </a:solidFill>
              </a:defRPr>
            </a:lvl3pPr>
            <a:lvl4pPr>
              <a:defRPr>
                <a:solidFill>
                  <a:srgbClr val="007F50"/>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8754AC0-2488-4C4A-BBCA-1503304F5DC2}" type="datetime1">
              <a:rPr lang="en-US" smtClean="0"/>
              <a:t>8/7/2017</a:t>
            </a:fld>
            <a:endParaRPr lang="en-US"/>
          </a:p>
        </p:txBody>
      </p:sp>
      <p:sp>
        <p:nvSpPr>
          <p:cNvPr id="5" name="Footer Placeholder 4"/>
          <p:cNvSpPr>
            <a:spLocks noGrp="1"/>
          </p:cNvSpPr>
          <p:nvPr>
            <p:ph type="ftr" sz="quarter" idx="11"/>
          </p:nvPr>
        </p:nvSpPr>
        <p:spPr/>
        <p:txBody>
          <a:bodyPr/>
          <a:lstStyle/>
          <a:p>
            <a:r>
              <a:rPr lang="en-US" dirty="0"/>
              <a:t>Qahri-Saremi &amp; Sharma, AMCIS 2017</a:t>
            </a:r>
          </a:p>
        </p:txBody>
      </p:sp>
      <p:sp>
        <p:nvSpPr>
          <p:cNvPr id="6" name="Slide Number Placeholder 5"/>
          <p:cNvSpPr>
            <a:spLocks noGrp="1"/>
          </p:cNvSpPr>
          <p:nvPr>
            <p:ph type="sldNum" sz="quarter" idx="12"/>
          </p:nvPr>
        </p:nvSpPr>
        <p:spPr/>
        <p:txBody>
          <a:bodyPr/>
          <a:lstStyle/>
          <a:p>
            <a:fld id="{9E0F272A-0FC0-1943-B826-E8D4777EEB37}" type="slidenum">
              <a:rPr lang="en-US" smtClean="0"/>
              <a:t>‹#›</a:t>
            </a:fld>
            <a:endParaRPr lang="en-US"/>
          </a:p>
        </p:txBody>
      </p:sp>
    </p:spTree>
    <p:extLst>
      <p:ext uri="{BB962C8B-B14F-4D97-AF65-F5344CB8AC3E}">
        <p14:creationId xmlns:p14="http://schemas.microsoft.com/office/powerpoint/2010/main" val="3370667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0304"/>
            <a:ext cx="8229600" cy="847117"/>
          </a:xfrm>
          <a:prstGeom prst="rect">
            <a:avLst/>
          </a:prstGeom>
          <a:ln>
            <a:noFill/>
          </a:ln>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074546"/>
            <a:ext cx="8229600" cy="505161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Times New Roman"/>
                <a:cs typeface="Times New Roman"/>
              </a:defRPr>
            </a:lvl1pPr>
          </a:lstStyle>
          <a:p>
            <a:fld id="{99A7225F-5961-6C41-B3E4-72BB91365F84}" type="datetime1">
              <a:rPr lang="en-US" smtClean="0"/>
              <a:t>8/7/2017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i="1">
                <a:solidFill>
                  <a:schemeClr val="tx1">
                    <a:tint val="75000"/>
                  </a:schemeClr>
                </a:solidFill>
                <a:latin typeface="Times New Roman"/>
                <a:cs typeface="Times New Roman"/>
              </a:defRPr>
            </a:lvl1pPr>
          </a:lstStyle>
          <a:p>
            <a:r>
              <a:rPr lang="en-US" dirty="0"/>
              <a:t>Qahri-Saremi &amp; Sharma, AMCIS 2017</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Times New Roman"/>
                <a:cs typeface="Times New Roman"/>
              </a:defRPr>
            </a:lvl1pPr>
          </a:lstStyle>
          <a:p>
            <a:fld id="{9E0F272A-0FC0-1943-B826-E8D4777EEB37}" type="slidenum">
              <a:rPr lang="en-US" smtClean="0"/>
              <a:pPr/>
              <a:t>‹#›</a:t>
            </a:fld>
            <a:endParaRPr lang="en-US"/>
          </a:p>
        </p:txBody>
      </p:sp>
    </p:spTree>
    <p:extLst>
      <p:ext uri="{BB962C8B-B14F-4D97-AF65-F5344CB8AC3E}">
        <p14:creationId xmlns:p14="http://schemas.microsoft.com/office/powerpoint/2010/main" val="3136145463"/>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457200" rtl="0" eaLnBrk="1" latinLnBrk="0" hangingPunct="1">
        <a:spcBef>
          <a:spcPct val="0"/>
        </a:spcBef>
        <a:buNone/>
        <a:defRPr sz="3200" b="1" kern="1200">
          <a:solidFill>
            <a:srgbClr val="FF6600"/>
          </a:solidFill>
          <a:latin typeface="Georgia" charset="0"/>
          <a:ea typeface="Georgia" charset="0"/>
          <a:cs typeface="Georgia" charset="0"/>
        </a:defRPr>
      </a:lvl1pPr>
    </p:titleStyle>
    <p:bodyStyle>
      <a:lvl1pPr marL="342900" indent="-342900" algn="l" defTabSz="457200" rtl="0" eaLnBrk="1" latinLnBrk="0" hangingPunct="1">
        <a:lnSpc>
          <a:spcPct val="110000"/>
        </a:lnSpc>
        <a:spcBef>
          <a:spcPct val="20000"/>
        </a:spcBef>
        <a:buFont typeface="Arial"/>
        <a:buChar char="•"/>
        <a:defRPr sz="2400" kern="1200">
          <a:solidFill>
            <a:schemeClr val="tx1"/>
          </a:solidFill>
          <a:latin typeface="Times New Roman"/>
          <a:ea typeface="+mn-ea"/>
          <a:cs typeface="Times New Roman"/>
        </a:defRPr>
      </a:lvl1pPr>
      <a:lvl2pPr marL="742950" indent="-285750" algn="l" defTabSz="457200" rtl="0" eaLnBrk="1" latinLnBrk="0" hangingPunct="1">
        <a:lnSpc>
          <a:spcPct val="110000"/>
        </a:lnSpc>
        <a:spcBef>
          <a:spcPct val="20000"/>
        </a:spcBef>
        <a:buFont typeface="Arial"/>
        <a:buChar char="–"/>
        <a:defRPr sz="2000" kern="1200">
          <a:solidFill>
            <a:srgbClr val="0000FF"/>
          </a:solidFill>
          <a:latin typeface="Times New Roman"/>
          <a:ea typeface="+mn-ea"/>
          <a:cs typeface="Times New Roman"/>
        </a:defRPr>
      </a:lvl2pPr>
      <a:lvl3pPr marL="1143000" indent="-228600" algn="l" defTabSz="457200" rtl="0" eaLnBrk="1" latinLnBrk="0" hangingPunct="1">
        <a:lnSpc>
          <a:spcPct val="110000"/>
        </a:lnSpc>
        <a:spcBef>
          <a:spcPct val="20000"/>
        </a:spcBef>
        <a:buFont typeface="Arial"/>
        <a:buChar char="•"/>
        <a:defRPr sz="1800" kern="1200">
          <a:solidFill>
            <a:srgbClr val="C00000"/>
          </a:solidFill>
          <a:latin typeface="Times New Roman"/>
          <a:ea typeface="+mn-ea"/>
          <a:cs typeface="Times New Roman"/>
        </a:defRPr>
      </a:lvl3pPr>
      <a:lvl4pPr marL="1600200" indent="-228600" algn="l" defTabSz="457200" rtl="0" eaLnBrk="1" latinLnBrk="0" hangingPunct="1">
        <a:lnSpc>
          <a:spcPct val="110000"/>
        </a:lnSpc>
        <a:spcBef>
          <a:spcPct val="20000"/>
        </a:spcBef>
        <a:buFont typeface="Arial"/>
        <a:buChar char="–"/>
        <a:defRPr sz="1600" kern="1200">
          <a:solidFill>
            <a:srgbClr val="007F50"/>
          </a:solidFill>
          <a:latin typeface="Times New Roman"/>
          <a:ea typeface="+mn-ea"/>
          <a:cs typeface="Times New Roman"/>
        </a:defRPr>
      </a:lvl4pPr>
      <a:lvl5pPr marL="2057400" indent="-228600" algn="l" defTabSz="457200" rtl="0" eaLnBrk="1" latinLnBrk="0" hangingPunct="1">
        <a:lnSpc>
          <a:spcPct val="110000"/>
        </a:lnSpc>
        <a:spcBef>
          <a:spcPct val="20000"/>
        </a:spcBef>
        <a:buFont typeface="Arial"/>
        <a:buChar char="»"/>
        <a:defRPr sz="1600" kern="1200">
          <a:solidFill>
            <a:schemeClr val="accent6">
              <a:lumMod val="75000"/>
            </a:schemeClr>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prisma-statement.org/"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png"/><Relationship Id="rId4" Type="http://schemas.openxmlformats.org/officeDocument/2006/relationships/image" Target="../media/image9.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mason.gmu.edu/~dwilsonb/ma.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metafor-project.org/doku.ph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7.wmf"/><Relationship Id="rId4"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9.wmf"/></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wmf"/></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1.wmf"/></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facsrv.cdm.depaul.edu/~hqahrisa/#workshop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rstudio.com/" TargetMode="External"/><Relationship Id="rId2" Type="http://schemas.openxmlformats.org/officeDocument/2006/relationships/hyperlink" Target="http://facsrv.cdm.depaul.edu/~hqahrisa/#workshops"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meta-analysis-made-easy.co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courses.nus.edu.sg/course/psycwlm/internet/metasem/"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mason.gmu.edu/~dwilsonb/ma.html"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0619" y="786173"/>
            <a:ext cx="7296234" cy="1336739"/>
          </a:xfrm>
          <a:ln>
            <a:noFill/>
          </a:ln>
        </p:spPr>
        <p:txBody>
          <a:bodyPr>
            <a:noAutofit/>
          </a:bodyPr>
          <a:lstStyle/>
          <a:p>
            <a:r>
              <a:rPr lang="en-US" sz="3600" dirty="0"/>
              <a:t>Introduction to Meta Analysis</a:t>
            </a:r>
          </a:p>
        </p:txBody>
      </p:sp>
      <p:sp>
        <p:nvSpPr>
          <p:cNvPr id="3" name="Subtitle 2"/>
          <p:cNvSpPr>
            <a:spLocks noGrp="1"/>
          </p:cNvSpPr>
          <p:nvPr>
            <p:ph type="subTitle" idx="1"/>
          </p:nvPr>
        </p:nvSpPr>
        <p:spPr>
          <a:xfrm>
            <a:off x="828136" y="3009900"/>
            <a:ext cx="3433313" cy="1245351"/>
          </a:xfrm>
        </p:spPr>
        <p:txBody>
          <a:bodyPr>
            <a:normAutofit/>
          </a:bodyPr>
          <a:lstStyle/>
          <a:p>
            <a:r>
              <a:rPr lang="en-US" b="1" dirty="0">
                <a:solidFill>
                  <a:schemeClr val="tx1"/>
                </a:solidFill>
              </a:rPr>
              <a:t>Hamed Qahri-Saremi</a:t>
            </a:r>
          </a:p>
          <a:p>
            <a:pPr>
              <a:lnSpc>
                <a:spcPct val="100000"/>
              </a:lnSpc>
            </a:pPr>
            <a:r>
              <a:rPr lang="en-US" sz="1800" dirty="0">
                <a:solidFill>
                  <a:schemeClr val="tx1"/>
                </a:solidFill>
              </a:rPr>
              <a:t>DePaul University</a:t>
            </a:r>
          </a:p>
          <a:p>
            <a:pPr>
              <a:lnSpc>
                <a:spcPct val="100000"/>
              </a:lnSpc>
            </a:pPr>
            <a:r>
              <a:rPr lang="en-US" sz="1800" dirty="0">
                <a:solidFill>
                  <a:schemeClr val="tx1"/>
                </a:solidFill>
              </a:rPr>
              <a:t>Chicago, IL</a:t>
            </a:r>
          </a:p>
        </p:txBody>
      </p:sp>
      <p:sp>
        <p:nvSpPr>
          <p:cNvPr id="5" name="Subtitle 2"/>
          <p:cNvSpPr txBox="1">
            <a:spLocks/>
          </p:cNvSpPr>
          <p:nvPr/>
        </p:nvSpPr>
        <p:spPr>
          <a:xfrm>
            <a:off x="4710021" y="3009899"/>
            <a:ext cx="3864635" cy="1245351"/>
          </a:xfrm>
          <a:prstGeom prst="rect">
            <a:avLst/>
          </a:prstGeom>
        </p:spPr>
        <p:txBody>
          <a:bodyPr vert="horz" lIns="91440" tIns="45720" rIns="91440" bIns="45720" rtlCol="0">
            <a:normAutofit/>
          </a:bodyPr>
          <a:lstStyle>
            <a:lvl1pPr marL="0" indent="0" algn="ctr" defTabSz="457200" rtl="0" eaLnBrk="1" latinLnBrk="0" hangingPunct="1">
              <a:lnSpc>
                <a:spcPct val="110000"/>
              </a:lnSpc>
              <a:spcBef>
                <a:spcPct val="20000"/>
              </a:spcBef>
              <a:buFont typeface="Arial"/>
              <a:buNone/>
              <a:defRPr sz="2400" kern="1200">
                <a:solidFill>
                  <a:schemeClr val="tx1">
                    <a:tint val="75000"/>
                  </a:schemeClr>
                </a:solidFill>
                <a:latin typeface="Times New Roman"/>
                <a:ea typeface="+mn-ea"/>
                <a:cs typeface="Times New Roman"/>
              </a:defRPr>
            </a:lvl1pPr>
            <a:lvl2pPr marL="457200" indent="0" algn="ctr" defTabSz="457200" rtl="0" eaLnBrk="1" latinLnBrk="0" hangingPunct="1">
              <a:lnSpc>
                <a:spcPct val="110000"/>
              </a:lnSpc>
              <a:spcBef>
                <a:spcPct val="20000"/>
              </a:spcBef>
              <a:buFont typeface="Arial"/>
              <a:buNone/>
              <a:defRPr sz="2000" kern="1200">
                <a:solidFill>
                  <a:schemeClr val="tx1">
                    <a:tint val="75000"/>
                  </a:schemeClr>
                </a:solidFill>
                <a:latin typeface="Times New Roman"/>
                <a:ea typeface="+mn-ea"/>
                <a:cs typeface="Times New Roman"/>
              </a:defRPr>
            </a:lvl2pPr>
            <a:lvl3pPr marL="914400" indent="0" algn="ctr" defTabSz="457200" rtl="0" eaLnBrk="1" latinLnBrk="0" hangingPunct="1">
              <a:lnSpc>
                <a:spcPct val="110000"/>
              </a:lnSpc>
              <a:spcBef>
                <a:spcPct val="20000"/>
              </a:spcBef>
              <a:buFont typeface="Arial"/>
              <a:buNone/>
              <a:defRPr sz="1800" kern="1200">
                <a:solidFill>
                  <a:schemeClr val="tx1">
                    <a:tint val="75000"/>
                  </a:schemeClr>
                </a:solidFill>
                <a:latin typeface="Times New Roman"/>
                <a:ea typeface="+mn-ea"/>
                <a:cs typeface="Times New Roman"/>
              </a:defRPr>
            </a:lvl3pPr>
            <a:lvl4pPr marL="1371600" indent="0" algn="ctr" defTabSz="457200" rtl="0" eaLnBrk="1" latinLnBrk="0" hangingPunct="1">
              <a:lnSpc>
                <a:spcPct val="110000"/>
              </a:lnSpc>
              <a:spcBef>
                <a:spcPct val="20000"/>
              </a:spcBef>
              <a:buFont typeface="Arial"/>
              <a:buNone/>
              <a:defRPr sz="1600" kern="1200">
                <a:solidFill>
                  <a:schemeClr val="tx1">
                    <a:tint val="75000"/>
                  </a:schemeClr>
                </a:solidFill>
                <a:latin typeface="Times New Roman"/>
                <a:ea typeface="+mn-ea"/>
                <a:cs typeface="Times New Roman"/>
              </a:defRPr>
            </a:lvl4pPr>
            <a:lvl5pPr marL="1828800" indent="0" algn="ctr" defTabSz="457200" rtl="0" eaLnBrk="1" latinLnBrk="0" hangingPunct="1">
              <a:lnSpc>
                <a:spcPct val="110000"/>
              </a:lnSpc>
              <a:spcBef>
                <a:spcPct val="20000"/>
              </a:spcBef>
              <a:buFont typeface="Arial"/>
              <a:buNone/>
              <a:defRPr sz="1600" kern="1200">
                <a:solidFill>
                  <a:schemeClr val="tx1">
                    <a:tint val="75000"/>
                  </a:schemeClr>
                </a:solidFill>
                <a:latin typeface="Times New Roman"/>
                <a:ea typeface="+mn-ea"/>
                <a:cs typeface="Times New Roman"/>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b="1" dirty="0" err="1">
                <a:solidFill>
                  <a:schemeClr val="tx1"/>
                </a:solidFill>
              </a:rPr>
              <a:t>Sudeep</a:t>
            </a:r>
            <a:r>
              <a:rPr lang="en-US" b="1" dirty="0">
                <a:solidFill>
                  <a:schemeClr val="tx1"/>
                </a:solidFill>
              </a:rPr>
              <a:t> Sharma</a:t>
            </a:r>
          </a:p>
          <a:p>
            <a:pPr>
              <a:lnSpc>
                <a:spcPct val="100000"/>
              </a:lnSpc>
            </a:pPr>
            <a:r>
              <a:rPr lang="en-US" sz="1800" dirty="0">
                <a:solidFill>
                  <a:schemeClr val="tx1"/>
                </a:solidFill>
              </a:rPr>
              <a:t>University of Illinois at Springfield</a:t>
            </a:r>
          </a:p>
          <a:p>
            <a:pPr>
              <a:lnSpc>
                <a:spcPct val="100000"/>
              </a:lnSpc>
            </a:pPr>
            <a:r>
              <a:rPr lang="en-US" sz="1800" dirty="0">
                <a:solidFill>
                  <a:schemeClr val="tx1"/>
                </a:solidFill>
              </a:rPr>
              <a:t>Springfield, IL</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495" y="4823261"/>
            <a:ext cx="2304456" cy="1905017"/>
          </a:xfrm>
          <a:prstGeom prst="rect">
            <a:avLst/>
          </a:prstGeom>
        </p:spPr>
      </p:pic>
    </p:spTree>
    <p:extLst>
      <p:ext uri="{BB962C8B-B14F-4D97-AF65-F5344CB8AC3E}">
        <p14:creationId xmlns:p14="http://schemas.microsoft.com/office/powerpoint/2010/main" val="886388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idx="11"/>
          </p:nvPr>
        </p:nvSpPr>
        <p:spPr/>
        <p:txBody>
          <a:bodyPr/>
          <a:lstStyle/>
          <a:p>
            <a:r>
              <a:rPr lang="en-GB" altLang="x-none"/>
              <a:t>Qahri-Saremi &amp; Sharma, AMCIS 2017</a:t>
            </a:r>
            <a:endParaRPr lang="en-GB" altLang="x-none" dirty="0"/>
          </a:p>
        </p:txBody>
      </p:sp>
      <p:sp>
        <p:nvSpPr>
          <p:cNvPr id="6" name="Slide Number Placeholder 5"/>
          <p:cNvSpPr>
            <a:spLocks noGrp="1"/>
          </p:cNvSpPr>
          <p:nvPr>
            <p:ph type="sldNum" idx="12"/>
          </p:nvPr>
        </p:nvSpPr>
        <p:spPr/>
        <p:txBody>
          <a:bodyPr/>
          <a:lstStyle/>
          <a:p>
            <a:fld id="{B8CE495F-6934-6D47-9189-BF7386F6AD99}" type="slidenum">
              <a:rPr lang="en-GB" altLang="x-none"/>
              <a:pPr/>
              <a:t>2</a:t>
            </a:fld>
            <a:endParaRPr lang="en-GB" altLang="x-none"/>
          </a:p>
        </p:txBody>
      </p:sp>
      <p:sp>
        <p:nvSpPr>
          <p:cNvPr id="5121" name="Rectangle 1"/>
          <p:cNvSpPr>
            <a:spLocks noGrp="1" noChangeArrowheads="1"/>
          </p:cNvSpPr>
          <p:nvPr>
            <p:ph type="title" idx="4294967295"/>
          </p:nvPr>
        </p:nvSpPr>
        <p:spPr>
          <a:xfrm>
            <a:off x="457200" y="277813"/>
            <a:ext cx="8229600" cy="1139825"/>
          </a:xfrm>
          <a:ln/>
        </p:spPr>
        <p:txBody>
          <a:bodyPr/>
          <a:lstStyle/>
          <a:p>
            <a:pP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a:t>Overview of the Workshop</a:t>
            </a:r>
          </a:p>
        </p:txBody>
      </p:sp>
      <p:sp>
        <p:nvSpPr>
          <p:cNvPr id="5122" name="Rectangle 2"/>
          <p:cNvSpPr>
            <a:spLocks noGrp="1" noChangeArrowheads="1"/>
          </p:cNvSpPr>
          <p:nvPr>
            <p:ph type="body" idx="4294967295"/>
          </p:nvPr>
        </p:nvSpPr>
        <p:spPr>
          <a:xfrm>
            <a:off x="457200" y="1600200"/>
            <a:ext cx="8229600" cy="4530725"/>
          </a:xfrm>
        </p:spPr>
        <p:txBody>
          <a:bodyPr vert="horz" lIns="91440" tIns="45720" rIns="91440" bIns="45720" rtlCol="0">
            <a:normAutofit/>
          </a:bodyPr>
          <a:lstStyle/>
          <a:p>
            <a:endParaRPr lang="en-GB" altLang="x-none" dirty="0"/>
          </a:p>
        </p:txBody>
      </p:sp>
    </p:spTree>
    <p:extLst>
      <p:ext uri="{BB962C8B-B14F-4D97-AF65-F5344CB8AC3E}">
        <p14:creationId xmlns:p14="http://schemas.microsoft.com/office/powerpoint/2010/main" val="13877335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Meta-Analysis?</a:t>
            </a:r>
          </a:p>
        </p:txBody>
      </p:sp>
      <p:sp>
        <p:nvSpPr>
          <p:cNvPr id="3" name="Content Placeholder 2"/>
          <p:cNvSpPr>
            <a:spLocks noGrp="1"/>
          </p:cNvSpPr>
          <p:nvPr>
            <p:ph idx="1"/>
          </p:nvPr>
        </p:nvSpPr>
        <p:spPr/>
        <p:txBody>
          <a:bodyPr/>
          <a:lstStyle/>
          <a:p>
            <a:r>
              <a:rPr lang="en-US" dirty="0"/>
              <a:t>Meta-analysis is a statistical technique for synthesizing the results of a set of independent, quantitative, empirical studies on a topic, in order to determine an overall estimate of a treatment effect.</a:t>
            </a:r>
          </a:p>
          <a:p>
            <a:endParaRPr lang="en-US" dirty="0"/>
          </a:p>
          <a:p>
            <a:endParaRPr lang="en-US" dirty="0"/>
          </a:p>
          <a:p>
            <a:r>
              <a:rPr lang="en-US" dirty="0"/>
              <a:t>“</a:t>
            </a:r>
            <a:r>
              <a:rPr lang="mr-IN" dirty="0"/>
              <a:t>…</a:t>
            </a:r>
            <a:r>
              <a:rPr lang="en-US" dirty="0"/>
              <a:t> now widely accepted as a method of summarizing the results of empirical studies within the behavioral, social and health sciences.” 								</a:t>
            </a:r>
            <a:r>
              <a:rPr lang="en-US" sz="1400" i="1" dirty="0" err="1"/>
              <a:t>Lipsey</a:t>
            </a:r>
            <a:r>
              <a:rPr lang="en-US" sz="1400" i="1" dirty="0"/>
              <a:t> and Wilson (2001)</a:t>
            </a:r>
          </a:p>
        </p:txBody>
      </p:sp>
      <p:sp>
        <p:nvSpPr>
          <p:cNvPr id="4" name="Slide Number Placeholder 3"/>
          <p:cNvSpPr>
            <a:spLocks noGrp="1"/>
          </p:cNvSpPr>
          <p:nvPr>
            <p:ph type="sldNum" sz="quarter" idx="12"/>
          </p:nvPr>
        </p:nvSpPr>
        <p:spPr/>
        <p:txBody>
          <a:bodyPr/>
          <a:lstStyle/>
          <a:p>
            <a:fld id="{9E0F272A-0FC0-1943-B826-E8D4777EEB37}" type="slidenum">
              <a:rPr lang="en-US" smtClean="0"/>
              <a:t>3</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1109109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idx="12"/>
          </p:nvPr>
        </p:nvSpPr>
        <p:spPr/>
        <p:txBody>
          <a:bodyPr/>
          <a:lstStyle/>
          <a:p>
            <a:fld id="{6627635E-FDED-814E-92CB-A74EA2E177A5}" type="slidenum">
              <a:rPr lang="en-GB" altLang="x-none"/>
              <a:pPr/>
              <a:t>4</a:t>
            </a:fld>
            <a:endParaRPr lang="en-GB" altLang="x-none"/>
          </a:p>
        </p:txBody>
      </p:sp>
      <p:sp>
        <p:nvSpPr>
          <p:cNvPr id="7169" name="Rectangle 1"/>
          <p:cNvSpPr>
            <a:spLocks noGrp="1" noChangeArrowheads="1"/>
          </p:cNvSpPr>
          <p:nvPr>
            <p:ph type="title" idx="4294967295"/>
          </p:nvPr>
        </p:nvSpPr>
        <p:spPr>
          <a:xfrm>
            <a:off x="457200" y="277813"/>
            <a:ext cx="8229600" cy="1139825"/>
          </a:xfrm>
          <a:ln/>
        </p:spPr>
        <p:txBody>
          <a:bodyPr/>
          <a:lstStyle/>
          <a:p>
            <a:pP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dirty="0"/>
              <a:t>A little bit of History</a:t>
            </a:r>
            <a:r>
              <a:rPr lang="mr-IN" altLang="x-none" dirty="0"/>
              <a:t>…</a:t>
            </a:r>
            <a:endParaRPr lang="en-GB" altLang="x-none" dirty="0"/>
          </a:p>
        </p:txBody>
      </p:sp>
      <p:sp>
        <p:nvSpPr>
          <p:cNvPr id="7170" name="Rectangle 2"/>
          <p:cNvSpPr>
            <a:spLocks noGrp="1" noChangeArrowheads="1"/>
          </p:cNvSpPr>
          <p:nvPr>
            <p:ph type="body" idx="4294967295"/>
          </p:nvPr>
        </p:nvSpPr>
        <p:spPr>
          <a:xfrm>
            <a:off x="250167" y="1285336"/>
            <a:ext cx="4485735" cy="5003321"/>
          </a:xfrm>
        </p:spPr>
        <p:txBody>
          <a:bodyPr vert="horz" lIns="91440" tIns="45720" rIns="91440" bIns="45720" rtlCol="0">
            <a:normAutofit fontScale="85000" lnSpcReduction="10000"/>
          </a:bodyPr>
          <a:lstStyle/>
          <a:p>
            <a:pPr algn="just"/>
            <a:r>
              <a:rPr lang="en-GB" altLang="x-none" dirty="0"/>
              <a:t>The Great Debate  </a:t>
            </a:r>
            <a:r>
              <a:rPr lang="en-US" sz="1600" i="1" dirty="0"/>
              <a:t>(</a:t>
            </a:r>
            <a:r>
              <a:rPr lang="en-US" sz="1600" i="1" dirty="0" err="1"/>
              <a:t>Lipsey</a:t>
            </a:r>
            <a:r>
              <a:rPr lang="en-US" sz="1600" i="1" dirty="0"/>
              <a:t> and Wilson, 2001)</a:t>
            </a:r>
            <a:endParaRPr lang="en-GB" altLang="x-none" sz="1600" i="1" dirty="0"/>
          </a:p>
          <a:p>
            <a:pPr lvl="1" algn="just"/>
            <a:r>
              <a:rPr lang="en-GB" altLang="x-none" dirty="0"/>
              <a:t>In 1952, Hans J. Eysenck concluded that there were no favourable effects of psychotherapy, starting a raging debate</a:t>
            </a:r>
            <a:r>
              <a:rPr lang="mr-IN" altLang="x-none" dirty="0"/>
              <a:t>…</a:t>
            </a:r>
            <a:endParaRPr lang="en-GB" altLang="x-none" dirty="0"/>
          </a:p>
          <a:p>
            <a:pPr lvl="2" algn="just"/>
            <a:r>
              <a:rPr lang="en-GB" altLang="x-none" dirty="0"/>
              <a:t>20 years of evaluation research and hundreds of studies failed to resolve the debate</a:t>
            </a:r>
          </a:p>
          <a:p>
            <a:pPr lvl="1" algn="just"/>
            <a:endParaRPr lang="en-GB" altLang="x-none" dirty="0"/>
          </a:p>
          <a:p>
            <a:pPr lvl="1" algn="just"/>
            <a:r>
              <a:rPr lang="en-GB" altLang="x-none" dirty="0"/>
              <a:t>In 1977, Smith and Glass statistically aggregated the findings of 375 psychotherapy outcome studies to show Eysenck is wrong and psychotherapy is indeed effective.</a:t>
            </a:r>
          </a:p>
          <a:p>
            <a:pPr lvl="2" algn="just"/>
            <a:r>
              <a:rPr lang="en-GB" altLang="x-none" dirty="0"/>
              <a:t>In their research, they used a method developed by Glass (1976), called “not for want of a less pretentious name - the </a:t>
            </a:r>
            <a:r>
              <a:rPr lang="en-GB" altLang="x-none" b="1" dirty="0">
                <a:solidFill>
                  <a:srgbClr val="FF0000"/>
                </a:solidFill>
              </a:rPr>
              <a:t>meta-analysis of research</a:t>
            </a:r>
            <a:r>
              <a:rPr lang="en-GB" altLang="x-none" dirty="0"/>
              <a:t>” (p. 3).</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826" y="1254679"/>
            <a:ext cx="3950898" cy="4743279"/>
          </a:xfrm>
          <a:prstGeom prst="rect">
            <a:avLst/>
          </a:prstGeom>
          <a:ln>
            <a:noFill/>
          </a:ln>
          <a:effectLst>
            <a:outerShdw blurRad="50800" dist="38100" dir="8100000" algn="tr" rotWithShape="0">
              <a:prstClr val="black">
                <a:alpha val="40000"/>
              </a:prstClr>
            </a:outerShdw>
          </a:effectLst>
        </p:spPr>
      </p:pic>
      <p:sp>
        <p:nvSpPr>
          <p:cNvPr id="3" name="Footer Placeholder 2"/>
          <p:cNvSpPr>
            <a:spLocks noGrp="1"/>
          </p:cNvSpPr>
          <p:nvPr>
            <p:ph type="ftr" sz="quarter" idx="11"/>
          </p:nvPr>
        </p:nvSpPr>
        <p:spPr/>
        <p:txBody>
          <a:bodyPr/>
          <a:lstStyle/>
          <a:p>
            <a:r>
              <a:rPr lang="en-US"/>
              <a:t>Qahri-Saremi &amp; Sharma, AMCIS 2017</a:t>
            </a:r>
            <a:endParaRPr lang="en-US" dirty="0"/>
          </a:p>
        </p:txBody>
      </p:sp>
      <p:sp>
        <p:nvSpPr>
          <p:cNvPr id="4" name="Rectangle 3"/>
          <p:cNvSpPr/>
          <p:nvPr/>
        </p:nvSpPr>
        <p:spPr>
          <a:xfrm>
            <a:off x="5037826" y="6004819"/>
            <a:ext cx="3950898" cy="430887"/>
          </a:xfrm>
          <a:prstGeom prst="rect">
            <a:avLst/>
          </a:prstGeom>
        </p:spPr>
        <p:txBody>
          <a:bodyPr wrap="square">
            <a:spAutoFit/>
          </a:bodyPr>
          <a:lstStyle/>
          <a:p>
            <a:r>
              <a:rPr lang="en-US" sz="1100" b="1" dirty="0">
                <a:latin typeface="Times New Roman" charset="0"/>
                <a:ea typeface="Times New Roman" charset="0"/>
                <a:cs typeface="Times New Roman" charset="0"/>
              </a:rPr>
              <a:t>Glass, G.V. 1976. "Primary, Secondary, and Meta-Analysis of Research," </a:t>
            </a:r>
            <a:r>
              <a:rPr lang="en-US" sz="1100" b="1" i="1" dirty="0">
                <a:latin typeface="Times New Roman" charset="0"/>
                <a:ea typeface="Times New Roman" charset="0"/>
                <a:cs typeface="Times New Roman" charset="0"/>
              </a:rPr>
              <a:t>Educational Researcher</a:t>
            </a:r>
            <a:r>
              <a:rPr lang="en-US" sz="1100" b="1" dirty="0">
                <a:latin typeface="Times New Roman" charset="0"/>
                <a:ea typeface="Times New Roman" charset="0"/>
                <a:cs typeface="Times New Roman" charset="0"/>
              </a:rPr>
              <a:t> (5:10), pp. 3-8.</a:t>
            </a:r>
            <a:endParaRPr lang="en-US" sz="1100" b="1" dirty="0">
              <a:effectLst/>
              <a:latin typeface="Times New Roman" charset="0"/>
              <a:ea typeface="Times New Roman" charset="0"/>
              <a:cs typeface="Times New Roman" charset="0"/>
            </a:endParaRPr>
          </a:p>
        </p:txBody>
      </p:sp>
    </p:spTree>
    <p:extLst>
      <p:ext uri="{BB962C8B-B14F-4D97-AF65-F5344CB8AC3E}">
        <p14:creationId xmlns:p14="http://schemas.microsoft.com/office/powerpoint/2010/main" val="15825776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0304"/>
            <a:ext cx="8229600" cy="732547"/>
          </a:xfrm>
        </p:spPr>
        <p:txBody>
          <a:bodyPr/>
          <a:lstStyle/>
          <a:p>
            <a:r>
              <a:rPr lang="en-US" dirty="0"/>
              <a:t>Meta-Analysis vs. Narrative Reviews</a:t>
            </a:r>
          </a:p>
        </p:txBody>
      </p:sp>
      <p:sp>
        <p:nvSpPr>
          <p:cNvPr id="3" name="Content Placeholder 2"/>
          <p:cNvSpPr>
            <a:spLocks noGrp="1"/>
          </p:cNvSpPr>
          <p:nvPr>
            <p:ph idx="1"/>
          </p:nvPr>
        </p:nvSpPr>
        <p:spPr>
          <a:xfrm>
            <a:off x="129399" y="1074546"/>
            <a:ext cx="4037162" cy="5051617"/>
          </a:xfrm>
        </p:spPr>
        <p:txBody>
          <a:bodyPr>
            <a:normAutofit/>
          </a:bodyPr>
          <a:lstStyle/>
          <a:p>
            <a:pPr algn="just"/>
            <a:r>
              <a:rPr lang="en-US" sz="1800" dirty="0"/>
              <a:t>Let us review this sample of studies and answer the following two questions:</a:t>
            </a:r>
          </a:p>
          <a:p>
            <a:pPr algn="just"/>
            <a:endParaRPr lang="en-US" sz="1800" dirty="0"/>
          </a:p>
          <a:p>
            <a:pPr marL="403225" lvl="1" indent="-317500" algn="just"/>
            <a:r>
              <a:rPr lang="en-US" sz="1800" i="1" dirty="0"/>
              <a:t>What tentative conclusions can you reach about the relationship between </a:t>
            </a:r>
            <a:r>
              <a:rPr lang="en-US" sz="1800" i="1" dirty="0">
                <a:solidFill>
                  <a:srgbClr val="FF0000"/>
                </a:solidFill>
              </a:rPr>
              <a:t>job satisfaction </a:t>
            </a:r>
            <a:r>
              <a:rPr lang="en-US" sz="1800" i="1" dirty="0"/>
              <a:t>and </a:t>
            </a:r>
            <a:r>
              <a:rPr lang="en-US" sz="1800" i="1" dirty="0">
                <a:solidFill>
                  <a:srgbClr val="FF0000"/>
                </a:solidFill>
              </a:rPr>
              <a:t>organizational commitment</a:t>
            </a:r>
            <a:r>
              <a:rPr lang="en-US" sz="1800" i="1" dirty="0">
                <a:solidFill>
                  <a:srgbClr val="0432FF"/>
                </a:solidFill>
              </a:rPr>
              <a:t>?</a:t>
            </a:r>
            <a:r>
              <a:rPr lang="en-US" sz="1800" i="1" dirty="0"/>
              <a:t> </a:t>
            </a:r>
          </a:p>
          <a:p>
            <a:pPr marL="692150" lvl="3" indent="-287338" algn="just"/>
            <a:r>
              <a:rPr lang="en-US" sz="1400" i="1" dirty="0"/>
              <a:t>Significant negative relation: 0/30.</a:t>
            </a:r>
          </a:p>
          <a:p>
            <a:pPr marL="692150" lvl="3" indent="-287338" algn="just"/>
            <a:r>
              <a:rPr lang="en-US" sz="1400" i="1" dirty="0"/>
              <a:t>Significant positive relation: 19/30.</a:t>
            </a:r>
          </a:p>
          <a:p>
            <a:pPr marL="692150" lvl="3" indent="-287338" algn="just"/>
            <a:r>
              <a:rPr lang="en-US" sz="1400" i="1" dirty="0"/>
              <a:t>Non-significant relation: 11/30.</a:t>
            </a:r>
          </a:p>
          <a:p>
            <a:pPr marL="403225" lvl="1" indent="-317500" algn="just"/>
            <a:endParaRPr lang="en-US" sz="1800" i="1" dirty="0"/>
          </a:p>
          <a:p>
            <a:pPr marL="403225" lvl="1" indent="-317500" algn="just"/>
            <a:r>
              <a:rPr lang="en-US" sz="1800" i="1" dirty="0"/>
              <a:t>What variables do you believe can </a:t>
            </a:r>
            <a:r>
              <a:rPr lang="en-US" sz="1800" i="1" dirty="0">
                <a:solidFill>
                  <a:srgbClr val="FF0000"/>
                </a:solidFill>
              </a:rPr>
              <a:t>moderate</a:t>
            </a:r>
            <a:r>
              <a:rPr lang="en-US" sz="1800" i="1" dirty="0"/>
              <a:t> this relationship?</a:t>
            </a:r>
          </a:p>
        </p:txBody>
      </p:sp>
      <p:sp>
        <p:nvSpPr>
          <p:cNvPr id="4" name="Slide Number Placeholder 3"/>
          <p:cNvSpPr>
            <a:spLocks noGrp="1"/>
          </p:cNvSpPr>
          <p:nvPr>
            <p:ph type="sldNum" sz="quarter" idx="12"/>
          </p:nvPr>
        </p:nvSpPr>
        <p:spPr/>
        <p:txBody>
          <a:bodyPr/>
          <a:lstStyle/>
          <a:p>
            <a:fld id="{9E0F272A-0FC0-1943-B826-E8D4777EEB37}" type="slidenum">
              <a:rPr lang="en-US" smtClean="0"/>
              <a:t>5</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0463" y="920337"/>
            <a:ext cx="4718649" cy="5851403"/>
          </a:xfrm>
          <a:prstGeom prst="rect">
            <a:avLst/>
          </a:prstGeom>
        </p:spPr>
      </p:pic>
      <p:sp>
        <p:nvSpPr>
          <p:cNvPr id="6" name="TextBox 5"/>
          <p:cNvSpPr txBox="1"/>
          <p:nvPr/>
        </p:nvSpPr>
        <p:spPr>
          <a:xfrm>
            <a:off x="6773424" y="6495486"/>
            <a:ext cx="2275688" cy="276999"/>
          </a:xfrm>
          <a:prstGeom prst="rect">
            <a:avLst/>
          </a:prstGeom>
          <a:noFill/>
        </p:spPr>
        <p:txBody>
          <a:bodyPr wrap="none" rtlCol="0">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Hunter &amp; Schmidt (2004)</a:t>
            </a:r>
          </a:p>
        </p:txBody>
      </p:sp>
      <p:sp>
        <p:nvSpPr>
          <p:cNvPr id="7" name="Rectangle 6"/>
          <p:cNvSpPr/>
          <p:nvPr/>
        </p:nvSpPr>
        <p:spPr>
          <a:xfrm>
            <a:off x="5037826" y="936099"/>
            <a:ext cx="474453" cy="548926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5572664" y="936098"/>
            <a:ext cx="3476448" cy="5489260"/>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ooter Placeholder 8"/>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58243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Meta-Analysis vs. Narrative Reviews</a:t>
            </a:r>
          </a:p>
        </p:txBody>
      </p:sp>
      <p:sp>
        <p:nvSpPr>
          <p:cNvPr id="4" name="Slide Number Placeholder 3"/>
          <p:cNvSpPr>
            <a:spLocks noGrp="1"/>
          </p:cNvSpPr>
          <p:nvPr>
            <p:ph type="sldNum" sz="quarter" idx="12"/>
          </p:nvPr>
        </p:nvSpPr>
        <p:spPr/>
        <p:txBody>
          <a:bodyPr/>
          <a:lstStyle/>
          <a:p>
            <a:fld id="{9E0F272A-0FC0-1943-B826-E8D4777EEB37}" type="slidenum">
              <a:rPr lang="en-US" smtClean="0"/>
              <a:t>6</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226" y="1048685"/>
            <a:ext cx="6383548" cy="5135636"/>
          </a:xfrm>
          <a:prstGeom prst="rect">
            <a:avLst/>
          </a:prstGeom>
        </p:spPr>
      </p:pic>
      <p:sp>
        <p:nvSpPr>
          <p:cNvPr id="8" name="TextBox 7"/>
          <p:cNvSpPr txBox="1"/>
          <p:nvPr/>
        </p:nvSpPr>
        <p:spPr>
          <a:xfrm>
            <a:off x="6868312" y="6131836"/>
            <a:ext cx="2275688" cy="276999"/>
          </a:xfrm>
          <a:prstGeom prst="rect">
            <a:avLst/>
          </a:prstGeom>
          <a:noFill/>
        </p:spPr>
        <p:txBody>
          <a:bodyPr wrap="none" rtlCol="0">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Hunter &amp; Schmidt (2004)</a:t>
            </a:r>
          </a:p>
        </p:txBody>
      </p:sp>
      <p:sp>
        <p:nvSpPr>
          <p:cNvPr id="3" name="Footer Placeholder 2"/>
          <p:cNvSpPr>
            <a:spLocks noGrp="1"/>
          </p:cNvSpPr>
          <p:nvPr>
            <p:ph type="ftr" sz="quarter" idx="11"/>
          </p:nvPr>
        </p:nvSpPr>
        <p:spPr/>
        <p:txBody>
          <a:bodyPr/>
          <a:lstStyle/>
          <a:p>
            <a:r>
              <a:rPr lang="en-US"/>
              <a:t>Qahri-Saremi &amp; Sharma, AMCIS 2017</a:t>
            </a:r>
            <a:endParaRPr lang="en-US" dirty="0"/>
          </a:p>
        </p:txBody>
      </p:sp>
      <p:sp>
        <p:nvSpPr>
          <p:cNvPr id="6" name="Rectangle 5"/>
          <p:cNvSpPr/>
          <p:nvPr/>
        </p:nvSpPr>
        <p:spPr>
          <a:xfrm>
            <a:off x="2888055" y="2323684"/>
            <a:ext cx="742385"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6464928" y="2323684"/>
            <a:ext cx="614502"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6425448" y="4014859"/>
            <a:ext cx="653982"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2997830" y="3990756"/>
            <a:ext cx="614502"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2888055" y="5908857"/>
            <a:ext cx="742385"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6464928" y="5908857"/>
            <a:ext cx="614502" cy="3123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124200" y="1412341"/>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6464928" y="1421394"/>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124200" y="3105339"/>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6103546" y="3114393"/>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868312" y="3105339"/>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197384" y="4997514"/>
            <a:ext cx="325170" cy="86007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103546" y="4997514"/>
            <a:ext cx="325170" cy="91439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0312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Meta-Analysis vs. Narrative Reviews</a:t>
            </a:r>
          </a:p>
        </p:txBody>
      </p:sp>
      <p:sp>
        <p:nvSpPr>
          <p:cNvPr id="3" name="Content Placeholder 2"/>
          <p:cNvSpPr>
            <a:spLocks noGrp="1"/>
          </p:cNvSpPr>
          <p:nvPr>
            <p:ph idx="1"/>
          </p:nvPr>
        </p:nvSpPr>
        <p:spPr/>
        <p:txBody>
          <a:bodyPr>
            <a:normAutofit/>
          </a:bodyPr>
          <a:lstStyle/>
          <a:p>
            <a:endParaRPr lang="en-US" dirty="0"/>
          </a:p>
          <a:p>
            <a:r>
              <a:rPr lang="en-US" dirty="0"/>
              <a:t>The preceding review was conducted using standard review practices that characterize many narrative reviews in social sciences, including information systems.</a:t>
            </a:r>
          </a:p>
        </p:txBody>
      </p:sp>
      <p:sp>
        <p:nvSpPr>
          <p:cNvPr id="4" name="Slide Number Placeholder 3"/>
          <p:cNvSpPr>
            <a:spLocks noGrp="1"/>
          </p:cNvSpPr>
          <p:nvPr>
            <p:ph type="sldNum" sz="quarter" idx="12"/>
          </p:nvPr>
        </p:nvSpPr>
        <p:spPr/>
        <p:txBody>
          <a:bodyPr/>
          <a:lstStyle/>
          <a:p>
            <a:fld id="{9E0F272A-0FC0-1943-B826-E8D4777EEB37}" type="slidenum">
              <a:rPr lang="en-US" smtClean="0"/>
              <a:t>7</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35783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Meta-Analysis vs. Narrative Reviews</a:t>
            </a:r>
          </a:p>
        </p:txBody>
      </p:sp>
      <p:sp>
        <p:nvSpPr>
          <p:cNvPr id="3" name="Content Placeholder 2"/>
          <p:cNvSpPr>
            <a:spLocks noGrp="1"/>
          </p:cNvSpPr>
          <p:nvPr>
            <p:ph idx="1"/>
          </p:nvPr>
        </p:nvSpPr>
        <p:spPr>
          <a:xfrm>
            <a:off x="244445" y="1074546"/>
            <a:ext cx="8347294" cy="5281804"/>
          </a:xfrm>
        </p:spPr>
        <p:txBody>
          <a:bodyPr>
            <a:normAutofit/>
          </a:bodyPr>
          <a:lstStyle/>
          <a:p>
            <a:r>
              <a:rPr lang="en-US" dirty="0"/>
              <a:t>There is one problem, though:</a:t>
            </a:r>
          </a:p>
          <a:p>
            <a:pPr lvl="1"/>
            <a:r>
              <a:rPr lang="en-US" dirty="0"/>
              <a:t>The data were constructed by a Monte Carlo simulation:</a:t>
            </a:r>
          </a:p>
          <a:p>
            <a:pPr lvl="2"/>
            <a:r>
              <a:rPr lang="en-US" dirty="0"/>
              <a:t>The mean population correlation was assumed to be 0.33.</a:t>
            </a:r>
          </a:p>
          <a:p>
            <a:pPr lvl="2"/>
            <a:r>
              <a:rPr lang="en-US" dirty="0"/>
              <a:t>The sample sizes were randomly chosen from a distribution centering about 40.</a:t>
            </a:r>
          </a:p>
          <a:p>
            <a:pPr lvl="3"/>
            <a:r>
              <a:rPr lang="en-US" dirty="0"/>
              <a:t>The variance across correlations and their significance levels were determined using population correlation and the sample size.</a:t>
            </a:r>
          </a:p>
          <a:p>
            <a:pPr lvl="2"/>
            <a:r>
              <a:rPr lang="en-US" dirty="0"/>
              <a:t>The study characteristics were assigned randomly.</a:t>
            </a:r>
          </a:p>
          <a:p>
            <a:pPr lvl="1"/>
            <a:endParaRPr lang="en-US" dirty="0"/>
          </a:p>
          <a:p>
            <a:pPr lvl="1"/>
            <a:r>
              <a:rPr lang="en-US" dirty="0"/>
              <a:t>In other words,</a:t>
            </a:r>
          </a:p>
          <a:p>
            <a:pPr lvl="2"/>
            <a:r>
              <a:rPr lang="en-US" dirty="0"/>
              <a:t>The variation among correlations is entirely the result of </a:t>
            </a:r>
            <a:r>
              <a:rPr lang="en-US" b="1" dirty="0">
                <a:solidFill>
                  <a:srgbClr val="FF0000"/>
                </a:solidFill>
              </a:rPr>
              <a:t>sampling error</a:t>
            </a:r>
            <a:r>
              <a:rPr lang="en-US" dirty="0"/>
              <a:t>.</a:t>
            </a:r>
          </a:p>
          <a:p>
            <a:pPr lvl="3"/>
            <a:r>
              <a:rPr lang="en-US" dirty="0"/>
              <a:t>The significance levels are the result of </a:t>
            </a:r>
            <a:r>
              <a:rPr lang="en-US" b="1" dirty="0">
                <a:solidFill>
                  <a:srgbClr val="FF0000"/>
                </a:solidFill>
              </a:rPr>
              <a:t>“random” sample sizes</a:t>
            </a:r>
            <a:r>
              <a:rPr lang="en-US" dirty="0"/>
              <a:t>.</a:t>
            </a:r>
          </a:p>
          <a:p>
            <a:pPr lvl="2"/>
            <a:r>
              <a:rPr lang="en-US" dirty="0"/>
              <a:t>The moderator effects that appear to make sense are purely the results of </a:t>
            </a:r>
            <a:r>
              <a:rPr lang="en-US" b="1" dirty="0">
                <a:solidFill>
                  <a:srgbClr val="FF0000"/>
                </a:solidFill>
              </a:rPr>
              <a:t>chance</a:t>
            </a:r>
            <a:r>
              <a:rPr lang="en-US" dirty="0"/>
              <a:t>.</a:t>
            </a:r>
          </a:p>
        </p:txBody>
      </p:sp>
      <p:sp>
        <p:nvSpPr>
          <p:cNvPr id="4" name="Slide Number Placeholder 3"/>
          <p:cNvSpPr>
            <a:spLocks noGrp="1"/>
          </p:cNvSpPr>
          <p:nvPr>
            <p:ph type="sldNum" sz="quarter" idx="12"/>
          </p:nvPr>
        </p:nvSpPr>
        <p:spPr/>
        <p:txBody>
          <a:bodyPr/>
          <a:lstStyle/>
          <a:p>
            <a:fld id="{9E0F272A-0FC0-1943-B826-E8D4777EEB37}" type="slidenum">
              <a:rPr lang="en-US" smtClean="0"/>
              <a:t>8</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1220297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Meta-Analysis vs. Narrative Reviews</a:t>
            </a:r>
          </a:p>
        </p:txBody>
      </p:sp>
      <p:sp>
        <p:nvSpPr>
          <p:cNvPr id="3" name="Content Placeholder 2"/>
          <p:cNvSpPr>
            <a:spLocks noGrp="1"/>
          </p:cNvSpPr>
          <p:nvPr>
            <p:ph idx="1"/>
          </p:nvPr>
        </p:nvSpPr>
        <p:spPr>
          <a:xfrm>
            <a:off x="457199" y="1074546"/>
            <a:ext cx="8229601" cy="5281804"/>
          </a:xfrm>
        </p:spPr>
        <p:txBody>
          <a:bodyPr>
            <a:normAutofit/>
          </a:bodyPr>
          <a:lstStyle/>
          <a:p>
            <a:pPr marL="0" indent="0" algn="ctr">
              <a:buNone/>
            </a:pPr>
            <a:r>
              <a:rPr lang="en-US" dirty="0"/>
              <a:t>The crucial lesson: </a:t>
            </a:r>
          </a:p>
          <a:p>
            <a:pPr marL="0" indent="0" algn="ctr">
              <a:buNone/>
            </a:pPr>
            <a:r>
              <a:rPr lang="en-US" b="1" u="sng" dirty="0"/>
              <a:t>conflicting results in the literature may be entirely random</a:t>
            </a:r>
            <a:r>
              <a:rPr lang="en-US" dirty="0"/>
              <a:t>.</a:t>
            </a:r>
          </a:p>
          <a:p>
            <a:pPr lvl="1"/>
            <a:endParaRPr lang="en-US" dirty="0"/>
          </a:p>
          <a:p>
            <a:pPr lvl="1"/>
            <a:r>
              <a:rPr lang="en-US" dirty="0"/>
              <a:t>Meta-Analysis can help us differentiate between artefactual (random) and systematic sources of variations in results.</a:t>
            </a:r>
          </a:p>
          <a:p>
            <a:pPr lvl="1"/>
            <a:endParaRPr lang="en-US" dirty="0"/>
          </a:p>
          <a:p>
            <a:pPr lvl="1"/>
            <a:r>
              <a:rPr lang="en-US" dirty="0"/>
              <a:t>Meta-analysis focuses on the </a:t>
            </a:r>
            <a:r>
              <a:rPr lang="en-US" dirty="0">
                <a:solidFill>
                  <a:srgbClr val="FF0000"/>
                </a:solidFill>
              </a:rPr>
              <a:t>direction</a:t>
            </a:r>
            <a:r>
              <a:rPr lang="en-US" dirty="0"/>
              <a:t> and </a:t>
            </a:r>
            <a:r>
              <a:rPr lang="en-US" dirty="0">
                <a:solidFill>
                  <a:srgbClr val="FF0000"/>
                </a:solidFill>
              </a:rPr>
              <a:t>magnitude</a:t>
            </a:r>
            <a:r>
              <a:rPr lang="en-US" dirty="0"/>
              <a:t> of the effects across studies (</a:t>
            </a:r>
            <a:r>
              <a:rPr lang="en-US" dirty="0">
                <a:solidFill>
                  <a:srgbClr val="FF0000"/>
                </a:solidFill>
              </a:rPr>
              <a:t>effect sizes</a:t>
            </a:r>
            <a:r>
              <a:rPr lang="en-US" dirty="0"/>
              <a:t>), not their statistical significances.</a:t>
            </a:r>
          </a:p>
          <a:p>
            <a:pPr lvl="2"/>
            <a:r>
              <a:rPr lang="en-US" dirty="0"/>
              <a:t>Significance testing is not well suited for comparison in a review, because it is highly dependent on sample sizes.</a:t>
            </a:r>
          </a:p>
        </p:txBody>
      </p:sp>
      <p:sp>
        <p:nvSpPr>
          <p:cNvPr id="4" name="Slide Number Placeholder 3"/>
          <p:cNvSpPr>
            <a:spLocks noGrp="1"/>
          </p:cNvSpPr>
          <p:nvPr>
            <p:ph type="sldNum" sz="quarter" idx="12"/>
          </p:nvPr>
        </p:nvSpPr>
        <p:spPr/>
        <p:txBody>
          <a:bodyPr/>
          <a:lstStyle/>
          <a:p>
            <a:fld id="{9E0F272A-0FC0-1943-B826-E8D4777EEB37}" type="slidenum">
              <a:rPr lang="en-US" smtClean="0"/>
              <a:t>9</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
        <p:nvSpPr>
          <p:cNvPr id="6" name="Rectangle 5"/>
          <p:cNvSpPr/>
          <p:nvPr/>
        </p:nvSpPr>
        <p:spPr>
          <a:xfrm>
            <a:off x="7288339" y="5417763"/>
            <a:ext cx="1814920" cy="646331"/>
          </a:xfrm>
          <a:prstGeom prst="rect">
            <a:avLst/>
          </a:prstGeom>
        </p:spPr>
        <p:txBody>
          <a:bodyPr wrap="none">
            <a:spAutoFit/>
          </a:bodyPr>
          <a:lstStyle/>
          <a:p>
            <a:r>
              <a:rPr lang="en-US" sz="1200" i="1">
                <a:latin typeface="Times New Roman" charset="0"/>
                <a:ea typeface="Times New Roman" charset="0"/>
                <a:cs typeface="Times New Roman" charset="0"/>
              </a:rPr>
              <a:t>Sources: </a:t>
            </a:r>
          </a:p>
          <a:p>
            <a:r>
              <a:rPr lang="en-US" sz="1200" i="1" dirty="0">
                <a:latin typeface="Times New Roman" charset="0"/>
                <a:ea typeface="Times New Roman" charset="0"/>
                <a:cs typeface="Times New Roman" charset="0"/>
              </a:rPr>
              <a:t>Hunter &amp; Schmidt (2004);</a:t>
            </a:r>
          </a:p>
          <a:p>
            <a:r>
              <a:rPr lang="en-US" sz="1200" i="1" dirty="0">
                <a:latin typeface="Times New Roman" charset="0"/>
                <a:ea typeface="Times New Roman" charset="0"/>
                <a:cs typeface="Times New Roman" charset="0"/>
              </a:rPr>
              <a:t>Lindsey &amp; Wilson (2001)</a:t>
            </a:r>
          </a:p>
        </p:txBody>
      </p:sp>
    </p:spTree>
    <p:extLst>
      <p:ext uri="{BB962C8B-B14F-4D97-AF65-F5344CB8AC3E}">
        <p14:creationId xmlns:p14="http://schemas.microsoft.com/office/powerpoint/2010/main" val="68619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Meta-Analysis vs. Single Studies</a:t>
            </a:r>
          </a:p>
        </p:txBody>
      </p:sp>
      <p:sp>
        <p:nvSpPr>
          <p:cNvPr id="3" name="Content Placeholder 2"/>
          <p:cNvSpPr>
            <a:spLocks noGrp="1"/>
          </p:cNvSpPr>
          <p:nvPr>
            <p:ph idx="1"/>
          </p:nvPr>
        </p:nvSpPr>
        <p:spPr/>
        <p:txBody>
          <a:bodyPr/>
          <a:lstStyle/>
          <a:p>
            <a:r>
              <a:rPr lang="en-US" dirty="0"/>
              <a:t>Single studies may not be sufficient to determine the utility of an intervention or a hypothesis’ validity.</a:t>
            </a:r>
          </a:p>
          <a:p>
            <a:pPr lvl="1"/>
            <a:r>
              <a:rPr lang="en-US" dirty="0"/>
              <a:t>E.g., ‘The Great Debate’ on Psychotherapy’s effectiveness (1952-1977) </a:t>
            </a:r>
            <a:r>
              <a:rPr lang="en-US" i="1" dirty="0"/>
              <a:t>(</a:t>
            </a:r>
            <a:r>
              <a:rPr lang="en-US" i="1" dirty="0" err="1"/>
              <a:t>Lipsey</a:t>
            </a:r>
            <a:r>
              <a:rPr lang="en-US" i="1" dirty="0"/>
              <a:t> and Wilson, 2001)</a:t>
            </a:r>
            <a:r>
              <a:rPr lang="en-US" dirty="0"/>
              <a:t>.</a:t>
            </a:r>
          </a:p>
          <a:p>
            <a:pPr lvl="1"/>
            <a:endParaRPr lang="en-US" dirty="0"/>
          </a:p>
          <a:p>
            <a:pPr lvl="1"/>
            <a:r>
              <a:rPr lang="en-US" dirty="0"/>
              <a:t>Single studies are limited in their </a:t>
            </a:r>
            <a:r>
              <a:rPr lang="en-US" b="1" dirty="0"/>
              <a:t>statistical power</a:t>
            </a:r>
            <a:r>
              <a:rPr lang="en-US" dirty="0"/>
              <a:t>, unless the sample size is very large, which is not common.</a:t>
            </a:r>
          </a:p>
          <a:p>
            <a:pPr lvl="2"/>
            <a:r>
              <a:rPr lang="en-US" dirty="0"/>
              <a:t>Low statistical power can increase the error rates well beyond the 5%.</a:t>
            </a:r>
          </a:p>
        </p:txBody>
      </p:sp>
      <p:sp>
        <p:nvSpPr>
          <p:cNvPr id="4" name="Slide Number Placeholder 3"/>
          <p:cNvSpPr>
            <a:spLocks noGrp="1"/>
          </p:cNvSpPr>
          <p:nvPr>
            <p:ph type="sldNum" sz="quarter" idx="12"/>
          </p:nvPr>
        </p:nvSpPr>
        <p:spPr/>
        <p:txBody>
          <a:bodyPr/>
          <a:lstStyle/>
          <a:p>
            <a:fld id="{9E0F272A-0FC0-1943-B826-E8D4777EEB37}" type="slidenum">
              <a:rPr lang="en-US" smtClean="0"/>
              <a:t>10</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668907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idx="12"/>
          </p:nvPr>
        </p:nvSpPr>
        <p:spPr/>
        <p:txBody>
          <a:bodyPr/>
          <a:lstStyle/>
          <a:p>
            <a:fld id="{D28B1E38-2491-4E43-95AE-39BBABFC3C68}" type="slidenum">
              <a:rPr lang="en-GB" altLang="x-none"/>
              <a:pPr/>
              <a:t>11</a:t>
            </a:fld>
            <a:endParaRPr lang="en-GB" altLang="x-none"/>
          </a:p>
        </p:txBody>
      </p:sp>
      <p:sp>
        <p:nvSpPr>
          <p:cNvPr id="13313" name="Rectangle 1"/>
          <p:cNvSpPr>
            <a:spLocks noGrp="1" noChangeArrowheads="1"/>
          </p:cNvSpPr>
          <p:nvPr>
            <p:ph type="title" idx="4294967295"/>
          </p:nvPr>
        </p:nvSpPr>
        <p:spPr>
          <a:xfrm>
            <a:off x="457200" y="277813"/>
            <a:ext cx="8229600" cy="1139825"/>
          </a:xfrm>
          <a:ln/>
        </p:spPr>
        <p:txBody>
          <a:bodyPr/>
          <a:lstStyle/>
          <a:p>
            <a:pP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a:t>When Can You Do Meta-analysis?</a:t>
            </a:r>
          </a:p>
        </p:txBody>
      </p:sp>
      <p:sp>
        <p:nvSpPr>
          <p:cNvPr id="13314" name="Rectangle 2"/>
          <p:cNvSpPr>
            <a:spLocks noGrp="1" noChangeArrowheads="1"/>
          </p:cNvSpPr>
          <p:nvPr>
            <p:ph type="body" idx="4294967295"/>
          </p:nvPr>
        </p:nvSpPr>
        <p:spPr>
          <a:xfrm>
            <a:off x="457200" y="1417638"/>
            <a:ext cx="8229600" cy="4530725"/>
          </a:xfrm>
        </p:spPr>
        <p:txBody>
          <a:bodyPr vert="horz" lIns="91440" tIns="45720" rIns="91440" bIns="45720" rtlCol="0">
            <a:normAutofit/>
          </a:bodyPr>
          <a:lstStyle/>
          <a:p>
            <a:r>
              <a:rPr lang="en-GB" altLang="x-none" dirty="0"/>
              <a:t>Meta-analysis is applicable to collections of research that</a:t>
            </a:r>
          </a:p>
          <a:p>
            <a:pPr lvl="1"/>
            <a:r>
              <a:rPr lang="en-GB" altLang="x-none" dirty="0"/>
              <a:t>Are </a:t>
            </a:r>
            <a:r>
              <a:rPr lang="en-GB" altLang="x-none" dirty="0">
                <a:solidFill>
                  <a:srgbClr val="FF0000"/>
                </a:solidFill>
              </a:rPr>
              <a:t>empirical</a:t>
            </a:r>
            <a:r>
              <a:rPr lang="en-GB" altLang="x-none" dirty="0"/>
              <a:t>, rather than theoretical.</a:t>
            </a:r>
          </a:p>
          <a:p>
            <a:pPr lvl="1"/>
            <a:r>
              <a:rPr lang="en-GB" altLang="x-none" dirty="0"/>
              <a:t>Produce </a:t>
            </a:r>
            <a:r>
              <a:rPr lang="en-GB" altLang="x-none" dirty="0">
                <a:solidFill>
                  <a:srgbClr val="FF0000"/>
                </a:solidFill>
              </a:rPr>
              <a:t>quantitative</a:t>
            </a:r>
            <a:r>
              <a:rPr lang="en-GB" altLang="x-none" dirty="0"/>
              <a:t> results, rather than qualitative findings.</a:t>
            </a:r>
          </a:p>
          <a:p>
            <a:pPr lvl="1"/>
            <a:r>
              <a:rPr lang="en-GB" altLang="x-none" dirty="0"/>
              <a:t>Examine the </a:t>
            </a:r>
            <a:r>
              <a:rPr lang="en-GB" altLang="x-none" dirty="0">
                <a:solidFill>
                  <a:srgbClr val="FF0000"/>
                </a:solidFill>
              </a:rPr>
              <a:t>same constructs and relationships</a:t>
            </a:r>
            <a:r>
              <a:rPr lang="en-GB" altLang="x-none" dirty="0"/>
              <a:t>.</a:t>
            </a:r>
          </a:p>
          <a:p>
            <a:pPr lvl="1"/>
            <a:r>
              <a:rPr lang="en-GB" altLang="x-none" dirty="0"/>
              <a:t>Provide findings that can be configured in a </a:t>
            </a:r>
            <a:r>
              <a:rPr lang="en-GB" altLang="x-none" dirty="0">
                <a:solidFill>
                  <a:srgbClr val="FF0000"/>
                </a:solidFill>
              </a:rPr>
              <a:t>comparable statistical form as effect sizes</a:t>
            </a:r>
            <a:r>
              <a:rPr lang="en-GB" altLang="x-none" dirty="0"/>
              <a:t>. </a:t>
            </a:r>
          </a:p>
        </p:txBody>
      </p:sp>
      <p:sp>
        <p:nvSpPr>
          <p:cNvPr id="2" name="Rectangle 1"/>
          <p:cNvSpPr/>
          <p:nvPr/>
        </p:nvSpPr>
        <p:spPr>
          <a:xfrm>
            <a:off x="6902424" y="4068796"/>
            <a:ext cx="2241576" cy="276999"/>
          </a:xfrm>
          <a:prstGeom prst="rect">
            <a:avLst/>
          </a:prstGeom>
        </p:spPr>
        <p:txBody>
          <a:bodyPr wrap="none">
            <a:spAutoFit/>
          </a:bodyPr>
          <a:lstStyle/>
          <a:p>
            <a:r>
              <a:rPr lang="en-US" sz="1200" i="1" dirty="0">
                <a:latin typeface="Times New Roman" charset="0"/>
                <a:ea typeface="Times New Roman" charset="0"/>
                <a:cs typeface="Times New Roman" charset="0"/>
              </a:rPr>
              <a:t>Source: Lindsey &amp; Wilson (2001)</a:t>
            </a:r>
          </a:p>
        </p:txBody>
      </p:sp>
      <p:sp>
        <p:nvSpPr>
          <p:cNvPr id="3" name="Footer Placeholder 2"/>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4180648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Eight Steps to Conduct a Meta-Analysis</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a:t>Problem Definition</a:t>
            </a:r>
          </a:p>
          <a:p>
            <a:pPr marL="457200" indent="-457200">
              <a:buFont typeface="+mj-lt"/>
              <a:buAutoNum type="arabicPeriod"/>
            </a:pPr>
            <a:r>
              <a:rPr lang="en-US" dirty="0"/>
              <a:t>Establishing Inclusion/Exclusion Criteria </a:t>
            </a:r>
          </a:p>
          <a:p>
            <a:pPr marL="457200" indent="-457200">
              <a:buFont typeface="+mj-lt"/>
              <a:buAutoNum type="arabicPeriod"/>
            </a:pPr>
            <a:r>
              <a:rPr lang="en-US" dirty="0"/>
              <a:t>Literature Search and Studies Retrieval </a:t>
            </a:r>
          </a:p>
          <a:p>
            <a:pPr marL="457200" indent="-457200">
              <a:buFont typeface="+mj-lt"/>
              <a:buAutoNum type="arabicPeriod"/>
            </a:pPr>
            <a:r>
              <a:rPr lang="en-US" dirty="0"/>
              <a:t>Coding Data and Effect Sizes for Studies</a:t>
            </a:r>
          </a:p>
          <a:p>
            <a:pPr marL="457200" indent="-457200">
              <a:buFont typeface="+mj-lt"/>
              <a:buAutoNum type="arabicPeriod"/>
            </a:pPr>
            <a:r>
              <a:rPr lang="en-US" dirty="0"/>
              <a:t>Doing the Basic Meta-Analysis </a:t>
            </a:r>
          </a:p>
          <a:p>
            <a:pPr marL="857250" lvl="1" indent="-457200"/>
            <a:r>
              <a:rPr lang="en-US" dirty="0"/>
              <a:t>Decide on Fixed-Effects vs. Random-Effects Meta-Analysis </a:t>
            </a:r>
          </a:p>
          <a:p>
            <a:pPr marL="857250" lvl="1" indent="-457200"/>
            <a:r>
              <a:rPr lang="en-US" dirty="0"/>
              <a:t>Conduct the Basic Meta-Analysis</a:t>
            </a:r>
          </a:p>
          <a:p>
            <a:pPr marL="457200" indent="-457200">
              <a:buFont typeface="+mj-lt"/>
              <a:buAutoNum type="arabicPeriod"/>
            </a:pPr>
            <a:r>
              <a:rPr lang="en-US" dirty="0"/>
              <a:t>Moderation Analysis</a:t>
            </a:r>
          </a:p>
          <a:p>
            <a:pPr marL="857250" lvl="1" indent="-457200"/>
            <a:r>
              <a:rPr lang="en-US" dirty="0"/>
              <a:t>Testing Potential Systematic Sources of Variance Across Effect Sizes</a:t>
            </a:r>
          </a:p>
          <a:p>
            <a:pPr marL="457200" indent="-457200">
              <a:buFont typeface="+mj-lt"/>
              <a:buAutoNum type="arabicPeriod"/>
            </a:pPr>
            <a:r>
              <a:rPr lang="en-US" dirty="0"/>
              <a:t>Generating the Plots (as needed)</a:t>
            </a:r>
          </a:p>
          <a:p>
            <a:pPr marL="857250" lvl="1" indent="-457200"/>
            <a:r>
              <a:rPr lang="en-US" dirty="0"/>
              <a:t>Estimating the Publication Bias</a:t>
            </a:r>
          </a:p>
        </p:txBody>
      </p:sp>
      <p:sp>
        <p:nvSpPr>
          <p:cNvPr id="4" name="Slide Number Placeholder 3"/>
          <p:cNvSpPr>
            <a:spLocks noGrp="1"/>
          </p:cNvSpPr>
          <p:nvPr>
            <p:ph type="sldNum" sz="quarter" idx="12"/>
          </p:nvPr>
        </p:nvSpPr>
        <p:spPr/>
        <p:txBody>
          <a:bodyPr/>
          <a:lstStyle/>
          <a:p>
            <a:fld id="{9E0F272A-0FC0-1943-B826-E8D4777EEB37}" type="slidenum">
              <a:rPr lang="en-US" smtClean="0"/>
              <a:t>12</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1003027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idx="12"/>
          </p:nvPr>
        </p:nvSpPr>
        <p:spPr/>
        <p:txBody>
          <a:bodyPr/>
          <a:lstStyle/>
          <a:p>
            <a:fld id="{6ACF9A7B-E533-8A41-AC4B-D2EE3C539E18}" type="slidenum">
              <a:rPr lang="en-GB" altLang="x-none"/>
              <a:pPr/>
              <a:t>13</a:t>
            </a:fld>
            <a:endParaRPr lang="en-GB" altLang="x-none"/>
          </a:p>
        </p:txBody>
      </p:sp>
      <p:sp>
        <p:nvSpPr>
          <p:cNvPr id="14337" name="Rectangle 1"/>
          <p:cNvSpPr>
            <a:spLocks noGrp="1" noChangeArrowheads="1"/>
          </p:cNvSpPr>
          <p:nvPr>
            <p:ph type="title" idx="4294967295"/>
          </p:nvPr>
        </p:nvSpPr>
        <p:spPr>
          <a:xfrm>
            <a:off x="457200" y="163902"/>
            <a:ext cx="8229600" cy="681487"/>
          </a:xfrm>
          <a:ln/>
        </p:spPr>
        <p:txBody>
          <a:bodyPr>
            <a:normAutofit/>
          </a:bodyPr>
          <a:lstStyle/>
          <a:p>
            <a:pP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sz="2800" dirty="0"/>
              <a:t>Problem Definition</a:t>
            </a:r>
          </a:p>
        </p:txBody>
      </p:sp>
      <p:sp>
        <p:nvSpPr>
          <p:cNvPr id="14338" name="Rectangle 2"/>
          <p:cNvSpPr>
            <a:spLocks noGrp="1" noChangeArrowheads="1"/>
          </p:cNvSpPr>
          <p:nvPr>
            <p:ph type="body" idx="4294967295"/>
          </p:nvPr>
        </p:nvSpPr>
        <p:spPr>
          <a:xfrm>
            <a:off x="457199" y="845390"/>
            <a:ext cx="8324491" cy="5057469"/>
          </a:xfrm>
        </p:spPr>
        <p:txBody>
          <a:bodyPr vert="horz" lIns="91440" tIns="45720" rIns="91440" bIns="45720" rtlCol="0">
            <a:normAutofit fontScale="92500" lnSpcReduction="10000"/>
          </a:bodyPr>
          <a:lstStyle/>
          <a:p>
            <a:r>
              <a:rPr lang="en-GB" altLang="x-none" dirty="0"/>
              <a:t>Forms of Problems Suitable to a Meta-analysis </a:t>
            </a:r>
            <a:r>
              <a:rPr lang="en-GB" altLang="x-none" sz="1700" dirty="0"/>
              <a:t>(it determines the choice of effect size)</a:t>
            </a:r>
            <a:r>
              <a:rPr lang="en-GB" altLang="x-none" sz="1800" dirty="0"/>
              <a:t>:</a:t>
            </a:r>
            <a:endParaRPr lang="en-GB" altLang="x-none" sz="1700" dirty="0"/>
          </a:p>
          <a:p>
            <a:pPr marL="114300" indent="0" algn="ctr">
              <a:buNone/>
            </a:pPr>
            <a:endParaRPr lang="en-GB" altLang="x-none" sz="1500" dirty="0"/>
          </a:p>
          <a:p>
            <a:pPr lvl="1"/>
            <a:r>
              <a:rPr lang="en-GB" altLang="x-none" b="1" u="sng" dirty="0"/>
              <a:t>Association between Variables</a:t>
            </a:r>
          </a:p>
          <a:p>
            <a:pPr lvl="2"/>
            <a:r>
              <a:rPr lang="en-GB" altLang="x-none" dirty="0"/>
              <a:t>What is the correlation between the </a:t>
            </a:r>
            <a:r>
              <a:rPr lang="en-GB" altLang="x-none" b="1" dirty="0"/>
              <a:t>extent of system use </a:t>
            </a:r>
            <a:r>
              <a:rPr lang="en-GB" altLang="x-none" dirty="0"/>
              <a:t>and </a:t>
            </a:r>
            <a:r>
              <a:rPr lang="en-GB" altLang="x-none" b="1" dirty="0"/>
              <a:t>job satisfaction</a:t>
            </a:r>
            <a:r>
              <a:rPr lang="en-GB" altLang="x-none" dirty="0"/>
              <a:t>?</a:t>
            </a:r>
          </a:p>
          <a:p>
            <a:pPr lvl="1"/>
            <a:endParaRPr lang="en-GB" altLang="x-none" dirty="0"/>
          </a:p>
          <a:p>
            <a:pPr lvl="1"/>
            <a:r>
              <a:rPr lang="en-GB" altLang="x-none" dirty="0"/>
              <a:t>Central Tendency Description</a:t>
            </a:r>
          </a:p>
          <a:p>
            <a:pPr lvl="2"/>
            <a:r>
              <a:rPr lang="en-GB" altLang="x-none" dirty="0"/>
              <a:t>What is the mean level of satisfaction among users of a system?</a:t>
            </a:r>
          </a:p>
          <a:p>
            <a:pPr lvl="2"/>
            <a:endParaRPr lang="en-GB" altLang="x-none" dirty="0"/>
          </a:p>
          <a:p>
            <a:pPr lvl="1"/>
            <a:r>
              <a:rPr lang="en-GB" altLang="x-none" dirty="0"/>
              <a:t>Pre-Post Contrasts</a:t>
            </a:r>
          </a:p>
          <a:p>
            <a:pPr lvl="2"/>
            <a:r>
              <a:rPr lang="en-GB" altLang="x-none" dirty="0"/>
              <a:t>How did employees’ satisfaction levels change before and after adopting a system?</a:t>
            </a:r>
          </a:p>
          <a:p>
            <a:pPr lvl="1"/>
            <a:endParaRPr lang="en-GB" altLang="x-none" dirty="0"/>
          </a:p>
          <a:p>
            <a:pPr lvl="1"/>
            <a:r>
              <a:rPr lang="en-GB" altLang="x-none" dirty="0"/>
              <a:t>Group Contrasts</a:t>
            </a:r>
          </a:p>
          <a:p>
            <a:pPr lvl="2"/>
            <a:r>
              <a:rPr lang="en-GB" altLang="x-none" dirty="0"/>
              <a:t>Are employees who are using a system more satisfied than non-users?</a:t>
            </a:r>
          </a:p>
        </p:txBody>
      </p:sp>
      <p:sp>
        <p:nvSpPr>
          <p:cNvPr id="7" name="Rectangle 6"/>
          <p:cNvSpPr/>
          <p:nvPr/>
        </p:nvSpPr>
        <p:spPr>
          <a:xfrm>
            <a:off x="6830577" y="6079351"/>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
        <p:nvSpPr>
          <p:cNvPr id="2" name="Footer Placeholder 1"/>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17744904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426"/>
            <a:ext cx="8229600" cy="997009"/>
          </a:xfrm>
        </p:spPr>
        <p:txBody>
          <a:bodyPr>
            <a:normAutofit/>
          </a:bodyPr>
          <a:lstStyle/>
          <a:p>
            <a:r>
              <a:rPr lang="en-US" sz="2800" dirty="0"/>
              <a:t>Establishing Inclusion/Exclusion Criteria: </a:t>
            </a:r>
            <a:r>
              <a:rPr lang="en-US" sz="1800" dirty="0"/>
              <a:t>Which Studies to Include? </a:t>
            </a:r>
            <a:endParaRPr lang="en-US" sz="2800" dirty="0"/>
          </a:p>
        </p:txBody>
      </p:sp>
      <p:sp>
        <p:nvSpPr>
          <p:cNvPr id="3" name="Content Placeholder 2"/>
          <p:cNvSpPr>
            <a:spLocks noGrp="1"/>
          </p:cNvSpPr>
          <p:nvPr>
            <p:ph idx="1"/>
          </p:nvPr>
        </p:nvSpPr>
        <p:spPr>
          <a:xfrm>
            <a:off x="457200" y="1074546"/>
            <a:ext cx="8229600" cy="5162352"/>
          </a:xfrm>
        </p:spPr>
        <p:txBody>
          <a:bodyPr>
            <a:normAutofit fontScale="92500" lnSpcReduction="10000"/>
          </a:bodyPr>
          <a:lstStyle/>
          <a:p>
            <a:r>
              <a:rPr lang="en-US" dirty="0"/>
              <a:t>Components of detailed inclusion/exclusion criteria:</a:t>
            </a:r>
          </a:p>
          <a:p>
            <a:pPr lvl="1"/>
            <a:r>
              <a:rPr lang="en-US" dirty="0"/>
              <a:t>Key variables</a:t>
            </a:r>
          </a:p>
          <a:p>
            <a:pPr lvl="2"/>
            <a:r>
              <a:rPr lang="en-US" dirty="0"/>
              <a:t>E.g., Job Satisfaction and Organizational Commitment.</a:t>
            </a:r>
          </a:p>
          <a:p>
            <a:pPr lvl="1"/>
            <a:r>
              <a:rPr lang="en-US" dirty="0"/>
              <a:t>Distinguishing Features</a:t>
            </a:r>
          </a:p>
          <a:p>
            <a:pPr lvl="2"/>
            <a:r>
              <a:rPr lang="en-US" dirty="0"/>
              <a:t>E.g., Post-adoption studies.</a:t>
            </a:r>
          </a:p>
          <a:p>
            <a:pPr lvl="1"/>
            <a:r>
              <a:rPr lang="en-US" dirty="0"/>
              <a:t>Research Samples</a:t>
            </a:r>
          </a:p>
          <a:p>
            <a:pPr lvl="2"/>
            <a:r>
              <a:rPr lang="en-US" dirty="0"/>
              <a:t>E.g., Studies of online banking users.</a:t>
            </a:r>
          </a:p>
          <a:p>
            <a:pPr lvl="1"/>
            <a:r>
              <a:rPr lang="en-US" dirty="0"/>
              <a:t>Research methods</a:t>
            </a:r>
          </a:p>
          <a:p>
            <a:pPr lvl="2"/>
            <a:r>
              <a:rPr lang="en-US" dirty="0"/>
              <a:t>E.g., Survey-based research.</a:t>
            </a:r>
          </a:p>
          <a:p>
            <a:pPr lvl="1"/>
            <a:r>
              <a:rPr lang="en-US" dirty="0"/>
              <a:t>Time frame</a:t>
            </a:r>
          </a:p>
          <a:p>
            <a:pPr lvl="2"/>
            <a:r>
              <a:rPr lang="en-US" dirty="0"/>
              <a:t>E.g., After 2000.</a:t>
            </a:r>
          </a:p>
          <a:p>
            <a:pPr lvl="1"/>
            <a:r>
              <a:rPr lang="en-US" dirty="0"/>
              <a:t>Publication types</a:t>
            </a:r>
          </a:p>
          <a:p>
            <a:pPr lvl="2"/>
            <a:r>
              <a:rPr lang="en-US" dirty="0"/>
              <a:t>E.g., Peer reviewed.</a:t>
            </a:r>
          </a:p>
          <a:p>
            <a:pPr lvl="2"/>
            <a:endParaRPr lang="en-US" sz="1050" dirty="0"/>
          </a:p>
          <a:p>
            <a:r>
              <a:rPr lang="en-US" dirty="0"/>
              <a:t>Refine the criteria as you interact with the literature.</a:t>
            </a:r>
          </a:p>
          <a:p>
            <a:endParaRPr lang="en-US" dirty="0"/>
          </a:p>
        </p:txBody>
      </p:sp>
      <p:sp>
        <p:nvSpPr>
          <p:cNvPr id="4" name="Slide Number Placeholder 3"/>
          <p:cNvSpPr>
            <a:spLocks noGrp="1"/>
          </p:cNvSpPr>
          <p:nvPr>
            <p:ph type="sldNum" sz="quarter" idx="12"/>
          </p:nvPr>
        </p:nvSpPr>
        <p:spPr/>
        <p:txBody>
          <a:bodyPr/>
          <a:lstStyle/>
          <a:p>
            <a:fld id="{9E0F272A-0FC0-1943-B826-E8D4777EEB37}" type="slidenum">
              <a:rPr lang="en-US" smtClean="0"/>
              <a:t>14</a:t>
            </a:fld>
            <a:endParaRPr lang="en-US"/>
          </a:p>
        </p:txBody>
      </p:sp>
      <p:sp>
        <p:nvSpPr>
          <p:cNvPr id="6" name="Rectangle 5"/>
          <p:cNvSpPr/>
          <p:nvPr/>
        </p:nvSpPr>
        <p:spPr>
          <a:xfrm>
            <a:off x="6830577" y="6079351"/>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1588461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Literature Search and Studies Retrieval </a:t>
            </a:r>
          </a:p>
        </p:txBody>
      </p:sp>
      <p:sp>
        <p:nvSpPr>
          <p:cNvPr id="3" name="Content Placeholder 2"/>
          <p:cNvSpPr>
            <a:spLocks noGrp="1"/>
          </p:cNvSpPr>
          <p:nvPr>
            <p:ph idx="1"/>
          </p:nvPr>
        </p:nvSpPr>
        <p:spPr>
          <a:xfrm>
            <a:off x="457199" y="934050"/>
            <a:ext cx="8367623" cy="5457700"/>
          </a:xfrm>
        </p:spPr>
        <p:txBody>
          <a:bodyPr>
            <a:normAutofit fontScale="62500" lnSpcReduction="20000"/>
          </a:bodyPr>
          <a:lstStyle/>
          <a:p>
            <a:pPr marL="0" indent="0" algn="ctr">
              <a:buNone/>
            </a:pPr>
            <a:r>
              <a:rPr lang="en-US" sz="3400" b="1" u="sng" dirty="0">
                <a:solidFill>
                  <a:srgbClr val="C00000"/>
                </a:solidFill>
              </a:rPr>
              <a:t>Search Far &amp; Wide </a:t>
            </a:r>
          </a:p>
          <a:p>
            <a:pPr marL="0" indent="0" algn="ctr">
              <a:buNone/>
            </a:pPr>
            <a:r>
              <a:rPr lang="en-US" dirty="0">
                <a:solidFill>
                  <a:srgbClr val="C00000"/>
                </a:solidFill>
              </a:rPr>
              <a:t>(not just published studies)</a:t>
            </a:r>
          </a:p>
          <a:p>
            <a:pPr marL="0" indent="0" algn="ctr">
              <a:buNone/>
            </a:pPr>
            <a:endParaRPr lang="en-US" sz="2600" dirty="0"/>
          </a:p>
          <a:p>
            <a:r>
              <a:rPr lang="en-US" dirty="0"/>
              <a:t>General Rule in Meta-Analysis: you should have </a:t>
            </a:r>
            <a:r>
              <a:rPr lang="en-US" b="1" u="sng" dirty="0"/>
              <a:t>EVERY</a:t>
            </a:r>
            <a:r>
              <a:rPr lang="en-US" dirty="0"/>
              <a:t> relevant article </a:t>
            </a:r>
          </a:p>
          <a:p>
            <a:pPr lvl="1"/>
            <a:r>
              <a:rPr lang="en-US" dirty="0"/>
              <a:t>Census, not a sample.</a:t>
            </a:r>
          </a:p>
          <a:p>
            <a:pPr lvl="1"/>
            <a:r>
              <a:rPr lang="en-US" dirty="0"/>
              <a:t>Look for conference presentations and proceedings</a:t>
            </a:r>
          </a:p>
          <a:p>
            <a:pPr lvl="1"/>
            <a:endParaRPr lang="en-US" dirty="0"/>
          </a:p>
          <a:p>
            <a:r>
              <a:rPr lang="en-US" dirty="0"/>
              <a:t>Search in electronic reference databases.</a:t>
            </a:r>
          </a:p>
          <a:p>
            <a:pPr lvl="1"/>
            <a:r>
              <a:rPr lang="en-US" dirty="0"/>
              <a:t>E.g., EBSCOhost; </a:t>
            </a:r>
            <a:r>
              <a:rPr lang="en-US" dirty="0" err="1"/>
              <a:t>ScienceDirect</a:t>
            </a:r>
            <a:r>
              <a:rPr lang="en-US" dirty="0"/>
              <a:t>; Web of Science;</a:t>
            </a:r>
          </a:p>
          <a:p>
            <a:endParaRPr lang="en-US" dirty="0"/>
          </a:p>
          <a:p>
            <a:r>
              <a:rPr lang="en-US" dirty="0"/>
              <a:t>Search bibliography of previous reviews and pertinent primary studies.</a:t>
            </a:r>
          </a:p>
          <a:p>
            <a:endParaRPr lang="en-US" dirty="0"/>
          </a:p>
          <a:p>
            <a:r>
              <a:rPr lang="en-US" dirty="0"/>
              <a:t>Hand search journals that frequently publish on the topic.</a:t>
            </a:r>
          </a:p>
          <a:p>
            <a:pPr lvl="1"/>
            <a:r>
              <a:rPr lang="en-US" dirty="0"/>
              <a:t>AND the important journals in the field.</a:t>
            </a:r>
          </a:p>
          <a:p>
            <a:endParaRPr lang="en-US" dirty="0"/>
          </a:p>
          <a:p>
            <a:r>
              <a:rPr lang="en-US" dirty="0"/>
              <a:t>Try to find “special issues” on the topic.</a:t>
            </a:r>
          </a:p>
          <a:p>
            <a:endParaRPr lang="en-US" dirty="0"/>
          </a:p>
          <a:p>
            <a:r>
              <a:rPr lang="en-US" dirty="0"/>
              <a:t>Post to </a:t>
            </a:r>
            <a:r>
              <a:rPr lang="en-US" dirty="0" err="1"/>
              <a:t>Listservs</a:t>
            </a:r>
            <a:r>
              <a:rPr lang="en-US" dirty="0"/>
              <a:t> and relevant forums for unpublished work.</a:t>
            </a:r>
          </a:p>
          <a:p>
            <a:endParaRPr lang="en-US" dirty="0"/>
          </a:p>
          <a:p>
            <a:r>
              <a:rPr lang="en-US" dirty="0"/>
              <a:t>Contact authors who have published on your topic.</a:t>
            </a:r>
          </a:p>
        </p:txBody>
      </p:sp>
      <p:sp>
        <p:nvSpPr>
          <p:cNvPr id="4" name="Slide Number Placeholder 3"/>
          <p:cNvSpPr>
            <a:spLocks noGrp="1"/>
          </p:cNvSpPr>
          <p:nvPr>
            <p:ph type="sldNum" sz="quarter" idx="12"/>
          </p:nvPr>
        </p:nvSpPr>
        <p:spPr/>
        <p:txBody>
          <a:bodyPr/>
          <a:lstStyle/>
          <a:p>
            <a:fld id="{9E0F272A-0FC0-1943-B826-E8D4777EEB37}" type="slidenum">
              <a:rPr lang="en-US" smtClean="0"/>
              <a:t>15</a:t>
            </a:fld>
            <a:endParaRPr lang="en-US"/>
          </a:p>
        </p:txBody>
      </p:sp>
      <p:sp>
        <p:nvSpPr>
          <p:cNvPr id="5" name="Footer Placeholder 4"/>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2033745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426"/>
            <a:ext cx="8229600" cy="997009"/>
          </a:xfrm>
        </p:spPr>
        <p:txBody>
          <a:bodyPr>
            <a:normAutofit/>
          </a:bodyPr>
          <a:lstStyle/>
          <a:p>
            <a:r>
              <a:rPr lang="en-US" sz="2800" dirty="0"/>
              <a:t>Literature Search and Studies Retrieval </a:t>
            </a:r>
          </a:p>
        </p:txBody>
      </p:sp>
      <p:sp>
        <p:nvSpPr>
          <p:cNvPr id="3" name="Content Placeholder 2"/>
          <p:cNvSpPr>
            <a:spLocks noGrp="1"/>
          </p:cNvSpPr>
          <p:nvPr>
            <p:ph idx="1"/>
          </p:nvPr>
        </p:nvSpPr>
        <p:spPr>
          <a:xfrm>
            <a:off x="457200" y="1074546"/>
            <a:ext cx="8229600" cy="5162352"/>
          </a:xfrm>
        </p:spPr>
        <p:txBody>
          <a:bodyPr>
            <a:normAutofit/>
          </a:bodyPr>
          <a:lstStyle/>
          <a:p>
            <a:r>
              <a:rPr lang="en-US" dirty="0"/>
              <a:t>Include or exclude </a:t>
            </a:r>
            <a:r>
              <a:rPr lang="en-US" b="1" u="sng" dirty="0"/>
              <a:t>low quality studies</a:t>
            </a:r>
            <a:r>
              <a:rPr lang="en-US" dirty="0"/>
              <a:t>?</a:t>
            </a:r>
          </a:p>
          <a:p>
            <a:pPr lvl="1"/>
            <a:r>
              <a:rPr lang="en-US" dirty="0"/>
              <a:t>The findings of all studies are potentially in error </a:t>
            </a:r>
          </a:p>
          <a:p>
            <a:pPr lvl="2"/>
            <a:r>
              <a:rPr lang="en-US" dirty="0"/>
              <a:t>Methodological quality is a continuum, not a dichotomy.</a:t>
            </a:r>
          </a:p>
          <a:p>
            <a:pPr lvl="2"/>
            <a:endParaRPr lang="en-US" dirty="0"/>
          </a:p>
          <a:p>
            <a:pPr lvl="1"/>
            <a:r>
              <a:rPr lang="en-US" dirty="0"/>
              <a:t>Being too restrictive may restrict ability to generalize.</a:t>
            </a:r>
          </a:p>
          <a:p>
            <a:pPr lvl="1"/>
            <a:endParaRPr lang="en-US" dirty="0"/>
          </a:p>
          <a:p>
            <a:pPr lvl="1"/>
            <a:r>
              <a:rPr lang="en-US" dirty="0"/>
              <a:t>Being too inclusive may weaken the confidence that can be placed in the findings.</a:t>
            </a:r>
          </a:p>
          <a:p>
            <a:pPr lvl="1"/>
            <a:endParaRPr lang="en-US" dirty="0"/>
          </a:p>
          <a:p>
            <a:pPr lvl="2"/>
            <a:r>
              <a:rPr lang="en-US" dirty="0"/>
              <a:t>Methodological quality is often in the “eye-of-the-beholder”.</a:t>
            </a:r>
          </a:p>
          <a:p>
            <a:pPr lvl="1"/>
            <a:endParaRPr lang="en-US" dirty="0"/>
          </a:p>
          <a:p>
            <a:pPr lvl="2"/>
            <a:r>
              <a:rPr lang="en-US" dirty="0"/>
              <a:t>You must strike a balance that is appropriate to your research question.</a:t>
            </a:r>
          </a:p>
        </p:txBody>
      </p:sp>
      <p:sp>
        <p:nvSpPr>
          <p:cNvPr id="4" name="Slide Number Placeholder 3"/>
          <p:cNvSpPr>
            <a:spLocks noGrp="1"/>
          </p:cNvSpPr>
          <p:nvPr>
            <p:ph type="sldNum" sz="quarter" idx="12"/>
          </p:nvPr>
        </p:nvSpPr>
        <p:spPr/>
        <p:txBody>
          <a:bodyPr/>
          <a:lstStyle/>
          <a:p>
            <a:fld id="{9E0F272A-0FC0-1943-B826-E8D4777EEB37}" type="slidenum">
              <a:rPr lang="en-US" smtClean="0"/>
              <a:t>16</a:t>
            </a:fld>
            <a:endParaRPr lang="en-US"/>
          </a:p>
        </p:txBody>
      </p:sp>
      <p:sp>
        <p:nvSpPr>
          <p:cNvPr id="5" name="Rectangle 4"/>
          <p:cNvSpPr/>
          <p:nvPr/>
        </p:nvSpPr>
        <p:spPr>
          <a:xfrm>
            <a:off x="6830577" y="6079351"/>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
        <p:nvSpPr>
          <p:cNvPr id="6" name="Footer Placeholder 5"/>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229521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Literature Search and Studies Retrieval </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3179" y="916146"/>
            <a:ext cx="5641676" cy="5521480"/>
          </a:xfrm>
        </p:spPr>
      </p:pic>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17</a:t>
            </a:fld>
            <a:endParaRPr lang="en-US"/>
          </a:p>
        </p:txBody>
      </p:sp>
      <p:sp>
        <p:nvSpPr>
          <p:cNvPr id="7" name="Rectangle 6"/>
          <p:cNvSpPr/>
          <p:nvPr/>
        </p:nvSpPr>
        <p:spPr>
          <a:xfrm>
            <a:off x="6127630" y="5061911"/>
            <a:ext cx="2984740" cy="1061829"/>
          </a:xfrm>
          <a:prstGeom prst="rect">
            <a:avLst/>
          </a:prstGeom>
        </p:spPr>
        <p:txBody>
          <a:bodyPr wrap="square">
            <a:spAutoFit/>
          </a:bodyPr>
          <a:lstStyle/>
          <a:p>
            <a:pPr algn="just"/>
            <a:r>
              <a:rPr lang="en-US" sz="1050" i="1" dirty="0">
                <a:solidFill>
                  <a:schemeClr val="tx1">
                    <a:lumMod val="65000"/>
                    <a:lumOff val="35000"/>
                  </a:schemeClr>
                </a:solidFill>
                <a:latin typeface="Times New Roman" charset="0"/>
                <a:ea typeface="Times New Roman" charset="0"/>
                <a:cs typeface="Times New Roman" charset="0"/>
              </a:rPr>
              <a:t>Source: Moher D, </a:t>
            </a:r>
            <a:r>
              <a:rPr lang="en-US" sz="1050" i="1" dirty="0" err="1">
                <a:solidFill>
                  <a:schemeClr val="tx1">
                    <a:lumMod val="65000"/>
                    <a:lumOff val="35000"/>
                  </a:schemeClr>
                </a:solidFill>
                <a:latin typeface="Times New Roman" charset="0"/>
                <a:ea typeface="Times New Roman" charset="0"/>
                <a:cs typeface="Times New Roman" charset="0"/>
              </a:rPr>
              <a:t>Liberati</a:t>
            </a:r>
            <a:r>
              <a:rPr lang="en-US" sz="1050" i="1" dirty="0">
                <a:solidFill>
                  <a:schemeClr val="tx1">
                    <a:lumMod val="65000"/>
                    <a:lumOff val="35000"/>
                  </a:schemeClr>
                </a:solidFill>
                <a:latin typeface="Times New Roman" charset="0"/>
                <a:ea typeface="Times New Roman" charset="0"/>
                <a:cs typeface="Times New Roman" charset="0"/>
              </a:rPr>
              <a:t> A, </a:t>
            </a:r>
            <a:r>
              <a:rPr lang="en-US" sz="1050" i="1" dirty="0" err="1">
                <a:solidFill>
                  <a:schemeClr val="tx1">
                    <a:lumMod val="65000"/>
                    <a:lumOff val="35000"/>
                  </a:schemeClr>
                </a:solidFill>
                <a:latin typeface="Times New Roman" charset="0"/>
                <a:ea typeface="Times New Roman" charset="0"/>
                <a:cs typeface="Times New Roman" charset="0"/>
              </a:rPr>
              <a:t>Tetzlaff</a:t>
            </a:r>
            <a:r>
              <a:rPr lang="en-US" sz="1050" i="1" dirty="0">
                <a:solidFill>
                  <a:schemeClr val="tx1">
                    <a:lumMod val="65000"/>
                    <a:lumOff val="35000"/>
                  </a:schemeClr>
                </a:solidFill>
                <a:latin typeface="Times New Roman" charset="0"/>
                <a:ea typeface="Times New Roman" charset="0"/>
                <a:cs typeface="Times New Roman" charset="0"/>
              </a:rPr>
              <a:t> J, Altman DG, The PRISMA Group (2009). Preferred Reporting Items for Systematic Reviews and Meta Analyses: The PRISMA Statement. </a:t>
            </a:r>
            <a:r>
              <a:rPr lang="en-US" sz="1050" i="1" dirty="0" err="1">
                <a:solidFill>
                  <a:schemeClr val="tx1">
                    <a:lumMod val="65000"/>
                    <a:lumOff val="35000"/>
                  </a:schemeClr>
                </a:solidFill>
                <a:latin typeface="Times New Roman" charset="0"/>
                <a:ea typeface="Times New Roman" charset="0"/>
                <a:cs typeface="Times New Roman" charset="0"/>
              </a:rPr>
              <a:t>PLoS</a:t>
            </a:r>
            <a:r>
              <a:rPr lang="en-US" sz="1050" i="1" dirty="0">
                <a:solidFill>
                  <a:schemeClr val="tx1">
                    <a:lumMod val="65000"/>
                    <a:lumOff val="35000"/>
                  </a:schemeClr>
                </a:solidFill>
                <a:latin typeface="Times New Roman" charset="0"/>
                <a:ea typeface="Times New Roman" charset="0"/>
                <a:cs typeface="Times New Roman" charset="0"/>
              </a:rPr>
              <a:t> Med 6(7): e1000097. doi:10.1371/journal.pmed1000097 </a:t>
            </a:r>
          </a:p>
          <a:p>
            <a:pPr algn="just"/>
            <a:r>
              <a:rPr lang="en-US" sz="1050" i="1" dirty="0">
                <a:solidFill>
                  <a:schemeClr val="tx1">
                    <a:lumMod val="65000"/>
                    <a:lumOff val="35000"/>
                  </a:schemeClr>
                </a:solidFill>
                <a:latin typeface="Times New Roman" charset="0"/>
                <a:ea typeface="Times New Roman" charset="0"/>
                <a:cs typeface="Times New Roman" charset="0"/>
                <a:hlinkClick r:id="rId3"/>
              </a:rPr>
              <a:t>www.prisma-statement.org</a:t>
            </a:r>
            <a:r>
              <a:rPr lang="en-US" sz="1050" i="1" dirty="0">
                <a:solidFill>
                  <a:schemeClr val="tx1">
                    <a:lumMod val="65000"/>
                    <a:lumOff val="35000"/>
                  </a:schemeClr>
                </a:solidFill>
                <a:latin typeface="Times New Roman" charset="0"/>
                <a:ea typeface="Times New Roman" charset="0"/>
                <a:cs typeface="Times New Roman" charset="0"/>
              </a:rPr>
              <a:t>. </a:t>
            </a:r>
          </a:p>
        </p:txBody>
      </p:sp>
      <p:sp>
        <p:nvSpPr>
          <p:cNvPr id="3" name="Rectangle 2"/>
          <p:cNvSpPr/>
          <p:nvPr/>
        </p:nvSpPr>
        <p:spPr>
          <a:xfrm>
            <a:off x="131275" y="997421"/>
            <a:ext cx="2106639" cy="646331"/>
          </a:xfrm>
          <a:prstGeom prst="rect">
            <a:avLst/>
          </a:prstGeom>
        </p:spPr>
        <p:txBody>
          <a:bodyPr wrap="square">
            <a:spAutoFit/>
          </a:bodyPr>
          <a:lstStyle/>
          <a:p>
            <a:r>
              <a:rPr lang="en-US" sz="1200" b="1" i="1" dirty="0">
                <a:solidFill>
                  <a:srgbClr val="007F50"/>
                </a:solidFill>
                <a:latin typeface="Times New Roman" charset="0"/>
                <a:ea typeface="Times New Roman" charset="0"/>
                <a:cs typeface="Times New Roman" charset="0"/>
              </a:rPr>
              <a:t>Preferred Reporting Items for Systematic Reviews and Meta-Analyses (PRISMA):</a:t>
            </a:r>
            <a:endParaRPr lang="en-US" sz="1200" b="1" i="1" dirty="0">
              <a:solidFill>
                <a:srgbClr val="007F50"/>
              </a:solidFill>
              <a:effectLst/>
              <a:latin typeface="Times New Roman" charset="0"/>
              <a:ea typeface="Times New Roman" charset="0"/>
              <a:cs typeface="Times New Roman" charset="0"/>
            </a:endParaRPr>
          </a:p>
        </p:txBody>
      </p:sp>
      <p:sp>
        <p:nvSpPr>
          <p:cNvPr id="8" name="TextBox 7"/>
          <p:cNvSpPr txBox="1"/>
          <p:nvPr/>
        </p:nvSpPr>
        <p:spPr>
          <a:xfrm>
            <a:off x="3214731" y="4785813"/>
            <a:ext cx="1164101" cy="415498"/>
          </a:xfrm>
          <a:prstGeom prst="rect">
            <a:avLst/>
          </a:prstGeom>
          <a:noFill/>
        </p:spPr>
        <p:txBody>
          <a:bodyPr wrap="none" rtlCol="0">
            <a:spAutoFit/>
          </a:bodyPr>
          <a:lstStyle/>
          <a:p>
            <a:r>
              <a:rPr lang="en-US" sz="1050" b="1" i="1">
                <a:solidFill>
                  <a:srgbClr val="C00000"/>
                </a:solidFill>
                <a:latin typeface="Times New Roman" charset="0"/>
                <a:ea typeface="Times New Roman" charset="0"/>
                <a:cs typeface="Times New Roman" charset="0"/>
              </a:rPr>
              <a:t>* Not Needed for </a:t>
            </a:r>
          </a:p>
          <a:p>
            <a:r>
              <a:rPr lang="en-US" sz="1050" b="1" i="1" dirty="0">
                <a:solidFill>
                  <a:srgbClr val="C00000"/>
                </a:solidFill>
                <a:latin typeface="Times New Roman" charset="0"/>
                <a:ea typeface="Times New Roman" charset="0"/>
                <a:cs typeface="Times New Roman" charset="0"/>
              </a:rPr>
              <a:t>Meta-Analysis</a:t>
            </a:r>
          </a:p>
        </p:txBody>
      </p:sp>
    </p:spTree>
    <p:extLst>
      <p:ext uri="{BB962C8B-B14F-4D97-AF65-F5344CB8AC3E}">
        <p14:creationId xmlns:p14="http://schemas.microsoft.com/office/powerpoint/2010/main" val="516586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Data</a:t>
            </a:r>
          </a:p>
        </p:txBody>
      </p:sp>
      <p:sp>
        <p:nvSpPr>
          <p:cNvPr id="3" name="Content Placeholder 2"/>
          <p:cNvSpPr>
            <a:spLocks noGrp="1"/>
          </p:cNvSpPr>
          <p:nvPr>
            <p:ph idx="1"/>
          </p:nvPr>
        </p:nvSpPr>
        <p:spPr>
          <a:xfrm>
            <a:off x="190127" y="1047387"/>
            <a:ext cx="8799968" cy="5281804"/>
          </a:xfrm>
        </p:spPr>
        <p:txBody>
          <a:bodyPr>
            <a:normAutofit fontScale="92500" lnSpcReduction="20000"/>
          </a:bodyPr>
          <a:lstStyle/>
          <a:p>
            <a:pPr marL="0" indent="0" algn="ctr">
              <a:lnSpc>
                <a:spcPct val="120000"/>
              </a:lnSpc>
              <a:buNone/>
            </a:pPr>
            <a:r>
              <a:rPr lang="en-US" sz="2800" b="1" u="sng" dirty="0">
                <a:solidFill>
                  <a:srgbClr val="C00000"/>
                </a:solidFill>
              </a:rPr>
              <a:t>What to code is an important decision</a:t>
            </a:r>
            <a:r>
              <a:rPr lang="mr-IN" sz="2800" b="1" u="sng" dirty="0">
                <a:solidFill>
                  <a:srgbClr val="C00000"/>
                </a:solidFill>
              </a:rPr>
              <a:t>…</a:t>
            </a:r>
            <a:endParaRPr lang="en-US" sz="2800" b="1" u="sng" dirty="0">
              <a:solidFill>
                <a:srgbClr val="C00000"/>
              </a:solidFill>
            </a:endParaRPr>
          </a:p>
          <a:p>
            <a:pPr lvl="2">
              <a:lnSpc>
                <a:spcPct val="120000"/>
              </a:lnSpc>
            </a:pPr>
            <a:endParaRPr lang="en-US" dirty="0"/>
          </a:p>
          <a:p>
            <a:pPr lvl="1">
              <a:lnSpc>
                <a:spcPct val="120000"/>
              </a:lnSpc>
            </a:pPr>
            <a:r>
              <a:rPr lang="en-US" dirty="0"/>
              <a:t>Effect Sizes.</a:t>
            </a:r>
          </a:p>
          <a:p>
            <a:pPr lvl="2">
              <a:lnSpc>
                <a:spcPct val="120000"/>
              </a:lnSpc>
            </a:pPr>
            <a:r>
              <a:rPr lang="en-US" dirty="0"/>
              <a:t>Depends on Problem Definition.</a:t>
            </a:r>
          </a:p>
          <a:p>
            <a:pPr lvl="2"/>
            <a:r>
              <a:rPr lang="en-US" altLang="x-none" dirty="0"/>
              <a:t>Sample Size for the effect size.</a:t>
            </a:r>
          </a:p>
          <a:p>
            <a:pPr lvl="2"/>
            <a:r>
              <a:rPr lang="en-US" altLang="x-none" dirty="0"/>
              <a:t>Reliability of Constructs used for the effect size.</a:t>
            </a:r>
          </a:p>
          <a:p>
            <a:pPr lvl="3"/>
            <a:r>
              <a:rPr lang="en-US" altLang="x-none" dirty="0"/>
              <a:t>E.g., Cronbach’s Alpha.</a:t>
            </a:r>
          </a:p>
          <a:p>
            <a:pPr lvl="3"/>
            <a:endParaRPr lang="en-US" dirty="0"/>
          </a:p>
          <a:p>
            <a:pPr lvl="1">
              <a:lnSpc>
                <a:spcPct val="120000"/>
              </a:lnSpc>
            </a:pPr>
            <a:r>
              <a:rPr lang="en-US" dirty="0"/>
              <a:t>Potential Moderators.</a:t>
            </a:r>
          </a:p>
          <a:p>
            <a:pPr lvl="2">
              <a:lnSpc>
                <a:spcPct val="120000"/>
              </a:lnSpc>
            </a:pPr>
            <a:r>
              <a:rPr lang="en-US" dirty="0"/>
              <a:t>Code everything that might explain variation in findings</a:t>
            </a:r>
          </a:p>
          <a:p>
            <a:pPr lvl="3">
              <a:lnSpc>
                <a:spcPct val="120000"/>
              </a:lnSpc>
            </a:pPr>
            <a:r>
              <a:rPr lang="en-US" sz="1800" dirty="0"/>
              <a:t>Methodological Differences</a:t>
            </a:r>
          </a:p>
          <a:p>
            <a:pPr lvl="4">
              <a:lnSpc>
                <a:spcPct val="120000"/>
              </a:lnSpc>
            </a:pPr>
            <a:r>
              <a:rPr lang="en-US" sz="1800" dirty="0"/>
              <a:t>E.g., Variations in Measures and Operationalization; Survey vs. Panel data.</a:t>
            </a:r>
          </a:p>
          <a:p>
            <a:pPr lvl="3">
              <a:lnSpc>
                <a:spcPct val="120000"/>
              </a:lnSpc>
            </a:pPr>
            <a:r>
              <a:rPr lang="en-US" sz="1800" dirty="0"/>
              <a:t>Study Characteristics</a:t>
            </a:r>
          </a:p>
          <a:p>
            <a:pPr lvl="4">
              <a:lnSpc>
                <a:spcPct val="120000"/>
              </a:lnSpc>
            </a:pPr>
            <a:r>
              <a:rPr lang="en-US" sz="1800" dirty="0"/>
              <a:t>E.g., Contextual Differences; Quality; Characteristics of the Sample.</a:t>
            </a:r>
          </a:p>
          <a:p>
            <a:pPr lvl="3">
              <a:lnSpc>
                <a:spcPct val="120000"/>
              </a:lnSpc>
            </a:pPr>
            <a:r>
              <a:rPr lang="en-US" sz="1800" dirty="0"/>
              <a:t>Theoretical Differences Across Studies</a:t>
            </a:r>
          </a:p>
          <a:p>
            <a:pPr lvl="4">
              <a:lnSpc>
                <a:spcPct val="120000"/>
              </a:lnSpc>
            </a:pPr>
            <a:r>
              <a:rPr lang="en-US" sz="1800" dirty="0"/>
              <a:t>E.g., Firm Size; Pre-adoption vs. Post-adoption Studies.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18</a:t>
            </a:fld>
            <a:endParaRPr lang="en-US"/>
          </a:p>
        </p:txBody>
      </p:sp>
    </p:spTree>
    <p:extLst>
      <p:ext uri="{BB962C8B-B14F-4D97-AF65-F5344CB8AC3E}">
        <p14:creationId xmlns:p14="http://schemas.microsoft.com/office/powerpoint/2010/main" val="1072145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Effect Size (ES): </a:t>
            </a:r>
            <a:br>
              <a:rPr lang="en-US" sz="2800" dirty="0"/>
            </a:br>
            <a:r>
              <a:rPr lang="en-US" sz="1800" dirty="0"/>
              <a:t>The Key to Meta-Analysis</a:t>
            </a:r>
          </a:p>
        </p:txBody>
      </p:sp>
      <p:sp>
        <p:nvSpPr>
          <p:cNvPr id="3" name="Content Placeholder 2"/>
          <p:cNvSpPr>
            <a:spLocks noGrp="1"/>
          </p:cNvSpPr>
          <p:nvPr>
            <p:ph idx="1"/>
          </p:nvPr>
        </p:nvSpPr>
        <p:spPr/>
        <p:txBody>
          <a:bodyPr>
            <a:normAutofit fontScale="92500"/>
          </a:bodyPr>
          <a:lstStyle/>
          <a:p>
            <a:pPr algn="just"/>
            <a:r>
              <a:rPr lang="en-US" dirty="0"/>
              <a:t>An effect size (ES) is a measure of the magnitude and direction of a relationship between two variables or a contrast between groups.</a:t>
            </a:r>
          </a:p>
          <a:p>
            <a:pPr lvl="1"/>
            <a:r>
              <a:rPr lang="en-US" dirty="0"/>
              <a:t>It is the “</a:t>
            </a:r>
            <a:r>
              <a:rPr lang="en-US" b="1" dirty="0">
                <a:solidFill>
                  <a:srgbClr val="C00000"/>
                </a:solidFill>
              </a:rPr>
              <a:t>dependent variable</a:t>
            </a:r>
            <a:r>
              <a:rPr lang="en-US" dirty="0"/>
              <a:t>” in meta-analysis.</a:t>
            </a:r>
          </a:p>
          <a:p>
            <a:pPr lvl="1"/>
            <a:r>
              <a:rPr lang="en-US" dirty="0"/>
              <a:t>The ES encodes the selected research findings on a </a:t>
            </a:r>
            <a:r>
              <a:rPr lang="en-US" b="1" dirty="0">
                <a:solidFill>
                  <a:srgbClr val="C00000"/>
                </a:solidFill>
              </a:rPr>
              <a:t>numeric scale</a:t>
            </a:r>
            <a:r>
              <a:rPr lang="en-US" dirty="0"/>
              <a:t>.</a:t>
            </a:r>
          </a:p>
          <a:p>
            <a:pPr lvl="1"/>
            <a:endParaRPr lang="en-US" dirty="0"/>
          </a:p>
          <a:p>
            <a:r>
              <a:rPr lang="en-US" dirty="0"/>
              <a:t>An ES should be:</a:t>
            </a:r>
          </a:p>
          <a:p>
            <a:pPr lvl="1" algn="just"/>
            <a:r>
              <a:rPr lang="en-GB" altLang="x-none" b="1" dirty="0">
                <a:solidFill>
                  <a:srgbClr val="C00000"/>
                </a:solidFill>
              </a:rPr>
              <a:t>Comparable</a:t>
            </a:r>
            <a:r>
              <a:rPr lang="en-GB" altLang="x-none" dirty="0"/>
              <a:t> across studies (generally requires standardization across studies).</a:t>
            </a:r>
          </a:p>
          <a:p>
            <a:pPr lvl="1"/>
            <a:r>
              <a:rPr lang="en-GB" altLang="x-none" b="1" dirty="0">
                <a:solidFill>
                  <a:srgbClr val="C00000"/>
                </a:solidFill>
              </a:rPr>
              <a:t>Independent of sample size</a:t>
            </a:r>
            <a:r>
              <a:rPr lang="en-GB" altLang="x-none" dirty="0"/>
              <a:t>.</a:t>
            </a:r>
          </a:p>
          <a:p>
            <a:pPr lvl="1"/>
            <a:endParaRPr lang="en-GB" altLang="x-none" dirty="0"/>
          </a:p>
          <a:p>
            <a:pPr algn="just"/>
            <a:r>
              <a:rPr lang="en-GB" altLang="x-none" dirty="0"/>
              <a:t>Different meta-analyses use different effect size indices depending on their objectives.</a:t>
            </a:r>
          </a:p>
          <a:p>
            <a:pPr lvl="1" algn="just"/>
            <a:r>
              <a:rPr lang="en-GB" altLang="x-none" dirty="0"/>
              <a:t>Each ES type may also have different methods of computation.</a:t>
            </a:r>
          </a:p>
          <a:p>
            <a:pPr lvl="1"/>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dirty="0"/>
              <a:t>Qahri-Saremi &amp; Sharma, AMCIS 2017</a:t>
            </a:r>
          </a:p>
        </p:txBody>
      </p:sp>
      <p:sp>
        <p:nvSpPr>
          <p:cNvPr id="5" name="Slide Number Placeholder 4"/>
          <p:cNvSpPr>
            <a:spLocks noGrp="1"/>
          </p:cNvSpPr>
          <p:nvPr>
            <p:ph type="sldNum" sz="quarter" idx="12"/>
          </p:nvPr>
        </p:nvSpPr>
        <p:spPr/>
        <p:txBody>
          <a:bodyPr/>
          <a:lstStyle/>
          <a:p>
            <a:fld id="{9E0F272A-0FC0-1943-B826-E8D4777EEB37}" type="slidenum">
              <a:rPr lang="en-US" smtClean="0"/>
              <a:t>19</a:t>
            </a:fld>
            <a:endParaRPr lang="en-US"/>
          </a:p>
        </p:txBody>
      </p:sp>
    </p:spTree>
    <p:extLst>
      <p:ext uri="{BB962C8B-B14F-4D97-AF65-F5344CB8AC3E}">
        <p14:creationId xmlns:p14="http://schemas.microsoft.com/office/powerpoint/2010/main" val="1093925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dirty="0"/>
              <a:t>Qahri-Saremi &amp; Sharma, AMCIS 2017</a:t>
            </a:r>
          </a:p>
        </p:txBody>
      </p:sp>
      <p:sp>
        <p:nvSpPr>
          <p:cNvPr id="7" name="Slide Number Placeholder 5"/>
          <p:cNvSpPr>
            <a:spLocks noGrp="1"/>
          </p:cNvSpPr>
          <p:nvPr>
            <p:ph type="sldNum" sz="quarter" idx="12"/>
          </p:nvPr>
        </p:nvSpPr>
        <p:spPr/>
        <p:txBody>
          <a:bodyPr/>
          <a:lstStyle/>
          <a:p>
            <a:fld id="{F09F73B2-5AB0-EB44-A94D-5669E39C824C}" type="slidenum">
              <a:rPr lang="en-US" altLang="en-US"/>
              <a:pPr/>
              <a:t>20</a:t>
            </a:fld>
            <a:endParaRPr lang="en-US" altLang="en-US"/>
          </a:p>
        </p:txBody>
      </p:sp>
      <p:sp>
        <p:nvSpPr>
          <p:cNvPr id="8194" name="Rectangle 2"/>
          <p:cNvSpPr>
            <a:spLocks noGrp="1" noChangeArrowheads="1"/>
          </p:cNvSpPr>
          <p:nvPr>
            <p:ph type="title"/>
          </p:nvPr>
        </p:nvSpPr>
        <p:spPr/>
        <p:txBody>
          <a:bodyPr>
            <a:normAutofit fontScale="90000"/>
          </a:bodyPr>
          <a:lstStyle/>
          <a:p>
            <a:r>
              <a:rPr lang="en-US" sz="2700" dirty="0"/>
              <a:t>Effect Size (ES): </a:t>
            </a:r>
            <a:br>
              <a:rPr lang="en-US" sz="2200" dirty="0"/>
            </a:br>
            <a:r>
              <a:rPr lang="en-US" altLang="x-none" sz="3100" dirty="0"/>
              <a:t>The Correlation Coefficient</a:t>
            </a:r>
          </a:p>
        </p:txBody>
      </p:sp>
      <p:sp>
        <p:nvSpPr>
          <p:cNvPr id="8195" name="Rectangle 3"/>
          <p:cNvSpPr>
            <a:spLocks noGrp="1" noChangeArrowheads="1"/>
          </p:cNvSpPr>
          <p:nvPr>
            <p:ph type="body" idx="1"/>
          </p:nvPr>
        </p:nvSpPr>
        <p:spPr>
          <a:xfrm>
            <a:off x="267419" y="2612554"/>
            <a:ext cx="8419381" cy="2735823"/>
          </a:xfrm>
        </p:spPr>
        <p:txBody>
          <a:bodyPr/>
          <a:lstStyle/>
          <a:p>
            <a:r>
              <a:rPr lang="en-US" altLang="x-none" dirty="0"/>
              <a:t>Represents the </a:t>
            </a:r>
            <a:r>
              <a:rPr lang="en-US" altLang="x-none" dirty="0">
                <a:solidFill>
                  <a:srgbClr val="FF0000"/>
                </a:solidFill>
              </a:rPr>
              <a:t>magnitude and direction of association </a:t>
            </a:r>
            <a:r>
              <a:rPr lang="en-US" altLang="x-none" dirty="0"/>
              <a:t>between two variables.</a:t>
            </a:r>
          </a:p>
          <a:p>
            <a:endParaRPr lang="en-US" altLang="x-none" dirty="0"/>
          </a:p>
          <a:p>
            <a:r>
              <a:rPr lang="en-US" altLang="x-none" dirty="0"/>
              <a:t>Generally reported directly as “r” (the Pearson correlation coefficient)</a:t>
            </a:r>
          </a:p>
        </p:txBody>
      </p:sp>
      <p:graphicFrame>
        <p:nvGraphicFramePr>
          <p:cNvPr id="8196" name="Object 4"/>
          <p:cNvGraphicFramePr>
            <a:graphicFrameLocks noChangeAspect="1"/>
          </p:cNvGraphicFramePr>
          <p:nvPr>
            <p:extLst>
              <p:ext uri="{D42A27DB-BD31-4B8C-83A1-F6EECF244321}">
                <p14:modId xmlns:p14="http://schemas.microsoft.com/office/powerpoint/2010/main" val="1943924051"/>
              </p:ext>
            </p:extLst>
          </p:nvPr>
        </p:nvGraphicFramePr>
        <p:xfrm>
          <a:off x="3652089" y="1449567"/>
          <a:ext cx="1839821" cy="710841"/>
        </p:xfrm>
        <a:graphic>
          <a:graphicData uri="http://schemas.openxmlformats.org/presentationml/2006/ole">
            <mc:AlternateContent xmlns:mc="http://schemas.openxmlformats.org/markup-compatibility/2006">
              <mc:Choice xmlns:v="urn:schemas-microsoft-com:vml" Requires="v">
                <p:oleObj spid="_x0000_s2911" name="Equation" r:id="rId3" imgW="457200" imgH="177480" progId="Equation.3">
                  <p:embed/>
                </p:oleObj>
              </mc:Choice>
              <mc:Fallback>
                <p:oleObj name="Equation" r:id="rId3" imgW="45720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2089" y="1449567"/>
                        <a:ext cx="1839821" cy="710841"/>
                      </a:xfrm>
                      <a:prstGeom prst="rect">
                        <a:avLst/>
                      </a:prstGeom>
                      <a:noFill/>
                      <a:ln>
                        <a:noFill/>
                      </a:ln>
                      <a:effectLst/>
                    </p:spPr>
                  </p:pic>
                </p:oleObj>
              </mc:Fallback>
            </mc:AlternateContent>
          </a:graphicData>
        </a:graphic>
      </p:graphicFrame>
      <p:sp>
        <p:nvSpPr>
          <p:cNvPr id="8" name="Rectangle 7"/>
          <p:cNvSpPr/>
          <p:nvPr/>
        </p:nvSpPr>
        <p:spPr>
          <a:xfrm>
            <a:off x="6830577" y="6079351"/>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Tree>
    <p:extLst>
      <p:ext uri="{BB962C8B-B14F-4D97-AF65-F5344CB8AC3E}">
        <p14:creationId xmlns:p14="http://schemas.microsoft.com/office/powerpoint/2010/main" val="1377647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Qahri-Saremi &amp; Sharma, AMCIS 2017</a:t>
            </a:r>
          </a:p>
        </p:txBody>
      </p:sp>
      <p:sp>
        <p:nvSpPr>
          <p:cNvPr id="8" name="Slide Number Placeholder 5"/>
          <p:cNvSpPr>
            <a:spLocks noGrp="1"/>
          </p:cNvSpPr>
          <p:nvPr>
            <p:ph type="sldNum" sz="quarter" idx="12"/>
          </p:nvPr>
        </p:nvSpPr>
        <p:spPr/>
        <p:txBody>
          <a:bodyPr/>
          <a:lstStyle/>
          <a:p>
            <a:fld id="{23697208-6579-1E45-A173-16E03B4B3D9F}" type="slidenum">
              <a:rPr lang="en-US" altLang="en-US"/>
              <a:pPr/>
              <a:t>21</a:t>
            </a:fld>
            <a:endParaRPr lang="en-US" altLang="en-US"/>
          </a:p>
        </p:txBody>
      </p:sp>
      <p:sp>
        <p:nvSpPr>
          <p:cNvPr id="7170" name="Rectangle 2"/>
          <p:cNvSpPr>
            <a:spLocks noGrp="1" noChangeArrowheads="1"/>
          </p:cNvSpPr>
          <p:nvPr>
            <p:ph type="title"/>
          </p:nvPr>
        </p:nvSpPr>
        <p:spPr/>
        <p:txBody>
          <a:bodyPr>
            <a:normAutofit fontScale="90000"/>
          </a:bodyPr>
          <a:lstStyle/>
          <a:p>
            <a:r>
              <a:rPr lang="en-US" sz="2700" dirty="0"/>
              <a:t>Effect Size (ES): </a:t>
            </a:r>
            <a:br>
              <a:rPr lang="en-US" sz="2200" dirty="0"/>
            </a:br>
            <a:r>
              <a:rPr lang="en-US" altLang="x-none" dirty="0"/>
              <a:t>The Standardized Mean Difference</a:t>
            </a:r>
          </a:p>
        </p:txBody>
      </p:sp>
      <p:sp>
        <p:nvSpPr>
          <p:cNvPr id="7171" name="Rectangle 3"/>
          <p:cNvSpPr>
            <a:spLocks noGrp="1" noChangeArrowheads="1"/>
          </p:cNvSpPr>
          <p:nvPr>
            <p:ph type="body" idx="1"/>
          </p:nvPr>
        </p:nvSpPr>
        <p:spPr>
          <a:xfrm>
            <a:off x="457200" y="2943225"/>
            <a:ext cx="8229600" cy="3187700"/>
          </a:xfrm>
        </p:spPr>
        <p:txBody>
          <a:bodyPr>
            <a:normAutofit/>
          </a:bodyPr>
          <a:lstStyle/>
          <a:p>
            <a:r>
              <a:rPr lang="en-US" altLang="x-none" dirty="0"/>
              <a:t>Represents a </a:t>
            </a:r>
            <a:r>
              <a:rPr lang="en-US" altLang="x-none" dirty="0">
                <a:solidFill>
                  <a:srgbClr val="FF0000"/>
                </a:solidFill>
              </a:rPr>
              <a:t>standardized group contrast </a:t>
            </a:r>
            <a:r>
              <a:rPr lang="en-US" altLang="x-none" dirty="0"/>
              <a:t>on an </a:t>
            </a:r>
            <a:r>
              <a:rPr lang="en-US" altLang="x-none" i="1" dirty="0"/>
              <a:t>inherently continuous</a:t>
            </a:r>
            <a:r>
              <a:rPr lang="en-US" altLang="x-none" dirty="0"/>
              <a:t> measure.</a:t>
            </a:r>
          </a:p>
          <a:p>
            <a:endParaRPr lang="en-US" altLang="x-none" dirty="0"/>
          </a:p>
          <a:p>
            <a:r>
              <a:rPr lang="en-US" altLang="x-none" dirty="0"/>
              <a:t>Uses the pooled standard deviation (some situations use control group standard deviation).</a:t>
            </a:r>
          </a:p>
          <a:p>
            <a:pPr lvl="1"/>
            <a:r>
              <a:rPr lang="en-US" altLang="x-none" dirty="0"/>
              <a:t>Cohen’s d.</a:t>
            </a:r>
          </a:p>
          <a:p>
            <a:pPr lvl="1"/>
            <a:r>
              <a:rPr lang="en-US" altLang="x-none" dirty="0"/>
              <a:t>Hedge’s g.</a:t>
            </a:r>
          </a:p>
        </p:txBody>
      </p:sp>
      <p:graphicFrame>
        <p:nvGraphicFramePr>
          <p:cNvPr id="7173" name="Object 5"/>
          <p:cNvGraphicFramePr>
            <a:graphicFrameLocks noChangeAspect="1"/>
          </p:cNvGraphicFramePr>
          <p:nvPr>
            <p:extLst>
              <p:ext uri="{D42A27DB-BD31-4B8C-83A1-F6EECF244321}">
                <p14:modId xmlns:p14="http://schemas.microsoft.com/office/powerpoint/2010/main" val="1366371833"/>
              </p:ext>
            </p:extLst>
          </p:nvPr>
        </p:nvGraphicFramePr>
        <p:xfrm>
          <a:off x="4217183" y="1403650"/>
          <a:ext cx="4177892" cy="1088048"/>
        </p:xfrm>
        <a:graphic>
          <a:graphicData uri="http://schemas.openxmlformats.org/presentationml/2006/ole">
            <mc:AlternateContent xmlns:mc="http://schemas.openxmlformats.org/markup-compatibility/2006">
              <mc:Choice xmlns:v="urn:schemas-microsoft-com:vml" Requires="v">
                <p:oleObj spid="_x0000_s55995" name="Equation" r:id="rId3" imgW="1892160" imgH="495000" progId="Equation.3">
                  <p:embed/>
                </p:oleObj>
              </mc:Choice>
              <mc:Fallback>
                <p:oleObj name="Equation" r:id="rId3" imgW="1892160" imgH="495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7183" y="1403650"/>
                        <a:ext cx="4177892" cy="1088048"/>
                      </a:xfrm>
                      <a:prstGeom prst="rect">
                        <a:avLst/>
                      </a:prstGeom>
                      <a:noFill/>
                      <a:ln>
                        <a:noFill/>
                      </a:ln>
                      <a:effectLst/>
                    </p:spPr>
                  </p:pic>
                </p:oleObj>
              </mc:Fallback>
            </mc:AlternateContent>
          </a:graphicData>
        </a:graphic>
      </p:graphicFrame>
      <p:grpSp>
        <p:nvGrpSpPr>
          <p:cNvPr id="2" name="Group 1"/>
          <p:cNvGrpSpPr/>
          <p:nvPr/>
        </p:nvGrpSpPr>
        <p:grpSpPr>
          <a:xfrm>
            <a:off x="752025" y="1403650"/>
            <a:ext cx="2372175" cy="1088048"/>
            <a:chOff x="790088" y="1571147"/>
            <a:chExt cx="2071688" cy="909638"/>
          </a:xfrm>
        </p:grpSpPr>
        <p:graphicFrame>
          <p:nvGraphicFramePr>
            <p:cNvPr id="7172" name="Object 4"/>
            <p:cNvGraphicFramePr>
              <a:graphicFrameLocks noChangeAspect="1"/>
            </p:cNvGraphicFramePr>
            <p:nvPr>
              <p:extLst>
                <p:ext uri="{D42A27DB-BD31-4B8C-83A1-F6EECF244321}">
                  <p14:modId xmlns:p14="http://schemas.microsoft.com/office/powerpoint/2010/main" val="1708002216"/>
                </p:ext>
              </p:extLst>
            </p:nvPr>
          </p:nvGraphicFramePr>
          <p:xfrm>
            <a:off x="790088" y="1571147"/>
            <a:ext cx="2071688" cy="909638"/>
          </p:xfrm>
          <a:graphic>
            <a:graphicData uri="http://schemas.openxmlformats.org/presentationml/2006/ole">
              <mc:AlternateContent xmlns:mc="http://schemas.openxmlformats.org/markup-compatibility/2006">
                <mc:Choice xmlns:v="urn:schemas-microsoft-com:vml" Requires="v">
                  <p:oleObj spid="_x0000_s55996" name="Equation" r:id="rId5" imgW="1041120" imgH="457200" progId="Equation.3">
                    <p:embed/>
                  </p:oleObj>
                </mc:Choice>
                <mc:Fallback>
                  <p:oleObj name="Equation" r:id="rId5" imgW="104112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088" y="1571147"/>
                          <a:ext cx="2071688" cy="909638"/>
                        </a:xfrm>
                        <a:prstGeom prst="rect">
                          <a:avLst/>
                        </a:prstGeom>
                        <a:noFill/>
                        <a:ln>
                          <a:noFill/>
                        </a:ln>
                        <a:effectLst/>
                      </p:spPr>
                    </p:pic>
                  </p:oleObj>
                </mc:Fallback>
              </mc:AlternateContent>
            </a:graphicData>
          </a:graphic>
        </p:graphicFrame>
        <p:sp>
          <p:nvSpPr>
            <p:cNvPr id="7174" name="Rectangle 6"/>
            <p:cNvSpPr>
              <a:spLocks noChangeArrowheads="1"/>
            </p:cNvSpPr>
            <p:nvPr/>
          </p:nvSpPr>
          <p:spPr bwMode="auto">
            <a:xfrm>
              <a:off x="790088" y="1698450"/>
              <a:ext cx="533400" cy="15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9" name="Rectangle 8"/>
          <p:cNvSpPr/>
          <p:nvPr/>
        </p:nvSpPr>
        <p:spPr>
          <a:xfrm>
            <a:off x="6830577" y="6079351"/>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Tree>
    <p:extLst>
      <p:ext uri="{BB962C8B-B14F-4D97-AF65-F5344CB8AC3E}">
        <p14:creationId xmlns:p14="http://schemas.microsoft.com/office/powerpoint/2010/main" val="117252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Qahri-Saremi &amp; Sharma, AMCIS 2017</a:t>
            </a:r>
          </a:p>
        </p:txBody>
      </p:sp>
      <p:sp>
        <p:nvSpPr>
          <p:cNvPr id="9" name="Slide Number Placeholder 5"/>
          <p:cNvSpPr>
            <a:spLocks noGrp="1"/>
          </p:cNvSpPr>
          <p:nvPr>
            <p:ph type="sldNum" sz="quarter" idx="12"/>
          </p:nvPr>
        </p:nvSpPr>
        <p:spPr/>
        <p:txBody>
          <a:bodyPr/>
          <a:lstStyle/>
          <a:p>
            <a:fld id="{989B79D4-33F8-3F49-BDBF-6DD55C2040F5}" type="slidenum">
              <a:rPr lang="en-US" altLang="en-US"/>
              <a:pPr/>
              <a:t>22</a:t>
            </a:fld>
            <a:endParaRPr lang="en-US" altLang="en-US"/>
          </a:p>
        </p:txBody>
      </p:sp>
      <p:sp>
        <p:nvSpPr>
          <p:cNvPr id="25602" name="Rectangle 2"/>
          <p:cNvSpPr>
            <a:spLocks noGrp="1" noChangeArrowheads="1"/>
          </p:cNvSpPr>
          <p:nvPr>
            <p:ph type="title"/>
          </p:nvPr>
        </p:nvSpPr>
        <p:spPr/>
        <p:txBody>
          <a:bodyPr>
            <a:normAutofit fontScale="90000"/>
          </a:bodyPr>
          <a:lstStyle/>
          <a:p>
            <a:r>
              <a:rPr lang="en-US" sz="2700" dirty="0"/>
              <a:t>Effect Size (ES): </a:t>
            </a:r>
            <a:br>
              <a:rPr lang="en-US" altLang="x-none" sz="2700" dirty="0"/>
            </a:br>
            <a:r>
              <a:rPr lang="en-US" altLang="x-none" dirty="0"/>
              <a:t>The Odds-Ratio</a:t>
            </a:r>
          </a:p>
        </p:txBody>
      </p:sp>
      <p:sp>
        <p:nvSpPr>
          <p:cNvPr id="25603" name="Rectangle 3"/>
          <p:cNvSpPr>
            <a:spLocks noGrp="1" noChangeArrowheads="1"/>
          </p:cNvSpPr>
          <p:nvPr>
            <p:ph type="body" idx="1"/>
          </p:nvPr>
        </p:nvSpPr>
        <p:spPr>
          <a:xfrm>
            <a:off x="457201" y="1147865"/>
            <a:ext cx="8117456" cy="2028151"/>
          </a:xfrm>
        </p:spPr>
        <p:txBody>
          <a:bodyPr>
            <a:noAutofit/>
          </a:bodyPr>
          <a:lstStyle/>
          <a:p>
            <a:r>
              <a:rPr lang="en-US" altLang="x-none" sz="2000" dirty="0"/>
              <a:t>Represents a </a:t>
            </a:r>
            <a:r>
              <a:rPr lang="en-US" altLang="x-none" sz="2000" dirty="0">
                <a:solidFill>
                  <a:srgbClr val="FF0000"/>
                </a:solidFill>
              </a:rPr>
              <a:t>group contrast </a:t>
            </a:r>
            <a:r>
              <a:rPr lang="en-US" altLang="x-none" sz="2000" dirty="0"/>
              <a:t>on an </a:t>
            </a:r>
            <a:r>
              <a:rPr lang="en-US" altLang="x-none" sz="2000" i="1" dirty="0"/>
              <a:t>inherently dichotomized</a:t>
            </a:r>
            <a:r>
              <a:rPr lang="en-US" altLang="x-none" sz="2000" dirty="0"/>
              <a:t> measure.</a:t>
            </a:r>
          </a:p>
          <a:p>
            <a:r>
              <a:rPr lang="en-US" altLang="x-none" sz="2000" dirty="0"/>
              <a:t>The odds-ratio is based on a 2 x 2 contingency table:</a:t>
            </a:r>
          </a:p>
          <a:p>
            <a:pPr lvl="1"/>
            <a:r>
              <a:rPr lang="en-US" altLang="x-none" sz="1800" dirty="0"/>
              <a:t>The odds of success in the treatment group relative to the odds of success in the control group.</a:t>
            </a:r>
          </a:p>
        </p:txBody>
      </p:sp>
      <p:graphicFrame>
        <p:nvGraphicFramePr>
          <p:cNvPr id="25605" name="Object 5"/>
          <p:cNvGraphicFramePr>
            <a:graphicFrameLocks noChangeAspect="1"/>
          </p:cNvGraphicFramePr>
          <p:nvPr>
            <p:extLst>
              <p:ext uri="{D42A27DB-BD31-4B8C-83A1-F6EECF244321}">
                <p14:modId xmlns:p14="http://schemas.microsoft.com/office/powerpoint/2010/main" val="293811728"/>
              </p:ext>
            </p:extLst>
          </p:nvPr>
        </p:nvGraphicFramePr>
        <p:xfrm>
          <a:off x="1045234" y="4270713"/>
          <a:ext cx="4652963" cy="1538288"/>
        </p:xfrm>
        <a:graphic>
          <a:graphicData uri="http://schemas.openxmlformats.org/presentationml/2006/ole">
            <mc:AlternateContent xmlns:mc="http://schemas.openxmlformats.org/markup-compatibility/2006">
              <mc:Choice xmlns:v="urn:schemas-microsoft-com:vml" Requires="v">
                <p:oleObj spid="_x0000_s3947" name="Document" r:id="rId3" imgW="3724200" imgH="1285920" progId="WP8Doc">
                  <p:embed/>
                </p:oleObj>
              </mc:Choice>
              <mc:Fallback>
                <p:oleObj name="Document" r:id="rId3" imgW="3724200" imgH="1285920" progId="WP8Doc">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234" y="4270713"/>
                        <a:ext cx="4652963" cy="1538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0" name="Rectangle 9"/>
          <p:cNvSpPr/>
          <p:nvPr/>
        </p:nvSpPr>
        <p:spPr>
          <a:xfrm>
            <a:off x="6830577" y="5820559"/>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grpSp>
        <p:nvGrpSpPr>
          <p:cNvPr id="5" name="Group 4"/>
          <p:cNvGrpSpPr/>
          <p:nvPr/>
        </p:nvGrpSpPr>
        <p:grpSpPr>
          <a:xfrm>
            <a:off x="6553200" y="4270713"/>
            <a:ext cx="1936630" cy="785411"/>
            <a:chOff x="6232585" y="2968002"/>
            <a:chExt cx="1936630" cy="785411"/>
          </a:xfrm>
        </p:grpSpPr>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2585" y="2968002"/>
              <a:ext cx="1936630" cy="785411"/>
            </a:xfrm>
            <a:prstGeom prst="rect">
              <a:avLst/>
            </a:prstGeom>
          </p:spPr>
        </p:pic>
        <p:sp>
          <p:nvSpPr>
            <p:cNvPr id="4" name="TextBox 3"/>
            <p:cNvSpPr txBox="1"/>
            <p:nvPr/>
          </p:nvSpPr>
          <p:spPr>
            <a:xfrm>
              <a:off x="6234550" y="3118446"/>
              <a:ext cx="604653" cy="523220"/>
            </a:xfrm>
            <a:prstGeom prst="rect">
              <a:avLst/>
            </a:prstGeom>
            <a:solidFill>
              <a:srgbClr val="F2F3F2"/>
            </a:solidFill>
          </p:spPr>
          <p:txBody>
            <a:bodyPr wrap="none" rtlCol="0">
              <a:spAutoFit/>
            </a:bodyPr>
            <a:lstStyle/>
            <a:p>
              <a:r>
                <a:rPr lang="en-US" sz="2700">
                  <a:latin typeface="Times New Roman" charset="0"/>
                  <a:ea typeface="Times New Roman" charset="0"/>
                  <a:cs typeface="Times New Roman" charset="0"/>
                </a:rPr>
                <a:t>ES</a:t>
              </a:r>
            </a:p>
          </p:txBody>
        </p:sp>
      </p:grpSp>
      <p:sp>
        <p:nvSpPr>
          <p:cNvPr id="6" name="Rounded Rectangular Callout 5"/>
          <p:cNvSpPr/>
          <p:nvPr/>
        </p:nvSpPr>
        <p:spPr>
          <a:xfrm>
            <a:off x="2947359" y="3434808"/>
            <a:ext cx="1568570" cy="612648"/>
          </a:xfrm>
          <a:prstGeom prst="wedgeRoundRectCallout">
            <a:avLst>
              <a:gd name="adj1" fmla="val -20832"/>
              <a:gd name="adj2" fmla="val 155431"/>
              <a:gd name="adj3" fmla="val 16667"/>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latin typeface="Times New Roman" charset="0"/>
                <a:ea typeface="Times New Roman" charset="0"/>
                <a:cs typeface="Times New Roman" charset="0"/>
              </a:rPr>
              <a:t>e.g., </a:t>
            </a:r>
          </a:p>
          <a:p>
            <a:pPr algn="ctr"/>
            <a:r>
              <a:rPr lang="en-US" sz="1400" b="1" dirty="0">
                <a:solidFill>
                  <a:schemeClr val="tx1"/>
                </a:solidFill>
                <a:latin typeface="Times New Roman" charset="0"/>
                <a:ea typeface="Times New Roman" charset="0"/>
                <a:cs typeface="Times New Roman" charset="0"/>
              </a:rPr>
              <a:t>Job Satisfaction</a:t>
            </a:r>
          </a:p>
        </p:txBody>
      </p:sp>
      <p:sp>
        <p:nvSpPr>
          <p:cNvPr id="16" name="Rounded Rectangular Callout 15"/>
          <p:cNvSpPr/>
          <p:nvPr/>
        </p:nvSpPr>
        <p:spPr>
          <a:xfrm>
            <a:off x="657045" y="3439476"/>
            <a:ext cx="1568570" cy="612648"/>
          </a:xfrm>
          <a:prstGeom prst="wedgeRoundRectCallout">
            <a:avLst>
              <a:gd name="adj1" fmla="val 47362"/>
              <a:gd name="adj2" fmla="val 203305"/>
              <a:gd name="adj3" fmla="val 16667"/>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latin typeface="Times New Roman" charset="0"/>
                <a:ea typeface="Times New Roman" charset="0"/>
                <a:cs typeface="Times New Roman" charset="0"/>
              </a:rPr>
              <a:t>e.g., </a:t>
            </a:r>
          </a:p>
          <a:p>
            <a:pPr algn="ctr"/>
            <a:r>
              <a:rPr lang="en-US" sz="1400" b="1" dirty="0">
                <a:solidFill>
                  <a:schemeClr val="tx1"/>
                </a:solidFill>
                <a:latin typeface="Times New Roman" charset="0"/>
                <a:ea typeface="Times New Roman" charset="0"/>
                <a:cs typeface="Times New Roman" charset="0"/>
              </a:rPr>
              <a:t>System Users</a:t>
            </a:r>
          </a:p>
        </p:txBody>
      </p:sp>
    </p:spTree>
    <p:extLst>
      <p:ext uri="{BB962C8B-B14F-4D97-AF65-F5344CB8AC3E}">
        <p14:creationId xmlns:p14="http://schemas.microsoft.com/office/powerpoint/2010/main" val="2093325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Qahri-Saremi &amp; Sharma, AMCIS 2017</a:t>
            </a:r>
          </a:p>
        </p:txBody>
      </p:sp>
      <p:sp>
        <p:nvSpPr>
          <p:cNvPr id="6" name="Slide Number Placeholder 5"/>
          <p:cNvSpPr>
            <a:spLocks noGrp="1"/>
          </p:cNvSpPr>
          <p:nvPr>
            <p:ph type="sldNum" sz="quarter" idx="12"/>
          </p:nvPr>
        </p:nvSpPr>
        <p:spPr/>
        <p:txBody>
          <a:bodyPr/>
          <a:lstStyle/>
          <a:p>
            <a:fld id="{2232AA39-D136-EB41-93EE-A42159D08479}" type="slidenum">
              <a:rPr lang="en-US" altLang="en-US"/>
              <a:pPr/>
              <a:t>23</a:t>
            </a:fld>
            <a:endParaRPr lang="en-US" altLang="en-US"/>
          </a:p>
        </p:txBody>
      </p:sp>
      <p:sp>
        <p:nvSpPr>
          <p:cNvPr id="53250" name="Rectangle 2"/>
          <p:cNvSpPr>
            <a:spLocks noGrp="1" noChangeArrowheads="1"/>
          </p:cNvSpPr>
          <p:nvPr>
            <p:ph type="title"/>
          </p:nvPr>
        </p:nvSpPr>
        <p:spPr/>
        <p:txBody>
          <a:bodyPr>
            <a:normAutofit fontScale="90000"/>
          </a:bodyPr>
          <a:lstStyle/>
          <a:p>
            <a:r>
              <a:rPr lang="en-US" sz="2700" dirty="0"/>
              <a:t>Effect Size (ES): </a:t>
            </a:r>
            <a:br>
              <a:rPr lang="en-US" altLang="x-none" dirty="0"/>
            </a:br>
            <a:r>
              <a:rPr lang="en-US" altLang="x-none" dirty="0"/>
              <a:t>The Risk Ratio</a:t>
            </a:r>
          </a:p>
        </p:txBody>
      </p:sp>
      <p:sp>
        <p:nvSpPr>
          <p:cNvPr id="53251" name="Rectangle 3"/>
          <p:cNvSpPr>
            <a:spLocks noGrp="1" noChangeArrowheads="1"/>
          </p:cNvSpPr>
          <p:nvPr>
            <p:ph type="body" idx="1"/>
          </p:nvPr>
        </p:nvSpPr>
        <p:spPr>
          <a:xfrm>
            <a:off x="457200" y="1240289"/>
            <a:ext cx="8229600" cy="4883959"/>
          </a:xfrm>
        </p:spPr>
        <p:txBody>
          <a:bodyPr>
            <a:normAutofit/>
          </a:bodyPr>
          <a:lstStyle/>
          <a:p>
            <a:r>
              <a:rPr lang="en-US" altLang="x-none" sz="2000"/>
              <a:t>Represents a </a:t>
            </a:r>
            <a:r>
              <a:rPr lang="en-US" altLang="x-none" sz="2000">
                <a:solidFill>
                  <a:srgbClr val="FF0000"/>
                </a:solidFill>
              </a:rPr>
              <a:t>group contrast </a:t>
            </a:r>
            <a:r>
              <a:rPr lang="en-US" altLang="x-none" sz="2000"/>
              <a:t>on an </a:t>
            </a:r>
            <a:r>
              <a:rPr lang="en-US" altLang="x-none" sz="2000" i="1"/>
              <a:t>inherently dichotomized</a:t>
            </a:r>
            <a:r>
              <a:rPr lang="en-US" altLang="x-none" sz="2000"/>
              <a:t> measure.</a:t>
            </a:r>
          </a:p>
          <a:p>
            <a:r>
              <a:rPr lang="en-US" altLang="x-none" sz="2000" dirty="0"/>
              <a:t>The risk ratio is also based on data from a 2 by 2 contingency table:</a:t>
            </a:r>
          </a:p>
          <a:p>
            <a:pPr lvl="1"/>
            <a:r>
              <a:rPr lang="en-US" altLang="x-none" sz="1800" dirty="0"/>
              <a:t>The ratio of the probability of success (or failure) for each group.</a:t>
            </a:r>
          </a:p>
        </p:txBody>
      </p:sp>
      <p:graphicFrame>
        <p:nvGraphicFramePr>
          <p:cNvPr id="53252" name="Object 4"/>
          <p:cNvGraphicFramePr>
            <a:graphicFrameLocks noChangeAspect="1"/>
          </p:cNvGraphicFramePr>
          <p:nvPr>
            <p:extLst>
              <p:ext uri="{D42A27DB-BD31-4B8C-83A1-F6EECF244321}">
                <p14:modId xmlns:p14="http://schemas.microsoft.com/office/powerpoint/2010/main" val="1117375127"/>
              </p:ext>
            </p:extLst>
          </p:nvPr>
        </p:nvGraphicFramePr>
        <p:xfrm>
          <a:off x="6286229" y="4063679"/>
          <a:ext cx="2057400" cy="838200"/>
        </p:xfrm>
        <a:graphic>
          <a:graphicData uri="http://schemas.openxmlformats.org/presentationml/2006/ole">
            <mc:AlternateContent xmlns:mc="http://schemas.openxmlformats.org/markup-compatibility/2006">
              <mc:Choice xmlns:v="urn:schemas-microsoft-com:vml" Requires="v">
                <p:oleObj spid="_x0000_s57001" name="Equation" r:id="rId3" imgW="1028520" imgH="419040" progId="Equation.COEE2">
                  <p:embed/>
                </p:oleObj>
              </mc:Choice>
              <mc:Fallback>
                <p:oleObj name="Equation" r:id="rId3" imgW="1028520" imgH="419040" progId="Equation.COEE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229" y="4063679"/>
                        <a:ext cx="2057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1571776061"/>
              </p:ext>
            </p:extLst>
          </p:nvPr>
        </p:nvGraphicFramePr>
        <p:xfrm>
          <a:off x="1045233" y="4063679"/>
          <a:ext cx="4652963" cy="1538288"/>
        </p:xfrm>
        <a:graphic>
          <a:graphicData uri="http://schemas.openxmlformats.org/presentationml/2006/ole">
            <mc:AlternateContent xmlns:mc="http://schemas.openxmlformats.org/markup-compatibility/2006">
              <mc:Choice xmlns:v="urn:schemas-microsoft-com:vml" Requires="v">
                <p:oleObj spid="_x0000_s57002" name="Document" r:id="rId5" imgW="3724200" imgH="1285920" progId="WP8Doc">
                  <p:embed/>
                </p:oleObj>
              </mc:Choice>
              <mc:Fallback>
                <p:oleObj name="Document" r:id="rId5" imgW="3724200" imgH="1285920" progId="WP8Doc">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5233" y="4063679"/>
                        <a:ext cx="4652963" cy="1538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 name="Rounded Rectangular Callout 10"/>
          <p:cNvSpPr/>
          <p:nvPr/>
        </p:nvSpPr>
        <p:spPr>
          <a:xfrm>
            <a:off x="2947358" y="3227774"/>
            <a:ext cx="1568570" cy="612648"/>
          </a:xfrm>
          <a:prstGeom prst="wedgeRoundRectCallout">
            <a:avLst>
              <a:gd name="adj1" fmla="val -20832"/>
              <a:gd name="adj2" fmla="val 155431"/>
              <a:gd name="adj3" fmla="val 16667"/>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latin typeface="Times New Roman" charset="0"/>
                <a:ea typeface="Times New Roman" charset="0"/>
                <a:cs typeface="Times New Roman" charset="0"/>
              </a:rPr>
              <a:t>e.g., </a:t>
            </a:r>
          </a:p>
          <a:p>
            <a:pPr algn="ctr"/>
            <a:r>
              <a:rPr lang="en-US" sz="1400" b="1" dirty="0">
                <a:solidFill>
                  <a:schemeClr val="tx1"/>
                </a:solidFill>
                <a:latin typeface="Times New Roman" charset="0"/>
                <a:ea typeface="Times New Roman" charset="0"/>
                <a:cs typeface="Times New Roman" charset="0"/>
              </a:rPr>
              <a:t>Job Promotion</a:t>
            </a:r>
          </a:p>
        </p:txBody>
      </p:sp>
      <p:sp>
        <p:nvSpPr>
          <p:cNvPr id="12" name="Rounded Rectangular Callout 11"/>
          <p:cNvSpPr/>
          <p:nvPr/>
        </p:nvSpPr>
        <p:spPr>
          <a:xfrm>
            <a:off x="657044" y="3232442"/>
            <a:ext cx="1568570" cy="612648"/>
          </a:xfrm>
          <a:prstGeom prst="wedgeRoundRectCallout">
            <a:avLst>
              <a:gd name="adj1" fmla="val 47362"/>
              <a:gd name="adj2" fmla="val 203305"/>
              <a:gd name="adj3" fmla="val 16667"/>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latin typeface="Times New Roman" charset="0"/>
                <a:ea typeface="Times New Roman" charset="0"/>
                <a:cs typeface="Times New Roman" charset="0"/>
              </a:rPr>
              <a:t>e.g., </a:t>
            </a:r>
          </a:p>
          <a:p>
            <a:pPr algn="ctr"/>
            <a:r>
              <a:rPr lang="en-US" sz="1400" b="1" dirty="0">
                <a:solidFill>
                  <a:schemeClr val="tx1"/>
                </a:solidFill>
                <a:latin typeface="Times New Roman" charset="0"/>
                <a:ea typeface="Times New Roman" charset="0"/>
                <a:cs typeface="Times New Roman" charset="0"/>
              </a:rPr>
              <a:t>System Users</a:t>
            </a:r>
          </a:p>
        </p:txBody>
      </p:sp>
      <p:sp>
        <p:nvSpPr>
          <p:cNvPr id="10" name="Rectangle 9"/>
          <p:cNvSpPr/>
          <p:nvPr/>
        </p:nvSpPr>
        <p:spPr>
          <a:xfrm>
            <a:off x="6830577" y="5820559"/>
            <a:ext cx="2241576" cy="276999"/>
          </a:xfrm>
          <a:prstGeom prst="rect">
            <a:avLst/>
          </a:prstGeom>
        </p:spPr>
        <p:txBody>
          <a:bodyPr wrap="none">
            <a:spAutoFit/>
          </a:bodyPr>
          <a:lstStyle/>
          <a:p>
            <a:r>
              <a:rPr lang="en-US" sz="1200" i="1" dirty="0">
                <a:solidFill>
                  <a:schemeClr val="tx1">
                    <a:lumMod val="65000"/>
                    <a:lumOff val="35000"/>
                  </a:schemeClr>
                </a:solidFill>
                <a:latin typeface="Times New Roman" charset="0"/>
                <a:ea typeface="Times New Roman" charset="0"/>
                <a:cs typeface="Times New Roman" charset="0"/>
              </a:rPr>
              <a:t>Source: Lindsey &amp; Wilson (2001)</a:t>
            </a:r>
          </a:p>
        </p:txBody>
      </p:sp>
    </p:spTree>
    <p:extLst>
      <p:ext uri="{BB962C8B-B14F-4D97-AF65-F5344CB8AC3E}">
        <p14:creationId xmlns:p14="http://schemas.microsoft.com/office/powerpoint/2010/main" val="30001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Effect Size (ES): </a:t>
            </a:r>
            <a:br>
              <a:rPr lang="en-US" sz="2700" dirty="0"/>
            </a:br>
            <a:r>
              <a:rPr lang="en-US" altLang="x-none" dirty="0"/>
              <a:t>Issues in Coding Effect Sizes</a:t>
            </a:r>
            <a:endParaRPr lang="en-US" dirty="0"/>
          </a:p>
        </p:txBody>
      </p:sp>
      <p:sp>
        <p:nvSpPr>
          <p:cNvPr id="3" name="Content Placeholder 2"/>
          <p:cNvSpPr>
            <a:spLocks noGrp="1"/>
          </p:cNvSpPr>
          <p:nvPr>
            <p:ph idx="1"/>
          </p:nvPr>
        </p:nvSpPr>
        <p:spPr>
          <a:xfrm>
            <a:off x="457200" y="1216326"/>
            <a:ext cx="8229600" cy="4909838"/>
          </a:xfrm>
        </p:spPr>
        <p:txBody>
          <a:bodyPr/>
          <a:lstStyle/>
          <a:p>
            <a:r>
              <a:rPr lang="en-US" dirty="0"/>
              <a:t>Not every article will have a nice correlation table with sample size (N), alphas, etc.</a:t>
            </a:r>
          </a:p>
          <a:p>
            <a:pPr lvl="1"/>
            <a:r>
              <a:rPr lang="en-US" dirty="0"/>
              <a:t>So, you may need to look for “r” substitutes:</a:t>
            </a:r>
          </a:p>
          <a:p>
            <a:pPr lvl="2"/>
            <a:r>
              <a:rPr lang="en-US" dirty="0"/>
              <a:t>Beta values if there is only one independent variable (IV) in the regression equation.</a:t>
            </a:r>
          </a:p>
          <a:p>
            <a:pPr lvl="2"/>
            <a:r>
              <a:rPr lang="en-US" dirty="0"/>
              <a:t>Beta if this is the first step in hierarchical regression.</a:t>
            </a:r>
          </a:p>
          <a:p>
            <a:pPr lvl="2"/>
            <a:r>
              <a:rPr lang="en-US" dirty="0"/>
              <a:t>A path coefficient in SEM (if no other IVs affecting that dependent variable).</a:t>
            </a:r>
          </a:p>
          <a:p>
            <a:pPr marL="457200" lvl="1" indent="0">
              <a:buNone/>
            </a:pPr>
            <a:endParaRPr lang="en-US" sz="1400" i="1" dirty="0">
              <a:solidFill>
                <a:schemeClr val="tx1"/>
              </a:solidFill>
            </a:endParaRPr>
          </a:p>
          <a:p>
            <a:pPr marL="457200" lvl="1" indent="0">
              <a:buNone/>
            </a:pPr>
            <a:r>
              <a:rPr lang="en-US" sz="1600" i="1" dirty="0">
                <a:solidFill>
                  <a:srgbClr val="0432FF"/>
                </a:solidFill>
              </a:rPr>
              <a:t>(See: </a:t>
            </a:r>
            <a:r>
              <a:rPr lang="en-US" sz="1600" b="1" i="1" dirty="0">
                <a:solidFill>
                  <a:srgbClr val="0432FF"/>
                </a:solidFill>
              </a:rPr>
              <a:t>Appendix B</a:t>
            </a:r>
            <a:r>
              <a:rPr lang="en-US" sz="1600" i="1" dirty="0">
                <a:solidFill>
                  <a:srgbClr val="0432FF"/>
                </a:solidFill>
              </a:rPr>
              <a:t> in </a:t>
            </a:r>
            <a:r>
              <a:rPr lang="en-US" sz="1600" b="1" i="1" dirty="0">
                <a:solidFill>
                  <a:srgbClr val="0432FF"/>
                </a:solidFill>
              </a:rPr>
              <a:t>Montazemi &amp; Qahri-Saremi (2015)</a:t>
            </a:r>
            <a:r>
              <a:rPr lang="en-US" sz="1600" i="1" dirty="0">
                <a:solidFill>
                  <a:srgbClr val="0432FF"/>
                </a:solidFill>
              </a:rPr>
              <a:t>)</a:t>
            </a:r>
            <a:r>
              <a:rPr lang="en-US" sz="1600" i="1" dirty="0">
                <a:solidFill>
                  <a:srgbClr val="C00000"/>
                </a:solidFill>
              </a:rPr>
              <a:t>.</a:t>
            </a:r>
          </a:p>
          <a:p>
            <a:endParaRPr lang="en-US" dirty="0"/>
          </a:p>
        </p:txBody>
      </p:sp>
      <p:sp>
        <p:nvSpPr>
          <p:cNvPr id="4" name="Footer Placeholder 3"/>
          <p:cNvSpPr>
            <a:spLocks noGrp="1"/>
          </p:cNvSpPr>
          <p:nvPr>
            <p:ph type="ftr" sz="quarter" idx="11"/>
          </p:nvPr>
        </p:nvSpPr>
        <p:spPr/>
        <p:txBody>
          <a:bodyPr/>
          <a:lstStyle/>
          <a:p>
            <a:r>
              <a:rPr lang="en-US" dirty="0"/>
              <a:t>Qahri-Saremi &amp; Sharma, AMCIS 2017</a:t>
            </a:r>
          </a:p>
        </p:txBody>
      </p:sp>
      <p:sp>
        <p:nvSpPr>
          <p:cNvPr id="5" name="Slide Number Placeholder 4"/>
          <p:cNvSpPr>
            <a:spLocks noGrp="1"/>
          </p:cNvSpPr>
          <p:nvPr>
            <p:ph type="sldNum" sz="quarter" idx="12"/>
          </p:nvPr>
        </p:nvSpPr>
        <p:spPr/>
        <p:txBody>
          <a:bodyPr/>
          <a:lstStyle/>
          <a:p>
            <a:fld id="{9E0F272A-0FC0-1943-B826-E8D4777EEB37}" type="slidenum">
              <a:rPr lang="en-US" smtClean="0"/>
              <a:t>24</a:t>
            </a:fld>
            <a:endParaRPr lang="en-US"/>
          </a:p>
        </p:txBody>
      </p:sp>
    </p:spTree>
    <p:extLst>
      <p:ext uri="{BB962C8B-B14F-4D97-AF65-F5344CB8AC3E}">
        <p14:creationId xmlns:p14="http://schemas.microsoft.com/office/powerpoint/2010/main" val="652952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dirty="0"/>
              <a:t>Qahri-Saremi &amp; Sharma, AMCIS 2017</a:t>
            </a:r>
          </a:p>
        </p:txBody>
      </p:sp>
      <p:sp>
        <p:nvSpPr>
          <p:cNvPr id="5" name="Slide Number Placeholder 5"/>
          <p:cNvSpPr>
            <a:spLocks noGrp="1"/>
          </p:cNvSpPr>
          <p:nvPr>
            <p:ph type="sldNum" sz="quarter" idx="12"/>
          </p:nvPr>
        </p:nvSpPr>
        <p:spPr/>
        <p:txBody>
          <a:bodyPr/>
          <a:lstStyle>
            <a:lvl1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1pPr>
            <a:lvl2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2pPr>
            <a:lvl3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3pPr>
            <a:lvl4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4pPr>
            <a:lvl5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9pPr>
          </a:lstStyle>
          <a:p>
            <a:pPr>
              <a:buClrTx/>
              <a:buFontTx/>
              <a:buNone/>
            </a:pPr>
            <a:fld id="{DAD7A2E1-53F1-8E4A-A636-59B88FEF37DC}" type="slidenum">
              <a:rPr lang="en-US" altLang="x-none" sz="1100">
                <a:solidFill>
                  <a:srgbClr val="000000"/>
                </a:solidFill>
              </a:rPr>
              <a:pPr>
                <a:buClrTx/>
                <a:buFontTx/>
                <a:buNone/>
              </a:pPr>
              <a:t>25</a:t>
            </a:fld>
            <a:endParaRPr lang="en-US" altLang="x-none" sz="1100" dirty="0">
              <a:solidFill>
                <a:srgbClr val="000000"/>
              </a:solidFill>
            </a:endParaRPr>
          </a:p>
        </p:txBody>
      </p:sp>
      <p:sp>
        <p:nvSpPr>
          <p:cNvPr id="12289" name="Rectangle 1"/>
          <p:cNvSpPr>
            <a:spLocks noGrp="1" noChangeArrowheads="1"/>
          </p:cNvSpPr>
          <p:nvPr>
            <p:ph type="title" idx="4294967295"/>
          </p:nvPr>
        </p:nvSpPr>
        <p:spPr>
          <a:xfrm>
            <a:off x="457200" y="277814"/>
            <a:ext cx="8229600" cy="963738"/>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dirty="0"/>
              <a:t>Effect Size (ES): </a:t>
            </a:r>
            <a:br>
              <a:rPr lang="en-US" dirty="0"/>
            </a:br>
            <a:r>
              <a:rPr lang="en-US" altLang="x-none" sz="2800" dirty="0"/>
              <a:t>Independent Set of Effect Sizes</a:t>
            </a:r>
          </a:p>
        </p:txBody>
      </p:sp>
      <p:sp>
        <p:nvSpPr>
          <p:cNvPr id="12290" name="Rectangle 2"/>
          <p:cNvSpPr>
            <a:spLocks noGrp="1" noChangeArrowheads="1"/>
          </p:cNvSpPr>
          <p:nvPr>
            <p:ph type="body" idx="1"/>
          </p:nvPr>
        </p:nvSpPr>
        <p:spPr>
          <a:xfrm>
            <a:off x="457199" y="1417638"/>
            <a:ext cx="8406143" cy="4508709"/>
          </a:xfrm>
        </p:spPr>
        <p:txBody>
          <a:bodyPr vert="horz" lIns="91440" tIns="45720" rIns="91440" bIns="45720" rtlCol="0">
            <a:normAutofit/>
          </a:bodyPr>
          <a:lstStyle/>
          <a:p>
            <a:r>
              <a:rPr lang="en-US" altLang="x-none" dirty="0"/>
              <a:t>Must be dealing with an independent set of effect sizes before proceeding with the analysis.</a:t>
            </a:r>
          </a:p>
          <a:p>
            <a:pPr lvl="1"/>
            <a:r>
              <a:rPr lang="en-US" altLang="x-none" dirty="0"/>
              <a:t>One ES per a study OR</a:t>
            </a:r>
          </a:p>
          <a:p>
            <a:pPr lvl="1"/>
            <a:r>
              <a:rPr lang="en-US" altLang="x-none" dirty="0"/>
              <a:t>One ES per each subsample within a study</a:t>
            </a:r>
          </a:p>
          <a:p>
            <a:pPr lvl="1"/>
            <a:endParaRPr lang="en-US" altLang="x-none" dirty="0"/>
          </a:p>
          <a:p>
            <a:r>
              <a:rPr lang="en-US" altLang="x-none" b="1" dirty="0"/>
              <a:t>Remember:</a:t>
            </a:r>
          </a:p>
          <a:p>
            <a:pPr lvl="1"/>
            <a:r>
              <a:rPr lang="en-US" altLang="x-none" dirty="0"/>
              <a:t>One paper can report multiple independent studies (e.g., study1, study2)</a:t>
            </a:r>
          </a:p>
          <a:p>
            <a:pPr lvl="2"/>
            <a:r>
              <a:rPr lang="en-US" altLang="x-none" dirty="0"/>
              <a:t>Therefore, one paper can provide multiple ES, one for each independent sample.</a:t>
            </a:r>
          </a:p>
          <a:p>
            <a:pPr lvl="1"/>
            <a:r>
              <a:rPr lang="en-US" altLang="x-none" dirty="0"/>
              <a:t>Multiple studies might be based on the same sample</a:t>
            </a:r>
          </a:p>
          <a:p>
            <a:pPr lvl="2"/>
            <a:r>
              <a:rPr lang="en-US" altLang="x-none" dirty="0"/>
              <a:t>In this case, only one ES from that sample should be drawn.</a:t>
            </a:r>
          </a:p>
        </p:txBody>
      </p:sp>
      <p:sp>
        <p:nvSpPr>
          <p:cNvPr id="6" name="Rectangle 5"/>
          <p:cNvSpPr/>
          <p:nvPr/>
        </p:nvSpPr>
        <p:spPr>
          <a:xfrm>
            <a:off x="6584830" y="6102434"/>
            <a:ext cx="2559170" cy="253916"/>
          </a:xfrm>
          <a:prstGeom prst="rect">
            <a:avLst/>
          </a:prstGeom>
        </p:spPr>
        <p:txBody>
          <a:bodyPr wrap="square">
            <a:spAutoFit/>
          </a:bodyPr>
          <a:lstStyle/>
          <a:p>
            <a:pPr algn="just"/>
            <a:r>
              <a:rPr lang="en-US" sz="1050" i="1" dirty="0">
                <a:solidFill>
                  <a:schemeClr val="tx1">
                    <a:lumMod val="65000"/>
                    <a:lumOff val="35000"/>
                  </a:schemeClr>
                </a:solidFill>
                <a:latin typeface="Times New Roman" charset="0"/>
                <a:ea typeface="Times New Roman" charset="0"/>
                <a:cs typeface="Times New Roman" charset="0"/>
              </a:rPr>
              <a:t>Source: Montazemi &amp; Qahri-Saremi (2015)</a:t>
            </a:r>
          </a:p>
        </p:txBody>
      </p:sp>
    </p:spTree>
    <p:extLst>
      <p:ext uri="{BB962C8B-B14F-4D97-AF65-F5344CB8AC3E}">
        <p14:creationId xmlns:p14="http://schemas.microsoft.com/office/powerpoint/2010/main" val="9303501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1pPr>
            <a:lvl2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2pPr>
            <a:lvl3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3pPr>
            <a:lvl4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4pPr>
            <a:lvl5pPr>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charset="0"/>
                <a:ea typeface="DejaVu Sans" charset="0"/>
                <a:cs typeface="DejaVu Sans" charset="0"/>
              </a:defRPr>
            </a:lvl9pPr>
          </a:lstStyle>
          <a:p>
            <a:pPr>
              <a:buClrTx/>
              <a:buFontTx/>
              <a:buNone/>
            </a:pPr>
            <a:fld id="{DAD7A2E1-53F1-8E4A-A636-59B88FEF37DC}" type="slidenum">
              <a:rPr lang="en-US" altLang="x-none" sz="1100">
                <a:solidFill>
                  <a:srgbClr val="000000"/>
                </a:solidFill>
              </a:rPr>
              <a:pPr>
                <a:buClrTx/>
                <a:buFontTx/>
                <a:buNone/>
              </a:pPr>
              <a:t>26</a:t>
            </a:fld>
            <a:endParaRPr lang="en-US" altLang="x-none" sz="1100" dirty="0">
              <a:solidFill>
                <a:srgbClr val="000000"/>
              </a:solidFill>
            </a:endParaRPr>
          </a:p>
        </p:txBody>
      </p:sp>
      <p:sp>
        <p:nvSpPr>
          <p:cNvPr id="12289" name="Rectangle 1"/>
          <p:cNvSpPr>
            <a:spLocks noGrp="1" noChangeArrowheads="1"/>
          </p:cNvSpPr>
          <p:nvPr>
            <p:ph type="title" idx="4294967295"/>
          </p:nvPr>
        </p:nvSpPr>
        <p:spPr>
          <a:xfrm>
            <a:off x="457200" y="277814"/>
            <a:ext cx="8229600" cy="963738"/>
          </a:xfrm>
        </p:spPr>
        <p:txBody>
          <a:bodyPr>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t>Effect Size (</a:t>
            </a:r>
            <a:r>
              <a:rPr lang="en-US"/>
              <a:t>ES)</a:t>
            </a:r>
            <a:endParaRPr lang="en-US" altLang="x-none" sz="3600" dirty="0"/>
          </a:p>
        </p:txBody>
      </p:sp>
      <p:sp>
        <p:nvSpPr>
          <p:cNvPr id="12290" name="Rectangle 2"/>
          <p:cNvSpPr>
            <a:spLocks noGrp="1" noChangeArrowheads="1"/>
          </p:cNvSpPr>
          <p:nvPr>
            <p:ph type="body" idx="1"/>
          </p:nvPr>
        </p:nvSpPr>
        <p:spPr>
          <a:xfrm>
            <a:off x="99589" y="1835602"/>
            <a:ext cx="2756134" cy="4090745"/>
          </a:xfrm>
        </p:spPr>
        <p:txBody>
          <a:bodyPr vert="horz" lIns="91440" tIns="45720" rIns="91440" bIns="45720" rtlCol="0">
            <a:normAutofit/>
          </a:bodyPr>
          <a:lstStyle/>
          <a:p>
            <a:pPr marL="0" indent="0">
              <a:buNone/>
            </a:pPr>
            <a:r>
              <a:rPr lang="en-US" altLang="x-none" sz="1800" dirty="0"/>
              <a:t>So far, you should have a list of studies with their:</a:t>
            </a:r>
          </a:p>
          <a:p>
            <a:pPr marL="287338" lvl="1" indent="-279400"/>
            <a:r>
              <a:rPr lang="en-US" altLang="x-none" sz="1600" dirty="0"/>
              <a:t>Effect sizes</a:t>
            </a:r>
          </a:p>
          <a:p>
            <a:pPr marL="287338" lvl="1" indent="-279400"/>
            <a:r>
              <a:rPr lang="en-US" altLang="x-none" sz="1600" dirty="0"/>
              <a:t>Sample sizes</a:t>
            </a:r>
          </a:p>
          <a:p>
            <a:pPr marL="287338" lvl="1" indent="-279400"/>
            <a:r>
              <a:rPr lang="en-US" altLang="x-none" sz="1600" dirty="0"/>
              <a:t>Reliabilities of Measures </a:t>
            </a:r>
          </a:p>
          <a:p>
            <a:pPr marL="287338" lvl="1" indent="-279400"/>
            <a:r>
              <a:rPr lang="en-US" altLang="x-none" sz="1600" dirty="0"/>
              <a:t>Potential moderators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7495" y="1944243"/>
            <a:ext cx="6302186" cy="3379571"/>
          </a:xfrm>
          <a:prstGeom prst="rect">
            <a:avLst/>
          </a:prstGeom>
        </p:spPr>
      </p:pic>
      <p:sp>
        <p:nvSpPr>
          <p:cNvPr id="6" name="Footer Placeholder 5"/>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7828742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7938"/>
            <a:r>
              <a:rPr lang="en-US" sz="1800" dirty="0"/>
              <a:t>The Basic Meta-Analysis:</a:t>
            </a:r>
            <a:br>
              <a:rPr lang="en-US" sz="2800" dirty="0"/>
            </a:br>
            <a:r>
              <a:rPr lang="en-US" sz="2200" dirty="0"/>
              <a:t>Fixed-Effects vs. Random-Effects Method of Meta-Analysis</a:t>
            </a:r>
          </a:p>
        </p:txBody>
      </p:sp>
      <p:sp>
        <p:nvSpPr>
          <p:cNvPr id="3" name="Content Placeholder 2"/>
          <p:cNvSpPr>
            <a:spLocks noGrp="1"/>
          </p:cNvSpPr>
          <p:nvPr>
            <p:ph idx="1"/>
          </p:nvPr>
        </p:nvSpPr>
        <p:spPr/>
        <p:txBody>
          <a:bodyPr/>
          <a:lstStyle/>
          <a:p>
            <a:pPr algn="just"/>
            <a:r>
              <a:rPr lang="en-US" dirty="0"/>
              <a:t>Fixed-Effects Meta-Analysis:</a:t>
            </a:r>
          </a:p>
          <a:p>
            <a:pPr lvl="1" algn="just"/>
            <a:endParaRPr lang="en-US" dirty="0"/>
          </a:p>
          <a:p>
            <a:pPr lvl="1" algn="just"/>
            <a:r>
              <a:rPr lang="en-US" dirty="0"/>
              <a:t>All studies are drawn from </a:t>
            </a:r>
            <a:r>
              <a:rPr lang="en-US" b="1" dirty="0">
                <a:solidFill>
                  <a:srgbClr val="FF0000"/>
                </a:solidFill>
              </a:rPr>
              <a:t>ONE homogenous population </a:t>
            </a:r>
            <a:r>
              <a:rPr lang="en-US" dirty="0"/>
              <a:t>and any variation among their effect sizes is the result of </a:t>
            </a:r>
            <a:r>
              <a:rPr lang="en-US" b="1" dirty="0">
                <a:solidFill>
                  <a:srgbClr val="FF0000"/>
                </a:solidFill>
              </a:rPr>
              <a:t>sampling errors</a:t>
            </a:r>
            <a:r>
              <a:rPr lang="en-US" dirty="0"/>
              <a:t>. </a:t>
            </a:r>
          </a:p>
          <a:p>
            <a:pPr lvl="2" algn="just"/>
            <a:endParaRPr lang="en-US" dirty="0"/>
          </a:p>
          <a:p>
            <a:pPr lvl="2" algn="just"/>
            <a:r>
              <a:rPr lang="en-US" dirty="0"/>
              <a:t>The variance for the pooled ES is made up only sampling errors (within study variance).</a:t>
            </a:r>
          </a:p>
          <a:p>
            <a:pPr lvl="3" algn="just"/>
            <a:r>
              <a:rPr lang="en-US" dirty="0"/>
              <a:t>E.g., Hedges &amp; </a:t>
            </a:r>
            <a:r>
              <a:rPr lang="en-US" dirty="0" err="1"/>
              <a:t>Olkin</a:t>
            </a:r>
            <a:r>
              <a:rPr lang="en-US" dirty="0"/>
              <a:t> (1985) fixed-effects method.</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27</a:t>
            </a:fld>
            <a:endParaRPr lang="en-US"/>
          </a:p>
        </p:txBody>
      </p:sp>
      <p:sp>
        <p:nvSpPr>
          <p:cNvPr id="6" name="Rectangle 5"/>
          <p:cNvSpPr/>
          <p:nvPr/>
        </p:nvSpPr>
        <p:spPr>
          <a:xfrm>
            <a:off x="6127630" y="5765493"/>
            <a:ext cx="2559170" cy="253916"/>
          </a:xfrm>
          <a:prstGeom prst="rect">
            <a:avLst/>
          </a:prstGeom>
        </p:spPr>
        <p:txBody>
          <a:bodyPr wrap="square">
            <a:spAutoFit/>
          </a:bodyPr>
          <a:lstStyle/>
          <a:p>
            <a:pPr algn="just"/>
            <a:r>
              <a:rPr lang="en-US" sz="1050" i="1" dirty="0">
                <a:solidFill>
                  <a:schemeClr val="tx1">
                    <a:lumMod val="65000"/>
                    <a:lumOff val="35000"/>
                  </a:schemeClr>
                </a:solidFill>
                <a:latin typeface="Times New Roman" charset="0"/>
                <a:ea typeface="Times New Roman" charset="0"/>
                <a:cs typeface="Times New Roman" charset="0"/>
              </a:rPr>
              <a:t>Source: Montazemi &amp; Qahri-Saremi (2015)</a:t>
            </a:r>
          </a:p>
        </p:txBody>
      </p:sp>
    </p:spTree>
    <p:extLst>
      <p:ext uri="{BB962C8B-B14F-4D97-AF65-F5344CB8AC3E}">
        <p14:creationId xmlns:p14="http://schemas.microsoft.com/office/powerpoint/2010/main" val="1598099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Random-Effects Meta-Analysis:</a:t>
            </a:r>
          </a:p>
          <a:p>
            <a:pPr lvl="1" algn="just"/>
            <a:endParaRPr lang="en-US" dirty="0"/>
          </a:p>
          <a:p>
            <a:pPr lvl="1" algn="just"/>
            <a:r>
              <a:rPr lang="en-US" dirty="0"/>
              <a:t>Studies in a meta-analysis come from </a:t>
            </a:r>
            <a:r>
              <a:rPr lang="en-US" b="1" dirty="0">
                <a:solidFill>
                  <a:srgbClr val="FF0000"/>
                </a:solidFill>
              </a:rPr>
              <a:t>heterogeneous populations </a:t>
            </a:r>
            <a:r>
              <a:rPr lang="en-US" dirty="0"/>
              <a:t>that have different average effect sizes, so population effect sizes can be thought of as being sampled from a ‘super population’: </a:t>
            </a:r>
          </a:p>
          <a:p>
            <a:pPr lvl="2" algn="just"/>
            <a:endParaRPr lang="en-US" dirty="0"/>
          </a:p>
          <a:p>
            <a:pPr lvl="2" algn="just"/>
            <a:r>
              <a:rPr lang="en-US" dirty="0"/>
              <a:t>The variance for the pooled ES includes both </a:t>
            </a:r>
            <a:r>
              <a:rPr lang="en-US" b="1" dirty="0">
                <a:solidFill>
                  <a:srgbClr val="FF0000"/>
                </a:solidFill>
              </a:rPr>
              <a:t>sampling error </a:t>
            </a:r>
            <a:r>
              <a:rPr lang="en-US" dirty="0"/>
              <a:t>(within study variance) and </a:t>
            </a:r>
            <a:r>
              <a:rPr lang="en-US" b="1" dirty="0">
                <a:solidFill>
                  <a:srgbClr val="FF0000"/>
                </a:solidFill>
              </a:rPr>
              <a:t>between-study variance</a:t>
            </a:r>
            <a:r>
              <a:rPr lang="en-US" dirty="0"/>
              <a:t>.</a:t>
            </a:r>
          </a:p>
          <a:p>
            <a:pPr lvl="3" algn="just"/>
            <a:r>
              <a:rPr lang="en-US" dirty="0"/>
              <a:t>E.g., Hunter &amp; Schmidt (2004); Hedges &amp; </a:t>
            </a:r>
            <a:r>
              <a:rPr lang="en-US" dirty="0" err="1"/>
              <a:t>Olkin</a:t>
            </a:r>
            <a:r>
              <a:rPr lang="en-US" dirty="0"/>
              <a:t> (1985) random-effects method.</a:t>
            </a:r>
          </a:p>
          <a:p>
            <a:pPr lvl="2" algn="just"/>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28</a:t>
            </a:fld>
            <a:endParaRPr lang="en-US"/>
          </a:p>
        </p:txBody>
      </p:sp>
      <p:sp>
        <p:nvSpPr>
          <p:cNvPr id="6" name="Rectangle 5"/>
          <p:cNvSpPr/>
          <p:nvPr/>
        </p:nvSpPr>
        <p:spPr>
          <a:xfrm>
            <a:off x="6127630" y="5872247"/>
            <a:ext cx="2559170" cy="253916"/>
          </a:xfrm>
          <a:prstGeom prst="rect">
            <a:avLst/>
          </a:prstGeom>
        </p:spPr>
        <p:txBody>
          <a:bodyPr wrap="square">
            <a:spAutoFit/>
          </a:bodyPr>
          <a:lstStyle/>
          <a:p>
            <a:pPr algn="just"/>
            <a:r>
              <a:rPr lang="en-US" sz="1050" i="1" dirty="0">
                <a:solidFill>
                  <a:schemeClr val="tx1">
                    <a:lumMod val="65000"/>
                    <a:lumOff val="35000"/>
                  </a:schemeClr>
                </a:solidFill>
                <a:latin typeface="Times New Roman" charset="0"/>
                <a:ea typeface="Times New Roman" charset="0"/>
                <a:cs typeface="Times New Roman" charset="0"/>
              </a:rPr>
              <a:t>Source: Montazemi &amp; Qahri-Saremi (2015)</a:t>
            </a:r>
          </a:p>
        </p:txBody>
      </p:sp>
      <p:sp>
        <p:nvSpPr>
          <p:cNvPr id="8" name="Title 1"/>
          <p:cNvSpPr txBox="1">
            <a:spLocks/>
          </p:cNvSpPr>
          <p:nvPr/>
        </p:nvSpPr>
        <p:spPr>
          <a:xfrm>
            <a:off x="600547" y="112335"/>
            <a:ext cx="8229600" cy="847117"/>
          </a:xfrm>
          <a:prstGeom prst="rect">
            <a:avLst/>
          </a:prstGeom>
          <a:ln>
            <a:noFill/>
          </a:ln>
        </p:spPr>
        <p:txBody>
          <a:bodyPr vert="horz" lIns="91440" tIns="45720" rIns="91440" bIns="45720" rtlCol="0" anchor="ctr">
            <a:normAutofit fontScale="97500"/>
          </a:bodyPr>
          <a:lstStyle>
            <a:lvl1pPr algn="l" defTabSz="457200" rtl="0" eaLnBrk="1" latinLnBrk="0" hangingPunct="1">
              <a:spcBef>
                <a:spcPct val="0"/>
              </a:spcBef>
              <a:buNone/>
              <a:defRPr sz="3200" b="1" kern="1200">
                <a:solidFill>
                  <a:srgbClr val="FF6600"/>
                </a:solidFill>
                <a:latin typeface="Georgia" charset="0"/>
                <a:ea typeface="Georgia" charset="0"/>
                <a:cs typeface="Georgia" charset="0"/>
              </a:defRPr>
            </a:lvl1pPr>
          </a:lstStyle>
          <a:p>
            <a:pPr marL="7938"/>
            <a:r>
              <a:rPr lang="en-US" sz="1800"/>
              <a:t>The Basic Meta-Analysis:</a:t>
            </a:r>
            <a:br>
              <a:rPr lang="en-US" sz="2800"/>
            </a:br>
            <a:r>
              <a:rPr lang="en-US" sz="2200"/>
              <a:t>Fixed-Effects vs. </a:t>
            </a:r>
            <a:r>
              <a:rPr lang="en-US" sz="2200" dirty="0"/>
              <a:t>Random-Effects Method of Meta-Analysis</a:t>
            </a:r>
          </a:p>
        </p:txBody>
      </p:sp>
    </p:spTree>
    <p:extLst>
      <p:ext uri="{BB962C8B-B14F-4D97-AF65-F5344CB8AC3E}">
        <p14:creationId xmlns:p14="http://schemas.microsoft.com/office/powerpoint/2010/main" val="180121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Which Approach Should be Selected for the Meta-Analysis?</a:t>
            </a:r>
          </a:p>
          <a:p>
            <a:pPr lvl="1" algn="just"/>
            <a:r>
              <a:rPr lang="en-US" b="1" dirty="0"/>
              <a:t>Fixed-effect models </a:t>
            </a:r>
            <a:r>
              <a:rPr lang="en-US" dirty="0"/>
              <a:t>are appropriate for inferences that extend only to the studies included in the meta-analysis (conditional inferences).</a:t>
            </a:r>
          </a:p>
          <a:p>
            <a:pPr lvl="2" algn="just"/>
            <a:r>
              <a:rPr lang="en-US" dirty="0"/>
              <a:t>Limited generalization.</a:t>
            </a:r>
          </a:p>
          <a:p>
            <a:pPr lvl="1" algn="just"/>
            <a:endParaRPr lang="en-US" b="1" dirty="0"/>
          </a:p>
          <a:p>
            <a:pPr lvl="1" algn="just"/>
            <a:r>
              <a:rPr lang="en-US" b="1" dirty="0"/>
              <a:t>Random-effects models </a:t>
            </a:r>
            <a:r>
              <a:rPr lang="en-US" dirty="0"/>
              <a:t>allow inferences that generalize beyond the studies included in the meta-analysis (unconditional inferences).</a:t>
            </a:r>
          </a:p>
          <a:p>
            <a:pPr lvl="2" algn="just"/>
            <a:r>
              <a:rPr lang="en-US" dirty="0"/>
              <a:t>When the effect sizes are not homogenous.</a:t>
            </a:r>
          </a:p>
          <a:p>
            <a:pPr lvl="2" algn="just"/>
            <a:r>
              <a:rPr lang="en-US" dirty="0"/>
              <a:t>Random-effects approach should be the norm in social sciences data.</a:t>
            </a:r>
          </a:p>
          <a:p>
            <a:pPr lvl="2" algn="just"/>
            <a:r>
              <a:rPr lang="en-US" dirty="0"/>
              <a:t>The consequences of applying fixed-effects methods to random-effects data can be quite dramatic: </a:t>
            </a:r>
          </a:p>
          <a:p>
            <a:pPr lvl="3" algn="just"/>
            <a:r>
              <a:rPr lang="en-US" dirty="0"/>
              <a:t>Significance tests of the estimate of the population effect size (pooled effect size) have Type I error rates inflated from the nominal 5% to 11% – 80%. </a:t>
            </a:r>
          </a:p>
          <a:p>
            <a:pPr lvl="3" algn="just"/>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29</a:t>
            </a:fld>
            <a:endParaRPr lang="en-US"/>
          </a:p>
        </p:txBody>
      </p:sp>
      <p:sp>
        <p:nvSpPr>
          <p:cNvPr id="6" name="Rectangle 5"/>
          <p:cNvSpPr/>
          <p:nvPr/>
        </p:nvSpPr>
        <p:spPr>
          <a:xfrm>
            <a:off x="6458310" y="5924901"/>
            <a:ext cx="2559170" cy="253916"/>
          </a:xfrm>
          <a:prstGeom prst="rect">
            <a:avLst/>
          </a:prstGeom>
        </p:spPr>
        <p:txBody>
          <a:bodyPr wrap="square">
            <a:spAutoFit/>
          </a:bodyPr>
          <a:lstStyle/>
          <a:p>
            <a:pPr algn="r"/>
            <a:r>
              <a:rPr lang="en-US" sz="1050" i="1" dirty="0">
                <a:solidFill>
                  <a:schemeClr val="tx1">
                    <a:lumMod val="65000"/>
                    <a:lumOff val="35000"/>
                  </a:schemeClr>
                </a:solidFill>
                <a:latin typeface="Times New Roman" charset="0"/>
                <a:ea typeface="Times New Roman" charset="0"/>
                <a:cs typeface="Times New Roman" charset="0"/>
              </a:rPr>
              <a:t>Source: Field &amp; Gillette (2010)</a:t>
            </a:r>
          </a:p>
        </p:txBody>
      </p:sp>
      <p:sp>
        <p:nvSpPr>
          <p:cNvPr id="7" name="Title 1"/>
          <p:cNvSpPr txBox="1">
            <a:spLocks/>
          </p:cNvSpPr>
          <p:nvPr/>
        </p:nvSpPr>
        <p:spPr>
          <a:xfrm>
            <a:off x="600547" y="112335"/>
            <a:ext cx="8229600" cy="847117"/>
          </a:xfrm>
          <a:prstGeom prst="rect">
            <a:avLst/>
          </a:prstGeom>
          <a:ln>
            <a:noFill/>
          </a:ln>
        </p:spPr>
        <p:txBody>
          <a:bodyPr vert="horz" lIns="91440" tIns="45720" rIns="91440" bIns="45720" rtlCol="0" anchor="ctr">
            <a:normAutofit fontScale="97500"/>
          </a:bodyPr>
          <a:lstStyle>
            <a:lvl1pPr algn="l" defTabSz="457200" rtl="0" eaLnBrk="1" latinLnBrk="0" hangingPunct="1">
              <a:spcBef>
                <a:spcPct val="0"/>
              </a:spcBef>
              <a:buNone/>
              <a:defRPr sz="3200" b="1" kern="1200">
                <a:solidFill>
                  <a:srgbClr val="FF6600"/>
                </a:solidFill>
                <a:latin typeface="Georgia" charset="0"/>
                <a:ea typeface="Georgia" charset="0"/>
                <a:cs typeface="Georgia" charset="0"/>
              </a:defRPr>
            </a:lvl1pPr>
          </a:lstStyle>
          <a:p>
            <a:pPr marL="7938"/>
            <a:r>
              <a:rPr lang="en-US" sz="1800"/>
              <a:t>The Basic Meta-Analysis:</a:t>
            </a:r>
            <a:br>
              <a:rPr lang="en-US" sz="2800"/>
            </a:br>
            <a:r>
              <a:rPr lang="en-US" sz="2200"/>
              <a:t>Fixed-Effects vs. </a:t>
            </a:r>
            <a:r>
              <a:rPr lang="en-US" sz="2200" dirty="0"/>
              <a:t>Random-Effects Method of Meta-Analysis</a:t>
            </a:r>
          </a:p>
        </p:txBody>
      </p:sp>
    </p:spTree>
    <p:extLst>
      <p:ext uri="{BB962C8B-B14F-4D97-AF65-F5344CB8AC3E}">
        <p14:creationId xmlns:p14="http://schemas.microsoft.com/office/powerpoint/2010/main" val="1310189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452673" y="1195057"/>
            <a:ext cx="8234127" cy="5033728"/>
          </a:xfrm>
        </p:spPr>
        <p:txBody>
          <a:bodyPr>
            <a:normAutofit lnSpcReduction="10000"/>
          </a:bodyPr>
          <a:lstStyle/>
          <a:p>
            <a:pPr marL="0" indent="0">
              <a:lnSpc>
                <a:spcPct val="100000"/>
              </a:lnSpc>
              <a:buNone/>
            </a:pPr>
            <a:r>
              <a:rPr lang="en-US" altLang="x-none" sz="2000" dirty="0"/>
              <a:t>The objective is to calculate the pooled-effect size for the relation under study, its confidence intervals, and test the homogeneity of effect sizes in the meta-analysis:</a:t>
            </a:r>
          </a:p>
          <a:p>
            <a:pPr marL="914400" lvl="1" indent="-514350">
              <a:lnSpc>
                <a:spcPct val="100000"/>
              </a:lnSpc>
              <a:buFont typeface="+mj-lt"/>
              <a:buAutoNum type="arabicParenR"/>
            </a:pPr>
            <a:endParaRPr lang="en-US" altLang="x-none" sz="1800" dirty="0"/>
          </a:p>
          <a:p>
            <a:pPr marL="404813" lvl="1" indent="-404813">
              <a:lnSpc>
                <a:spcPct val="100000"/>
              </a:lnSpc>
              <a:buFont typeface="+mj-lt"/>
              <a:buAutoNum type="arabicParenR"/>
            </a:pPr>
            <a:r>
              <a:rPr lang="en-US" altLang="x-none" sz="1800" dirty="0"/>
              <a:t>Correct the effect sizes for unreliability </a:t>
            </a:r>
          </a:p>
          <a:p>
            <a:pPr marL="404813" lvl="1" indent="-404813">
              <a:lnSpc>
                <a:spcPct val="100000"/>
              </a:lnSpc>
              <a:buFont typeface="+mj-lt"/>
              <a:buAutoNum type="arabicParenR"/>
            </a:pPr>
            <a:endParaRPr lang="en-US" altLang="x-none" sz="1800" dirty="0"/>
          </a:p>
          <a:p>
            <a:pPr marL="404813" lvl="1" indent="-404813">
              <a:lnSpc>
                <a:spcPct val="100000"/>
              </a:lnSpc>
              <a:buFont typeface="+mj-lt"/>
              <a:buAutoNum type="arabicParenR"/>
            </a:pPr>
            <a:r>
              <a:rPr lang="en-US" altLang="x-none" sz="1800" dirty="0"/>
              <a:t>Standardize the effect sizes using Fisher’s Z Transformation</a:t>
            </a:r>
          </a:p>
          <a:p>
            <a:pPr marL="404813" lvl="1" indent="-404813">
              <a:lnSpc>
                <a:spcPct val="100000"/>
              </a:lnSpc>
              <a:buFont typeface="+mj-lt"/>
              <a:buAutoNum type="arabicParenR"/>
            </a:pPr>
            <a:endParaRPr lang="en-US" altLang="x-none" sz="1800" i="1" dirty="0"/>
          </a:p>
          <a:p>
            <a:pPr marL="404813" lvl="1" indent="-404813">
              <a:lnSpc>
                <a:spcPct val="100000"/>
              </a:lnSpc>
              <a:buFont typeface="+mj-lt"/>
              <a:buAutoNum type="arabicParenR"/>
            </a:pPr>
            <a:r>
              <a:rPr lang="en-US" altLang="x-none" sz="1800" dirty="0"/>
              <a:t>Weight the effect sizes</a:t>
            </a:r>
          </a:p>
          <a:p>
            <a:pPr marL="404813" lvl="1" indent="-404813">
              <a:lnSpc>
                <a:spcPct val="100000"/>
              </a:lnSpc>
              <a:buFont typeface="+mj-lt"/>
              <a:buAutoNum type="arabicParenR"/>
            </a:pPr>
            <a:endParaRPr lang="en-US" altLang="x-none" sz="1800" dirty="0"/>
          </a:p>
          <a:p>
            <a:pPr marL="404813" lvl="1" indent="-404813">
              <a:lnSpc>
                <a:spcPct val="100000"/>
              </a:lnSpc>
              <a:buFont typeface="+mj-lt"/>
              <a:buAutoNum type="arabicParenR"/>
            </a:pPr>
            <a:r>
              <a:rPr lang="en-US" altLang="x-none" sz="1800" dirty="0"/>
              <a:t>Calculate the overall weighted mean effect size (pooled effect size)</a:t>
            </a:r>
          </a:p>
          <a:p>
            <a:pPr marL="404813" lvl="1" indent="-404813">
              <a:lnSpc>
                <a:spcPct val="100000"/>
              </a:lnSpc>
              <a:buFont typeface="+mj-lt"/>
              <a:buAutoNum type="arabicParenR"/>
            </a:pPr>
            <a:endParaRPr lang="en-US" altLang="x-none" sz="1800" dirty="0"/>
          </a:p>
          <a:p>
            <a:pPr marL="404813" lvl="1" indent="-404813">
              <a:lnSpc>
                <a:spcPct val="100000"/>
              </a:lnSpc>
              <a:buFont typeface="+mj-lt"/>
              <a:buAutoNum type="arabicParenR"/>
            </a:pPr>
            <a:r>
              <a:rPr lang="en-US" altLang="x-none" sz="1800" dirty="0"/>
              <a:t>Calculate the homogeneity index (Q statistic) for the pooled effect size.</a:t>
            </a:r>
          </a:p>
          <a:p>
            <a:pPr marL="746125" lvl="2" indent="-287338">
              <a:lnSpc>
                <a:spcPct val="100000"/>
              </a:lnSpc>
            </a:pPr>
            <a:r>
              <a:rPr lang="en-US" altLang="x-none" sz="1600" dirty="0"/>
              <a:t>Provide the ground for random-effects analysis and moderation analysis.</a:t>
            </a:r>
          </a:p>
          <a:p>
            <a:pPr marL="404813" lvl="1" indent="-404813">
              <a:lnSpc>
                <a:spcPct val="100000"/>
              </a:lnSpc>
              <a:buFont typeface="+mj-lt"/>
              <a:buAutoNum type="arabicParenR"/>
            </a:pPr>
            <a:endParaRPr lang="en-US" altLang="x-none" sz="1800" dirty="0"/>
          </a:p>
          <a:p>
            <a:pPr marL="404813" lvl="1" indent="-404813">
              <a:lnSpc>
                <a:spcPct val="100000"/>
              </a:lnSpc>
              <a:buFont typeface="+mj-lt"/>
              <a:buAutoNum type="arabicParenR"/>
            </a:pPr>
            <a:r>
              <a:rPr lang="en-US" altLang="x-none" sz="1800" dirty="0"/>
              <a:t>Calculate the confidence interval for the pooled effect size.</a:t>
            </a:r>
          </a:p>
        </p:txBody>
      </p:sp>
      <p:sp>
        <p:nvSpPr>
          <p:cNvPr id="4" name="Title 1"/>
          <p:cNvSpPr txBox="1">
            <a:spLocks/>
          </p:cNvSpPr>
          <p:nvPr/>
        </p:nvSpPr>
        <p:spPr>
          <a:xfrm>
            <a:off x="618226" y="130175"/>
            <a:ext cx="8229600" cy="901920"/>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3200" b="1" kern="1200">
                <a:solidFill>
                  <a:srgbClr val="FF6600"/>
                </a:solidFill>
                <a:latin typeface="Georgia" charset="0"/>
                <a:ea typeface="Georgia" charset="0"/>
                <a:cs typeface="Georgia" charset="0"/>
              </a:defRPr>
            </a:lvl1pPr>
          </a:lstStyle>
          <a:p>
            <a:r>
              <a:rPr lang="en-US" dirty="0"/>
              <a:t>The Basic Meta-Analysis:</a:t>
            </a:r>
          </a:p>
        </p:txBody>
      </p:sp>
      <p:sp>
        <p:nvSpPr>
          <p:cNvPr id="5" name="Footer Placeholder 3"/>
          <p:cNvSpPr>
            <a:spLocks noGrp="1"/>
          </p:cNvSpPr>
          <p:nvPr>
            <p:ph type="ftr" sz="quarter" idx="11"/>
          </p:nvPr>
        </p:nvSpPr>
        <p:spPr>
          <a:xfrm>
            <a:off x="3124200" y="6356350"/>
            <a:ext cx="2895600" cy="365125"/>
          </a:xfrm>
        </p:spPr>
        <p:txBody>
          <a:bodyPr/>
          <a:lstStyle/>
          <a:p>
            <a:r>
              <a:rPr lang="en-US"/>
              <a:t>Qahri-Saremi &amp; Sharma, AMCIS 2017</a:t>
            </a:r>
            <a:endParaRPr lang="en-US" dirty="0"/>
          </a:p>
        </p:txBody>
      </p:sp>
      <p:sp>
        <p:nvSpPr>
          <p:cNvPr id="2" name="Slide Number Placeholder 1"/>
          <p:cNvSpPr>
            <a:spLocks noGrp="1"/>
          </p:cNvSpPr>
          <p:nvPr>
            <p:ph type="sldNum" sz="quarter" idx="12"/>
          </p:nvPr>
        </p:nvSpPr>
        <p:spPr/>
        <p:txBody>
          <a:bodyPr/>
          <a:lstStyle/>
          <a:p>
            <a:fld id="{9E0F272A-0FC0-1943-B826-E8D4777EEB37}" type="slidenum">
              <a:rPr lang="en-US" smtClean="0"/>
              <a:t>30</a:t>
            </a:fld>
            <a:endParaRPr lang="en-US"/>
          </a:p>
        </p:txBody>
      </p:sp>
    </p:spTree>
    <p:extLst>
      <p:ext uri="{BB962C8B-B14F-4D97-AF65-F5344CB8AC3E}">
        <p14:creationId xmlns:p14="http://schemas.microsoft.com/office/powerpoint/2010/main" val="1944034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a:t>Tools for Meta-Analysis:</a:t>
            </a:r>
            <a:r>
              <a:rPr lang="en-US" sz="2800" dirty="0"/>
              <a:t> </a:t>
            </a:r>
            <a:br>
              <a:rPr lang="en-US" sz="2800" dirty="0"/>
            </a:br>
            <a:r>
              <a:rPr lang="en-US" sz="2800" dirty="0"/>
              <a:t>Wilson/</a:t>
            </a:r>
            <a:r>
              <a:rPr lang="en-US" sz="2800" dirty="0" err="1"/>
              <a:t>Lipsey</a:t>
            </a:r>
            <a:r>
              <a:rPr lang="en-US" sz="2800" dirty="0"/>
              <a:t> SPSS Macros</a:t>
            </a:r>
          </a:p>
        </p:txBody>
      </p:sp>
      <p:sp>
        <p:nvSpPr>
          <p:cNvPr id="3" name="Content Placeholder 2"/>
          <p:cNvSpPr>
            <a:spLocks noGrp="1"/>
          </p:cNvSpPr>
          <p:nvPr>
            <p:ph idx="1"/>
          </p:nvPr>
        </p:nvSpPr>
        <p:spPr/>
        <p:txBody>
          <a:bodyPr/>
          <a:lstStyle/>
          <a:p>
            <a:r>
              <a:rPr lang="en-US" dirty="0">
                <a:hlinkClick r:id="rId2"/>
              </a:rPr>
              <a:t>http://mason.gmu.edu/~dwilsonb/ma.html</a:t>
            </a:r>
            <a:r>
              <a:rPr lang="en-US" dirty="0"/>
              <a:t> </a:t>
            </a:r>
          </a:p>
        </p:txBody>
      </p:sp>
      <p:sp>
        <p:nvSpPr>
          <p:cNvPr id="4" name="Footer Placeholder 3"/>
          <p:cNvSpPr>
            <a:spLocks noGrp="1"/>
          </p:cNvSpPr>
          <p:nvPr>
            <p:ph type="ftr" sz="quarter" idx="11"/>
          </p:nvPr>
        </p:nvSpPr>
        <p:spPr>
          <a:xfrm>
            <a:off x="3124200" y="6401615"/>
            <a:ext cx="2895600" cy="365125"/>
          </a:xfrm>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31</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8057" y="1501385"/>
            <a:ext cx="4706286" cy="4946996"/>
          </a:xfrm>
          <a:prstGeom prst="rect">
            <a:avLst/>
          </a:prstGeom>
        </p:spPr>
      </p:pic>
      <p:sp>
        <p:nvSpPr>
          <p:cNvPr id="8" name="Freeform 7"/>
          <p:cNvSpPr/>
          <p:nvPr/>
        </p:nvSpPr>
        <p:spPr>
          <a:xfrm>
            <a:off x="1910281" y="5585992"/>
            <a:ext cx="1520982" cy="316871"/>
          </a:xfrm>
          <a:custGeom>
            <a:avLst/>
            <a:gdLst>
              <a:gd name="connsiteX0" fmla="*/ 81481 w 1520982"/>
              <a:gd name="connsiteY0" fmla="*/ 63374 h 316871"/>
              <a:gd name="connsiteX1" fmla="*/ 126749 w 1520982"/>
              <a:gd name="connsiteY1" fmla="*/ 144855 h 316871"/>
              <a:gd name="connsiteX2" fmla="*/ 153909 w 1520982"/>
              <a:gd name="connsiteY2" fmla="*/ 172016 h 316871"/>
              <a:gd name="connsiteX3" fmla="*/ 280658 w 1520982"/>
              <a:gd name="connsiteY3" fmla="*/ 226336 h 316871"/>
              <a:gd name="connsiteX4" fmla="*/ 307818 w 1520982"/>
              <a:gd name="connsiteY4" fmla="*/ 235390 h 316871"/>
              <a:gd name="connsiteX5" fmla="*/ 353085 w 1520982"/>
              <a:gd name="connsiteY5" fmla="*/ 244443 h 316871"/>
              <a:gd name="connsiteX6" fmla="*/ 407406 w 1520982"/>
              <a:gd name="connsiteY6" fmla="*/ 262550 h 316871"/>
              <a:gd name="connsiteX7" fmla="*/ 434567 w 1520982"/>
              <a:gd name="connsiteY7" fmla="*/ 271604 h 316871"/>
              <a:gd name="connsiteX8" fmla="*/ 479834 w 1520982"/>
              <a:gd name="connsiteY8" fmla="*/ 280657 h 316871"/>
              <a:gd name="connsiteX9" fmla="*/ 615636 w 1520982"/>
              <a:gd name="connsiteY9" fmla="*/ 289711 h 316871"/>
              <a:gd name="connsiteX10" fmla="*/ 724277 w 1520982"/>
              <a:gd name="connsiteY10" fmla="*/ 298764 h 316871"/>
              <a:gd name="connsiteX11" fmla="*/ 914400 w 1520982"/>
              <a:gd name="connsiteY11" fmla="*/ 316871 h 316871"/>
              <a:gd name="connsiteX12" fmla="*/ 1149790 w 1520982"/>
              <a:gd name="connsiteY12" fmla="*/ 307818 h 316871"/>
              <a:gd name="connsiteX13" fmla="*/ 1195058 w 1520982"/>
              <a:gd name="connsiteY13" fmla="*/ 298764 h 316871"/>
              <a:gd name="connsiteX14" fmla="*/ 1249378 w 1520982"/>
              <a:gd name="connsiteY14" fmla="*/ 289711 h 316871"/>
              <a:gd name="connsiteX15" fmla="*/ 1330860 w 1520982"/>
              <a:gd name="connsiteY15" fmla="*/ 271604 h 316871"/>
              <a:gd name="connsiteX16" fmla="*/ 1394234 w 1520982"/>
              <a:gd name="connsiteY16" fmla="*/ 244443 h 316871"/>
              <a:gd name="connsiteX17" fmla="*/ 1421394 w 1520982"/>
              <a:gd name="connsiteY17" fmla="*/ 226336 h 316871"/>
              <a:gd name="connsiteX18" fmla="*/ 1448555 w 1520982"/>
              <a:gd name="connsiteY18" fmla="*/ 217283 h 316871"/>
              <a:gd name="connsiteX19" fmla="*/ 1520982 w 1520982"/>
              <a:gd name="connsiteY19" fmla="*/ 153909 h 316871"/>
              <a:gd name="connsiteX20" fmla="*/ 1493822 w 1520982"/>
              <a:gd name="connsiteY20" fmla="*/ 81481 h 316871"/>
              <a:gd name="connsiteX21" fmla="*/ 1403287 w 1520982"/>
              <a:gd name="connsiteY21" fmla="*/ 36214 h 316871"/>
              <a:gd name="connsiteX22" fmla="*/ 1312753 w 1520982"/>
              <a:gd name="connsiteY22" fmla="*/ 18107 h 316871"/>
              <a:gd name="connsiteX23" fmla="*/ 1276539 w 1520982"/>
              <a:gd name="connsiteY23" fmla="*/ 9053 h 316871"/>
              <a:gd name="connsiteX24" fmla="*/ 1213165 w 1520982"/>
              <a:gd name="connsiteY24" fmla="*/ 0 h 316871"/>
              <a:gd name="connsiteX25" fmla="*/ 642796 w 1520982"/>
              <a:gd name="connsiteY25" fmla="*/ 18107 h 316871"/>
              <a:gd name="connsiteX26" fmla="*/ 579422 w 1520982"/>
              <a:gd name="connsiteY26" fmla="*/ 27160 h 316871"/>
              <a:gd name="connsiteX27" fmla="*/ 479834 w 1520982"/>
              <a:gd name="connsiteY27" fmla="*/ 36214 h 316871"/>
              <a:gd name="connsiteX28" fmla="*/ 398353 w 1520982"/>
              <a:gd name="connsiteY28" fmla="*/ 63374 h 316871"/>
              <a:gd name="connsiteX29" fmla="*/ 334978 w 1520982"/>
              <a:gd name="connsiteY29" fmla="*/ 81481 h 316871"/>
              <a:gd name="connsiteX30" fmla="*/ 307818 w 1520982"/>
              <a:gd name="connsiteY30" fmla="*/ 99588 h 316871"/>
              <a:gd name="connsiteX31" fmla="*/ 217283 w 1520982"/>
              <a:gd name="connsiteY31" fmla="*/ 135802 h 316871"/>
              <a:gd name="connsiteX32" fmla="*/ 181069 w 1520982"/>
              <a:gd name="connsiteY32" fmla="*/ 162962 h 316871"/>
              <a:gd name="connsiteX33" fmla="*/ 108642 w 1520982"/>
              <a:gd name="connsiteY33" fmla="*/ 199176 h 316871"/>
              <a:gd name="connsiteX34" fmla="*/ 54321 w 1520982"/>
              <a:gd name="connsiteY34" fmla="*/ 226336 h 316871"/>
              <a:gd name="connsiteX35" fmla="*/ 0 w 1520982"/>
              <a:gd name="connsiteY35" fmla="*/ 271604 h 31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20982" h="316871">
                <a:moveTo>
                  <a:pt x="81481" y="63374"/>
                </a:moveTo>
                <a:cubicBezTo>
                  <a:pt x="100224" y="110230"/>
                  <a:pt x="94450" y="107173"/>
                  <a:pt x="126749" y="144855"/>
                </a:cubicBezTo>
                <a:cubicBezTo>
                  <a:pt x="135081" y="154576"/>
                  <a:pt x="143107" y="165142"/>
                  <a:pt x="153909" y="172016"/>
                </a:cubicBezTo>
                <a:cubicBezTo>
                  <a:pt x="203132" y="203340"/>
                  <a:pt x="229210" y="209186"/>
                  <a:pt x="280658" y="226336"/>
                </a:cubicBezTo>
                <a:cubicBezTo>
                  <a:pt x="289711" y="229354"/>
                  <a:pt x="298460" y="233519"/>
                  <a:pt x="307818" y="235390"/>
                </a:cubicBezTo>
                <a:cubicBezTo>
                  <a:pt x="322907" y="238408"/>
                  <a:pt x="338239" y="240394"/>
                  <a:pt x="353085" y="244443"/>
                </a:cubicBezTo>
                <a:cubicBezTo>
                  <a:pt x="371499" y="249465"/>
                  <a:pt x="389299" y="256514"/>
                  <a:pt x="407406" y="262550"/>
                </a:cubicBezTo>
                <a:cubicBezTo>
                  <a:pt x="416460" y="265568"/>
                  <a:pt x="425209" y="269732"/>
                  <a:pt x="434567" y="271604"/>
                </a:cubicBezTo>
                <a:cubicBezTo>
                  <a:pt x="449656" y="274622"/>
                  <a:pt x="464523" y="279126"/>
                  <a:pt x="479834" y="280657"/>
                </a:cubicBezTo>
                <a:cubicBezTo>
                  <a:pt x="524977" y="285171"/>
                  <a:pt x="570392" y="286360"/>
                  <a:pt x="615636" y="289711"/>
                </a:cubicBezTo>
                <a:lnTo>
                  <a:pt x="724277" y="298764"/>
                </a:lnTo>
                <a:cubicBezTo>
                  <a:pt x="884640" y="311100"/>
                  <a:pt x="802883" y="300941"/>
                  <a:pt x="914400" y="316871"/>
                </a:cubicBezTo>
                <a:cubicBezTo>
                  <a:pt x="992863" y="313853"/>
                  <a:pt x="1071432" y="312873"/>
                  <a:pt x="1149790" y="307818"/>
                </a:cubicBezTo>
                <a:cubicBezTo>
                  <a:pt x="1165146" y="306827"/>
                  <a:pt x="1179918" y="301517"/>
                  <a:pt x="1195058" y="298764"/>
                </a:cubicBezTo>
                <a:cubicBezTo>
                  <a:pt x="1213118" y="295480"/>
                  <a:pt x="1231318" y="292995"/>
                  <a:pt x="1249378" y="289711"/>
                </a:cubicBezTo>
                <a:cubicBezTo>
                  <a:pt x="1291512" y="282050"/>
                  <a:pt x="1292117" y="281289"/>
                  <a:pt x="1330860" y="271604"/>
                </a:cubicBezTo>
                <a:cubicBezTo>
                  <a:pt x="1399046" y="226146"/>
                  <a:pt x="1312387" y="279521"/>
                  <a:pt x="1394234" y="244443"/>
                </a:cubicBezTo>
                <a:cubicBezTo>
                  <a:pt x="1404235" y="240157"/>
                  <a:pt x="1411662" y="231202"/>
                  <a:pt x="1421394" y="226336"/>
                </a:cubicBezTo>
                <a:cubicBezTo>
                  <a:pt x="1429930" y="222068"/>
                  <a:pt x="1439501" y="220301"/>
                  <a:pt x="1448555" y="217283"/>
                </a:cubicBezTo>
                <a:cubicBezTo>
                  <a:pt x="1511928" y="175033"/>
                  <a:pt x="1490804" y="199176"/>
                  <a:pt x="1520982" y="153909"/>
                </a:cubicBezTo>
                <a:cubicBezTo>
                  <a:pt x="1514505" y="121520"/>
                  <a:pt x="1517135" y="104793"/>
                  <a:pt x="1493822" y="81481"/>
                </a:cubicBezTo>
                <a:cubicBezTo>
                  <a:pt x="1467471" y="55130"/>
                  <a:pt x="1440133" y="43583"/>
                  <a:pt x="1403287" y="36214"/>
                </a:cubicBezTo>
                <a:cubicBezTo>
                  <a:pt x="1373109" y="30178"/>
                  <a:pt x="1342610" y="25572"/>
                  <a:pt x="1312753" y="18107"/>
                </a:cubicBezTo>
                <a:cubicBezTo>
                  <a:pt x="1300682" y="15089"/>
                  <a:pt x="1288781" y="11279"/>
                  <a:pt x="1276539" y="9053"/>
                </a:cubicBezTo>
                <a:cubicBezTo>
                  <a:pt x="1255544" y="5236"/>
                  <a:pt x="1234290" y="3018"/>
                  <a:pt x="1213165" y="0"/>
                </a:cubicBezTo>
                <a:cubicBezTo>
                  <a:pt x="1092572" y="2941"/>
                  <a:pt x="795368" y="7585"/>
                  <a:pt x="642796" y="18107"/>
                </a:cubicBezTo>
                <a:cubicBezTo>
                  <a:pt x="621507" y="19575"/>
                  <a:pt x="600631" y="24803"/>
                  <a:pt x="579422" y="27160"/>
                </a:cubicBezTo>
                <a:cubicBezTo>
                  <a:pt x="546293" y="30841"/>
                  <a:pt x="513030" y="33196"/>
                  <a:pt x="479834" y="36214"/>
                </a:cubicBezTo>
                <a:cubicBezTo>
                  <a:pt x="419150" y="51384"/>
                  <a:pt x="466541" y="37804"/>
                  <a:pt x="398353" y="63374"/>
                </a:cubicBezTo>
                <a:cubicBezTo>
                  <a:pt x="372384" y="73112"/>
                  <a:pt x="363506" y="74349"/>
                  <a:pt x="334978" y="81481"/>
                </a:cubicBezTo>
                <a:cubicBezTo>
                  <a:pt x="325925" y="87517"/>
                  <a:pt x="317697" y="95028"/>
                  <a:pt x="307818" y="99588"/>
                </a:cubicBezTo>
                <a:cubicBezTo>
                  <a:pt x="278307" y="113209"/>
                  <a:pt x="243286" y="116300"/>
                  <a:pt x="217283" y="135802"/>
                </a:cubicBezTo>
                <a:cubicBezTo>
                  <a:pt x="205212" y="144855"/>
                  <a:pt x="194103" y="155359"/>
                  <a:pt x="181069" y="162962"/>
                </a:cubicBezTo>
                <a:cubicBezTo>
                  <a:pt x="157754" y="176563"/>
                  <a:pt x="131101" y="184204"/>
                  <a:pt x="108642" y="199176"/>
                </a:cubicBezTo>
                <a:cubicBezTo>
                  <a:pt x="73541" y="222576"/>
                  <a:pt x="91804" y="213842"/>
                  <a:pt x="54321" y="226336"/>
                </a:cubicBezTo>
                <a:cubicBezTo>
                  <a:pt x="11278" y="258618"/>
                  <a:pt x="28777" y="242827"/>
                  <a:pt x="0" y="271604"/>
                </a:cubicBezTo>
              </a:path>
            </a:pathLst>
          </a:cu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3049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dirty="0"/>
              <a:t>Tools for Meta-Analysis:</a:t>
            </a:r>
            <a:r>
              <a:rPr lang="en-US" dirty="0"/>
              <a:t> </a:t>
            </a:r>
            <a:br>
              <a:rPr lang="en-US" dirty="0"/>
            </a:br>
            <a:r>
              <a:rPr lang="en-US" dirty="0"/>
              <a:t>Metafor Package in R</a:t>
            </a:r>
          </a:p>
        </p:txBody>
      </p:sp>
      <p:sp>
        <p:nvSpPr>
          <p:cNvPr id="3" name="Content Placeholder 2"/>
          <p:cNvSpPr>
            <a:spLocks noGrp="1"/>
          </p:cNvSpPr>
          <p:nvPr>
            <p:ph idx="1"/>
          </p:nvPr>
        </p:nvSpPr>
        <p:spPr/>
        <p:txBody>
          <a:bodyPr/>
          <a:lstStyle/>
          <a:p>
            <a:r>
              <a:rPr lang="en-US" dirty="0">
                <a:hlinkClick r:id="rId2"/>
              </a:rPr>
              <a:t>http://www.metafor-project.org/doku.php</a:t>
            </a:r>
            <a:endParaRPr lang="en-US" dirty="0"/>
          </a:p>
          <a:p>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32</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118" y="1660591"/>
            <a:ext cx="6428882" cy="5060884"/>
          </a:xfrm>
          <a:prstGeom prst="rect">
            <a:avLst/>
          </a:prstGeom>
        </p:spPr>
      </p:pic>
    </p:spTree>
    <p:extLst>
      <p:ext uri="{BB962C8B-B14F-4D97-AF65-F5344CB8AC3E}">
        <p14:creationId xmlns:p14="http://schemas.microsoft.com/office/powerpoint/2010/main" val="1857213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457200" y="997421"/>
            <a:ext cx="8229600" cy="5358929"/>
          </a:xfrm>
        </p:spPr>
        <p:txBody>
          <a:bodyPr>
            <a:normAutofit fontScale="92500" lnSpcReduction="20000"/>
          </a:bodyPr>
          <a:lstStyle/>
          <a:p>
            <a:pPr marL="457200" indent="-457200">
              <a:buFont typeface="+mj-lt"/>
              <a:buAutoNum type="arabicParenR"/>
            </a:pPr>
            <a:r>
              <a:rPr lang="en-US" dirty="0"/>
              <a:t>Correction for the sources of errors in effect sizes:</a:t>
            </a:r>
          </a:p>
          <a:p>
            <a:pPr lvl="1"/>
            <a:r>
              <a:rPr lang="en-US" dirty="0"/>
              <a:t>Such as measurement errors (measures unreliability):</a:t>
            </a:r>
          </a:p>
          <a:p>
            <a:pPr lvl="1"/>
            <a:endParaRPr lang="en-US" dirty="0"/>
          </a:p>
          <a:p>
            <a:pPr lvl="1"/>
            <a:endParaRPr lang="en-US" dirty="0"/>
          </a:p>
          <a:p>
            <a:pPr lvl="1"/>
            <a:endParaRPr lang="en-US" dirty="0"/>
          </a:p>
          <a:p>
            <a:pPr lvl="1"/>
            <a:endParaRPr lang="en-US" dirty="0"/>
          </a:p>
          <a:p>
            <a:pPr lvl="1">
              <a:lnSpc>
                <a:spcPct val="90000"/>
              </a:lnSpc>
            </a:pPr>
            <a:r>
              <a:rPr lang="en-US" altLang="x-none" b="1" dirty="0"/>
              <a:t>So if:</a:t>
            </a:r>
          </a:p>
          <a:p>
            <a:pPr lvl="2">
              <a:lnSpc>
                <a:spcPct val="90000"/>
              </a:lnSpc>
            </a:pPr>
            <a:r>
              <a:rPr lang="en-US" altLang="x-none" b="1" dirty="0" err="1"/>
              <a:t>r</a:t>
            </a:r>
            <a:r>
              <a:rPr lang="en-US" altLang="x-none" b="1" baseline="-25000" dirty="0" err="1"/>
              <a:t>xy</a:t>
            </a:r>
            <a:r>
              <a:rPr lang="en-US" altLang="x-none" b="1" dirty="0"/>
              <a:t> </a:t>
            </a:r>
            <a:r>
              <a:rPr lang="en-US" altLang="x-none" dirty="0"/>
              <a:t>=</a:t>
            </a:r>
            <a:r>
              <a:rPr lang="en-US" altLang="x-none" b="1" dirty="0"/>
              <a:t> </a:t>
            </a:r>
            <a:r>
              <a:rPr lang="en-US" altLang="x-none" dirty="0"/>
              <a:t>.45</a:t>
            </a:r>
          </a:p>
          <a:p>
            <a:pPr lvl="2">
              <a:lnSpc>
                <a:spcPct val="90000"/>
              </a:lnSpc>
            </a:pPr>
            <a:r>
              <a:rPr lang="en-US" altLang="x-none" b="1" dirty="0" err="1"/>
              <a:t>r</a:t>
            </a:r>
            <a:r>
              <a:rPr lang="en-US" altLang="x-none" b="1" baseline="-25000" dirty="0" err="1"/>
              <a:t>xx</a:t>
            </a:r>
            <a:r>
              <a:rPr lang="en-US" altLang="x-none" dirty="0"/>
              <a:t> = .93</a:t>
            </a:r>
          </a:p>
          <a:p>
            <a:pPr lvl="2">
              <a:lnSpc>
                <a:spcPct val="90000"/>
              </a:lnSpc>
            </a:pPr>
            <a:r>
              <a:rPr lang="en-US" altLang="x-none" b="1" dirty="0" err="1"/>
              <a:t>r</a:t>
            </a:r>
            <a:r>
              <a:rPr lang="en-US" altLang="x-none" b="1" baseline="-25000" dirty="0" err="1"/>
              <a:t>yy</a:t>
            </a:r>
            <a:r>
              <a:rPr lang="en-US" altLang="x-none" dirty="0"/>
              <a:t> = .91</a:t>
            </a:r>
          </a:p>
          <a:p>
            <a:pPr lvl="1">
              <a:lnSpc>
                <a:spcPct val="90000"/>
              </a:lnSpc>
            </a:pPr>
            <a:endParaRPr lang="en-US" altLang="x-none" dirty="0"/>
          </a:p>
          <a:p>
            <a:pPr lvl="2">
              <a:lnSpc>
                <a:spcPct val="90000"/>
              </a:lnSpc>
            </a:pPr>
            <a:r>
              <a:rPr lang="en-US" altLang="x-none" dirty="0"/>
              <a:t>Then  </a:t>
            </a:r>
            <a:r>
              <a:rPr lang="en-US" altLang="x-none" b="1" dirty="0" err="1"/>
              <a:t>r</a:t>
            </a:r>
            <a:r>
              <a:rPr lang="en-US" altLang="x-none" b="1" baseline="-25000" dirty="0" err="1"/>
              <a:t>c</a:t>
            </a:r>
            <a:r>
              <a:rPr lang="en-US" altLang="x-none" b="1" dirty="0"/>
              <a:t> </a:t>
            </a:r>
            <a:r>
              <a:rPr lang="en-US" altLang="x-none" dirty="0"/>
              <a:t>= 0.45 / </a:t>
            </a:r>
            <a:r>
              <a:rPr lang="en-US" altLang="x-none" dirty="0" err="1"/>
              <a:t>sqrt</a:t>
            </a:r>
            <a:r>
              <a:rPr lang="en-US" altLang="x-none" dirty="0"/>
              <a:t>(0.93 x 0.91) = 0.49</a:t>
            </a:r>
            <a:endParaRPr lang="en-US" altLang="x-none" baseline="-25000" dirty="0"/>
          </a:p>
          <a:p>
            <a:pPr lvl="1"/>
            <a:endParaRPr lang="en-US" dirty="0"/>
          </a:p>
          <a:p>
            <a:pPr lvl="1"/>
            <a:r>
              <a:rPr lang="en-US" dirty="0"/>
              <a:t>No reliability reported = 1.</a:t>
            </a:r>
          </a:p>
          <a:p>
            <a:pPr lvl="1"/>
            <a:endParaRPr lang="en-US" dirty="0"/>
          </a:p>
          <a:p>
            <a:pPr marL="57150" indent="0">
              <a:buNone/>
            </a:pPr>
            <a:r>
              <a:rPr lang="en-US" sz="1700" dirty="0"/>
              <a:t>For other possible corrections, see:  </a:t>
            </a:r>
          </a:p>
          <a:p>
            <a:pPr marL="457200" lvl="1" indent="0">
              <a:buNone/>
            </a:pPr>
            <a:r>
              <a:rPr lang="en-US" sz="1500" i="1" dirty="0"/>
              <a:t>Hunter, J.E., and Schmidt, F.L. 2004. Methods of Meta-Analysis: Correcting Error and Bias in Research Findings, (Second ed.), Sage Publications, Inc.</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168" y="2290312"/>
            <a:ext cx="1875096" cy="914399"/>
          </a:xfrm>
          <a:prstGeom prst="rect">
            <a:avLst/>
          </a:prstGeom>
        </p:spPr>
      </p:pic>
      <p:sp>
        <p:nvSpPr>
          <p:cNvPr id="8" name="Line Callout 1 7"/>
          <p:cNvSpPr/>
          <p:nvPr/>
        </p:nvSpPr>
        <p:spPr>
          <a:xfrm>
            <a:off x="6167886" y="2134864"/>
            <a:ext cx="2130725" cy="612648"/>
          </a:xfrm>
          <a:prstGeom prst="borderCallout1">
            <a:avLst>
              <a:gd name="adj1" fmla="val 18750"/>
              <a:gd name="adj2" fmla="val -8333"/>
              <a:gd name="adj3" fmla="val 60402"/>
              <a:gd name="adj4" fmla="val -52908"/>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dirty="0">
                <a:solidFill>
                  <a:schemeClr val="tx1"/>
                </a:solidFill>
                <a:latin typeface="Times New Roman" charset="0"/>
                <a:ea typeface="Times New Roman" charset="0"/>
                <a:cs typeface="Times New Roman" charset="0"/>
              </a:rPr>
              <a:t>Observed Correlation between variables x and y.</a:t>
            </a:r>
          </a:p>
        </p:txBody>
      </p:sp>
      <p:sp>
        <p:nvSpPr>
          <p:cNvPr id="9" name="Line Callout 1 8"/>
          <p:cNvSpPr/>
          <p:nvPr/>
        </p:nvSpPr>
        <p:spPr>
          <a:xfrm>
            <a:off x="6553200" y="3294030"/>
            <a:ext cx="1518250" cy="612648"/>
          </a:xfrm>
          <a:prstGeom prst="borderCallout1">
            <a:avLst>
              <a:gd name="adj1" fmla="val 18750"/>
              <a:gd name="adj2" fmla="val -8333"/>
              <a:gd name="adj3" fmla="val -17041"/>
              <a:gd name="adj4" fmla="val -111736"/>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a:solidFill>
                  <a:schemeClr val="tx1"/>
                </a:solidFill>
                <a:latin typeface="Times New Roman" charset="0"/>
                <a:ea typeface="Times New Roman" charset="0"/>
                <a:cs typeface="Times New Roman" charset="0"/>
              </a:rPr>
              <a:t>Reliabilities for </a:t>
            </a:r>
          </a:p>
          <a:p>
            <a:pPr algn="ctr"/>
            <a:r>
              <a:rPr lang="en-US" sz="1400" i="1" dirty="0">
                <a:solidFill>
                  <a:schemeClr val="tx1"/>
                </a:solidFill>
                <a:latin typeface="Times New Roman" charset="0"/>
                <a:ea typeface="Times New Roman" charset="0"/>
                <a:cs typeface="Times New Roman" charset="0"/>
              </a:rPr>
              <a:t>variables x and y.</a:t>
            </a:r>
          </a:p>
        </p:txBody>
      </p:sp>
      <p:sp>
        <p:nvSpPr>
          <p:cNvPr id="10" name="Line Callout 1 9"/>
          <p:cNvSpPr/>
          <p:nvPr/>
        </p:nvSpPr>
        <p:spPr>
          <a:xfrm>
            <a:off x="759124" y="2134864"/>
            <a:ext cx="2130725" cy="612648"/>
          </a:xfrm>
          <a:prstGeom prst="borderCallout1">
            <a:avLst>
              <a:gd name="adj1" fmla="val 17342"/>
              <a:gd name="adj2" fmla="val 104622"/>
              <a:gd name="adj3" fmla="val 88564"/>
              <a:gd name="adj4" fmla="val 126849"/>
            </a:avLst>
          </a:prstGeom>
          <a:solidFill>
            <a:schemeClr val="accent6">
              <a:lumMod val="20000"/>
              <a:lumOff val="8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dirty="0">
                <a:solidFill>
                  <a:schemeClr val="tx1"/>
                </a:solidFill>
                <a:latin typeface="Times New Roman" charset="0"/>
                <a:ea typeface="Times New Roman" charset="0"/>
                <a:cs typeface="Times New Roman" charset="0"/>
              </a:rPr>
              <a:t>Corrected Correlation between variables x and y.</a:t>
            </a:r>
          </a:p>
        </p:txBody>
      </p:sp>
    </p:spTree>
    <p:extLst>
      <p:ext uri="{BB962C8B-B14F-4D97-AF65-F5344CB8AC3E}">
        <p14:creationId xmlns:p14="http://schemas.microsoft.com/office/powerpoint/2010/main" val="245107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850" y="1348748"/>
            <a:ext cx="1875096" cy="914399"/>
          </a:xfrm>
          <a:prstGeom prst="rect">
            <a:avLst/>
          </a:prstGeom>
        </p:spPr>
      </p:pic>
      <p:sp>
        <p:nvSpPr>
          <p:cNvPr id="2" name="Title 1"/>
          <p:cNvSpPr>
            <a:spLocks noGrp="1"/>
          </p:cNvSpPr>
          <p:nvPr>
            <p:ph type="title"/>
          </p:nvPr>
        </p:nvSpPr>
        <p:spPr/>
        <p:txBody>
          <a:bodyPr>
            <a:normAutofit/>
          </a:bodyPr>
          <a:lstStyle/>
          <a:p>
            <a:r>
              <a:rPr lang="en-US" sz="2800" dirty="0"/>
              <a:t>The Basic Meta-Analysis:</a:t>
            </a:r>
            <a:endParaRPr lang="en-US" sz="2900" dirty="0"/>
          </a:p>
        </p:txBody>
      </p:sp>
      <p:sp>
        <p:nvSpPr>
          <p:cNvPr id="3" name="Content Placeholder 2"/>
          <p:cNvSpPr>
            <a:spLocks noGrp="1"/>
          </p:cNvSpPr>
          <p:nvPr>
            <p:ph idx="1"/>
          </p:nvPr>
        </p:nvSpPr>
        <p:spPr>
          <a:xfrm>
            <a:off x="457200" y="997421"/>
            <a:ext cx="8229600" cy="5358929"/>
          </a:xfrm>
        </p:spPr>
        <p:txBody>
          <a:bodyPr>
            <a:normAutofit/>
          </a:bodyPr>
          <a:lstStyle/>
          <a:p>
            <a:pPr marL="457200" indent="-457200">
              <a:buFont typeface="+mj-lt"/>
              <a:buAutoNum type="arabicParenR"/>
            </a:pPr>
            <a:r>
              <a:rPr lang="en-US" sz="2200" dirty="0"/>
              <a:t>Correction for the sources of errors in effect sizes: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34</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52" y="2505829"/>
            <a:ext cx="7387408" cy="3759986"/>
          </a:xfrm>
          <a:prstGeom prst="rect">
            <a:avLst/>
          </a:prstGeom>
        </p:spPr>
      </p:pic>
      <p:sp>
        <p:nvSpPr>
          <p:cNvPr id="12" name="Freeform 11"/>
          <p:cNvSpPr/>
          <p:nvPr/>
        </p:nvSpPr>
        <p:spPr>
          <a:xfrm>
            <a:off x="3920148" y="1955551"/>
            <a:ext cx="2534969" cy="959667"/>
          </a:xfrm>
          <a:custGeom>
            <a:avLst/>
            <a:gdLst>
              <a:gd name="connsiteX0" fmla="*/ 2326741 w 2326741"/>
              <a:gd name="connsiteY0" fmla="*/ 0 h 959667"/>
              <a:gd name="connsiteX1" fmla="*/ 2181886 w 2326741"/>
              <a:gd name="connsiteY1" fmla="*/ 18107 h 959667"/>
              <a:gd name="connsiteX2" fmla="*/ 1865014 w 2326741"/>
              <a:gd name="connsiteY2" fmla="*/ 27160 h 959667"/>
              <a:gd name="connsiteX3" fmla="*/ 1747319 w 2326741"/>
              <a:gd name="connsiteY3" fmla="*/ 36214 h 959667"/>
              <a:gd name="connsiteX4" fmla="*/ 1674892 w 2326741"/>
              <a:gd name="connsiteY4" fmla="*/ 45267 h 959667"/>
              <a:gd name="connsiteX5" fmla="*/ 1584357 w 2326741"/>
              <a:gd name="connsiteY5" fmla="*/ 54321 h 959667"/>
              <a:gd name="connsiteX6" fmla="*/ 1530036 w 2326741"/>
              <a:gd name="connsiteY6" fmla="*/ 63374 h 959667"/>
              <a:gd name="connsiteX7" fmla="*/ 1421395 w 2326741"/>
              <a:gd name="connsiteY7" fmla="*/ 72428 h 959667"/>
              <a:gd name="connsiteX8" fmla="*/ 1376127 w 2326741"/>
              <a:gd name="connsiteY8" fmla="*/ 81481 h 959667"/>
              <a:gd name="connsiteX9" fmla="*/ 1285593 w 2326741"/>
              <a:gd name="connsiteY9" fmla="*/ 108641 h 959667"/>
              <a:gd name="connsiteX10" fmla="*/ 1167898 w 2326741"/>
              <a:gd name="connsiteY10" fmla="*/ 153909 h 959667"/>
              <a:gd name="connsiteX11" fmla="*/ 1095470 w 2326741"/>
              <a:gd name="connsiteY11" fmla="*/ 181069 h 959667"/>
              <a:gd name="connsiteX12" fmla="*/ 1059256 w 2326741"/>
              <a:gd name="connsiteY12" fmla="*/ 199176 h 959667"/>
              <a:gd name="connsiteX13" fmla="*/ 1004935 w 2326741"/>
              <a:gd name="connsiteY13" fmla="*/ 217283 h 959667"/>
              <a:gd name="connsiteX14" fmla="*/ 923454 w 2326741"/>
              <a:gd name="connsiteY14" fmla="*/ 262550 h 959667"/>
              <a:gd name="connsiteX15" fmla="*/ 851026 w 2326741"/>
              <a:gd name="connsiteY15" fmla="*/ 307818 h 959667"/>
              <a:gd name="connsiteX16" fmla="*/ 814812 w 2326741"/>
              <a:gd name="connsiteY16" fmla="*/ 325925 h 959667"/>
              <a:gd name="connsiteX17" fmla="*/ 769545 w 2326741"/>
              <a:gd name="connsiteY17" fmla="*/ 334978 h 959667"/>
              <a:gd name="connsiteX18" fmla="*/ 715224 w 2326741"/>
              <a:gd name="connsiteY18" fmla="*/ 353085 h 959667"/>
              <a:gd name="connsiteX19" fmla="*/ 633743 w 2326741"/>
              <a:gd name="connsiteY19" fmla="*/ 398352 h 959667"/>
              <a:gd name="connsiteX20" fmla="*/ 579422 w 2326741"/>
              <a:gd name="connsiteY20" fmla="*/ 434566 h 959667"/>
              <a:gd name="connsiteX21" fmla="*/ 506995 w 2326741"/>
              <a:gd name="connsiteY21" fmla="*/ 516047 h 959667"/>
              <a:gd name="connsiteX22" fmla="*/ 488888 w 2326741"/>
              <a:gd name="connsiteY22" fmla="*/ 570368 h 959667"/>
              <a:gd name="connsiteX23" fmla="*/ 470781 w 2326741"/>
              <a:gd name="connsiteY23" fmla="*/ 642796 h 959667"/>
              <a:gd name="connsiteX24" fmla="*/ 488888 w 2326741"/>
              <a:gd name="connsiteY24" fmla="*/ 841972 h 959667"/>
              <a:gd name="connsiteX25" fmla="*/ 497941 w 2326741"/>
              <a:gd name="connsiteY25" fmla="*/ 869133 h 959667"/>
              <a:gd name="connsiteX26" fmla="*/ 534155 w 2326741"/>
              <a:gd name="connsiteY26" fmla="*/ 923453 h 959667"/>
              <a:gd name="connsiteX27" fmla="*/ 588476 w 2326741"/>
              <a:gd name="connsiteY27" fmla="*/ 959667 h 959667"/>
              <a:gd name="connsiteX28" fmla="*/ 733331 w 2326741"/>
              <a:gd name="connsiteY28" fmla="*/ 950614 h 959667"/>
              <a:gd name="connsiteX29" fmla="*/ 760492 w 2326741"/>
              <a:gd name="connsiteY29" fmla="*/ 941560 h 959667"/>
              <a:gd name="connsiteX30" fmla="*/ 832919 w 2326741"/>
              <a:gd name="connsiteY30" fmla="*/ 860079 h 959667"/>
              <a:gd name="connsiteX31" fmla="*/ 841973 w 2326741"/>
              <a:gd name="connsiteY31" fmla="*/ 832919 h 959667"/>
              <a:gd name="connsiteX32" fmla="*/ 851026 w 2326741"/>
              <a:gd name="connsiteY32" fmla="*/ 787651 h 959667"/>
              <a:gd name="connsiteX33" fmla="*/ 841973 w 2326741"/>
              <a:gd name="connsiteY33" fmla="*/ 642796 h 959667"/>
              <a:gd name="connsiteX34" fmla="*/ 832919 w 2326741"/>
              <a:gd name="connsiteY34" fmla="*/ 606582 h 959667"/>
              <a:gd name="connsiteX35" fmla="*/ 805759 w 2326741"/>
              <a:gd name="connsiteY35" fmla="*/ 570368 h 959667"/>
              <a:gd name="connsiteX36" fmla="*/ 760492 w 2326741"/>
              <a:gd name="connsiteY36" fmla="*/ 506994 h 959667"/>
              <a:gd name="connsiteX37" fmla="*/ 742385 w 2326741"/>
              <a:gd name="connsiteY37" fmla="*/ 479834 h 959667"/>
              <a:gd name="connsiteX38" fmla="*/ 679010 w 2326741"/>
              <a:gd name="connsiteY38" fmla="*/ 443620 h 959667"/>
              <a:gd name="connsiteX39" fmla="*/ 642797 w 2326741"/>
              <a:gd name="connsiteY39" fmla="*/ 416459 h 959667"/>
              <a:gd name="connsiteX40" fmla="*/ 525101 w 2326741"/>
              <a:gd name="connsiteY40" fmla="*/ 362138 h 959667"/>
              <a:gd name="connsiteX41" fmla="*/ 479834 w 2326741"/>
              <a:gd name="connsiteY41" fmla="*/ 325925 h 959667"/>
              <a:gd name="connsiteX42" fmla="*/ 153909 w 2326741"/>
              <a:gd name="connsiteY42" fmla="*/ 172016 h 959667"/>
              <a:gd name="connsiteX43" fmla="*/ 63375 w 2326741"/>
              <a:gd name="connsiteY43" fmla="*/ 135802 h 959667"/>
              <a:gd name="connsiteX44" fmla="*/ 0 w 2326741"/>
              <a:gd name="connsiteY44" fmla="*/ 117695 h 9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6741" h="959667">
                <a:moveTo>
                  <a:pt x="2326741" y="0"/>
                </a:moveTo>
                <a:cubicBezTo>
                  <a:pt x="2263422" y="15829"/>
                  <a:pt x="2279128" y="13969"/>
                  <a:pt x="2181886" y="18107"/>
                </a:cubicBezTo>
                <a:cubicBezTo>
                  <a:pt x="2076314" y="22599"/>
                  <a:pt x="1970638" y="24142"/>
                  <a:pt x="1865014" y="27160"/>
                </a:cubicBezTo>
                <a:lnTo>
                  <a:pt x="1747319" y="36214"/>
                </a:lnTo>
                <a:cubicBezTo>
                  <a:pt x="1723098" y="38521"/>
                  <a:pt x="1699073" y="42580"/>
                  <a:pt x="1674892" y="45267"/>
                </a:cubicBezTo>
                <a:cubicBezTo>
                  <a:pt x="1644749" y="48616"/>
                  <a:pt x="1614452" y="50559"/>
                  <a:pt x="1584357" y="54321"/>
                </a:cubicBezTo>
                <a:cubicBezTo>
                  <a:pt x="1566142" y="56598"/>
                  <a:pt x="1548280" y="61347"/>
                  <a:pt x="1530036" y="63374"/>
                </a:cubicBezTo>
                <a:cubicBezTo>
                  <a:pt x="1493919" y="67387"/>
                  <a:pt x="1457609" y="69410"/>
                  <a:pt x="1421395" y="72428"/>
                </a:cubicBezTo>
                <a:cubicBezTo>
                  <a:pt x="1406306" y="75446"/>
                  <a:pt x="1391149" y="78143"/>
                  <a:pt x="1376127" y="81481"/>
                </a:cubicBezTo>
                <a:cubicBezTo>
                  <a:pt x="1344369" y="88538"/>
                  <a:pt x="1316480" y="96761"/>
                  <a:pt x="1285593" y="108641"/>
                </a:cubicBezTo>
                <a:cubicBezTo>
                  <a:pt x="1246361" y="123730"/>
                  <a:pt x="1206765" y="137905"/>
                  <a:pt x="1167898" y="153909"/>
                </a:cubicBezTo>
                <a:cubicBezTo>
                  <a:pt x="1094736" y="184035"/>
                  <a:pt x="1168581" y="162792"/>
                  <a:pt x="1095470" y="181069"/>
                </a:cubicBezTo>
                <a:cubicBezTo>
                  <a:pt x="1083399" y="187105"/>
                  <a:pt x="1071787" y="194164"/>
                  <a:pt x="1059256" y="199176"/>
                </a:cubicBezTo>
                <a:cubicBezTo>
                  <a:pt x="1041535" y="206265"/>
                  <a:pt x="1004935" y="217283"/>
                  <a:pt x="1004935" y="217283"/>
                </a:cubicBezTo>
                <a:cubicBezTo>
                  <a:pt x="942674" y="258791"/>
                  <a:pt x="971259" y="246616"/>
                  <a:pt x="923454" y="262550"/>
                </a:cubicBezTo>
                <a:cubicBezTo>
                  <a:pt x="895156" y="281416"/>
                  <a:pt x="883786" y="289618"/>
                  <a:pt x="851026" y="307818"/>
                </a:cubicBezTo>
                <a:cubicBezTo>
                  <a:pt x="839228" y="314372"/>
                  <a:pt x="827616" y="321657"/>
                  <a:pt x="814812" y="325925"/>
                </a:cubicBezTo>
                <a:cubicBezTo>
                  <a:pt x="800214" y="330791"/>
                  <a:pt x="784391" y="330929"/>
                  <a:pt x="769545" y="334978"/>
                </a:cubicBezTo>
                <a:cubicBezTo>
                  <a:pt x="751131" y="340000"/>
                  <a:pt x="732295" y="344549"/>
                  <a:pt x="715224" y="353085"/>
                </a:cubicBezTo>
                <a:cubicBezTo>
                  <a:pt x="674897" y="373248"/>
                  <a:pt x="675424" y="371828"/>
                  <a:pt x="633743" y="398352"/>
                </a:cubicBezTo>
                <a:cubicBezTo>
                  <a:pt x="615383" y="410035"/>
                  <a:pt x="594810" y="419178"/>
                  <a:pt x="579422" y="434566"/>
                </a:cubicBezTo>
                <a:cubicBezTo>
                  <a:pt x="563029" y="450959"/>
                  <a:pt x="519920" y="486965"/>
                  <a:pt x="506995" y="516047"/>
                </a:cubicBezTo>
                <a:cubicBezTo>
                  <a:pt x="499243" y="533488"/>
                  <a:pt x="493517" y="551851"/>
                  <a:pt x="488888" y="570368"/>
                </a:cubicBezTo>
                <a:lnTo>
                  <a:pt x="470781" y="642796"/>
                </a:lnTo>
                <a:cubicBezTo>
                  <a:pt x="477171" y="757830"/>
                  <a:pt x="467405" y="766781"/>
                  <a:pt x="488888" y="841972"/>
                </a:cubicBezTo>
                <a:cubicBezTo>
                  <a:pt x="491510" y="851148"/>
                  <a:pt x="493306" y="860791"/>
                  <a:pt x="497941" y="869133"/>
                </a:cubicBezTo>
                <a:cubicBezTo>
                  <a:pt x="508509" y="888156"/>
                  <a:pt x="516048" y="911382"/>
                  <a:pt x="534155" y="923453"/>
                </a:cubicBezTo>
                <a:lnTo>
                  <a:pt x="588476" y="959667"/>
                </a:lnTo>
                <a:cubicBezTo>
                  <a:pt x="636761" y="956649"/>
                  <a:pt x="685218" y="955679"/>
                  <a:pt x="733331" y="950614"/>
                </a:cubicBezTo>
                <a:cubicBezTo>
                  <a:pt x="742822" y="949615"/>
                  <a:pt x="752959" y="947419"/>
                  <a:pt x="760492" y="941560"/>
                </a:cubicBezTo>
                <a:cubicBezTo>
                  <a:pt x="780122" y="926292"/>
                  <a:pt x="818617" y="888682"/>
                  <a:pt x="832919" y="860079"/>
                </a:cubicBezTo>
                <a:cubicBezTo>
                  <a:pt x="837187" y="851543"/>
                  <a:pt x="839658" y="842177"/>
                  <a:pt x="841973" y="832919"/>
                </a:cubicBezTo>
                <a:cubicBezTo>
                  <a:pt x="845705" y="817990"/>
                  <a:pt x="848008" y="802740"/>
                  <a:pt x="851026" y="787651"/>
                </a:cubicBezTo>
                <a:cubicBezTo>
                  <a:pt x="848008" y="739366"/>
                  <a:pt x="846787" y="690935"/>
                  <a:pt x="841973" y="642796"/>
                </a:cubicBezTo>
                <a:cubicBezTo>
                  <a:pt x="840735" y="630415"/>
                  <a:pt x="838484" y="617711"/>
                  <a:pt x="832919" y="606582"/>
                </a:cubicBezTo>
                <a:cubicBezTo>
                  <a:pt x="826171" y="593086"/>
                  <a:pt x="814812" y="582439"/>
                  <a:pt x="805759" y="570368"/>
                </a:cubicBezTo>
                <a:cubicBezTo>
                  <a:pt x="789123" y="520463"/>
                  <a:pt x="807359" y="561672"/>
                  <a:pt x="760492" y="506994"/>
                </a:cubicBezTo>
                <a:cubicBezTo>
                  <a:pt x="753411" y="498733"/>
                  <a:pt x="750079" y="487528"/>
                  <a:pt x="742385" y="479834"/>
                </a:cubicBezTo>
                <a:cubicBezTo>
                  <a:pt x="725771" y="463221"/>
                  <a:pt x="697946" y="455455"/>
                  <a:pt x="679010" y="443620"/>
                </a:cubicBezTo>
                <a:cubicBezTo>
                  <a:pt x="666215" y="435623"/>
                  <a:pt x="655898" y="423945"/>
                  <a:pt x="642797" y="416459"/>
                </a:cubicBezTo>
                <a:cubicBezTo>
                  <a:pt x="573452" y="376833"/>
                  <a:pt x="575863" y="379059"/>
                  <a:pt x="525101" y="362138"/>
                </a:cubicBezTo>
                <a:cubicBezTo>
                  <a:pt x="510012" y="350067"/>
                  <a:pt x="495912" y="336644"/>
                  <a:pt x="479834" y="325925"/>
                </a:cubicBezTo>
                <a:cubicBezTo>
                  <a:pt x="398636" y="271793"/>
                  <a:pt x="180676" y="182723"/>
                  <a:pt x="153909" y="172016"/>
                </a:cubicBezTo>
                <a:cubicBezTo>
                  <a:pt x="123731" y="159945"/>
                  <a:pt x="94025" y="146620"/>
                  <a:pt x="63375" y="135802"/>
                </a:cubicBezTo>
                <a:cubicBezTo>
                  <a:pt x="42657" y="128490"/>
                  <a:pt x="0" y="117695"/>
                  <a:pt x="0" y="117695"/>
                </a:cubicBezTo>
              </a:path>
            </a:pathLst>
          </a:cu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9655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The Basic Meta-Analysis:</a:t>
            </a:r>
          </a:p>
        </p:txBody>
      </p:sp>
      <p:sp>
        <p:nvSpPr>
          <p:cNvPr id="3" name="Content Placeholder 2"/>
          <p:cNvSpPr>
            <a:spLocks noGrp="1"/>
          </p:cNvSpPr>
          <p:nvPr>
            <p:ph idx="1"/>
          </p:nvPr>
        </p:nvSpPr>
        <p:spPr>
          <a:xfrm>
            <a:off x="457200" y="1134928"/>
            <a:ext cx="8229600" cy="5051617"/>
          </a:xfrm>
        </p:spPr>
        <p:txBody>
          <a:bodyPr>
            <a:normAutofit fontScale="92500" lnSpcReduction="10000"/>
          </a:bodyPr>
          <a:lstStyle/>
          <a:p>
            <a:pPr marL="514350" indent="-514350">
              <a:lnSpc>
                <a:spcPct val="120000"/>
              </a:lnSpc>
              <a:buFont typeface="+mj-lt"/>
              <a:buAutoNum type="arabicParenR" startAt="2"/>
            </a:pPr>
            <a:r>
              <a:rPr lang="en-US" altLang="x-none" sz="2000" dirty="0"/>
              <a:t>Transform Corrected Correlations to Fisher’s Z (standardization)</a:t>
            </a:r>
          </a:p>
          <a:p>
            <a:pPr marL="914400" lvl="1" indent="-514350">
              <a:lnSpc>
                <a:spcPct val="120000"/>
              </a:lnSpc>
            </a:pPr>
            <a:r>
              <a:rPr lang="en-US" altLang="x-none" sz="1800" dirty="0"/>
              <a:t>We normalize the corrected correlations using:</a:t>
            </a:r>
          </a:p>
          <a:p>
            <a:pPr marL="914400" lvl="1" indent="-514350">
              <a:lnSpc>
                <a:spcPct val="120000"/>
              </a:lnSpc>
            </a:pPr>
            <a:endParaRPr lang="en-US" altLang="x-none" sz="1800" dirty="0"/>
          </a:p>
          <a:p>
            <a:pPr marL="914400" lvl="1" indent="-514350">
              <a:lnSpc>
                <a:spcPct val="120000"/>
              </a:lnSpc>
            </a:pPr>
            <a:endParaRPr lang="en-US" altLang="x-none" sz="1800" dirty="0"/>
          </a:p>
          <a:p>
            <a:pPr marL="914400" lvl="1" indent="-514350">
              <a:lnSpc>
                <a:spcPct val="120000"/>
              </a:lnSpc>
            </a:pPr>
            <a:endParaRPr lang="en-US" altLang="x-none" sz="1800" dirty="0"/>
          </a:p>
          <a:p>
            <a:pPr marL="914400" lvl="1" indent="-514350">
              <a:lnSpc>
                <a:spcPct val="120000"/>
              </a:lnSpc>
            </a:pPr>
            <a:endParaRPr lang="en-US" altLang="x-none" sz="1800" dirty="0"/>
          </a:p>
          <a:p>
            <a:pPr marL="914400" lvl="1" indent="-514350">
              <a:lnSpc>
                <a:spcPct val="120000"/>
              </a:lnSpc>
            </a:pPr>
            <a:endParaRPr lang="en-US" altLang="x-none" sz="1800" dirty="0"/>
          </a:p>
          <a:p>
            <a:pPr marL="0" indent="0">
              <a:lnSpc>
                <a:spcPct val="120000"/>
              </a:lnSpc>
              <a:spcBef>
                <a:spcPct val="50000"/>
              </a:spcBef>
              <a:buNone/>
            </a:pPr>
            <a:r>
              <a:rPr lang="en-US" altLang="x-none" dirty="0">
                <a:latin typeface="Times New Roman" charset="0"/>
              </a:rPr>
              <a:t>			= 0.5 x ln (( 1 + .49)/(1 - .49))</a:t>
            </a:r>
          </a:p>
          <a:p>
            <a:pPr marL="0" indent="0">
              <a:lnSpc>
                <a:spcPct val="120000"/>
              </a:lnSpc>
              <a:spcBef>
                <a:spcPct val="50000"/>
              </a:spcBef>
              <a:buNone/>
            </a:pPr>
            <a:r>
              <a:rPr lang="en-US" altLang="x-none" dirty="0">
                <a:latin typeface="Times New Roman" charset="0"/>
              </a:rPr>
              <a:t>			= 0.53.</a:t>
            </a:r>
          </a:p>
          <a:p>
            <a:pPr marL="914400" lvl="1" indent="-514350">
              <a:lnSpc>
                <a:spcPct val="120000"/>
              </a:lnSpc>
            </a:pPr>
            <a:endParaRPr lang="en-US" altLang="x-none" sz="1800" dirty="0"/>
          </a:p>
          <a:p>
            <a:pPr marL="914400" lvl="1" indent="-514350">
              <a:lnSpc>
                <a:spcPct val="120000"/>
              </a:lnSpc>
            </a:pPr>
            <a:r>
              <a:rPr lang="en-US" altLang="x-none" sz="1800" dirty="0"/>
              <a:t>Depending on the tools that you use, you may need to do this transformation manually (e.g., in SPSS macros provided by Wilson (2001)).</a:t>
            </a:r>
          </a:p>
          <a:p>
            <a:pPr marL="1314450" lvl="2" indent="-514350">
              <a:lnSpc>
                <a:spcPct val="120000"/>
              </a:lnSpc>
            </a:pPr>
            <a:r>
              <a:rPr lang="en-US" altLang="x-none" sz="1600" dirty="0"/>
              <a:t>Some tools can do the transformation for you, such as </a:t>
            </a:r>
            <a:r>
              <a:rPr lang="en-US" altLang="x-none" sz="1600" dirty="0" err="1"/>
              <a:t>metafor</a:t>
            </a:r>
            <a:r>
              <a:rPr lang="en-US" altLang="x-none" sz="1600" dirty="0"/>
              <a:t> package in R or Mix 2.0 software.</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35</a:t>
            </a:fld>
            <a:endParaRPr lang="en-US"/>
          </a:p>
        </p:txBody>
      </p:sp>
      <p:graphicFrame>
        <p:nvGraphicFramePr>
          <p:cNvPr id="9" name="Object 4"/>
          <p:cNvGraphicFramePr>
            <a:graphicFrameLocks noChangeAspect="1"/>
          </p:cNvGraphicFramePr>
          <p:nvPr>
            <p:extLst>
              <p:ext uri="{D42A27DB-BD31-4B8C-83A1-F6EECF244321}">
                <p14:modId xmlns:p14="http://schemas.microsoft.com/office/powerpoint/2010/main" val="239784005"/>
              </p:ext>
            </p:extLst>
          </p:nvPr>
        </p:nvGraphicFramePr>
        <p:xfrm>
          <a:off x="2786407" y="2303918"/>
          <a:ext cx="3571186" cy="1257230"/>
        </p:xfrm>
        <a:graphic>
          <a:graphicData uri="http://schemas.openxmlformats.org/presentationml/2006/ole">
            <mc:AlternateContent xmlns:mc="http://schemas.openxmlformats.org/markup-compatibility/2006">
              <mc:Choice xmlns:v="urn:schemas-microsoft-com:vml" Requires="v">
                <p:oleObj spid="_x0000_s31286" name="Equation" r:id="rId3" imgW="1143000" imgH="431640" progId="Equation.3">
                  <p:embed/>
                </p:oleObj>
              </mc:Choice>
              <mc:Fallback>
                <p:oleObj name="Equation" r:id="rId3" imgW="114300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407" y="2303918"/>
                        <a:ext cx="3571186" cy="125723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60040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08321"/>
            <a:ext cx="9144000" cy="3674207"/>
          </a:xfrm>
          <a:prstGeom prst="rect">
            <a:avLst/>
          </a:prstGeom>
        </p:spPr>
      </p:pic>
      <p:sp>
        <p:nvSpPr>
          <p:cNvPr id="2" name="Title 1"/>
          <p:cNvSpPr>
            <a:spLocks noGrp="1"/>
          </p:cNvSpPr>
          <p:nvPr>
            <p:ph type="title"/>
          </p:nvPr>
        </p:nvSpPr>
        <p:spPr/>
        <p:txBody>
          <a:bodyPr>
            <a:normAutofit/>
          </a:bodyPr>
          <a:lstStyle/>
          <a:p>
            <a:r>
              <a:rPr lang="en-US" sz="2800" dirty="0"/>
              <a:t>The Basic Meta-Analysis:</a:t>
            </a:r>
            <a:endParaRPr lang="en-US" sz="2900" dirty="0"/>
          </a:p>
        </p:txBody>
      </p:sp>
      <p:sp>
        <p:nvSpPr>
          <p:cNvPr id="3" name="Content Placeholder 2"/>
          <p:cNvSpPr>
            <a:spLocks noGrp="1"/>
          </p:cNvSpPr>
          <p:nvPr>
            <p:ph idx="1"/>
          </p:nvPr>
        </p:nvSpPr>
        <p:spPr>
          <a:xfrm>
            <a:off x="457200" y="997421"/>
            <a:ext cx="8229600" cy="5358929"/>
          </a:xfrm>
        </p:spPr>
        <p:txBody>
          <a:bodyPr>
            <a:normAutofit/>
          </a:bodyPr>
          <a:lstStyle/>
          <a:p>
            <a:pPr marL="514350" indent="-514350">
              <a:lnSpc>
                <a:spcPct val="80000"/>
              </a:lnSpc>
              <a:buFont typeface="+mj-lt"/>
              <a:buAutoNum type="arabicParenR" startAt="2"/>
            </a:pPr>
            <a:r>
              <a:rPr lang="en-US" altLang="x-none" sz="2000" dirty="0"/>
              <a:t>Transform Corrected Correlations to Fisher’s Z (standardization)</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36</a:t>
            </a:fld>
            <a:endParaRPr lang="en-US"/>
          </a:p>
        </p:txBody>
      </p:sp>
      <p:graphicFrame>
        <p:nvGraphicFramePr>
          <p:cNvPr id="9" name="Object 4"/>
          <p:cNvGraphicFramePr>
            <a:graphicFrameLocks noChangeAspect="1"/>
          </p:cNvGraphicFramePr>
          <p:nvPr>
            <p:extLst>
              <p:ext uri="{D42A27DB-BD31-4B8C-83A1-F6EECF244321}">
                <p14:modId xmlns:p14="http://schemas.microsoft.com/office/powerpoint/2010/main" val="487861548"/>
              </p:ext>
            </p:extLst>
          </p:nvPr>
        </p:nvGraphicFramePr>
        <p:xfrm>
          <a:off x="3339975" y="1519767"/>
          <a:ext cx="2314264" cy="814732"/>
        </p:xfrm>
        <a:graphic>
          <a:graphicData uri="http://schemas.openxmlformats.org/presentationml/2006/ole">
            <mc:AlternateContent xmlns:mc="http://schemas.openxmlformats.org/markup-compatibility/2006">
              <mc:Choice xmlns:v="urn:schemas-microsoft-com:vml" Requires="v">
                <p:oleObj spid="_x0000_s32299" name="Equation" r:id="rId4" imgW="1143000" imgH="431640" progId="Equation.3">
                  <p:embed/>
                </p:oleObj>
              </mc:Choice>
              <mc:Fallback>
                <p:oleObj name="Equation" r:id="rId4" imgW="114300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9975" y="1519767"/>
                        <a:ext cx="2314264" cy="814732"/>
                      </a:xfrm>
                      <a:prstGeom prst="rect">
                        <a:avLst/>
                      </a:prstGeom>
                      <a:noFill/>
                      <a:ln>
                        <a:noFill/>
                      </a:ln>
                      <a:effectLst/>
                    </p:spPr>
                  </p:pic>
                </p:oleObj>
              </mc:Fallback>
            </mc:AlternateContent>
          </a:graphicData>
        </a:graphic>
      </p:graphicFrame>
      <p:sp>
        <p:nvSpPr>
          <p:cNvPr id="13" name="Freeform 12"/>
          <p:cNvSpPr/>
          <p:nvPr/>
        </p:nvSpPr>
        <p:spPr>
          <a:xfrm>
            <a:off x="5667469" y="1946495"/>
            <a:ext cx="860080" cy="832919"/>
          </a:xfrm>
          <a:custGeom>
            <a:avLst/>
            <a:gdLst>
              <a:gd name="connsiteX0" fmla="*/ 162963 w 860080"/>
              <a:gd name="connsiteY0" fmla="*/ 0 h 832919"/>
              <a:gd name="connsiteX1" fmla="*/ 190123 w 860080"/>
              <a:gd name="connsiteY1" fmla="*/ 36214 h 832919"/>
              <a:gd name="connsiteX2" fmla="*/ 208230 w 860080"/>
              <a:gd name="connsiteY2" fmla="*/ 63374 h 832919"/>
              <a:gd name="connsiteX3" fmla="*/ 271604 w 860080"/>
              <a:gd name="connsiteY3" fmla="*/ 144855 h 832919"/>
              <a:gd name="connsiteX4" fmla="*/ 289711 w 860080"/>
              <a:gd name="connsiteY4" fmla="*/ 172016 h 832919"/>
              <a:gd name="connsiteX5" fmla="*/ 334979 w 860080"/>
              <a:gd name="connsiteY5" fmla="*/ 208230 h 832919"/>
              <a:gd name="connsiteX6" fmla="*/ 362139 w 860080"/>
              <a:gd name="connsiteY6" fmla="*/ 235390 h 832919"/>
              <a:gd name="connsiteX7" fmla="*/ 425513 w 860080"/>
              <a:gd name="connsiteY7" fmla="*/ 280657 h 832919"/>
              <a:gd name="connsiteX8" fmla="*/ 479834 w 860080"/>
              <a:gd name="connsiteY8" fmla="*/ 344032 h 832919"/>
              <a:gd name="connsiteX9" fmla="*/ 497941 w 860080"/>
              <a:gd name="connsiteY9" fmla="*/ 371192 h 832919"/>
              <a:gd name="connsiteX10" fmla="*/ 525101 w 860080"/>
              <a:gd name="connsiteY10" fmla="*/ 407406 h 832919"/>
              <a:gd name="connsiteX11" fmla="*/ 570369 w 860080"/>
              <a:gd name="connsiteY11" fmla="*/ 479834 h 832919"/>
              <a:gd name="connsiteX12" fmla="*/ 588476 w 860080"/>
              <a:gd name="connsiteY12" fmla="*/ 543208 h 832919"/>
              <a:gd name="connsiteX13" fmla="*/ 597529 w 860080"/>
              <a:gd name="connsiteY13" fmla="*/ 570368 h 832919"/>
              <a:gd name="connsiteX14" fmla="*/ 588476 w 860080"/>
              <a:gd name="connsiteY14" fmla="*/ 669956 h 832919"/>
              <a:gd name="connsiteX15" fmla="*/ 570369 w 860080"/>
              <a:gd name="connsiteY15" fmla="*/ 697117 h 832919"/>
              <a:gd name="connsiteX16" fmla="*/ 516048 w 860080"/>
              <a:gd name="connsiteY16" fmla="*/ 751438 h 832919"/>
              <a:gd name="connsiteX17" fmla="*/ 407406 w 860080"/>
              <a:gd name="connsiteY17" fmla="*/ 814812 h 832919"/>
              <a:gd name="connsiteX18" fmla="*/ 334979 w 860080"/>
              <a:gd name="connsiteY18" fmla="*/ 832919 h 832919"/>
              <a:gd name="connsiteX19" fmla="*/ 181070 w 860080"/>
              <a:gd name="connsiteY19" fmla="*/ 823865 h 832919"/>
              <a:gd name="connsiteX20" fmla="*/ 144856 w 860080"/>
              <a:gd name="connsiteY20" fmla="*/ 814812 h 832919"/>
              <a:gd name="connsiteX21" fmla="*/ 72428 w 860080"/>
              <a:gd name="connsiteY21" fmla="*/ 805758 h 832919"/>
              <a:gd name="connsiteX22" fmla="*/ 18107 w 860080"/>
              <a:gd name="connsiteY22" fmla="*/ 796705 h 832919"/>
              <a:gd name="connsiteX23" fmla="*/ 0 w 860080"/>
              <a:gd name="connsiteY23" fmla="*/ 733331 h 832919"/>
              <a:gd name="connsiteX24" fmla="*/ 9054 w 860080"/>
              <a:gd name="connsiteY24" fmla="*/ 697117 h 832919"/>
              <a:gd name="connsiteX25" fmla="*/ 72428 w 860080"/>
              <a:gd name="connsiteY25" fmla="*/ 633743 h 832919"/>
              <a:gd name="connsiteX26" fmla="*/ 108642 w 860080"/>
              <a:gd name="connsiteY26" fmla="*/ 615636 h 832919"/>
              <a:gd name="connsiteX27" fmla="*/ 144856 w 860080"/>
              <a:gd name="connsiteY27" fmla="*/ 606582 h 832919"/>
              <a:gd name="connsiteX28" fmla="*/ 172016 w 860080"/>
              <a:gd name="connsiteY28" fmla="*/ 597529 h 832919"/>
              <a:gd name="connsiteX29" fmla="*/ 217283 w 860080"/>
              <a:gd name="connsiteY29" fmla="*/ 561315 h 832919"/>
              <a:gd name="connsiteX30" fmla="*/ 253497 w 860080"/>
              <a:gd name="connsiteY30" fmla="*/ 543208 h 832919"/>
              <a:gd name="connsiteX31" fmla="*/ 280658 w 860080"/>
              <a:gd name="connsiteY31" fmla="*/ 516048 h 832919"/>
              <a:gd name="connsiteX32" fmla="*/ 334979 w 860080"/>
              <a:gd name="connsiteY32" fmla="*/ 479834 h 832919"/>
              <a:gd name="connsiteX33" fmla="*/ 362139 w 860080"/>
              <a:gd name="connsiteY33" fmla="*/ 461727 h 832919"/>
              <a:gd name="connsiteX34" fmla="*/ 470781 w 860080"/>
              <a:gd name="connsiteY34" fmla="*/ 407406 h 832919"/>
              <a:gd name="connsiteX35" fmla="*/ 506994 w 860080"/>
              <a:gd name="connsiteY35" fmla="*/ 389299 h 832919"/>
              <a:gd name="connsiteX36" fmla="*/ 588476 w 860080"/>
              <a:gd name="connsiteY36" fmla="*/ 334978 h 832919"/>
              <a:gd name="connsiteX37" fmla="*/ 679010 w 860080"/>
              <a:gd name="connsiteY37" fmla="*/ 298764 h 832919"/>
              <a:gd name="connsiteX38" fmla="*/ 769545 w 860080"/>
              <a:gd name="connsiteY38" fmla="*/ 262551 h 832919"/>
              <a:gd name="connsiteX39" fmla="*/ 814812 w 860080"/>
              <a:gd name="connsiteY39" fmla="*/ 244444 h 832919"/>
              <a:gd name="connsiteX40" fmla="*/ 851026 w 860080"/>
              <a:gd name="connsiteY40" fmla="*/ 235390 h 832919"/>
              <a:gd name="connsiteX41" fmla="*/ 860080 w 860080"/>
              <a:gd name="connsiteY41" fmla="*/ 226337 h 83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860080" h="832919">
                <a:moveTo>
                  <a:pt x="162963" y="0"/>
                </a:moveTo>
                <a:cubicBezTo>
                  <a:pt x="172016" y="12071"/>
                  <a:pt x="181353" y="23936"/>
                  <a:pt x="190123" y="36214"/>
                </a:cubicBezTo>
                <a:cubicBezTo>
                  <a:pt x="196447" y="45068"/>
                  <a:pt x="201701" y="54669"/>
                  <a:pt x="208230" y="63374"/>
                </a:cubicBezTo>
                <a:cubicBezTo>
                  <a:pt x="228875" y="90901"/>
                  <a:pt x="252518" y="116225"/>
                  <a:pt x="271604" y="144855"/>
                </a:cubicBezTo>
                <a:cubicBezTo>
                  <a:pt x="277640" y="153909"/>
                  <a:pt x="282017" y="164322"/>
                  <a:pt x="289711" y="172016"/>
                </a:cubicBezTo>
                <a:cubicBezTo>
                  <a:pt x="303375" y="185680"/>
                  <a:pt x="320436" y="195505"/>
                  <a:pt x="334979" y="208230"/>
                </a:cubicBezTo>
                <a:cubicBezTo>
                  <a:pt x="344615" y="216661"/>
                  <a:pt x="352418" y="227058"/>
                  <a:pt x="362139" y="235390"/>
                </a:cubicBezTo>
                <a:cubicBezTo>
                  <a:pt x="381797" y="252240"/>
                  <a:pt x="404013" y="266324"/>
                  <a:pt x="425513" y="280657"/>
                </a:cubicBezTo>
                <a:cubicBezTo>
                  <a:pt x="467080" y="343009"/>
                  <a:pt x="413975" y="267198"/>
                  <a:pt x="479834" y="344032"/>
                </a:cubicBezTo>
                <a:cubicBezTo>
                  <a:pt x="486915" y="352293"/>
                  <a:pt x="491617" y="362338"/>
                  <a:pt x="497941" y="371192"/>
                </a:cubicBezTo>
                <a:cubicBezTo>
                  <a:pt x="506711" y="383470"/>
                  <a:pt x="516731" y="394851"/>
                  <a:pt x="525101" y="407406"/>
                </a:cubicBezTo>
                <a:cubicBezTo>
                  <a:pt x="540893" y="431095"/>
                  <a:pt x="570369" y="479834"/>
                  <a:pt x="570369" y="479834"/>
                </a:cubicBezTo>
                <a:cubicBezTo>
                  <a:pt x="592075" y="544954"/>
                  <a:pt x="565740" y="463633"/>
                  <a:pt x="588476" y="543208"/>
                </a:cubicBezTo>
                <a:cubicBezTo>
                  <a:pt x="591098" y="552384"/>
                  <a:pt x="594511" y="561315"/>
                  <a:pt x="597529" y="570368"/>
                </a:cubicBezTo>
                <a:cubicBezTo>
                  <a:pt x="594511" y="603564"/>
                  <a:pt x="595460" y="637363"/>
                  <a:pt x="588476" y="669956"/>
                </a:cubicBezTo>
                <a:cubicBezTo>
                  <a:pt x="586196" y="680596"/>
                  <a:pt x="577598" y="688984"/>
                  <a:pt x="570369" y="697117"/>
                </a:cubicBezTo>
                <a:cubicBezTo>
                  <a:pt x="553357" y="716256"/>
                  <a:pt x="537763" y="737866"/>
                  <a:pt x="516048" y="751438"/>
                </a:cubicBezTo>
                <a:cubicBezTo>
                  <a:pt x="479492" y="774285"/>
                  <a:pt x="446654" y="797992"/>
                  <a:pt x="407406" y="814812"/>
                </a:cubicBezTo>
                <a:cubicBezTo>
                  <a:pt x="383050" y="825250"/>
                  <a:pt x="361543" y="827606"/>
                  <a:pt x="334979" y="832919"/>
                </a:cubicBezTo>
                <a:cubicBezTo>
                  <a:pt x="283676" y="829901"/>
                  <a:pt x="232230" y="828737"/>
                  <a:pt x="181070" y="823865"/>
                </a:cubicBezTo>
                <a:cubicBezTo>
                  <a:pt x="168683" y="822685"/>
                  <a:pt x="157130" y="816858"/>
                  <a:pt x="144856" y="814812"/>
                </a:cubicBezTo>
                <a:cubicBezTo>
                  <a:pt x="120856" y="810812"/>
                  <a:pt x="96514" y="809199"/>
                  <a:pt x="72428" y="805758"/>
                </a:cubicBezTo>
                <a:cubicBezTo>
                  <a:pt x="54256" y="803162"/>
                  <a:pt x="36214" y="799723"/>
                  <a:pt x="18107" y="796705"/>
                </a:cubicBezTo>
                <a:cubicBezTo>
                  <a:pt x="13838" y="783899"/>
                  <a:pt x="0" y="744696"/>
                  <a:pt x="0" y="733331"/>
                </a:cubicBezTo>
                <a:cubicBezTo>
                  <a:pt x="0" y="720888"/>
                  <a:pt x="3489" y="708246"/>
                  <a:pt x="9054" y="697117"/>
                </a:cubicBezTo>
                <a:cubicBezTo>
                  <a:pt x="23321" y="668583"/>
                  <a:pt x="46089" y="650205"/>
                  <a:pt x="72428" y="633743"/>
                </a:cubicBezTo>
                <a:cubicBezTo>
                  <a:pt x="83873" y="626590"/>
                  <a:pt x="96005" y="620375"/>
                  <a:pt x="108642" y="615636"/>
                </a:cubicBezTo>
                <a:cubicBezTo>
                  <a:pt x="120293" y="611267"/>
                  <a:pt x="132892" y="610000"/>
                  <a:pt x="144856" y="606582"/>
                </a:cubicBezTo>
                <a:cubicBezTo>
                  <a:pt x="154032" y="603960"/>
                  <a:pt x="162963" y="600547"/>
                  <a:pt x="172016" y="597529"/>
                </a:cubicBezTo>
                <a:cubicBezTo>
                  <a:pt x="187105" y="585458"/>
                  <a:pt x="201205" y="572034"/>
                  <a:pt x="217283" y="561315"/>
                </a:cubicBezTo>
                <a:cubicBezTo>
                  <a:pt x="228512" y="553829"/>
                  <a:pt x="242515" y="551052"/>
                  <a:pt x="253497" y="543208"/>
                </a:cubicBezTo>
                <a:cubicBezTo>
                  <a:pt x="263916" y="535766"/>
                  <a:pt x="270551" y="523909"/>
                  <a:pt x="280658" y="516048"/>
                </a:cubicBezTo>
                <a:cubicBezTo>
                  <a:pt x="297836" y="502688"/>
                  <a:pt x="316872" y="491905"/>
                  <a:pt x="334979" y="479834"/>
                </a:cubicBezTo>
                <a:cubicBezTo>
                  <a:pt x="344032" y="473798"/>
                  <a:pt x="352407" y="466593"/>
                  <a:pt x="362139" y="461727"/>
                </a:cubicBezTo>
                <a:lnTo>
                  <a:pt x="470781" y="407406"/>
                </a:lnTo>
                <a:cubicBezTo>
                  <a:pt x="482852" y="401370"/>
                  <a:pt x="496197" y="397396"/>
                  <a:pt x="506994" y="389299"/>
                </a:cubicBezTo>
                <a:cubicBezTo>
                  <a:pt x="533797" y="369197"/>
                  <a:pt x="557662" y="349358"/>
                  <a:pt x="588476" y="334978"/>
                </a:cubicBezTo>
                <a:cubicBezTo>
                  <a:pt x="617929" y="321233"/>
                  <a:pt x="648832" y="310835"/>
                  <a:pt x="679010" y="298764"/>
                </a:cubicBezTo>
                <a:lnTo>
                  <a:pt x="769545" y="262551"/>
                </a:lnTo>
                <a:cubicBezTo>
                  <a:pt x="784634" y="256515"/>
                  <a:pt x="799046" y="248386"/>
                  <a:pt x="814812" y="244444"/>
                </a:cubicBezTo>
                <a:cubicBezTo>
                  <a:pt x="826883" y="241426"/>
                  <a:pt x="839473" y="240011"/>
                  <a:pt x="851026" y="235390"/>
                </a:cubicBezTo>
                <a:cubicBezTo>
                  <a:pt x="854989" y="233805"/>
                  <a:pt x="857062" y="229355"/>
                  <a:pt x="860080" y="226337"/>
                </a:cubicBezTo>
              </a:path>
            </a:pathLst>
          </a:cu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266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334977" y="1134928"/>
            <a:ext cx="8492151" cy="5051617"/>
          </a:xfrm>
        </p:spPr>
        <p:txBody>
          <a:bodyPr>
            <a:normAutofit/>
          </a:bodyPr>
          <a:lstStyle/>
          <a:p>
            <a:pPr marL="514350" indent="-514350" algn="just">
              <a:lnSpc>
                <a:spcPct val="80000"/>
              </a:lnSpc>
              <a:buFont typeface="+mj-lt"/>
              <a:buAutoNum type="arabicParenR" startAt="3"/>
            </a:pPr>
            <a:r>
              <a:rPr lang="en-US" altLang="x-none" sz="2000" dirty="0"/>
              <a:t>Weight the effect sizes</a:t>
            </a:r>
          </a:p>
          <a:p>
            <a:pPr marL="914400" lvl="1" indent="-514350" algn="just">
              <a:lnSpc>
                <a:spcPct val="80000"/>
              </a:lnSpc>
            </a:pPr>
            <a:r>
              <a:rPr lang="en-US" altLang="x-none" sz="1800" dirty="0"/>
              <a:t>The standard error (SE) is a direct index of ES precision.</a:t>
            </a:r>
          </a:p>
          <a:p>
            <a:pPr marL="1314450" lvl="2" indent="-514350" algn="just">
              <a:lnSpc>
                <a:spcPct val="80000"/>
              </a:lnSpc>
            </a:pPr>
            <a:r>
              <a:rPr lang="en-US" altLang="x-none" sz="1600" dirty="0"/>
              <a:t>The smaller the SE, the more precise the ES.</a:t>
            </a:r>
          </a:p>
          <a:p>
            <a:pPr marL="1771650" lvl="3" indent="-514350" algn="just">
              <a:lnSpc>
                <a:spcPct val="80000"/>
              </a:lnSpc>
            </a:pPr>
            <a:r>
              <a:rPr lang="en-US" altLang="x-none" sz="1400" dirty="0"/>
              <a:t>We would like to reduce the effect of effect sizes that are less precise (have larger SE) on our results.</a:t>
            </a:r>
          </a:p>
          <a:p>
            <a:pPr marL="1314450" lvl="2" indent="-514350" algn="just">
              <a:lnSpc>
                <a:spcPct val="80000"/>
              </a:lnSpc>
            </a:pPr>
            <a:r>
              <a:rPr lang="en-US" altLang="x-none" sz="1600" dirty="0"/>
              <a:t>Hedges showed that the optimal weight for effect sizes is:</a:t>
            </a:r>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lvl="1" algn="just"/>
            <a:endParaRPr lang="en-US" sz="1800" dirty="0"/>
          </a:p>
          <a:p>
            <a:pPr lvl="1" algn="just"/>
            <a:r>
              <a:rPr lang="en-US" sz="1800" dirty="0"/>
              <a:t>The weight (w) for the transformed r (</a:t>
            </a:r>
            <a:r>
              <a:rPr lang="en-US" sz="1800" dirty="0" err="1"/>
              <a:t>Zr</a:t>
            </a:r>
            <a:r>
              <a:rPr lang="en-US" sz="1800" dirty="0"/>
              <a:t>) is simply:</a:t>
            </a:r>
          </a:p>
          <a:p>
            <a:pPr lvl="2"/>
            <a:r>
              <a:rPr lang="en-US" sz="1600" dirty="0"/>
              <a:t>n = sample size for the pertinent effect size.</a:t>
            </a:r>
          </a:p>
          <a:p>
            <a:pPr marL="457200" lvl="1" indent="0">
              <a:buNone/>
            </a:pPr>
            <a:r>
              <a:rPr lang="en-US" sz="3600" i="1" dirty="0">
                <a:solidFill>
                  <a:schemeClr val="tx1"/>
                </a:solidFill>
              </a:rPr>
              <a:t>						w = n-3 </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37</a:t>
            </a:fld>
            <a:endParaRPr lang="en-US"/>
          </a:p>
        </p:txBody>
      </p:sp>
      <p:graphicFrame>
        <p:nvGraphicFramePr>
          <p:cNvPr id="9" name="Object 4"/>
          <p:cNvGraphicFramePr>
            <a:graphicFrameLocks noChangeAspect="1"/>
          </p:cNvGraphicFramePr>
          <p:nvPr>
            <p:extLst>
              <p:ext uri="{D42A27DB-BD31-4B8C-83A1-F6EECF244321}">
                <p14:modId xmlns:p14="http://schemas.microsoft.com/office/powerpoint/2010/main" val="1261688427"/>
              </p:ext>
            </p:extLst>
          </p:nvPr>
        </p:nvGraphicFramePr>
        <p:xfrm>
          <a:off x="3623271" y="2816915"/>
          <a:ext cx="1915562" cy="1267191"/>
        </p:xfrm>
        <a:graphic>
          <a:graphicData uri="http://schemas.openxmlformats.org/presentationml/2006/ole">
            <mc:AlternateContent xmlns:mc="http://schemas.openxmlformats.org/markup-compatibility/2006">
              <mc:Choice xmlns:v="urn:schemas-microsoft-com:vml" Requires="v">
                <p:oleObj spid="_x0000_s38441" name="Equation" r:id="rId3" imgW="571320" imgH="393480" progId="Equation.3">
                  <p:embed/>
                </p:oleObj>
              </mc:Choice>
              <mc:Fallback>
                <p:oleObj name="Equation" r:id="rId3" imgW="57132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271" y="2816915"/>
                        <a:ext cx="1915562" cy="126719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97757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39900"/>
            <a:ext cx="9144000" cy="3355335"/>
          </a:xfrm>
          <a:prstGeom prst="rect">
            <a:avLst/>
          </a:prstGeom>
        </p:spPr>
      </p:pic>
      <p:sp>
        <p:nvSpPr>
          <p:cNvPr id="2" name="Title 1"/>
          <p:cNvSpPr>
            <a:spLocks noGrp="1"/>
          </p:cNvSpPr>
          <p:nvPr>
            <p:ph type="title"/>
          </p:nvPr>
        </p:nvSpPr>
        <p:spPr/>
        <p:txBody>
          <a:bodyPr>
            <a:normAutofit/>
          </a:bodyPr>
          <a:lstStyle/>
          <a:p>
            <a:r>
              <a:rPr lang="en-US" sz="2900" dirty="0"/>
              <a:t>The Basic Meta-Analysis:</a:t>
            </a:r>
          </a:p>
        </p:txBody>
      </p:sp>
      <p:sp>
        <p:nvSpPr>
          <p:cNvPr id="3" name="Content Placeholder 2"/>
          <p:cNvSpPr>
            <a:spLocks noGrp="1"/>
          </p:cNvSpPr>
          <p:nvPr>
            <p:ph idx="1"/>
          </p:nvPr>
        </p:nvSpPr>
        <p:spPr>
          <a:xfrm>
            <a:off x="334977" y="1134929"/>
            <a:ext cx="8492151" cy="4351472"/>
          </a:xfrm>
        </p:spPr>
        <p:txBody>
          <a:bodyPr>
            <a:normAutofit/>
          </a:bodyPr>
          <a:lstStyle/>
          <a:p>
            <a:pPr marL="514350" indent="-514350" algn="just">
              <a:lnSpc>
                <a:spcPct val="80000"/>
              </a:lnSpc>
              <a:buFont typeface="+mj-lt"/>
              <a:buAutoNum type="arabicParenR" startAt="3"/>
            </a:pPr>
            <a:r>
              <a:rPr lang="en-US" altLang="x-none" sz="2000" dirty="0"/>
              <a:t>Weight the z-transformed effect sizes:</a:t>
            </a:r>
          </a:p>
          <a:p>
            <a:pPr marL="0" indent="0">
              <a:lnSpc>
                <a:spcPct val="80000"/>
              </a:lnSpc>
              <a:buNone/>
            </a:pPr>
            <a:endParaRPr lang="en-US" altLang="x-none" sz="20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38</a:t>
            </a:fld>
            <a:endParaRPr lang="en-US"/>
          </a:p>
        </p:txBody>
      </p:sp>
      <p:sp>
        <p:nvSpPr>
          <p:cNvPr id="11" name="Freeform 10"/>
          <p:cNvSpPr/>
          <p:nvPr/>
        </p:nvSpPr>
        <p:spPr>
          <a:xfrm>
            <a:off x="5812325" y="1665838"/>
            <a:ext cx="878186" cy="3720974"/>
          </a:xfrm>
          <a:custGeom>
            <a:avLst/>
            <a:gdLst>
              <a:gd name="connsiteX0" fmla="*/ 1404057 w 1413110"/>
              <a:gd name="connsiteY0" fmla="*/ 3548959 h 3802456"/>
              <a:gd name="connsiteX1" fmla="*/ 1367843 w 1413110"/>
              <a:gd name="connsiteY1" fmla="*/ 3558012 h 3802456"/>
              <a:gd name="connsiteX2" fmla="*/ 1322575 w 1413110"/>
              <a:gd name="connsiteY2" fmla="*/ 3567066 h 3802456"/>
              <a:gd name="connsiteX3" fmla="*/ 1222987 w 1413110"/>
              <a:gd name="connsiteY3" fmla="*/ 3594226 h 3802456"/>
              <a:gd name="connsiteX4" fmla="*/ 1105292 w 1413110"/>
              <a:gd name="connsiteY4" fmla="*/ 3603279 h 3802456"/>
              <a:gd name="connsiteX5" fmla="*/ 878956 w 1413110"/>
              <a:gd name="connsiteY5" fmla="*/ 3594226 h 3802456"/>
              <a:gd name="connsiteX6" fmla="*/ 734100 w 1413110"/>
              <a:gd name="connsiteY6" fmla="*/ 3576119 h 3802456"/>
              <a:gd name="connsiteX7" fmla="*/ 643566 w 1413110"/>
              <a:gd name="connsiteY7" fmla="*/ 3567066 h 3802456"/>
              <a:gd name="connsiteX8" fmla="*/ 589245 w 1413110"/>
              <a:gd name="connsiteY8" fmla="*/ 3558012 h 3802456"/>
              <a:gd name="connsiteX9" fmla="*/ 516817 w 1413110"/>
              <a:gd name="connsiteY9" fmla="*/ 3548959 h 3802456"/>
              <a:gd name="connsiteX10" fmla="*/ 471550 w 1413110"/>
              <a:gd name="connsiteY10" fmla="*/ 3539905 h 3802456"/>
              <a:gd name="connsiteX11" fmla="*/ 417229 w 1413110"/>
              <a:gd name="connsiteY11" fmla="*/ 3530852 h 3802456"/>
              <a:gd name="connsiteX12" fmla="*/ 353855 w 1413110"/>
              <a:gd name="connsiteY12" fmla="*/ 3512745 h 3802456"/>
              <a:gd name="connsiteX13" fmla="*/ 254267 w 1413110"/>
              <a:gd name="connsiteY13" fmla="*/ 3494638 h 3802456"/>
              <a:gd name="connsiteX14" fmla="*/ 172785 w 1413110"/>
              <a:gd name="connsiteY14" fmla="*/ 3476531 h 3802456"/>
              <a:gd name="connsiteX15" fmla="*/ 46037 w 1413110"/>
              <a:gd name="connsiteY15" fmla="*/ 3422210 h 3802456"/>
              <a:gd name="connsiteX16" fmla="*/ 18876 w 1413110"/>
              <a:gd name="connsiteY16" fmla="*/ 3395050 h 3802456"/>
              <a:gd name="connsiteX17" fmla="*/ 769 w 1413110"/>
              <a:gd name="connsiteY17" fmla="*/ 3204927 h 3802456"/>
              <a:gd name="connsiteX18" fmla="*/ 18876 w 1413110"/>
              <a:gd name="connsiteY18" fmla="*/ 3023858 h 3802456"/>
              <a:gd name="connsiteX19" fmla="*/ 36983 w 1413110"/>
              <a:gd name="connsiteY19" fmla="*/ 2842788 h 3802456"/>
              <a:gd name="connsiteX20" fmla="*/ 46037 w 1413110"/>
              <a:gd name="connsiteY20" fmla="*/ 2770361 h 3802456"/>
              <a:gd name="connsiteX21" fmla="*/ 55090 w 1413110"/>
              <a:gd name="connsiteY21" fmla="*/ 2734147 h 3802456"/>
              <a:gd name="connsiteX22" fmla="*/ 73197 w 1413110"/>
              <a:gd name="connsiteY22" fmla="*/ 2580238 h 3802456"/>
              <a:gd name="connsiteX23" fmla="*/ 82251 w 1413110"/>
              <a:gd name="connsiteY23" fmla="*/ 2516864 h 3802456"/>
              <a:gd name="connsiteX24" fmla="*/ 100358 w 1413110"/>
              <a:gd name="connsiteY24" fmla="*/ 2444436 h 3802456"/>
              <a:gd name="connsiteX25" fmla="*/ 100358 w 1413110"/>
              <a:gd name="connsiteY25" fmla="*/ 2218099 h 3802456"/>
              <a:gd name="connsiteX26" fmla="*/ 118465 w 1413110"/>
              <a:gd name="connsiteY26" fmla="*/ 1946495 h 3802456"/>
              <a:gd name="connsiteX27" fmla="*/ 91304 w 1413110"/>
              <a:gd name="connsiteY27" fmla="*/ 1720159 h 3802456"/>
              <a:gd name="connsiteX28" fmla="*/ 73197 w 1413110"/>
              <a:gd name="connsiteY28" fmla="*/ 1358020 h 3802456"/>
              <a:gd name="connsiteX29" fmla="*/ 55090 w 1413110"/>
              <a:gd name="connsiteY29" fmla="*/ 706170 h 3802456"/>
              <a:gd name="connsiteX30" fmla="*/ 64144 w 1413110"/>
              <a:gd name="connsiteY30" fmla="*/ 443620 h 3802456"/>
              <a:gd name="connsiteX31" fmla="*/ 82251 w 1413110"/>
              <a:gd name="connsiteY31" fmla="*/ 298765 h 3802456"/>
              <a:gd name="connsiteX32" fmla="*/ 100358 w 1413110"/>
              <a:gd name="connsiteY32" fmla="*/ 226337 h 3802456"/>
              <a:gd name="connsiteX33" fmla="*/ 136571 w 1413110"/>
              <a:gd name="connsiteY33" fmla="*/ 153909 h 3802456"/>
              <a:gd name="connsiteX34" fmla="*/ 181839 w 1413110"/>
              <a:gd name="connsiteY34" fmla="*/ 72428 h 3802456"/>
              <a:gd name="connsiteX35" fmla="*/ 236160 w 1413110"/>
              <a:gd name="connsiteY35" fmla="*/ 54321 h 3802456"/>
              <a:gd name="connsiteX36" fmla="*/ 335748 w 1413110"/>
              <a:gd name="connsiteY36" fmla="*/ 27161 h 3802456"/>
              <a:gd name="connsiteX37" fmla="*/ 661672 w 1413110"/>
              <a:gd name="connsiteY37" fmla="*/ 18107 h 3802456"/>
              <a:gd name="connsiteX38" fmla="*/ 951383 w 1413110"/>
              <a:gd name="connsiteY38" fmla="*/ 9054 h 3802456"/>
              <a:gd name="connsiteX39" fmla="*/ 1078132 w 1413110"/>
              <a:gd name="connsiteY39" fmla="*/ 0 h 3802456"/>
              <a:gd name="connsiteX40" fmla="*/ 1141506 w 1413110"/>
              <a:gd name="connsiteY40" fmla="*/ 9054 h 3802456"/>
              <a:gd name="connsiteX41" fmla="*/ 1268255 w 1413110"/>
              <a:gd name="connsiteY41" fmla="*/ 27161 h 3802456"/>
              <a:gd name="connsiteX42" fmla="*/ 1295415 w 1413110"/>
              <a:gd name="connsiteY42" fmla="*/ 36214 h 3802456"/>
              <a:gd name="connsiteX43" fmla="*/ 1331629 w 1413110"/>
              <a:gd name="connsiteY43" fmla="*/ 45268 h 3802456"/>
              <a:gd name="connsiteX44" fmla="*/ 1385950 w 1413110"/>
              <a:gd name="connsiteY44" fmla="*/ 90535 h 3802456"/>
              <a:gd name="connsiteX45" fmla="*/ 1395003 w 1413110"/>
              <a:gd name="connsiteY45" fmla="*/ 135802 h 3802456"/>
              <a:gd name="connsiteX46" fmla="*/ 1413110 w 1413110"/>
              <a:gd name="connsiteY46" fmla="*/ 298765 h 3802456"/>
              <a:gd name="connsiteX47" fmla="*/ 1404057 w 1413110"/>
              <a:gd name="connsiteY47" fmla="*/ 814812 h 3802456"/>
              <a:gd name="connsiteX48" fmla="*/ 1413110 w 1413110"/>
              <a:gd name="connsiteY48" fmla="*/ 1602464 h 3802456"/>
              <a:gd name="connsiteX49" fmla="*/ 1395003 w 1413110"/>
              <a:gd name="connsiteY49" fmla="*/ 2453489 h 3802456"/>
              <a:gd name="connsiteX50" fmla="*/ 1376896 w 1413110"/>
              <a:gd name="connsiteY50" fmla="*/ 2906163 h 3802456"/>
              <a:gd name="connsiteX51" fmla="*/ 1358789 w 1413110"/>
              <a:gd name="connsiteY51" fmla="*/ 3159660 h 3802456"/>
              <a:gd name="connsiteX52" fmla="*/ 1340682 w 1413110"/>
              <a:gd name="connsiteY52" fmla="*/ 3295462 h 3802456"/>
              <a:gd name="connsiteX53" fmla="*/ 1313522 w 1413110"/>
              <a:gd name="connsiteY53" fmla="*/ 3494638 h 3802456"/>
              <a:gd name="connsiteX54" fmla="*/ 1295415 w 1413110"/>
              <a:gd name="connsiteY54" fmla="*/ 3585172 h 3802456"/>
              <a:gd name="connsiteX55" fmla="*/ 1277308 w 1413110"/>
              <a:gd name="connsiteY55" fmla="*/ 3666654 h 3802456"/>
              <a:gd name="connsiteX56" fmla="*/ 1259201 w 1413110"/>
              <a:gd name="connsiteY56" fmla="*/ 3711921 h 3802456"/>
              <a:gd name="connsiteX57" fmla="*/ 1222987 w 1413110"/>
              <a:gd name="connsiteY57" fmla="*/ 3793402 h 3802456"/>
              <a:gd name="connsiteX58" fmla="*/ 1213934 w 1413110"/>
              <a:gd name="connsiteY58" fmla="*/ 3802456 h 380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413110" h="3802456">
                <a:moveTo>
                  <a:pt x="1404057" y="3548959"/>
                </a:moveTo>
                <a:cubicBezTo>
                  <a:pt x="1391986" y="3551977"/>
                  <a:pt x="1379990" y="3555313"/>
                  <a:pt x="1367843" y="3558012"/>
                </a:cubicBezTo>
                <a:cubicBezTo>
                  <a:pt x="1352821" y="3561350"/>
                  <a:pt x="1337421" y="3563017"/>
                  <a:pt x="1322575" y="3567066"/>
                </a:cubicBezTo>
                <a:cubicBezTo>
                  <a:pt x="1271468" y="3581004"/>
                  <a:pt x="1272610" y="3588712"/>
                  <a:pt x="1222987" y="3594226"/>
                </a:cubicBezTo>
                <a:cubicBezTo>
                  <a:pt x="1183880" y="3598571"/>
                  <a:pt x="1144524" y="3600261"/>
                  <a:pt x="1105292" y="3603279"/>
                </a:cubicBezTo>
                <a:lnTo>
                  <a:pt x="878956" y="3594226"/>
                </a:lnTo>
                <a:cubicBezTo>
                  <a:pt x="753426" y="3587053"/>
                  <a:pt x="828463" y="3587914"/>
                  <a:pt x="734100" y="3576119"/>
                </a:cubicBezTo>
                <a:cubicBezTo>
                  <a:pt x="704006" y="3572357"/>
                  <a:pt x="673660" y="3570828"/>
                  <a:pt x="643566" y="3567066"/>
                </a:cubicBezTo>
                <a:cubicBezTo>
                  <a:pt x="625351" y="3564789"/>
                  <a:pt x="607417" y="3560608"/>
                  <a:pt x="589245" y="3558012"/>
                </a:cubicBezTo>
                <a:cubicBezTo>
                  <a:pt x="565159" y="3554571"/>
                  <a:pt x="540865" y="3552659"/>
                  <a:pt x="516817" y="3548959"/>
                </a:cubicBezTo>
                <a:cubicBezTo>
                  <a:pt x="501608" y="3546619"/>
                  <a:pt x="486690" y="3542658"/>
                  <a:pt x="471550" y="3539905"/>
                </a:cubicBezTo>
                <a:cubicBezTo>
                  <a:pt x="453489" y="3536621"/>
                  <a:pt x="435116" y="3534980"/>
                  <a:pt x="417229" y="3530852"/>
                </a:cubicBezTo>
                <a:cubicBezTo>
                  <a:pt x="395822" y="3525912"/>
                  <a:pt x="375262" y="3517685"/>
                  <a:pt x="353855" y="3512745"/>
                </a:cubicBezTo>
                <a:cubicBezTo>
                  <a:pt x="248964" y="3488539"/>
                  <a:pt x="347202" y="3517872"/>
                  <a:pt x="254267" y="3494638"/>
                </a:cubicBezTo>
                <a:cubicBezTo>
                  <a:pt x="165114" y="3472350"/>
                  <a:pt x="322264" y="3501443"/>
                  <a:pt x="172785" y="3476531"/>
                </a:cubicBezTo>
                <a:cubicBezTo>
                  <a:pt x="140321" y="3465709"/>
                  <a:pt x="68412" y="3444585"/>
                  <a:pt x="46037" y="3422210"/>
                </a:cubicBezTo>
                <a:lnTo>
                  <a:pt x="18876" y="3395050"/>
                </a:lnTo>
                <a:cubicBezTo>
                  <a:pt x="-5699" y="3321320"/>
                  <a:pt x="769" y="3348665"/>
                  <a:pt x="769" y="3204927"/>
                </a:cubicBezTo>
                <a:cubicBezTo>
                  <a:pt x="769" y="3086975"/>
                  <a:pt x="618" y="3096893"/>
                  <a:pt x="18876" y="3023858"/>
                </a:cubicBezTo>
                <a:cubicBezTo>
                  <a:pt x="24912" y="2963501"/>
                  <a:pt x="29459" y="2902977"/>
                  <a:pt x="36983" y="2842788"/>
                </a:cubicBezTo>
                <a:cubicBezTo>
                  <a:pt x="40001" y="2818646"/>
                  <a:pt x="42037" y="2794360"/>
                  <a:pt x="46037" y="2770361"/>
                </a:cubicBezTo>
                <a:cubicBezTo>
                  <a:pt x="48083" y="2758087"/>
                  <a:pt x="52072" y="2746218"/>
                  <a:pt x="55090" y="2734147"/>
                </a:cubicBezTo>
                <a:cubicBezTo>
                  <a:pt x="62167" y="2670461"/>
                  <a:pt x="64907" y="2642410"/>
                  <a:pt x="73197" y="2580238"/>
                </a:cubicBezTo>
                <a:cubicBezTo>
                  <a:pt x="76017" y="2559086"/>
                  <a:pt x="78066" y="2537789"/>
                  <a:pt x="82251" y="2516864"/>
                </a:cubicBezTo>
                <a:cubicBezTo>
                  <a:pt x="87132" y="2492462"/>
                  <a:pt x="100358" y="2444436"/>
                  <a:pt x="100358" y="2444436"/>
                </a:cubicBezTo>
                <a:cubicBezTo>
                  <a:pt x="123929" y="2255859"/>
                  <a:pt x="93638" y="2533917"/>
                  <a:pt x="100358" y="2218099"/>
                </a:cubicBezTo>
                <a:cubicBezTo>
                  <a:pt x="102288" y="2127384"/>
                  <a:pt x="118465" y="1946495"/>
                  <a:pt x="118465" y="1946495"/>
                </a:cubicBezTo>
                <a:cubicBezTo>
                  <a:pt x="98827" y="1750115"/>
                  <a:pt x="112255" y="1824905"/>
                  <a:pt x="91304" y="1720159"/>
                </a:cubicBezTo>
                <a:cubicBezTo>
                  <a:pt x="85268" y="1599446"/>
                  <a:pt x="77511" y="1478807"/>
                  <a:pt x="73197" y="1358020"/>
                </a:cubicBezTo>
                <a:cubicBezTo>
                  <a:pt x="59404" y="971789"/>
                  <a:pt x="66065" y="1189054"/>
                  <a:pt x="55090" y="706170"/>
                </a:cubicBezTo>
                <a:cubicBezTo>
                  <a:pt x="58108" y="618653"/>
                  <a:pt x="59659" y="531074"/>
                  <a:pt x="64144" y="443620"/>
                </a:cubicBezTo>
                <a:cubicBezTo>
                  <a:pt x="65972" y="407984"/>
                  <a:pt x="73689" y="338719"/>
                  <a:pt x="82251" y="298765"/>
                </a:cubicBezTo>
                <a:cubicBezTo>
                  <a:pt x="87465" y="274432"/>
                  <a:pt x="89229" y="248596"/>
                  <a:pt x="100358" y="226337"/>
                </a:cubicBezTo>
                <a:cubicBezTo>
                  <a:pt x="112429" y="202194"/>
                  <a:pt x="128035" y="179516"/>
                  <a:pt x="136571" y="153909"/>
                </a:cubicBezTo>
                <a:cubicBezTo>
                  <a:pt x="144543" y="129994"/>
                  <a:pt x="158492" y="80210"/>
                  <a:pt x="181839" y="72428"/>
                </a:cubicBezTo>
                <a:cubicBezTo>
                  <a:pt x="199946" y="66392"/>
                  <a:pt x="218439" y="61410"/>
                  <a:pt x="236160" y="54321"/>
                </a:cubicBezTo>
                <a:cubicBezTo>
                  <a:pt x="277431" y="37812"/>
                  <a:pt x="289162" y="29379"/>
                  <a:pt x="335748" y="27161"/>
                </a:cubicBezTo>
                <a:cubicBezTo>
                  <a:pt x="444308" y="21991"/>
                  <a:pt x="553036" y="21302"/>
                  <a:pt x="661672" y="18107"/>
                </a:cubicBezTo>
                <a:lnTo>
                  <a:pt x="951383" y="9054"/>
                </a:lnTo>
                <a:cubicBezTo>
                  <a:pt x="993633" y="6036"/>
                  <a:pt x="1035775" y="0"/>
                  <a:pt x="1078132" y="0"/>
                </a:cubicBezTo>
                <a:cubicBezTo>
                  <a:pt x="1099471" y="0"/>
                  <a:pt x="1120415" y="5809"/>
                  <a:pt x="1141506" y="9054"/>
                </a:cubicBezTo>
                <a:cubicBezTo>
                  <a:pt x="1254616" y="26456"/>
                  <a:pt x="1131500" y="10066"/>
                  <a:pt x="1268255" y="27161"/>
                </a:cubicBezTo>
                <a:cubicBezTo>
                  <a:pt x="1277308" y="30179"/>
                  <a:pt x="1286239" y="33592"/>
                  <a:pt x="1295415" y="36214"/>
                </a:cubicBezTo>
                <a:cubicBezTo>
                  <a:pt x="1307379" y="39632"/>
                  <a:pt x="1320192" y="40367"/>
                  <a:pt x="1331629" y="45268"/>
                </a:cubicBezTo>
                <a:cubicBezTo>
                  <a:pt x="1353688" y="54722"/>
                  <a:pt x="1369634" y="74219"/>
                  <a:pt x="1385950" y="90535"/>
                </a:cubicBezTo>
                <a:cubicBezTo>
                  <a:pt x="1388968" y="105624"/>
                  <a:pt x="1392663" y="120593"/>
                  <a:pt x="1395003" y="135802"/>
                </a:cubicBezTo>
                <a:cubicBezTo>
                  <a:pt x="1402329" y="183420"/>
                  <a:pt x="1408480" y="252461"/>
                  <a:pt x="1413110" y="298765"/>
                </a:cubicBezTo>
                <a:cubicBezTo>
                  <a:pt x="1410092" y="470781"/>
                  <a:pt x="1404057" y="642770"/>
                  <a:pt x="1404057" y="814812"/>
                </a:cubicBezTo>
                <a:cubicBezTo>
                  <a:pt x="1404057" y="1077380"/>
                  <a:pt x="1413110" y="1339896"/>
                  <a:pt x="1413110" y="1602464"/>
                </a:cubicBezTo>
                <a:cubicBezTo>
                  <a:pt x="1413110" y="1910196"/>
                  <a:pt x="1406176" y="2159271"/>
                  <a:pt x="1395003" y="2453489"/>
                </a:cubicBezTo>
                <a:cubicBezTo>
                  <a:pt x="1389272" y="2604392"/>
                  <a:pt x="1387655" y="2755535"/>
                  <a:pt x="1376896" y="2906163"/>
                </a:cubicBezTo>
                <a:cubicBezTo>
                  <a:pt x="1370860" y="2990662"/>
                  <a:pt x="1368144" y="3075464"/>
                  <a:pt x="1358789" y="3159660"/>
                </a:cubicBezTo>
                <a:cubicBezTo>
                  <a:pt x="1337625" y="3350144"/>
                  <a:pt x="1361002" y="3153220"/>
                  <a:pt x="1340682" y="3295462"/>
                </a:cubicBezTo>
                <a:cubicBezTo>
                  <a:pt x="1331444" y="3360128"/>
                  <a:pt x="1326109" y="3431703"/>
                  <a:pt x="1313522" y="3494638"/>
                </a:cubicBezTo>
                <a:lnTo>
                  <a:pt x="1295415" y="3585172"/>
                </a:lnTo>
                <a:cubicBezTo>
                  <a:pt x="1291825" y="3603122"/>
                  <a:pt x="1283704" y="3647467"/>
                  <a:pt x="1277308" y="3666654"/>
                </a:cubicBezTo>
                <a:cubicBezTo>
                  <a:pt x="1272169" y="3682071"/>
                  <a:pt x="1264755" y="3696648"/>
                  <a:pt x="1259201" y="3711921"/>
                </a:cubicBezTo>
                <a:cubicBezTo>
                  <a:pt x="1239770" y="3765355"/>
                  <a:pt x="1250474" y="3756751"/>
                  <a:pt x="1222987" y="3793402"/>
                </a:cubicBezTo>
                <a:cubicBezTo>
                  <a:pt x="1220426" y="3796816"/>
                  <a:pt x="1216952" y="3799438"/>
                  <a:pt x="1213934" y="3802456"/>
                </a:cubicBezTo>
              </a:path>
            </a:pathLst>
          </a:cu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3600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334977" y="1134928"/>
            <a:ext cx="8492151" cy="5051617"/>
          </a:xfrm>
        </p:spPr>
        <p:txBody>
          <a:bodyPr>
            <a:normAutofit/>
          </a:bodyPr>
          <a:lstStyle/>
          <a:p>
            <a:pPr marL="514350" indent="-514350">
              <a:lnSpc>
                <a:spcPct val="80000"/>
              </a:lnSpc>
              <a:buFont typeface="+mj-lt"/>
              <a:buAutoNum type="arabicParenR" startAt="4"/>
            </a:pPr>
            <a:r>
              <a:rPr lang="en-US" altLang="x-none" sz="2000" dirty="0"/>
              <a:t>Calculate the overall weighted mean effect size (pooled effect size)</a:t>
            </a:r>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514350" indent="-514350" algn="just">
              <a:lnSpc>
                <a:spcPct val="80000"/>
              </a:lnSpc>
              <a:buFont typeface="+mj-lt"/>
              <a:buAutoNum type="arabicParenR" startAt="3"/>
            </a:pPr>
            <a:endParaRPr lang="en-US" altLang="x-none" sz="2000" dirty="0"/>
          </a:p>
          <a:p>
            <a:pPr marL="0" indent="0">
              <a:lnSpc>
                <a:spcPct val="80000"/>
              </a:lnSpc>
              <a:buNone/>
            </a:pPr>
            <a:r>
              <a:rPr lang="en-US" altLang="x-none" sz="2000" dirty="0"/>
              <a:t>Remember: 	</a:t>
            </a:r>
            <a:r>
              <a:rPr lang="en-US" altLang="x-none" sz="2000" i="1" dirty="0"/>
              <a:t>w = n-3.</a:t>
            </a:r>
          </a:p>
          <a:p>
            <a:pPr marL="0" indent="0">
              <a:lnSpc>
                <a:spcPct val="80000"/>
              </a:lnSpc>
              <a:buNone/>
            </a:pPr>
            <a:endParaRPr lang="en-US" altLang="x-none" sz="2000" i="1" dirty="0"/>
          </a:p>
          <a:p>
            <a:pPr marL="0" indent="0">
              <a:buNone/>
            </a:pPr>
            <a:r>
              <a:rPr lang="en-US" altLang="x-none" sz="2000" dirty="0"/>
              <a:t>							= 1780.03 / 2888</a:t>
            </a:r>
          </a:p>
          <a:p>
            <a:pPr marL="0" indent="0">
              <a:buNone/>
            </a:pPr>
            <a:r>
              <a:rPr lang="en-US" altLang="x-none" sz="2000" dirty="0"/>
              <a:t> 							= </a:t>
            </a:r>
            <a:r>
              <a:rPr lang="en-US" altLang="x-none" sz="2000" b="1" dirty="0"/>
              <a:t>0.62</a:t>
            </a:r>
          </a:p>
          <a:p>
            <a:pPr lvl="1"/>
            <a:endParaRPr lang="en-US" altLang="x-none" sz="1600" dirty="0"/>
          </a:p>
          <a:p>
            <a:pPr lvl="1"/>
            <a:r>
              <a:rPr lang="en-US" altLang="x-none" sz="1600" dirty="0"/>
              <a:t>Since we have considered sampling error (SE) as the only component of variance for weighting the effect sizes, this is the “fixed-effect” pooled effect size.</a:t>
            </a:r>
          </a:p>
          <a:p>
            <a:pPr marL="0" indent="0">
              <a:lnSpc>
                <a:spcPct val="80000"/>
              </a:lnSpc>
              <a:buNone/>
            </a:pPr>
            <a:endParaRPr lang="en-US" altLang="x-none" sz="2000" i="1" dirty="0"/>
          </a:p>
          <a:p>
            <a:pPr marL="0" indent="0">
              <a:lnSpc>
                <a:spcPct val="80000"/>
              </a:lnSpc>
              <a:buNone/>
            </a:pPr>
            <a:endParaRPr lang="en-US" altLang="x-none" sz="2000" i="1" dirty="0"/>
          </a:p>
          <a:p>
            <a:pPr marL="0" indent="0">
              <a:lnSpc>
                <a:spcPct val="80000"/>
              </a:lnSpc>
              <a:buNone/>
            </a:pPr>
            <a:endParaRPr lang="en-US" altLang="x-none" sz="20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39</a:t>
            </a:fld>
            <a:endParaRPr lang="en-US"/>
          </a:p>
        </p:txBody>
      </p:sp>
      <p:grpSp>
        <p:nvGrpSpPr>
          <p:cNvPr id="8" name="Group 7"/>
          <p:cNvGrpSpPr/>
          <p:nvPr/>
        </p:nvGrpSpPr>
        <p:grpSpPr>
          <a:xfrm>
            <a:off x="3038475" y="1885652"/>
            <a:ext cx="3067050" cy="1339850"/>
            <a:chOff x="3038475" y="2220630"/>
            <a:chExt cx="3067050" cy="1339850"/>
          </a:xfrm>
        </p:grpSpPr>
        <p:graphicFrame>
          <p:nvGraphicFramePr>
            <p:cNvPr id="7" name="Object 4"/>
            <p:cNvGraphicFramePr>
              <a:graphicFrameLocks noChangeAspect="1"/>
            </p:cNvGraphicFramePr>
            <p:nvPr>
              <p:extLst>
                <p:ext uri="{D42A27DB-BD31-4B8C-83A1-F6EECF244321}">
                  <p14:modId xmlns:p14="http://schemas.microsoft.com/office/powerpoint/2010/main" val="1786040548"/>
                </p:ext>
              </p:extLst>
            </p:nvPr>
          </p:nvGraphicFramePr>
          <p:xfrm>
            <a:off x="3038475" y="2220630"/>
            <a:ext cx="3067050" cy="1339850"/>
          </p:xfrm>
          <a:graphic>
            <a:graphicData uri="http://schemas.openxmlformats.org/presentationml/2006/ole">
              <mc:AlternateContent xmlns:mc="http://schemas.openxmlformats.org/markup-compatibility/2006">
                <mc:Choice xmlns:v="urn:schemas-microsoft-com:vml" Requires="v">
                  <p:oleObj spid="_x0000_s39461" name="Equation" r:id="rId3" imgW="1104840" imgH="482400" progId="Equation.3">
                    <p:embed/>
                  </p:oleObj>
                </mc:Choice>
                <mc:Fallback>
                  <p:oleObj name="Equation" r:id="rId3" imgW="110484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475" y="2220630"/>
                          <a:ext cx="3067050" cy="1339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6" name="TextBox 5"/>
            <p:cNvSpPr txBox="1"/>
            <p:nvPr/>
          </p:nvSpPr>
          <p:spPr>
            <a:xfrm>
              <a:off x="3485584" y="2890555"/>
              <a:ext cx="274434" cy="369332"/>
            </a:xfrm>
            <a:prstGeom prst="rect">
              <a:avLst/>
            </a:prstGeom>
            <a:noFill/>
          </p:spPr>
          <p:txBody>
            <a:bodyPr wrap="none" rtlCol="0">
              <a:spAutoFit/>
            </a:bodyPr>
            <a:lstStyle/>
            <a:p>
              <a:r>
                <a:rPr lang="en-US" i="1" dirty="0">
                  <a:latin typeface="Times New Roman" charset="0"/>
                  <a:ea typeface="Times New Roman" charset="0"/>
                  <a:cs typeface="Times New Roman" charset="0"/>
                </a:rPr>
                <a:t>z</a:t>
              </a:r>
            </a:p>
          </p:txBody>
        </p:sp>
        <p:sp>
          <p:nvSpPr>
            <p:cNvPr id="10" name="TextBox 9"/>
            <p:cNvSpPr txBox="1"/>
            <p:nvPr/>
          </p:nvSpPr>
          <p:spPr>
            <a:xfrm>
              <a:off x="5694627" y="2555579"/>
              <a:ext cx="274434" cy="369332"/>
            </a:xfrm>
            <a:prstGeom prst="rect">
              <a:avLst/>
            </a:prstGeom>
            <a:noFill/>
          </p:spPr>
          <p:txBody>
            <a:bodyPr wrap="none" rtlCol="0">
              <a:spAutoFit/>
            </a:bodyPr>
            <a:lstStyle/>
            <a:p>
              <a:r>
                <a:rPr lang="en-US" i="1">
                  <a:latin typeface="Times New Roman" charset="0"/>
                  <a:ea typeface="Times New Roman" charset="0"/>
                  <a:cs typeface="Times New Roman" charset="0"/>
                </a:rPr>
                <a:t>z</a:t>
              </a:r>
            </a:p>
          </p:txBody>
        </p:sp>
      </p:grpSp>
    </p:spTree>
    <p:extLst>
      <p:ext uri="{BB962C8B-B14F-4D97-AF65-F5344CB8AC3E}">
        <p14:creationId xmlns:p14="http://schemas.microsoft.com/office/powerpoint/2010/main" val="1422899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The Basic Meta-Analysis:</a:t>
            </a:r>
            <a:endParaRPr lang="en-US" dirty="0"/>
          </a:p>
        </p:txBody>
      </p:sp>
      <p:sp>
        <p:nvSpPr>
          <p:cNvPr id="3" name="Content Placeholder 2"/>
          <p:cNvSpPr>
            <a:spLocks noGrp="1"/>
          </p:cNvSpPr>
          <p:nvPr>
            <p:ph idx="1"/>
          </p:nvPr>
        </p:nvSpPr>
        <p:spPr>
          <a:xfrm>
            <a:off x="457200" y="1155940"/>
            <a:ext cx="8229600" cy="5200410"/>
          </a:xfrm>
        </p:spPr>
        <p:txBody>
          <a:bodyPr>
            <a:normAutofit/>
          </a:bodyPr>
          <a:lstStyle/>
          <a:p>
            <a:pPr marL="457200" indent="-457200">
              <a:buFont typeface="+mj-lt"/>
              <a:buAutoNum type="arabicParenR" startAt="5"/>
            </a:pPr>
            <a:r>
              <a:rPr lang="en-US" altLang="x-none" sz="2000" dirty="0"/>
              <a:t>Calculate the homogeneity index (Q statistic) for the pooled effect size.</a:t>
            </a:r>
          </a:p>
          <a:p>
            <a:pPr marL="857250" lvl="1" indent="-457200"/>
            <a:endParaRPr lang="en-US" altLang="x-none" sz="1800" dirty="0"/>
          </a:p>
          <a:p>
            <a:pPr marL="857250" lvl="1" indent="-457200"/>
            <a:endParaRPr lang="en-US" altLang="x-none" sz="1800" dirty="0"/>
          </a:p>
          <a:p>
            <a:pPr marL="857250" lvl="1" indent="-457200"/>
            <a:endParaRPr lang="en-US" altLang="x-none" sz="1800" dirty="0"/>
          </a:p>
          <a:p>
            <a:pPr marL="857250" lvl="1" indent="-457200"/>
            <a:endParaRPr lang="en-US" altLang="x-none" sz="1800" dirty="0"/>
          </a:p>
          <a:p>
            <a:pPr marL="857250" lvl="1" indent="-457200"/>
            <a:r>
              <a:rPr lang="en-US" altLang="x-none" sz="1800" dirty="0"/>
              <a:t>Q has a chi-square distribution, with number of effect sizes (k) </a:t>
            </a:r>
            <a:r>
              <a:rPr lang="mr-IN" altLang="x-none" sz="1800" dirty="0"/>
              <a:t>–</a:t>
            </a:r>
            <a:r>
              <a:rPr lang="en-US" altLang="x-none" sz="1800" dirty="0"/>
              <a:t> 1 degrees of freedom (</a:t>
            </a:r>
            <a:r>
              <a:rPr lang="en-US" altLang="x-none" sz="1800" dirty="0" err="1"/>
              <a:t>df</a:t>
            </a:r>
            <a:r>
              <a:rPr lang="en-US" altLang="x-none" sz="1800" dirty="0"/>
              <a:t>).</a:t>
            </a:r>
          </a:p>
          <a:p>
            <a:pPr marL="1257300" lvl="2" indent="-457200"/>
            <a:r>
              <a:rPr lang="en-US" altLang="x-none" sz="1600" dirty="0"/>
              <a:t>Q for our example is approximately 257.</a:t>
            </a:r>
          </a:p>
          <a:p>
            <a:pPr marL="857250" lvl="1" indent="-457200"/>
            <a:r>
              <a:rPr lang="en-US" altLang="x-none" sz="1800" dirty="0"/>
              <a:t>To assess existence of heterogeneity, Q should be compared with the critical value in chi-square distribution with </a:t>
            </a:r>
            <a:r>
              <a:rPr lang="en-US" altLang="x-none" sz="1800" dirty="0" err="1"/>
              <a:t>df</a:t>
            </a:r>
            <a:r>
              <a:rPr lang="en-US" altLang="x-none" sz="1800" dirty="0"/>
              <a:t> = k-1 for alpha level (0.05).</a:t>
            </a:r>
            <a:endParaRPr lang="en-US" altLang="x-none" sz="1600" dirty="0"/>
          </a:p>
          <a:p>
            <a:pPr marL="1257300" lvl="2" indent="-457200"/>
            <a:r>
              <a:rPr lang="en-US" altLang="x-none" sz="1600" dirty="0"/>
              <a:t>Compare with </a:t>
            </a:r>
            <a:r>
              <a:rPr lang="hr-HR" sz="1600" b="1" dirty="0"/>
              <a:t>6.571</a:t>
            </a:r>
            <a:r>
              <a:rPr lang="hr-HR" sz="1600" dirty="0"/>
              <a:t> for K = 15-1 = 14 </a:t>
            </a:r>
            <a:r>
              <a:rPr lang="hr-HR" sz="1600" dirty="0" err="1"/>
              <a:t>and</a:t>
            </a:r>
            <a:r>
              <a:rPr lang="hr-HR" sz="1600" dirty="0"/>
              <a:t> </a:t>
            </a:r>
            <a:r>
              <a:rPr lang="hr-HR" sz="1600" dirty="0" err="1"/>
              <a:t>alpha</a:t>
            </a:r>
            <a:r>
              <a:rPr lang="hr-HR" sz="1600" dirty="0"/>
              <a:t>=0.05</a:t>
            </a:r>
            <a:r>
              <a:rPr lang="en-US" altLang="x-none" sz="1600" dirty="0"/>
              <a:t>.</a:t>
            </a:r>
          </a:p>
          <a:p>
            <a:pPr marL="1257300" lvl="2" indent="-457200"/>
            <a:endParaRPr lang="en-US" altLang="x-none" sz="1600" dirty="0"/>
          </a:p>
          <a:p>
            <a:pPr marL="857250" lvl="1" indent="-457200"/>
            <a:r>
              <a:rPr lang="en-US" altLang="x-none" dirty="0"/>
              <a:t>Other homogeneity indices:</a:t>
            </a:r>
          </a:p>
          <a:p>
            <a:pPr marL="457200" indent="-457200">
              <a:buFont typeface="+mj-lt"/>
              <a:buAutoNum type="arabicParenR" startAt="5"/>
            </a:pPr>
            <a:endParaRPr lang="en-US" altLang="x-none" sz="2000"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40</a:t>
            </a:fld>
            <a:endParaRPr lang="en-US"/>
          </a:p>
        </p:txBody>
      </p:sp>
      <p:sp>
        <p:nvSpPr>
          <p:cNvPr id="34" name="Rectangle 33"/>
          <p:cNvSpPr/>
          <p:nvPr/>
        </p:nvSpPr>
        <p:spPr>
          <a:xfrm>
            <a:off x="6895824" y="6102434"/>
            <a:ext cx="2218328" cy="253916"/>
          </a:xfrm>
          <a:prstGeom prst="rect">
            <a:avLst/>
          </a:prstGeom>
        </p:spPr>
        <p:txBody>
          <a:bodyPr wrap="square">
            <a:spAutoFit/>
          </a:bodyPr>
          <a:lstStyle/>
          <a:p>
            <a:pPr algn="r"/>
            <a:r>
              <a:rPr lang="en-US" sz="1050" i="1" dirty="0">
                <a:solidFill>
                  <a:schemeClr val="tx1">
                    <a:lumMod val="65000"/>
                    <a:lumOff val="35000"/>
                  </a:schemeClr>
                </a:solidFill>
                <a:latin typeface="Times New Roman" charset="0"/>
                <a:ea typeface="Times New Roman" charset="0"/>
                <a:cs typeface="Times New Roman" charset="0"/>
              </a:rPr>
              <a:t>Source: </a:t>
            </a:r>
            <a:r>
              <a:rPr lang="en-US" sz="1050" i="1" dirty="0" err="1">
                <a:solidFill>
                  <a:schemeClr val="tx1">
                    <a:lumMod val="65000"/>
                    <a:lumOff val="35000"/>
                  </a:schemeClr>
                </a:solidFill>
                <a:latin typeface="Times New Roman" charset="0"/>
                <a:ea typeface="Times New Roman" charset="0"/>
                <a:cs typeface="Times New Roman" charset="0"/>
              </a:rPr>
              <a:t>Huedo</a:t>
            </a:r>
            <a:r>
              <a:rPr lang="en-US" sz="1050" i="1" dirty="0">
                <a:solidFill>
                  <a:schemeClr val="tx1">
                    <a:lumMod val="65000"/>
                    <a:lumOff val="35000"/>
                  </a:schemeClr>
                </a:solidFill>
                <a:latin typeface="Times New Roman" charset="0"/>
                <a:ea typeface="Times New Roman" charset="0"/>
                <a:cs typeface="Times New Roman" charset="0"/>
              </a:rPr>
              <a:t>-Medina et al., (2006)</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105" y="5566870"/>
            <a:ext cx="1435419" cy="789480"/>
          </a:xfrm>
          <a:prstGeom prst="rect">
            <a:avLst/>
          </a:prstGeom>
        </p:spPr>
      </p:pic>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1204" y="5193514"/>
            <a:ext cx="2510778" cy="90892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2785" y="1673811"/>
            <a:ext cx="3087357" cy="1149989"/>
          </a:xfrm>
          <a:prstGeom prst="rect">
            <a:avLst/>
          </a:prstGeom>
        </p:spPr>
      </p:pic>
    </p:spTree>
    <p:extLst>
      <p:ext uri="{BB962C8B-B14F-4D97-AF65-F5344CB8AC3E}">
        <p14:creationId xmlns:p14="http://schemas.microsoft.com/office/powerpoint/2010/main" val="1747518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334977" y="1134928"/>
            <a:ext cx="8492151" cy="5051617"/>
          </a:xfrm>
        </p:spPr>
        <p:txBody>
          <a:bodyPr>
            <a:normAutofit/>
          </a:bodyPr>
          <a:lstStyle/>
          <a:p>
            <a:pPr marL="514350" indent="-514350" algn="just">
              <a:lnSpc>
                <a:spcPct val="100000"/>
              </a:lnSpc>
              <a:buFont typeface="+mj-lt"/>
              <a:buAutoNum type="arabicParenR" startAt="3"/>
            </a:pPr>
            <a:r>
              <a:rPr lang="en-US" altLang="x-none" sz="2000" dirty="0"/>
              <a:t>Weight the effect sizes for random-effects calculation.</a:t>
            </a:r>
          </a:p>
          <a:p>
            <a:pPr marL="914400" lvl="1" indent="-514350" algn="just">
              <a:lnSpc>
                <a:spcPct val="100000"/>
              </a:lnSpc>
            </a:pPr>
            <a:r>
              <a:rPr lang="en-US" altLang="x-none" sz="1800" dirty="0"/>
              <a:t>To Calculate the random-effects pooled effect size, we should add an additional element to the weight for the effect sizes that reflect </a:t>
            </a:r>
            <a:r>
              <a:rPr lang="en-US" altLang="x-none" sz="1800" b="1" dirty="0"/>
              <a:t>“between-study variance” (T</a:t>
            </a:r>
            <a:r>
              <a:rPr lang="en-US" altLang="x-none" sz="1800" b="1" baseline="30000" dirty="0"/>
              <a:t>2</a:t>
            </a:r>
            <a:r>
              <a:rPr lang="en-US" altLang="x-none" sz="1800" b="1" dirty="0"/>
              <a:t>)</a:t>
            </a:r>
            <a:r>
              <a:rPr lang="en-US" altLang="x-none" sz="1800" dirty="0"/>
              <a:t>:</a:t>
            </a:r>
            <a:endParaRPr lang="en-US" altLang="x-none" sz="1600" dirty="0"/>
          </a:p>
          <a:p>
            <a:pPr marL="0" indent="0">
              <a:lnSpc>
                <a:spcPct val="100000"/>
              </a:lnSpc>
              <a:buNone/>
            </a:pPr>
            <a:endParaRPr lang="en-US" altLang="x-none" sz="2000" i="1" dirty="0"/>
          </a:p>
          <a:p>
            <a:pPr marL="0" indent="0">
              <a:lnSpc>
                <a:spcPct val="100000"/>
              </a:lnSpc>
              <a:buNone/>
            </a:pPr>
            <a:endParaRPr lang="en-US" altLang="x-none" sz="2000" i="1" dirty="0"/>
          </a:p>
          <a:p>
            <a:pPr marL="0" indent="0">
              <a:lnSpc>
                <a:spcPct val="100000"/>
              </a:lnSpc>
              <a:buNone/>
            </a:pPr>
            <a:endParaRPr lang="en-US" altLang="x-none" sz="20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41</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0580" y="2507540"/>
            <a:ext cx="3448724" cy="132230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0757" y="4530143"/>
            <a:ext cx="2555592" cy="1017779"/>
          </a:xfrm>
          <a:prstGeom prst="rect">
            <a:avLst/>
          </a:prstGeom>
          <a:ln>
            <a:solidFill>
              <a:schemeClr val="tx1">
                <a:lumMod val="50000"/>
                <a:lumOff val="50000"/>
              </a:schemeClr>
            </a:solidFill>
          </a:ln>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2129" y="4468471"/>
            <a:ext cx="3622141" cy="1141122"/>
          </a:xfrm>
          <a:prstGeom prst="rect">
            <a:avLst/>
          </a:prstGeom>
          <a:ln>
            <a:solidFill>
              <a:schemeClr val="tx1">
                <a:lumMod val="50000"/>
                <a:lumOff val="50000"/>
              </a:schemeClr>
            </a:solidFill>
          </a:ln>
        </p:spPr>
      </p:pic>
    </p:spTree>
    <p:extLst>
      <p:ext uri="{BB962C8B-B14F-4D97-AF65-F5344CB8AC3E}">
        <p14:creationId xmlns:p14="http://schemas.microsoft.com/office/powerpoint/2010/main" val="1988286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334977" y="1134928"/>
            <a:ext cx="8492151" cy="5051617"/>
          </a:xfrm>
        </p:spPr>
        <p:txBody>
          <a:bodyPr>
            <a:normAutofit/>
          </a:bodyPr>
          <a:lstStyle/>
          <a:p>
            <a:pPr marL="514350" indent="-514350">
              <a:lnSpc>
                <a:spcPct val="100000"/>
              </a:lnSpc>
              <a:buFont typeface="+mj-lt"/>
              <a:buAutoNum type="arabicParenR" startAt="4"/>
            </a:pPr>
            <a:r>
              <a:rPr lang="en-US" altLang="x-none" sz="2000" dirty="0"/>
              <a:t>Calculate the overall weighted mean effect size (random-effects pooled effect size) using new weights</a:t>
            </a:r>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514350" indent="-514350" algn="just">
              <a:lnSpc>
                <a:spcPct val="100000"/>
              </a:lnSpc>
              <a:buFont typeface="+mj-lt"/>
              <a:buAutoNum type="arabicParenR" startAt="3"/>
            </a:pPr>
            <a:endParaRPr lang="en-US" altLang="x-none" sz="2000" dirty="0"/>
          </a:p>
          <a:p>
            <a:pPr marL="0" indent="0">
              <a:lnSpc>
                <a:spcPct val="100000"/>
              </a:lnSpc>
              <a:buNone/>
            </a:pPr>
            <a:r>
              <a:rPr lang="en-US" altLang="x-none" sz="2000" dirty="0"/>
              <a:t>Remember to use	</a:t>
            </a:r>
            <a:r>
              <a:rPr lang="en-US" altLang="x-none" sz="2000" i="1" dirty="0"/>
              <a:t>w*.</a:t>
            </a:r>
          </a:p>
          <a:p>
            <a:pPr marL="0" indent="0">
              <a:lnSpc>
                <a:spcPct val="100000"/>
              </a:lnSpc>
              <a:buNone/>
            </a:pPr>
            <a:endParaRPr lang="en-US" altLang="x-none" sz="2000" i="1" dirty="0"/>
          </a:p>
          <a:p>
            <a:pPr marL="0" indent="0">
              <a:lnSpc>
                <a:spcPct val="100000"/>
              </a:lnSpc>
              <a:buNone/>
            </a:pPr>
            <a:r>
              <a:rPr lang="en-US" altLang="x-none" sz="2000" dirty="0"/>
              <a:t>							= 79.65 / 149.03</a:t>
            </a:r>
          </a:p>
          <a:p>
            <a:pPr marL="0" indent="0">
              <a:lnSpc>
                <a:spcPct val="100000"/>
              </a:lnSpc>
              <a:buNone/>
            </a:pPr>
            <a:r>
              <a:rPr lang="en-US" altLang="x-none" sz="2000" dirty="0"/>
              <a:t> 							= </a:t>
            </a:r>
            <a:r>
              <a:rPr lang="en-US" altLang="x-none" sz="2000" b="1" dirty="0"/>
              <a:t>0.53</a:t>
            </a:r>
          </a:p>
          <a:p>
            <a:pPr lvl="1">
              <a:lnSpc>
                <a:spcPct val="100000"/>
              </a:lnSpc>
            </a:pPr>
            <a:endParaRPr lang="en-US" altLang="x-none" sz="1600" dirty="0"/>
          </a:p>
          <a:p>
            <a:pPr marL="0" indent="0">
              <a:lnSpc>
                <a:spcPct val="100000"/>
              </a:lnSpc>
              <a:buNone/>
            </a:pPr>
            <a:endParaRPr lang="en-US" altLang="x-none" sz="2000" i="1" dirty="0"/>
          </a:p>
          <a:p>
            <a:pPr marL="0" indent="0">
              <a:lnSpc>
                <a:spcPct val="100000"/>
              </a:lnSpc>
              <a:buNone/>
            </a:pPr>
            <a:endParaRPr lang="en-US" altLang="x-none" sz="2000" i="1" dirty="0"/>
          </a:p>
          <a:p>
            <a:pPr marL="0" indent="0">
              <a:lnSpc>
                <a:spcPct val="100000"/>
              </a:lnSpc>
              <a:buNone/>
            </a:pPr>
            <a:endParaRPr lang="en-US" altLang="x-none" sz="20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42</a:t>
            </a:fld>
            <a:endParaRPr lang="en-US"/>
          </a:p>
        </p:txBody>
      </p:sp>
      <p:grpSp>
        <p:nvGrpSpPr>
          <p:cNvPr id="8" name="Group 7"/>
          <p:cNvGrpSpPr/>
          <p:nvPr/>
        </p:nvGrpSpPr>
        <p:grpSpPr>
          <a:xfrm>
            <a:off x="3038475" y="2379983"/>
            <a:ext cx="3067050" cy="1343455"/>
            <a:chOff x="3038475" y="2217025"/>
            <a:chExt cx="3067050" cy="1343455"/>
          </a:xfrm>
        </p:grpSpPr>
        <p:graphicFrame>
          <p:nvGraphicFramePr>
            <p:cNvPr id="7" name="Object 4"/>
            <p:cNvGraphicFramePr>
              <a:graphicFrameLocks noChangeAspect="1"/>
            </p:cNvGraphicFramePr>
            <p:nvPr/>
          </p:nvGraphicFramePr>
          <p:xfrm>
            <a:off x="3038475" y="2220630"/>
            <a:ext cx="3067050" cy="1339850"/>
          </p:xfrm>
          <a:graphic>
            <a:graphicData uri="http://schemas.openxmlformats.org/presentationml/2006/ole">
              <mc:AlternateContent xmlns:mc="http://schemas.openxmlformats.org/markup-compatibility/2006">
                <mc:Choice xmlns:v="urn:schemas-microsoft-com:vml" Requires="v">
                  <p:oleObj spid="_x0000_s49643" name="Equation" r:id="rId3" imgW="1104840" imgH="482400" progId="Equation.3">
                    <p:embed/>
                  </p:oleObj>
                </mc:Choice>
                <mc:Fallback>
                  <p:oleObj name="Equation" r:id="rId3" imgW="110484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475" y="2220630"/>
                          <a:ext cx="3067050" cy="1339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6" name="TextBox 5"/>
            <p:cNvSpPr txBox="1"/>
            <p:nvPr/>
          </p:nvSpPr>
          <p:spPr>
            <a:xfrm>
              <a:off x="3485584" y="2890555"/>
              <a:ext cx="274434" cy="369332"/>
            </a:xfrm>
            <a:prstGeom prst="rect">
              <a:avLst/>
            </a:prstGeom>
            <a:noFill/>
          </p:spPr>
          <p:txBody>
            <a:bodyPr wrap="none" rtlCol="0">
              <a:spAutoFit/>
            </a:bodyPr>
            <a:lstStyle/>
            <a:p>
              <a:r>
                <a:rPr lang="en-US" i="1" dirty="0">
                  <a:latin typeface="Times New Roman" charset="0"/>
                  <a:ea typeface="Times New Roman" charset="0"/>
                  <a:cs typeface="Times New Roman" charset="0"/>
                </a:rPr>
                <a:t>z</a:t>
              </a:r>
            </a:p>
          </p:txBody>
        </p:sp>
        <p:sp>
          <p:nvSpPr>
            <p:cNvPr id="10" name="TextBox 9"/>
            <p:cNvSpPr txBox="1"/>
            <p:nvPr/>
          </p:nvSpPr>
          <p:spPr>
            <a:xfrm>
              <a:off x="5694627" y="2555579"/>
              <a:ext cx="274434" cy="369332"/>
            </a:xfrm>
            <a:prstGeom prst="rect">
              <a:avLst/>
            </a:prstGeom>
            <a:noFill/>
          </p:spPr>
          <p:txBody>
            <a:bodyPr wrap="none" rtlCol="0">
              <a:spAutoFit/>
            </a:bodyPr>
            <a:lstStyle/>
            <a:p>
              <a:r>
                <a:rPr lang="en-US" i="1">
                  <a:latin typeface="Times New Roman" charset="0"/>
                  <a:ea typeface="Times New Roman" charset="0"/>
                  <a:cs typeface="Times New Roman" charset="0"/>
                </a:rPr>
                <a:t>z</a:t>
              </a:r>
            </a:p>
          </p:txBody>
        </p:sp>
        <p:sp>
          <p:nvSpPr>
            <p:cNvPr id="11" name="TextBox 10"/>
            <p:cNvSpPr txBox="1"/>
            <p:nvPr/>
          </p:nvSpPr>
          <p:spPr>
            <a:xfrm>
              <a:off x="4879818" y="2217025"/>
              <a:ext cx="287258" cy="338554"/>
            </a:xfrm>
            <a:prstGeom prst="rect">
              <a:avLst/>
            </a:prstGeom>
            <a:noFill/>
          </p:spPr>
          <p:txBody>
            <a:bodyPr wrap="none" rtlCol="0">
              <a:spAutoFit/>
            </a:bodyPr>
            <a:lstStyle/>
            <a:p>
              <a:r>
                <a:rPr lang="en-US" sz="1600" i="1">
                  <a:latin typeface="Times New Roman" charset="0"/>
                  <a:ea typeface="Times New Roman" charset="0"/>
                  <a:cs typeface="Times New Roman" charset="0"/>
                </a:rPr>
                <a:t>*</a:t>
              </a:r>
              <a:endParaRPr lang="en-US" sz="1600" i="1" dirty="0">
                <a:latin typeface="Times New Roman" charset="0"/>
                <a:ea typeface="Times New Roman" charset="0"/>
                <a:cs typeface="Times New Roman" charset="0"/>
              </a:endParaRPr>
            </a:p>
          </p:txBody>
        </p:sp>
        <p:sp>
          <p:nvSpPr>
            <p:cNvPr id="12" name="TextBox 11"/>
            <p:cNvSpPr txBox="1"/>
            <p:nvPr/>
          </p:nvSpPr>
          <p:spPr>
            <a:xfrm>
              <a:off x="5341544" y="2899608"/>
              <a:ext cx="287258" cy="338554"/>
            </a:xfrm>
            <a:prstGeom prst="rect">
              <a:avLst/>
            </a:prstGeom>
            <a:noFill/>
          </p:spPr>
          <p:txBody>
            <a:bodyPr wrap="none" rtlCol="0">
              <a:spAutoFit/>
            </a:bodyPr>
            <a:lstStyle/>
            <a:p>
              <a:r>
                <a:rPr lang="en-US" sz="1600" i="1">
                  <a:latin typeface="Times New Roman" charset="0"/>
                  <a:ea typeface="Times New Roman" charset="0"/>
                  <a:cs typeface="Times New Roman" charset="0"/>
                </a:rPr>
                <a:t>*</a:t>
              </a:r>
              <a:endParaRPr lang="en-US" sz="1600" i="1" dirty="0">
                <a:latin typeface="Times New Roman" charset="0"/>
                <a:ea typeface="Times New Roman" charset="0"/>
                <a:cs typeface="Times New Roman" charset="0"/>
              </a:endParaRPr>
            </a:p>
          </p:txBody>
        </p:sp>
      </p:grpSp>
    </p:spTree>
    <p:extLst>
      <p:ext uri="{BB962C8B-B14F-4D97-AF65-F5344CB8AC3E}">
        <p14:creationId xmlns:p14="http://schemas.microsoft.com/office/powerpoint/2010/main" val="806408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 Meta-Analysis:</a:t>
            </a:r>
          </a:p>
        </p:txBody>
      </p:sp>
      <p:sp>
        <p:nvSpPr>
          <p:cNvPr id="3" name="Content Placeholder 2"/>
          <p:cNvSpPr>
            <a:spLocks noGrp="1"/>
          </p:cNvSpPr>
          <p:nvPr>
            <p:ph idx="1"/>
          </p:nvPr>
        </p:nvSpPr>
        <p:spPr/>
        <p:txBody>
          <a:bodyPr/>
          <a:lstStyle/>
          <a:p>
            <a:pPr marL="457200" indent="-457200">
              <a:buFont typeface="+mj-lt"/>
              <a:buAutoNum type="arabicPeriod" startAt="6"/>
            </a:pPr>
            <a:r>
              <a:rPr lang="en-US" altLang="x-none" dirty="0"/>
              <a:t>Calculate the confidence interval for the pooled effect size.</a:t>
            </a:r>
          </a:p>
          <a:p>
            <a:endParaRPr lang="en-US" dirty="0"/>
          </a:p>
          <a:p>
            <a:endParaRPr lang="en-US" dirty="0"/>
          </a:p>
          <a:p>
            <a:endParaRPr lang="en-US" dirty="0"/>
          </a:p>
          <a:p>
            <a:endParaRPr lang="en-US" dirty="0"/>
          </a:p>
          <a:p>
            <a:endParaRPr lang="en-US" dirty="0"/>
          </a:p>
          <a:p>
            <a:pPr lvl="1"/>
            <a:r>
              <a:rPr lang="en-US" dirty="0"/>
              <a:t>For alpha = 0.05 (two-tailed Z (Z</a:t>
            </a:r>
            <a:r>
              <a:rPr lang="en-US" baseline="-25000" dirty="0"/>
              <a:t>0.025</a:t>
            </a:r>
            <a:r>
              <a:rPr lang="en-US" dirty="0"/>
              <a:t>) = 1.96):</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7135" y="2031000"/>
            <a:ext cx="4196093" cy="168045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5314" y="4583500"/>
            <a:ext cx="4973371" cy="1274169"/>
          </a:xfrm>
          <a:prstGeom prst="rect">
            <a:avLst/>
          </a:prstGeom>
        </p:spPr>
      </p:pic>
    </p:spTree>
    <p:extLst>
      <p:ext uri="{BB962C8B-B14F-4D97-AF65-F5344CB8AC3E}">
        <p14:creationId xmlns:p14="http://schemas.microsoft.com/office/powerpoint/2010/main" val="816054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The Basic Meta-Analysis: </a:t>
            </a:r>
            <a:br>
              <a:rPr lang="en-US" sz="2400" dirty="0"/>
            </a:br>
            <a:r>
              <a:rPr lang="en-US" sz="2400" dirty="0"/>
              <a:t>Wilson/Linsey SPSS Macros</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44</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796" y="1152699"/>
            <a:ext cx="7136269" cy="5097335"/>
          </a:xfrm>
          <a:prstGeom prst="rect">
            <a:avLst/>
          </a:prstGeom>
        </p:spPr>
      </p:pic>
      <p:sp>
        <p:nvSpPr>
          <p:cNvPr id="9" name="Rectangle 8"/>
          <p:cNvSpPr/>
          <p:nvPr/>
        </p:nvSpPr>
        <p:spPr>
          <a:xfrm>
            <a:off x="1122630" y="4544840"/>
            <a:ext cx="6572816" cy="814811"/>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140737" y="3014805"/>
            <a:ext cx="6572816" cy="1004934"/>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2699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665" y="1191766"/>
            <a:ext cx="7417177" cy="4996686"/>
          </a:xfrm>
          <a:prstGeom prst="rect">
            <a:avLst/>
          </a:prstGeom>
        </p:spPr>
      </p:pic>
      <p:sp>
        <p:nvSpPr>
          <p:cNvPr id="2" name="Title 1"/>
          <p:cNvSpPr>
            <a:spLocks noGrp="1"/>
          </p:cNvSpPr>
          <p:nvPr>
            <p:ph type="title"/>
          </p:nvPr>
        </p:nvSpPr>
        <p:spPr/>
        <p:txBody>
          <a:bodyPr>
            <a:normAutofit/>
          </a:bodyPr>
          <a:lstStyle/>
          <a:p>
            <a:r>
              <a:rPr lang="en-US" sz="2000" dirty="0"/>
              <a:t>The Basic Meta-Analysis: </a:t>
            </a:r>
            <a:br>
              <a:rPr lang="en-US" sz="2400" dirty="0"/>
            </a:br>
            <a:r>
              <a:rPr lang="en-US" sz="2400" dirty="0"/>
              <a:t>Metafor Package in R</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45</a:t>
            </a:fld>
            <a:endParaRPr lang="en-US"/>
          </a:p>
        </p:txBody>
      </p:sp>
      <p:sp>
        <p:nvSpPr>
          <p:cNvPr id="9" name="Rectangle 8"/>
          <p:cNvSpPr/>
          <p:nvPr/>
        </p:nvSpPr>
        <p:spPr>
          <a:xfrm>
            <a:off x="620162" y="1883121"/>
            <a:ext cx="7632071" cy="223126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620162" y="4282289"/>
            <a:ext cx="7632071" cy="1828799"/>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01763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a:t>
            </a:r>
            <a:r>
              <a:rPr lang="en-US" sz="2900"/>
              <a:t>Meta-Analysis:</a:t>
            </a:r>
            <a:endParaRPr lang="en-US" sz="2900" dirty="0"/>
          </a:p>
        </p:txBody>
      </p:sp>
      <p:sp>
        <p:nvSpPr>
          <p:cNvPr id="3" name="Content Placeholder 2"/>
          <p:cNvSpPr>
            <a:spLocks noGrp="1"/>
          </p:cNvSpPr>
          <p:nvPr>
            <p:ph idx="1"/>
          </p:nvPr>
        </p:nvSpPr>
        <p:spPr>
          <a:xfrm>
            <a:off x="334977" y="1134928"/>
            <a:ext cx="8492151" cy="5051617"/>
          </a:xfrm>
        </p:spPr>
        <p:txBody>
          <a:bodyPr>
            <a:normAutofit/>
          </a:bodyPr>
          <a:lstStyle/>
          <a:p>
            <a:pPr>
              <a:lnSpc>
                <a:spcPct val="100000"/>
              </a:lnSpc>
            </a:pPr>
            <a:r>
              <a:rPr lang="en-US" altLang="x-none" sz="2000" dirty="0"/>
              <a:t>The pooled effect size is based on z-transformed values. You can transform it back to correlation, using:</a:t>
            </a:r>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a:lnSpc>
                <a:spcPct val="100000"/>
              </a:lnSpc>
            </a:pPr>
            <a:endParaRPr lang="en-US" altLang="x-none" sz="2000" dirty="0"/>
          </a:p>
          <a:p>
            <a:pPr marL="914400" lvl="1" indent="-514350">
              <a:lnSpc>
                <a:spcPct val="120000"/>
              </a:lnSpc>
            </a:pPr>
            <a:r>
              <a:rPr lang="en-US" altLang="x-none" sz="1800" dirty="0"/>
              <a:t>Depending on the tools that you use, you may need to do this transformation manually (e.g., in SPSS macro provided by Wilson (2001)).</a:t>
            </a:r>
          </a:p>
          <a:p>
            <a:pPr marL="1314450" lvl="2" indent="-514350">
              <a:lnSpc>
                <a:spcPct val="120000"/>
              </a:lnSpc>
            </a:pPr>
            <a:r>
              <a:rPr lang="en-US" altLang="x-none" sz="1600" dirty="0"/>
              <a:t>Some tools does the transformation for you, such as </a:t>
            </a:r>
            <a:r>
              <a:rPr lang="en-US" altLang="x-none" sz="1600" dirty="0" err="1"/>
              <a:t>metafor</a:t>
            </a:r>
            <a:r>
              <a:rPr lang="en-US" altLang="x-none" sz="1600" dirty="0"/>
              <a:t> package in R.</a:t>
            </a:r>
            <a:endParaRPr lang="en-US" altLang="x-none" sz="2000" dirty="0"/>
          </a:p>
          <a:p>
            <a:pPr lvl="1">
              <a:lnSpc>
                <a:spcPct val="100000"/>
              </a:lnSpc>
            </a:pPr>
            <a:endParaRPr lang="en-US" altLang="x-none" sz="1600" dirty="0"/>
          </a:p>
          <a:p>
            <a:pPr marL="0" indent="0">
              <a:lnSpc>
                <a:spcPct val="100000"/>
              </a:lnSpc>
              <a:buNone/>
            </a:pPr>
            <a:endParaRPr lang="en-US" altLang="x-none" sz="2000" i="1" dirty="0"/>
          </a:p>
          <a:p>
            <a:pPr marL="0" indent="0">
              <a:lnSpc>
                <a:spcPct val="100000"/>
              </a:lnSpc>
              <a:buNone/>
            </a:pPr>
            <a:endParaRPr lang="en-US" altLang="x-none" sz="2000" i="1" dirty="0"/>
          </a:p>
          <a:p>
            <a:pPr marL="0" indent="0">
              <a:lnSpc>
                <a:spcPct val="100000"/>
              </a:lnSpc>
              <a:buNone/>
            </a:pPr>
            <a:endParaRPr lang="en-US" altLang="x-none" sz="20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46</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0734" y="2553629"/>
            <a:ext cx="3626350" cy="1645036"/>
          </a:xfrm>
          <a:prstGeom prst="rect">
            <a:avLst/>
          </a:prstGeom>
        </p:spPr>
      </p:pic>
    </p:spTree>
    <p:extLst>
      <p:ext uri="{BB962C8B-B14F-4D97-AF65-F5344CB8AC3E}">
        <p14:creationId xmlns:p14="http://schemas.microsoft.com/office/powerpoint/2010/main" val="10194943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t>The Basic Meta-Analysis: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47</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10" y="1127458"/>
            <a:ext cx="8500244" cy="4963646"/>
          </a:xfrm>
          <a:prstGeom prst="rect">
            <a:avLst/>
          </a:prstGeom>
        </p:spPr>
      </p:pic>
      <p:sp>
        <p:nvSpPr>
          <p:cNvPr id="7" name="Freeform 6"/>
          <p:cNvSpPr/>
          <p:nvPr/>
        </p:nvSpPr>
        <p:spPr>
          <a:xfrm>
            <a:off x="45269" y="5433488"/>
            <a:ext cx="3177766" cy="922861"/>
          </a:xfrm>
          <a:custGeom>
            <a:avLst/>
            <a:gdLst>
              <a:gd name="connsiteX0" fmla="*/ 2699137 w 2699137"/>
              <a:gd name="connsiteY0" fmla="*/ 390204 h 743289"/>
              <a:gd name="connsiteX1" fmla="*/ 2671977 w 2699137"/>
              <a:gd name="connsiteY1" fmla="*/ 426418 h 743289"/>
              <a:gd name="connsiteX2" fmla="*/ 2608603 w 2699137"/>
              <a:gd name="connsiteY2" fmla="*/ 462631 h 743289"/>
              <a:gd name="connsiteX3" fmla="*/ 2581442 w 2699137"/>
              <a:gd name="connsiteY3" fmla="*/ 480738 h 743289"/>
              <a:gd name="connsiteX4" fmla="*/ 2509015 w 2699137"/>
              <a:gd name="connsiteY4" fmla="*/ 507899 h 743289"/>
              <a:gd name="connsiteX5" fmla="*/ 2463747 w 2699137"/>
              <a:gd name="connsiteY5" fmla="*/ 516952 h 743289"/>
              <a:gd name="connsiteX6" fmla="*/ 2327945 w 2699137"/>
              <a:gd name="connsiteY6" fmla="*/ 553166 h 743289"/>
              <a:gd name="connsiteX7" fmla="*/ 2255518 w 2699137"/>
              <a:gd name="connsiteY7" fmla="*/ 571273 h 743289"/>
              <a:gd name="connsiteX8" fmla="*/ 2164983 w 2699137"/>
              <a:gd name="connsiteY8" fmla="*/ 589380 h 743289"/>
              <a:gd name="connsiteX9" fmla="*/ 2047288 w 2699137"/>
              <a:gd name="connsiteY9" fmla="*/ 598433 h 743289"/>
              <a:gd name="connsiteX10" fmla="*/ 1965807 w 2699137"/>
              <a:gd name="connsiteY10" fmla="*/ 607487 h 743289"/>
              <a:gd name="connsiteX11" fmla="*/ 1911486 w 2699137"/>
              <a:gd name="connsiteY11" fmla="*/ 616540 h 743289"/>
              <a:gd name="connsiteX12" fmla="*/ 1784737 w 2699137"/>
              <a:gd name="connsiteY12" fmla="*/ 625594 h 743289"/>
              <a:gd name="connsiteX13" fmla="*/ 1431652 w 2699137"/>
              <a:gd name="connsiteY13" fmla="*/ 652754 h 743289"/>
              <a:gd name="connsiteX14" fmla="*/ 1033300 w 2699137"/>
              <a:gd name="connsiteY14" fmla="*/ 634647 h 743289"/>
              <a:gd name="connsiteX15" fmla="*/ 988033 w 2699137"/>
              <a:gd name="connsiteY15" fmla="*/ 625594 h 743289"/>
              <a:gd name="connsiteX16" fmla="*/ 933712 w 2699137"/>
              <a:gd name="connsiteY16" fmla="*/ 616540 h 743289"/>
              <a:gd name="connsiteX17" fmla="*/ 888444 w 2699137"/>
              <a:gd name="connsiteY17" fmla="*/ 607487 h 743289"/>
              <a:gd name="connsiteX18" fmla="*/ 816017 w 2699137"/>
              <a:gd name="connsiteY18" fmla="*/ 598433 h 743289"/>
              <a:gd name="connsiteX19" fmla="*/ 761696 w 2699137"/>
              <a:gd name="connsiteY19" fmla="*/ 589380 h 743289"/>
              <a:gd name="connsiteX20" fmla="*/ 689268 w 2699137"/>
              <a:gd name="connsiteY20" fmla="*/ 580327 h 743289"/>
              <a:gd name="connsiteX21" fmla="*/ 644001 w 2699137"/>
              <a:gd name="connsiteY21" fmla="*/ 571273 h 743289"/>
              <a:gd name="connsiteX22" fmla="*/ 453878 w 2699137"/>
              <a:gd name="connsiteY22" fmla="*/ 553166 h 743289"/>
              <a:gd name="connsiteX23" fmla="*/ 372397 w 2699137"/>
              <a:gd name="connsiteY23" fmla="*/ 535059 h 743289"/>
              <a:gd name="connsiteX24" fmla="*/ 327130 w 2699137"/>
              <a:gd name="connsiteY24" fmla="*/ 526006 h 743289"/>
              <a:gd name="connsiteX25" fmla="*/ 245648 w 2699137"/>
              <a:gd name="connsiteY25" fmla="*/ 498845 h 743289"/>
              <a:gd name="connsiteX26" fmla="*/ 191328 w 2699137"/>
              <a:gd name="connsiteY26" fmla="*/ 489792 h 743289"/>
              <a:gd name="connsiteX27" fmla="*/ 155114 w 2699137"/>
              <a:gd name="connsiteY27" fmla="*/ 471685 h 743289"/>
              <a:gd name="connsiteX28" fmla="*/ 127953 w 2699137"/>
              <a:gd name="connsiteY28" fmla="*/ 462631 h 743289"/>
              <a:gd name="connsiteX29" fmla="*/ 46472 w 2699137"/>
              <a:gd name="connsiteY29" fmla="*/ 399257 h 743289"/>
              <a:gd name="connsiteX30" fmla="*/ 37419 w 2699137"/>
              <a:gd name="connsiteY30" fmla="*/ 372097 h 743289"/>
              <a:gd name="connsiteX31" fmla="*/ 10258 w 2699137"/>
              <a:gd name="connsiteY31" fmla="*/ 308723 h 743289"/>
              <a:gd name="connsiteX32" fmla="*/ 10258 w 2699137"/>
              <a:gd name="connsiteY32" fmla="*/ 145760 h 743289"/>
              <a:gd name="connsiteX33" fmla="*/ 37419 w 2699137"/>
              <a:gd name="connsiteY33" fmla="*/ 91439 h 743289"/>
              <a:gd name="connsiteX34" fmla="*/ 64579 w 2699137"/>
              <a:gd name="connsiteY34" fmla="*/ 82386 h 743289"/>
              <a:gd name="connsiteX35" fmla="*/ 91739 w 2699137"/>
              <a:gd name="connsiteY35" fmla="*/ 64279 h 743289"/>
              <a:gd name="connsiteX36" fmla="*/ 164167 w 2699137"/>
              <a:gd name="connsiteY36" fmla="*/ 46172 h 743289"/>
              <a:gd name="connsiteX37" fmla="*/ 327130 w 2699137"/>
              <a:gd name="connsiteY37" fmla="*/ 28065 h 743289"/>
              <a:gd name="connsiteX38" fmla="*/ 571573 w 2699137"/>
              <a:gd name="connsiteY38" fmla="*/ 19012 h 743289"/>
              <a:gd name="connsiteX39" fmla="*/ 1332064 w 2699137"/>
              <a:gd name="connsiteY39" fmla="*/ 19012 h 743289"/>
              <a:gd name="connsiteX40" fmla="*/ 1657989 w 2699137"/>
              <a:gd name="connsiteY40" fmla="*/ 9958 h 743289"/>
              <a:gd name="connsiteX41" fmla="*/ 2201197 w 2699137"/>
              <a:gd name="connsiteY41" fmla="*/ 19012 h 743289"/>
              <a:gd name="connsiteX42" fmla="*/ 2228357 w 2699137"/>
              <a:gd name="connsiteY42" fmla="*/ 28065 h 743289"/>
              <a:gd name="connsiteX43" fmla="*/ 2300785 w 2699137"/>
              <a:gd name="connsiteY43" fmla="*/ 37119 h 743289"/>
              <a:gd name="connsiteX44" fmla="*/ 2355106 w 2699137"/>
              <a:gd name="connsiteY44" fmla="*/ 46172 h 743289"/>
              <a:gd name="connsiteX45" fmla="*/ 2382266 w 2699137"/>
              <a:gd name="connsiteY45" fmla="*/ 55226 h 743289"/>
              <a:gd name="connsiteX46" fmla="*/ 2436587 w 2699137"/>
              <a:gd name="connsiteY46" fmla="*/ 82386 h 743289"/>
              <a:gd name="connsiteX47" fmla="*/ 2445640 w 2699137"/>
              <a:gd name="connsiteY47" fmla="*/ 109546 h 743289"/>
              <a:gd name="connsiteX48" fmla="*/ 2499961 w 2699137"/>
              <a:gd name="connsiteY48" fmla="*/ 172921 h 743289"/>
              <a:gd name="connsiteX49" fmla="*/ 2509015 w 2699137"/>
              <a:gd name="connsiteY49" fmla="*/ 200081 h 743289"/>
              <a:gd name="connsiteX50" fmla="*/ 2545229 w 2699137"/>
              <a:gd name="connsiteY50" fmla="*/ 263455 h 743289"/>
              <a:gd name="connsiteX51" fmla="*/ 2554282 w 2699137"/>
              <a:gd name="connsiteY51" fmla="*/ 290616 h 743289"/>
              <a:gd name="connsiteX52" fmla="*/ 2572389 w 2699137"/>
              <a:gd name="connsiteY52" fmla="*/ 372097 h 743289"/>
              <a:gd name="connsiteX53" fmla="*/ 2554282 w 2699137"/>
              <a:gd name="connsiteY53" fmla="*/ 643701 h 743289"/>
              <a:gd name="connsiteX54" fmla="*/ 2536175 w 2699137"/>
              <a:gd name="connsiteY54" fmla="*/ 725182 h 743289"/>
              <a:gd name="connsiteX55" fmla="*/ 2536175 w 2699137"/>
              <a:gd name="connsiteY55" fmla="*/ 743289 h 74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699137" h="743289">
                <a:moveTo>
                  <a:pt x="2699137" y="390204"/>
                </a:moveTo>
                <a:cubicBezTo>
                  <a:pt x="2690084" y="402275"/>
                  <a:pt x="2682646" y="415748"/>
                  <a:pt x="2671977" y="426418"/>
                </a:cubicBezTo>
                <a:cubicBezTo>
                  <a:pt x="2657270" y="441125"/>
                  <a:pt x="2625175" y="453162"/>
                  <a:pt x="2608603" y="462631"/>
                </a:cubicBezTo>
                <a:cubicBezTo>
                  <a:pt x="2599155" y="468029"/>
                  <a:pt x="2591174" y="475872"/>
                  <a:pt x="2581442" y="480738"/>
                </a:cubicBezTo>
                <a:cubicBezTo>
                  <a:pt x="2573141" y="484889"/>
                  <a:pt x="2524682" y="503982"/>
                  <a:pt x="2509015" y="507899"/>
                </a:cubicBezTo>
                <a:cubicBezTo>
                  <a:pt x="2494086" y="511631"/>
                  <a:pt x="2478836" y="513934"/>
                  <a:pt x="2463747" y="516952"/>
                </a:cubicBezTo>
                <a:cubicBezTo>
                  <a:pt x="2371163" y="553986"/>
                  <a:pt x="2469908" y="517675"/>
                  <a:pt x="2327945" y="553166"/>
                </a:cubicBezTo>
                <a:lnTo>
                  <a:pt x="2255518" y="571273"/>
                </a:lnTo>
                <a:cubicBezTo>
                  <a:pt x="2220640" y="579993"/>
                  <a:pt x="2203333" y="585343"/>
                  <a:pt x="2164983" y="589380"/>
                </a:cubicBezTo>
                <a:cubicBezTo>
                  <a:pt x="2125852" y="593499"/>
                  <a:pt x="2086474" y="594871"/>
                  <a:pt x="2047288" y="598433"/>
                </a:cubicBezTo>
                <a:cubicBezTo>
                  <a:pt x="2020073" y="600907"/>
                  <a:pt x="1992895" y="603875"/>
                  <a:pt x="1965807" y="607487"/>
                </a:cubicBezTo>
                <a:cubicBezTo>
                  <a:pt x="1947611" y="609913"/>
                  <a:pt x="1929752" y="614713"/>
                  <a:pt x="1911486" y="616540"/>
                </a:cubicBezTo>
                <a:cubicBezTo>
                  <a:pt x="1869339" y="620755"/>
                  <a:pt x="1826909" y="621640"/>
                  <a:pt x="1784737" y="625594"/>
                </a:cubicBezTo>
                <a:cubicBezTo>
                  <a:pt x="1473671" y="654757"/>
                  <a:pt x="1775094" y="636400"/>
                  <a:pt x="1431652" y="652754"/>
                </a:cubicBezTo>
                <a:cubicBezTo>
                  <a:pt x="1342897" y="649694"/>
                  <a:pt x="1142946" y="645612"/>
                  <a:pt x="1033300" y="634647"/>
                </a:cubicBezTo>
                <a:cubicBezTo>
                  <a:pt x="1017989" y="633116"/>
                  <a:pt x="1003173" y="628347"/>
                  <a:pt x="988033" y="625594"/>
                </a:cubicBezTo>
                <a:cubicBezTo>
                  <a:pt x="969972" y="622310"/>
                  <a:pt x="951773" y="619824"/>
                  <a:pt x="933712" y="616540"/>
                </a:cubicBezTo>
                <a:cubicBezTo>
                  <a:pt x="918572" y="613787"/>
                  <a:pt x="903653" y="609827"/>
                  <a:pt x="888444" y="607487"/>
                </a:cubicBezTo>
                <a:cubicBezTo>
                  <a:pt x="864397" y="603787"/>
                  <a:pt x="840103" y="601874"/>
                  <a:pt x="816017" y="598433"/>
                </a:cubicBezTo>
                <a:cubicBezTo>
                  <a:pt x="797845" y="595837"/>
                  <a:pt x="779868" y="591976"/>
                  <a:pt x="761696" y="589380"/>
                </a:cubicBezTo>
                <a:cubicBezTo>
                  <a:pt x="737610" y="585939"/>
                  <a:pt x="713316" y="584027"/>
                  <a:pt x="689268" y="580327"/>
                </a:cubicBezTo>
                <a:cubicBezTo>
                  <a:pt x="674059" y="577987"/>
                  <a:pt x="659270" y="573182"/>
                  <a:pt x="644001" y="571273"/>
                </a:cubicBezTo>
                <a:cubicBezTo>
                  <a:pt x="526894" y="556634"/>
                  <a:pt x="566039" y="568121"/>
                  <a:pt x="453878" y="553166"/>
                </a:cubicBezTo>
                <a:cubicBezTo>
                  <a:pt x="419731" y="548613"/>
                  <a:pt x="404681" y="542233"/>
                  <a:pt x="372397" y="535059"/>
                </a:cubicBezTo>
                <a:cubicBezTo>
                  <a:pt x="357376" y="531721"/>
                  <a:pt x="341926" y="530233"/>
                  <a:pt x="327130" y="526006"/>
                </a:cubicBezTo>
                <a:cubicBezTo>
                  <a:pt x="299602" y="518141"/>
                  <a:pt x="273888" y="503552"/>
                  <a:pt x="245648" y="498845"/>
                </a:cubicBezTo>
                <a:lnTo>
                  <a:pt x="191328" y="489792"/>
                </a:lnTo>
                <a:cubicBezTo>
                  <a:pt x="179257" y="483756"/>
                  <a:pt x="167519" y="477001"/>
                  <a:pt x="155114" y="471685"/>
                </a:cubicBezTo>
                <a:cubicBezTo>
                  <a:pt x="146342" y="467926"/>
                  <a:pt x="136295" y="467266"/>
                  <a:pt x="127953" y="462631"/>
                </a:cubicBezTo>
                <a:cubicBezTo>
                  <a:pt x="79222" y="435559"/>
                  <a:pt x="79464" y="432249"/>
                  <a:pt x="46472" y="399257"/>
                </a:cubicBezTo>
                <a:cubicBezTo>
                  <a:pt x="43454" y="390204"/>
                  <a:pt x="41178" y="380868"/>
                  <a:pt x="37419" y="372097"/>
                </a:cubicBezTo>
                <a:cubicBezTo>
                  <a:pt x="3852" y="293773"/>
                  <a:pt x="31494" y="372427"/>
                  <a:pt x="10258" y="308723"/>
                </a:cubicBezTo>
                <a:cubicBezTo>
                  <a:pt x="-2988" y="229245"/>
                  <a:pt x="-3846" y="251537"/>
                  <a:pt x="10258" y="145760"/>
                </a:cubicBezTo>
                <a:cubicBezTo>
                  <a:pt x="12216" y="131074"/>
                  <a:pt x="26033" y="100548"/>
                  <a:pt x="37419" y="91439"/>
                </a:cubicBezTo>
                <a:cubicBezTo>
                  <a:pt x="44871" y="85477"/>
                  <a:pt x="55526" y="85404"/>
                  <a:pt x="64579" y="82386"/>
                </a:cubicBezTo>
                <a:cubicBezTo>
                  <a:pt x="73632" y="76350"/>
                  <a:pt x="81513" y="67997"/>
                  <a:pt x="91739" y="64279"/>
                </a:cubicBezTo>
                <a:cubicBezTo>
                  <a:pt x="115126" y="55774"/>
                  <a:pt x="139765" y="51052"/>
                  <a:pt x="164167" y="46172"/>
                </a:cubicBezTo>
                <a:cubicBezTo>
                  <a:pt x="238678" y="31271"/>
                  <a:pt x="217975" y="33523"/>
                  <a:pt x="327130" y="28065"/>
                </a:cubicBezTo>
                <a:cubicBezTo>
                  <a:pt x="408565" y="23993"/>
                  <a:pt x="490092" y="22030"/>
                  <a:pt x="571573" y="19012"/>
                </a:cubicBezTo>
                <a:cubicBezTo>
                  <a:pt x="871000" y="-23766"/>
                  <a:pt x="548296" y="19012"/>
                  <a:pt x="1332064" y="19012"/>
                </a:cubicBezTo>
                <a:cubicBezTo>
                  <a:pt x="1440748" y="19012"/>
                  <a:pt x="1549347" y="12976"/>
                  <a:pt x="1657989" y="9958"/>
                </a:cubicBezTo>
                <a:lnTo>
                  <a:pt x="2201197" y="19012"/>
                </a:lnTo>
                <a:cubicBezTo>
                  <a:pt x="2210735" y="19315"/>
                  <a:pt x="2218968" y="26358"/>
                  <a:pt x="2228357" y="28065"/>
                </a:cubicBezTo>
                <a:cubicBezTo>
                  <a:pt x="2252295" y="32417"/>
                  <a:pt x="2276699" y="33678"/>
                  <a:pt x="2300785" y="37119"/>
                </a:cubicBezTo>
                <a:cubicBezTo>
                  <a:pt x="2318957" y="39715"/>
                  <a:pt x="2336999" y="43154"/>
                  <a:pt x="2355106" y="46172"/>
                </a:cubicBezTo>
                <a:cubicBezTo>
                  <a:pt x="2364159" y="49190"/>
                  <a:pt x="2373730" y="50958"/>
                  <a:pt x="2382266" y="55226"/>
                </a:cubicBezTo>
                <a:cubicBezTo>
                  <a:pt x="2452468" y="90326"/>
                  <a:pt x="2368320" y="59629"/>
                  <a:pt x="2436587" y="82386"/>
                </a:cubicBezTo>
                <a:cubicBezTo>
                  <a:pt x="2439605" y="91439"/>
                  <a:pt x="2440093" y="101781"/>
                  <a:pt x="2445640" y="109546"/>
                </a:cubicBezTo>
                <a:cubicBezTo>
                  <a:pt x="2482771" y="161529"/>
                  <a:pt x="2476704" y="126409"/>
                  <a:pt x="2499961" y="172921"/>
                </a:cubicBezTo>
                <a:cubicBezTo>
                  <a:pt x="2504229" y="181457"/>
                  <a:pt x="2504747" y="191545"/>
                  <a:pt x="2509015" y="200081"/>
                </a:cubicBezTo>
                <a:cubicBezTo>
                  <a:pt x="2554462" y="290972"/>
                  <a:pt x="2497630" y="152387"/>
                  <a:pt x="2545229" y="263455"/>
                </a:cubicBezTo>
                <a:cubicBezTo>
                  <a:pt x="2548988" y="272227"/>
                  <a:pt x="2551660" y="281440"/>
                  <a:pt x="2554282" y="290616"/>
                </a:cubicBezTo>
                <a:cubicBezTo>
                  <a:pt x="2562804" y="320444"/>
                  <a:pt x="2566167" y="340988"/>
                  <a:pt x="2572389" y="372097"/>
                </a:cubicBezTo>
                <a:cubicBezTo>
                  <a:pt x="2568806" y="436586"/>
                  <a:pt x="2562852" y="570853"/>
                  <a:pt x="2554282" y="643701"/>
                </a:cubicBezTo>
                <a:cubicBezTo>
                  <a:pt x="2546230" y="712147"/>
                  <a:pt x="2546179" y="665163"/>
                  <a:pt x="2536175" y="725182"/>
                </a:cubicBezTo>
                <a:cubicBezTo>
                  <a:pt x="2535183" y="731136"/>
                  <a:pt x="2536175" y="737253"/>
                  <a:pt x="2536175" y="743289"/>
                </a:cubicBezTo>
              </a:path>
            </a:pathLst>
          </a:cu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74783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The Basic Meta-Analysis: </a:t>
            </a:r>
            <a:br>
              <a:rPr lang="en-US" sz="2400" dirty="0"/>
            </a:br>
            <a:r>
              <a:rPr lang="en-US" sz="2400" dirty="0"/>
              <a:t>Metafor Package in R</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48</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08" y="3005751"/>
            <a:ext cx="8542784" cy="873865"/>
          </a:xfrm>
          <a:prstGeom prst="rect">
            <a:avLst/>
          </a:prstGeom>
          <a:ln>
            <a:solidFill>
              <a:schemeClr val="tx1">
                <a:lumMod val="65000"/>
                <a:lumOff val="35000"/>
              </a:schemeClr>
            </a:solidFill>
          </a:ln>
        </p:spPr>
      </p:pic>
    </p:spTree>
    <p:extLst>
      <p:ext uri="{BB962C8B-B14F-4D97-AF65-F5344CB8AC3E}">
        <p14:creationId xmlns:p14="http://schemas.microsoft.com/office/powerpoint/2010/main" val="528430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Your Turn:</a:t>
            </a:r>
            <a:br>
              <a:rPr lang="en-US" dirty="0"/>
            </a:br>
            <a:r>
              <a:rPr lang="en-US" sz="3100" dirty="0"/>
              <a:t>Use Wilson/Linsey SPSS Macros</a:t>
            </a:r>
          </a:p>
        </p:txBody>
      </p:sp>
      <p:sp>
        <p:nvSpPr>
          <p:cNvPr id="3" name="Content Placeholder 2"/>
          <p:cNvSpPr>
            <a:spLocks noGrp="1"/>
          </p:cNvSpPr>
          <p:nvPr>
            <p:ph idx="1"/>
          </p:nvPr>
        </p:nvSpPr>
        <p:spPr/>
        <p:txBody>
          <a:bodyPr>
            <a:normAutofit lnSpcReduction="10000"/>
          </a:bodyPr>
          <a:lstStyle/>
          <a:p>
            <a:pPr marL="0" indent="0">
              <a:buNone/>
            </a:pPr>
            <a:r>
              <a:rPr lang="en-US" dirty="0"/>
              <a:t>Download the </a:t>
            </a:r>
          </a:p>
          <a:p>
            <a:pPr lvl="1"/>
            <a:r>
              <a:rPr lang="en-US" dirty="0"/>
              <a:t>SPSS data file (</a:t>
            </a:r>
            <a:r>
              <a:rPr lang="en-US" dirty="0" err="1"/>
              <a:t>Example_Datafile.sav</a:t>
            </a:r>
            <a:r>
              <a:rPr lang="en-US" dirty="0"/>
              <a:t>), </a:t>
            </a:r>
          </a:p>
          <a:p>
            <a:pPr lvl="1"/>
            <a:r>
              <a:rPr lang="en-US" dirty="0"/>
              <a:t>Wilson’s SPSS Macros, </a:t>
            </a:r>
          </a:p>
          <a:p>
            <a:pPr lvl="1"/>
            <a:r>
              <a:rPr lang="en-US" dirty="0"/>
              <a:t>SPSS syntax </a:t>
            </a:r>
          </a:p>
          <a:p>
            <a:pPr marL="0" indent="0">
              <a:buNone/>
            </a:pPr>
            <a:r>
              <a:rPr lang="en-US" dirty="0"/>
              <a:t>from:</a:t>
            </a:r>
          </a:p>
          <a:p>
            <a:pPr marL="0" indent="0" algn="ctr">
              <a:buNone/>
            </a:pPr>
            <a:r>
              <a:rPr lang="en-US" dirty="0">
                <a:hlinkClick r:id="rId2"/>
              </a:rPr>
              <a:t>http://facsrv.cdm.depaul.edu/~hqahrisa/#workshops</a:t>
            </a:r>
            <a:endParaRPr lang="en-US" dirty="0"/>
          </a:p>
          <a:p>
            <a:endParaRPr lang="en-US" dirty="0"/>
          </a:p>
          <a:p>
            <a:r>
              <a:rPr lang="en-US" dirty="0"/>
              <a:t>Unzip the macros zip file </a:t>
            </a:r>
          </a:p>
          <a:p>
            <a:pPr lvl="1"/>
            <a:r>
              <a:rPr lang="en-US" i="1" dirty="0"/>
              <a:t>(remember the location where the unzipped folder is on your computer). </a:t>
            </a:r>
          </a:p>
          <a:p>
            <a:endParaRPr lang="en-US" dirty="0"/>
          </a:p>
          <a:p>
            <a:r>
              <a:rPr lang="en-US" dirty="0"/>
              <a:t>Run the macros in SPSS Syntax as instructed.</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49</a:t>
            </a:fld>
            <a:endParaRPr lang="en-US"/>
          </a:p>
        </p:txBody>
      </p:sp>
    </p:spTree>
    <p:extLst>
      <p:ext uri="{BB962C8B-B14F-4D97-AF65-F5344CB8AC3E}">
        <p14:creationId xmlns:p14="http://schemas.microsoft.com/office/powerpoint/2010/main" val="4949223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Your Turn:</a:t>
            </a:r>
            <a:br>
              <a:rPr lang="en-US" dirty="0"/>
            </a:br>
            <a:r>
              <a:rPr lang="en-US" dirty="0"/>
              <a:t>Use Metafor Package in R</a:t>
            </a:r>
          </a:p>
        </p:txBody>
      </p:sp>
      <p:sp>
        <p:nvSpPr>
          <p:cNvPr id="3" name="Content Placeholder 2"/>
          <p:cNvSpPr>
            <a:spLocks noGrp="1"/>
          </p:cNvSpPr>
          <p:nvPr>
            <p:ph idx="1"/>
          </p:nvPr>
        </p:nvSpPr>
        <p:spPr/>
        <p:txBody>
          <a:bodyPr>
            <a:normAutofit/>
          </a:bodyPr>
          <a:lstStyle/>
          <a:p>
            <a:pPr marL="0" indent="0">
              <a:buNone/>
            </a:pPr>
            <a:r>
              <a:rPr lang="en-US" dirty="0"/>
              <a:t>Download </a:t>
            </a:r>
          </a:p>
          <a:p>
            <a:pPr lvl="1"/>
            <a:r>
              <a:rPr lang="en-US" dirty="0"/>
              <a:t>the .csv file (</a:t>
            </a:r>
            <a:r>
              <a:rPr lang="en-US" dirty="0" err="1"/>
              <a:t>Example.csv</a:t>
            </a:r>
            <a:r>
              <a:rPr lang="en-US" dirty="0"/>
              <a:t>)</a:t>
            </a:r>
          </a:p>
          <a:p>
            <a:pPr lvl="1"/>
            <a:r>
              <a:rPr lang="en-US" dirty="0" err="1"/>
              <a:t>Metafor_Script.R</a:t>
            </a:r>
            <a:r>
              <a:rPr lang="en-US" dirty="0"/>
              <a:t> </a:t>
            </a:r>
          </a:p>
          <a:p>
            <a:pPr marL="0" indent="0">
              <a:buNone/>
            </a:pPr>
            <a:r>
              <a:rPr lang="en-US" dirty="0"/>
              <a:t>from:</a:t>
            </a:r>
          </a:p>
          <a:p>
            <a:pPr marL="0" indent="0" algn="ctr">
              <a:buNone/>
            </a:pPr>
            <a:r>
              <a:rPr lang="en-US" dirty="0">
                <a:hlinkClick r:id="rId2"/>
              </a:rPr>
              <a:t>http://facsrv.cdm.depaul.edu/~hqahrisa/#workshops</a:t>
            </a:r>
            <a:endParaRPr lang="en-US" dirty="0"/>
          </a:p>
          <a:p>
            <a:endParaRPr lang="en-US" dirty="0"/>
          </a:p>
          <a:p>
            <a:r>
              <a:rPr lang="en-US" dirty="0"/>
              <a:t>You need </a:t>
            </a:r>
            <a:r>
              <a:rPr lang="en-US" dirty="0" err="1"/>
              <a:t>metafor</a:t>
            </a:r>
            <a:r>
              <a:rPr lang="en-US" dirty="0"/>
              <a:t> package installed in R, using </a:t>
            </a:r>
            <a:r>
              <a:rPr lang="en-US" dirty="0" err="1"/>
              <a:t>RStudio</a:t>
            </a:r>
            <a:r>
              <a:rPr lang="en-US" dirty="0"/>
              <a:t>.</a:t>
            </a:r>
          </a:p>
          <a:p>
            <a:pPr lvl="1"/>
            <a:r>
              <a:rPr lang="en-US" dirty="0"/>
              <a:t>Download </a:t>
            </a:r>
            <a:r>
              <a:rPr lang="en-US" dirty="0" err="1"/>
              <a:t>RStudio</a:t>
            </a:r>
            <a:r>
              <a:rPr lang="en-US" dirty="0"/>
              <a:t>: </a:t>
            </a:r>
            <a:r>
              <a:rPr lang="en-US" dirty="0">
                <a:hlinkClick r:id="rId3"/>
              </a:rPr>
              <a:t>https://www.rstudio.com/</a:t>
            </a:r>
            <a:r>
              <a:rPr lang="en-US" dirty="0"/>
              <a:t> </a:t>
            </a:r>
          </a:p>
          <a:p>
            <a:pPr lvl="1"/>
            <a:r>
              <a:rPr lang="en-US" dirty="0"/>
              <a:t>Install “</a:t>
            </a:r>
            <a:r>
              <a:rPr lang="en-US" dirty="0" err="1"/>
              <a:t>metafor</a:t>
            </a:r>
            <a:r>
              <a:rPr lang="en-US" dirty="0"/>
              <a:t>” package using </a:t>
            </a:r>
            <a:r>
              <a:rPr lang="en-US" dirty="0" err="1"/>
              <a:t>RStudio</a:t>
            </a:r>
            <a:r>
              <a:rPr lang="en-US" dirty="0"/>
              <a:t> interface.</a:t>
            </a:r>
          </a:p>
          <a:p>
            <a:endParaRPr lang="en-US" dirty="0"/>
          </a:p>
          <a:p>
            <a:r>
              <a:rPr lang="en-US" dirty="0"/>
              <a:t>Open and run the R script as instructed.</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50</a:t>
            </a:fld>
            <a:endParaRPr lang="en-US"/>
          </a:p>
        </p:txBody>
      </p:sp>
    </p:spTree>
    <p:extLst>
      <p:ext uri="{BB962C8B-B14F-4D97-AF65-F5344CB8AC3E}">
        <p14:creationId xmlns:p14="http://schemas.microsoft.com/office/powerpoint/2010/main" val="1035789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Moderator Analysis</a:t>
            </a:r>
          </a:p>
        </p:txBody>
      </p:sp>
      <p:sp>
        <p:nvSpPr>
          <p:cNvPr id="3" name="Content Placeholder 2"/>
          <p:cNvSpPr>
            <a:spLocks noGrp="1"/>
          </p:cNvSpPr>
          <p:nvPr>
            <p:ph idx="1"/>
          </p:nvPr>
        </p:nvSpPr>
        <p:spPr/>
        <p:txBody>
          <a:bodyPr/>
          <a:lstStyle/>
          <a:p>
            <a:r>
              <a:rPr lang="en-US" dirty="0"/>
              <a:t>The model for moderator effects is a mixed-effects model:</a:t>
            </a:r>
          </a:p>
          <a:p>
            <a:pPr lvl="1"/>
            <a:endParaRPr lang="en-US" dirty="0"/>
          </a:p>
          <a:p>
            <a:pPr lvl="1"/>
            <a:r>
              <a:rPr lang="en-US" dirty="0"/>
              <a:t>It assumes a </a:t>
            </a:r>
            <a:r>
              <a:rPr lang="en-US" b="1" dirty="0">
                <a:solidFill>
                  <a:srgbClr val="FF0000"/>
                </a:solidFill>
              </a:rPr>
              <a:t>general linear model </a:t>
            </a:r>
            <a:r>
              <a:rPr lang="en-US" dirty="0"/>
              <a:t>in which each z-transformed effect size can be, at least partially, predicted from the </a:t>
            </a:r>
            <a:r>
              <a:rPr lang="en-US" b="1" dirty="0">
                <a:solidFill>
                  <a:srgbClr val="FF0000"/>
                </a:solidFill>
              </a:rPr>
              <a:t>moderator effect represented by b</a:t>
            </a:r>
            <a:r>
              <a:rPr lang="en-US" b="1" baseline="-25000" dirty="0">
                <a:solidFill>
                  <a:srgbClr val="FF0000"/>
                </a:solidFill>
              </a:rPr>
              <a:t>1</a:t>
            </a:r>
            <a:r>
              <a:rPr lang="en-US" dirty="0"/>
              <a:t>:</a:t>
            </a:r>
          </a:p>
          <a:p>
            <a:pPr lvl="1"/>
            <a:endParaRPr lang="en-US" dirty="0"/>
          </a:p>
          <a:p>
            <a:pPr marL="0" indent="0" algn="ctr">
              <a:buNone/>
            </a:pPr>
            <a:r>
              <a:rPr lang="en-US" sz="3600" i="1" dirty="0" err="1"/>
              <a:t>Z</a:t>
            </a:r>
            <a:r>
              <a:rPr lang="en-US" sz="3600" i="1" baseline="-25000" dirty="0" err="1"/>
              <a:t>r</a:t>
            </a:r>
            <a:r>
              <a:rPr lang="en-US" sz="3600" i="1" dirty="0"/>
              <a:t> = b</a:t>
            </a:r>
            <a:r>
              <a:rPr lang="en-US" sz="3600" i="1" baseline="-25000" dirty="0"/>
              <a:t>0</a:t>
            </a:r>
            <a:r>
              <a:rPr lang="en-US" sz="3600" i="1" dirty="0"/>
              <a:t> + b</a:t>
            </a:r>
            <a:r>
              <a:rPr lang="en-US" sz="3600" i="1" baseline="-25000" dirty="0"/>
              <a:t>1 </a:t>
            </a:r>
            <a:r>
              <a:rPr lang="en-US" sz="3600" i="1" dirty="0"/>
              <a:t>M + </a:t>
            </a:r>
            <a:r>
              <a:rPr lang="en-US" sz="3600" i="1" dirty="0" err="1"/>
              <a:t>e</a:t>
            </a:r>
            <a:r>
              <a:rPr lang="en-US" sz="3600" i="1" baseline="-25000" dirty="0" err="1"/>
              <a:t>i</a:t>
            </a:r>
            <a:endParaRPr lang="en-US" sz="3600" i="1"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51</a:t>
            </a:fld>
            <a:endParaRPr lang="en-US"/>
          </a:p>
        </p:txBody>
      </p:sp>
    </p:spTree>
    <p:extLst>
      <p:ext uri="{BB962C8B-B14F-4D97-AF65-F5344CB8AC3E}">
        <p14:creationId xmlns:p14="http://schemas.microsoft.com/office/powerpoint/2010/main" val="652075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05567"/>
            <a:ext cx="9144000" cy="3345830"/>
          </a:xfrm>
          <a:prstGeom prst="rect">
            <a:avLst/>
          </a:prstGeom>
        </p:spPr>
      </p:pic>
      <p:sp>
        <p:nvSpPr>
          <p:cNvPr id="2" name="Title 1"/>
          <p:cNvSpPr>
            <a:spLocks noGrp="1"/>
          </p:cNvSpPr>
          <p:nvPr>
            <p:ph type="title"/>
          </p:nvPr>
        </p:nvSpPr>
        <p:spPr/>
        <p:txBody>
          <a:bodyPr/>
          <a:lstStyle/>
          <a:p>
            <a:r>
              <a:rPr lang="en-US" dirty="0"/>
              <a:t>Moderator Analysis</a:t>
            </a:r>
          </a:p>
        </p:txBody>
      </p:sp>
      <p:sp>
        <p:nvSpPr>
          <p:cNvPr id="3" name="Content Placeholder 2"/>
          <p:cNvSpPr>
            <a:spLocks noGrp="1"/>
          </p:cNvSpPr>
          <p:nvPr>
            <p:ph idx="1"/>
          </p:nvPr>
        </p:nvSpPr>
        <p:spPr>
          <a:xfrm>
            <a:off x="457200" y="1074546"/>
            <a:ext cx="8229600" cy="1822563"/>
          </a:xfrm>
        </p:spPr>
        <p:txBody>
          <a:bodyPr>
            <a:normAutofit lnSpcReduction="10000"/>
          </a:bodyPr>
          <a:lstStyle/>
          <a:p>
            <a:r>
              <a:rPr lang="en-US" sz="2000" dirty="0"/>
              <a:t>Categorical Moderators</a:t>
            </a:r>
          </a:p>
          <a:p>
            <a:pPr lvl="1"/>
            <a:r>
              <a:rPr lang="en-US" sz="1800" dirty="0"/>
              <a:t>E.g., Adoption; Gender</a:t>
            </a:r>
          </a:p>
          <a:p>
            <a:endParaRPr lang="en-US" sz="2000" dirty="0"/>
          </a:p>
          <a:p>
            <a:r>
              <a:rPr lang="en-US" sz="2000" dirty="0"/>
              <a:t>Continuous</a:t>
            </a:r>
          </a:p>
          <a:p>
            <a:pPr lvl="1"/>
            <a:r>
              <a:rPr lang="en-US" sz="1800" dirty="0"/>
              <a:t>Female Percentage (</a:t>
            </a:r>
            <a:r>
              <a:rPr lang="en-US" sz="1800" dirty="0" err="1"/>
              <a:t>Female_Perc</a:t>
            </a:r>
            <a:r>
              <a:rPr lang="en-US" sz="1800" dirty="0"/>
              <a:t>)</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52</a:t>
            </a:fld>
            <a:endParaRPr lang="en-US"/>
          </a:p>
        </p:txBody>
      </p:sp>
      <p:sp>
        <p:nvSpPr>
          <p:cNvPr id="7" name="Rectangle 6"/>
          <p:cNvSpPr/>
          <p:nvPr/>
        </p:nvSpPr>
        <p:spPr>
          <a:xfrm>
            <a:off x="6636191" y="3005567"/>
            <a:ext cx="2507810" cy="3345829"/>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Arc 7"/>
          <p:cNvSpPr/>
          <p:nvPr/>
        </p:nvSpPr>
        <p:spPr>
          <a:xfrm>
            <a:off x="5327965" y="2183752"/>
            <a:ext cx="2616451" cy="1638677"/>
          </a:xfrm>
          <a:prstGeom prst="arc">
            <a:avLst>
              <a:gd name="adj1" fmla="val 15967291"/>
              <a:gd name="adj2" fmla="val 21590050"/>
            </a:avLst>
          </a:prstGeom>
          <a:ln>
            <a:solidFill>
              <a:srgbClr val="FF0000"/>
            </a:solidFill>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451443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Moderator Analysis:</a:t>
            </a:r>
            <a:br>
              <a:rPr lang="en-US" dirty="0"/>
            </a:br>
            <a:r>
              <a:rPr lang="en-US" sz="2400" dirty="0"/>
              <a:t>Wilson/Linsey SPSS Macros</a:t>
            </a:r>
          </a:p>
        </p:txBody>
      </p:sp>
      <p:sp>
        <p:nvSpPr>
          <p:cNvPr id="3" name="Content Placeholder 2"/>
          <p:cNvSpPr>
            <a:spLocks noGrp="1"/>
          </p:cNvSpPr>
          <p:nvPr>
            <p:ph idx="1"/>
          </p:nvPr>
        </p:nvSpPr>
        <p:spPr/>
        <p:txBody>
          <a:bodyPr/>
          <a:lstStyle/>
          <a:p>
            <a:r>
              <a:rPr lang="en-US" dirty="0"/>
              <a:t>For Categorical Variables using Meta Factor function (</a:t>
            </a:r>
            <a:r>
              <a:rPr lang="en-US" dirty="0" err="1"/>
              <a:t>MetaF</a:t>
            </a:r>
            <a:r>
              <a:rPr lang="en-US" dirty="0"/>
              <a:t>) </a:t>
            </a:r>
          </a:p>
          <a:p>
            <a:pPr lvl="1"/>
            <a:endParaRPr lang="en-US" dirty="0"/>
          </a:p>
          <a:p>
            <a:pPr lvl="1"/>
            <a:r>
              <a:rPr lang="en-US" dirty="0"/>
              <a:t>Analog to the </a:t>
            </a:r>
            <a:r>
              <a:rPr lang="en-US" b="1" dirty="0">
                <a:solidFill>
                  <a:srgbClr val="FF0000"/>
                </a:solidFill>
              </a:rPr>
              <a:t>one-way ANOVA</a:t>
            </a:r>
          </a:p>
          <a:p>
            <a:pPr lvl="1"/>
            <a:endParaRPr lang="en-US" dirty="0"/>
          </a:p>
          <a:p>
            <a:pPr lvl="1"/>
            <a:r>
              <a:rPr lang="en-US" dirty="0"/>
              <a:t>Useful for testing the differences across mean effect sizes for a categorical variable.</a:t>
            </a:r>
          </a:p>
          <a:p>
            <a:pPr lvl="1"/>
            <a:endParaRPr lang="en-US" dirty="0"/>
          </a:p>
          <a:p>
            <a:pPr lvl="1"/>
            <a:r>
              <a:rPr lang="en-US" dirty="0"/>
              <a:t>Example of the output for “Adoption” as a categorical moderator.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53</a:t>
            </a:fld>
            <a:endParaRPr lang="en-US" dirty="0"/>
          </a:p>
        </p:txBody>
      </p:sp>
    </p:spTree>
    <p:extLst>
      <p:ext uri="{BB962C8B-B14F-4D97-AF65-F5344CB8AC3E}">
        <p14:creationId xmlns:p14="http://schemas.microsoft.com/office/powerpoint/2010/main" val="1513321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321" y="1127720"/>
            <a:ext cx="6089915" cy="5411192"/>
          </a:xfrm>
          <a:prstGeom prst="rect">
            <a:avLst/>
          </a:prstGeom>
        </p:spPr>
      </p:pic>
      <p:sp>
        <p:nvSpPr>
          <p:cNvPr id="2" name="Title 1"/>
          <p:cNvSpPr>
            <a:spLocks noGrp="1"/>
          </p:cNvSpPr>
          <p:nvPr>
            <p:ph type="title"/>
          </p:nvPr>
        </p:nvSpPr>
        <p:spPr/>
        <p:txBody>
          <a:bodyPr>
            <a:normAutofit/>
          </a:bodyPr>
          <a:lstStyle/>
          <a:p>
            <a:r>
              <a:rPr lang="en-US" sz="2200" dirty="0"/>
              <a:t>Moderator Analysis:</a:t>
            </a:r>
            <a:br>
              <a:rPr lang="en-US" dirty="0"/>
            </a:br>
            <a:r>
              <a:rPr lang="en-US" sz="2400" dirty="0"/>
              <a:t>Wilson/Linsey SPSS Macros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54</a:t>
            </a:fld>
            <a:endParaRPr lang="en-US" dirty="0"/>
          </a:p>
        </p:txBody>
      </p:sp>
    </p:spTree>
    <p:extLst>
      <p:ext uri="{BB962C8B-B14F-4D97-AF65-F5344CB8AC3E}">
        <p14:creationId xmlns:p14="http://schemas.microsoft.com/office/powerpoint/2010/main" val="3342741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Moderator Analysis:</a:t>
            </a:r>
            <a:br>
              <a:rPr lang="en-US" dirty="0"/>
            </a:br>
            <a:r>
              <a:rPr lang="en-US" sz="2400" dirty="0"/>
              <a:t>Wilson/Linsey SPSS Macros</a:t>
            </a:r>
          </a:p>
        </p:txBody>
      </p:sp>
      <p:sp>
        <p:nvSpPr>
          <p:cNvPr id="3" name="Content Placeholder 2"/>
          <p:cNvSpPr>
            <a:spLocks noGrp="1"/>
          </p:cNvSpPr>
          <p:nvPr>
            <p:ph idx="1"/>
          </p:nvPr>
        </p:nvSpPr>
        <p:spPr/>
        <p:txBody>
          <a:bodyPr/>
          <a:lstStyle/>
          <a:p>
            <a:r>
              <a:rPr lang="en-US" dirty="0"/>
              <a:t>For Continuous Variables using Meta Regression (</a:t>
            </a:r>
            <a:r>
              <a:rPr lang="en-US" dirty="0" err="1"/>
              <a:t>MetaReg</a:t>
            </a:r>
            <a:r>
              <a:rPr lang="en-US" dirty="0"/>
              <a:t>) </a:t>
            </a:r>
          </a:p>
          <a:p>
            <a:pPr lvl="1"/>
            <a:endParaRPr lang="en-US" dirty="0"/>
          </a:p>
          <a:p>
            <a:pPr lvl="1"/>
            <a:r>
              <a:rPr lang="en-US" dirty="0"/>
              <a:t>Analog to the regression analysis</a:t>
            </a:r>
          </a:p>
          <a:p>
            <a:pPr lvl="2"/>
            <a:r>
              <a:rPr lang="en-US" dirty="0"/>
              <a:t>Estimate beta values using restricted maximum likelihood estimator (REML).</a:t>
            </a:r>
          </a:p>
          <a:p>
            <a:pPr lvl="3"/>
            <a:r>
              <a:rPr lang="en-US" dirty="0"/>
              <a:t>You can change the estimation method if you want.</a:t>
            </a:r>
          </a:p>
          <a:p>
            <a:pPr lvl="1"/>
            <a:endParaRPr lang="en-US" dirty="0"/>
          </a:p>
          <a:p>
            <a:pPr lvl="1"/>
            <a:r>
              <a:rPr lang="en-US" dirty="0"/>
              <a:t>Example of the output for “</a:t>
            </a:r>
            <a:r>
              <a:rPr lang="en-US" dirty="0" err="1"/>
              <a:t>Female_Perc</a:t>
            </a:r>
            <a:r>
              <a:rPr lang="en-US" dirty="0"/>
              <a:t>” as a continuous moderator.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55</a:t>
            </a:fld>
            <a:endParaRPr lang="en-US" dirty="0"/>
          </a:p>
        </p:txBody>
      </p:sp>
    </p:spTree>
    <p:extLst>
      <p:ext uri="{BB962C8B-B14F-4D97-AF65-F5344CB8AC3E}">
        <p14:creationId xmlns:p14="http://schemas.microsoft.com/office/powerpoint/2010/main" val="15200155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917" y="997421"/>
            <a:ext cx="7332338" cy="5541491"/>
          </a:xfrm>
          <a:prstGeom prst="rect">
            <a:avLst/>
          </a:prstGeom>
        </p:spPr>
      </p:pic>
      <p:sp>
        <p:nvSpPr>
          <p:cNvPr id="2" name="Title 1"/>
          <p:cNvSpPr>
            <a:spLocks noGrp="1"/>
          </p:cNvSpPr>
          <p:nvPr>
            <p:ph type="title"/>
          </p:nvPr>
        </p:nvSpPr>
        <p:spPr/>
        <p:txBody>
          <a:bodyPr>
            <a:normAutofit/>
          </a:bodyPr>
          <a:lstStyle/>
          <a:p>
            <a:r>
              <a:rPr lang="en-US" sz="2200" dirty="0"/>
              <a:t>Moderator Analysis:</a:t>
            </a:r>
            <a:br>
              <a:rPr lang="en-US" dirty="0"/>
            </a:br>
            <a:r>
              <a:rPr lang="en-US" sz="2400" dirty="0"/>
              <a:t>Wilson/Linsey SPSS Macros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56</a:t>
            </a:fld>
            <a:endParaRPr lang="en-US" dirty="0"/>
          </a:p>
        </p:txBody>
      </p:sp>
    </p:spTree>
    <p:extLst>
      <p:ext uri="{BB962C8B-B14F-4D97-AF65-F5344CB8AC3E}">
        <p14:creationId xmlns:p14="http://schemas.microsoft.com/office/powerpoint/2010/main" val="1511897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Your Turn:</a:t>
            </a:r>
            <a:br>
              <a:rPr lang="en-US" dirty="0"/>
            </a:br>
            <a:r>
              <a:rPr lang="en-US" sz="3100" dirty="0"/>
              <a:t>Use Wilson/Linsey SPSS Macros</a:t>
            </a:r>
          </a:p>
        </p:txBody>
      </p:sp>
      <p:sp>
        <p:nvSpPr>
          <p:cNvPr id="3" name="Content Placeholder 2"/>
          <p:cNvSpPr>
            <a:spLocks noGrp="1"/>
          </p:cNvSpPr>
          <p:nvPr>
            <p:ph idx="1"/>
          </p:nvPr>
        </p:nvSpPr>
        <p:spPr/>
        <p:txBody>
          <a:bodyPr>
            <a:normAutofit/>
          </a:bodyPr>
          <a:lstStyle/>
          <a:p>
            <a:r>
              <a:rPr lang="en-US" dirty="0"/>
              <a:t>Run the macro in SPSS Syntax as instructed:</a:t>
            </a:r>
          </a:p>
          <a:p>
            <a:pPr lvl="1"/>
            <a:endParaRPr lang="en-US" dirty="0"/>
          </a:p>
          <a:p>
            <a:pPr lvl="1"/>
            <a:r>
              <a:rPr lang="en-US" dirty="0"/>
              <a:t>Run </a:t>
            </a:r>
            <a:r>
              <a:rPr lang="en-US" dirty="0" err="1"/>
              <a:t>MetaF</a:t>
            </a:r>
            <a:r>
              <a:rPr lang="en-US" dirty="0"/>
              <a:t> for </a:t>
            </a:r>
            <a:r>
              <a:rPr lang="en-US" dirty="0">
                <a:solidFill>
                  <a:srgbClr val="FF0000"/>
                </a:solidFill>
              </a:rPr>
              <a:t>“adoption”</a:t>
            </a:r>
            <a:r>
              <a:rPr lang="en-US" dirty="0"/>
              <a:t> as a categorical moderator.</a:t>
            </a:r>
          </a:p>
          <a:p>
            <a:pPr lvl="1"/>
            <a:endParaRPr lang="en-US" dirty="0"/>
          </a:p>
          <a:p>
            <a:pPr lvl="1"/>
            <a:r>
              <a:rPr lang="en-US" dirty="0"/>
              <a:t>Run </a:t>
            </a:r>
            <a:r>
              <a:rPr lang="en-US" dirty="0" err="1"/>
              <a:t>MetaReg</a:t>
            </a:r>
            <a:r>
              <a:rPr lang="en-US" dirty="0"/>
              <a:t> for </a:t>
            </a:r>
            <a:r>
              <a:rPr lang="en-US" dirty="0">
                <a:solidFill>
                  <a:srgbClr val="FF0000"/>
                </a:solidFill>
              </a:rPr>
              <a:t>“</a:t>
            </a:r>
            <a:r>
              <a:rPr lang="en-US" dirty="0" err="1">
                <a:solidFill>
                  <a:srgbClr val="FF0000"/>
                </a:solidFill>
              </a:rPr>
              <a:t>Female_Perc</a:t>
            </a:r>
            <a:r>
              <a:rPr lang="en-US" dirty="0">
                <a:solidFill>
                  <a:srgbClr val="FF0000"/>
                </a:solidFill>
              </a:rPr>
              <a:t>” </a:t>
            </a:r>
            <a:r>
              <a:rPr lang="en-US" dirty="0"/>
              <a:t>as a continuous moderator.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57</a:t>
            </a:fld>
            <a:endParaRPr lang="en-US"/>
          </a:p>
        </p:txBody>
      </p:sp>
    </p:spTree>
    <p:extLst>
      <p:ext uri="{BB962C8B-B14F-4D97-AF65-F5344CB8AC3E}">
        <p14:creationId xmlns:p14="http://schemas.microsoft.com/office/powerpoint/2010/main" val="20961317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0304"/>
            <a:ext cx="8229600" cy="924242"/>
          </a:xfrm>
        </p:spPr>
        <p:txBody>
          <a:bodyPr>
            <a:normAutofit/>
          </a:bodyPr>
          <a:lstStyle/>
          <a:p>
            <a:r>
              <a:rPr lang="en-US" sz="2000" dirty="0"/>
              <a:t>Moderator Analysis:</a:t>
            </a:r>
            <a:br>
              <a:rPr lang="en-US" dirty="0"/>
            </a:br>
            <a:r>
              <a:rPr lang="en-US" sz="2800" dirty="0"/>
              <a:t>Metafor Package in R</a:t>
            </a:r>
          </a:p>
        </p:txBody>
      </p:sp>
      <p:sp>
        <p:nvSpPr>
          <p:cNvPr id="3" name="Content Placeholder 2"/>
          <p:cNvSpPr>
            <a:spLocks noGrp="1"/>
          </p:cNvSpPr>
          <p:nvPr>
            <p:ph idx="1"/>
          </p:nvPr>
        </p:nvSpPr>
        <p:spPr/>
        <p:txBody>
          <a:bodyPr>
            <a:normAutofit lnSpcReduction="10000"/>
          </a:bodyPr>
          <a:lstStyle/>
          <a:p>
            <a:r>
              <a:rPr lang="en-US" dirty="0"/>
              <a:t>For both </a:t>
            </a:r>
            <a:r>
              <a:rPr lang="en-US" dirty="0">
                <a:solidFill>
                  <a:srgbClr val="FF0000"/>
                </a:solidFill>
              </a:rPr>
              <a:t>Continuous and Categorical Variables </a:t>
            </a:r>
            <a:r>
              <a:rPr lang="en-US" dirty="0"/>
              <a:t>uses Meta Regression: </a:t>
            </a:r>
            <a:r>
              <a:rPr lang="en-US" i="1" dirty="0" err="1">
                <a:solidFill>
                  <a:srgbClr val="0432FF"/>
                </a:solidFill>
              </a:rPr>
              <a:t>rma</a:t>
            </a:r>
            <a:r>
              <a:rPr lang="en-US" i="1" dirty="0">
                <a:solidFill>
                  <a:srgbClr val="0432FF"/>
                </a:solidFill>
              </a:rPr>
              <a:t>() </a:t>
            </a:r>
            <a:r>
              <a:rPr lang="en-US" dirty="0"/>
              <a:t>function.</a:t>
            </a:r>
          </a:p>
          <a:p>
            <a:pPr lvl="1"/>
            <a:endParaRPr lang="en-US" dirty="0"/>
          </a:p>
          <a:p>
            <a:pPr lvl="1"/>
            <a:r>
              <a:rPr lang="en-US" dirty="0"/>
              <a:t>Analog to the regression analysis</a:t>
            </a:r>
          </a:p>
          <a:p>
            <a:pPr lvl="2"/>
            <a:r>
              <a:rPr lang="en-US" dirty="0"/>
              <a:t>Estimate beta values using restricted maximum likelihood estimator (REML).</a:t>
            </a:r>
          </a:p>
          <a:p>
            <a:pPr lvl="3"/>
            <a:r>
              <a:rPr lang="en-US" dirty="0"/>
              <a:t>You can change the estimation method if you want.</a:t>
            </a:r>
          </a:p>
          <a:p>
            <a:pPr lvl="1"/>
            <a:endParaRPr lang="en-US" dirty="0"/>
          </a:p>
          <a:p>
            <a:pPr lvl="1"/>
            <a:r>
              <a:rPr lang="en-US" dirty="0"/>
              <a:t>Categorical variables are tested in form of dichotomous variables.</a:t>
            </a:r>
          </a:p>
          <a:p>
            <a:pPr lvl="1"/>
            <a:endParaRPr lang="en-US" dirty="0"/>
          </a:p>
          <a:p>
            <a:pPr lvl="1"/>
            <a:r>
              <a:rPr lang="en-US" dirty="0"/>
              <a:t>Examples of the output for </a:t>
            </a:r>
          </a:p>
          <a:p>
            <a:pPr lvl="2"/>
            <a:r>
              <a:rPr lang="en-US" dirty="0"/>
              <a:t>Adoption as a categorical moderator.</a:t>
            </a:r>
          </a:p>
          <a:p>
            <a:pPr lvl="2"/>
            <a:r>
              <a:rPr lang="en-US" dirty="0"/>
              <a:t>“</a:t>
            </a:r>
            <a:r>
              <a:rPr lang="en-US" dirty="0" err="1"/>
              <a:t>Female_Perc</a:t>
            </a:r>
            <a:r>
              <a:rPr lang="en-US" dirty="0"/>
              <a:t>” as a continuous moderator.</a:t>
            </a:r>
          </a:p>
          <a:p>
            <a:pPr lvl="2"/>
            <a:r>
              <a:rPr lang="en-US" dirty="0"/>
              <a:t>Both moderators together in a model.</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58</a:t>
            </a:fld>
            <a:endParaRPr lang="en-US" dirty="0"/>
          </a:p>
        </p:txBody>
      </p:sp>
    </p:spTree>
    <p:extLst>
      <p:ext uri="{BB962C8B-B14F-4D97-AF65-F5344CB8AC3E}">
        <p14:creationId xmlns:p14="http://schemas.microsoft.com/office/powerpoint/2010/main" val="12852182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dirty="0"/>
              <a:t>Moderator Analysis:</a:t>
            </a:r>
            <a:br>
              <a:rPr lang="en-US" dirty="0"/>
            </a:br>
            <a:r>
              <a:rPr lang="en-US" dirty="0"/>
              <a:t>Metafor Package in 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59</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318" y="1108279"/>
            <a:ext cx="7025364" cy="5275230"/>
          </a:xfrm>
          <a:prstGeom prst="rect">
            <a:avLst/>
          </a:prstGeom>
        </p:spPr>
      </p:pic>
      <p:sp>
        <p:nvSpPr>
          <p:cNvPr id="7" name="Rectangle 6"/>
          <p:cNvSpPr/>
          <p:nvPr/>
        </p:nvSpPr>
        <p:spPr>
          <a:xfrm>
            <a:off x="828391" y="3745894"/>
            <a:ext cx="7632071" cy="672197"/>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167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dirty="0"/>
              <a:t>Moderator Analysis:</a:t>
            </a:r>
            <a:br>
              <a:rPr lang="en-US" dirty="0"/>
            </a:br>
            <a:r>
              <a:rPr lang="en-US" dirty="0"/>
              <a:t>Metafor Package in 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288" y="1147590"/>
            <a:ext cx="7019424" cy="5208760"/>
          </a:xfrm>
          <a:prstGeom prst="rect">
            <a:avLst/>
          </a:prstGeom>
        </p:spPr>
      </p:pic>
      <p:sp>
        <p:nvSpPr>
          <p:cNvPr id="7" name="Rectangle 6"/>
          <p:cNvSpPr/>
          <p:nvPr/>
        </p:nvSpPr>
        <p:spPr>
          <a:xfrm>
            <a:off x="755964" y="3751970"/>
            <a:ext cx="7632071" cy="702335"/>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3406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dirty="0"/>
              <a:t>Moderator Analysis:</a:t>
            </a:r>
            <a:br>
              <a:rPr lang="en-US" dirty="0"/>
            </a:br>
            <a:r>
              <a:rPr lang="en-US" dirty="0"/>
              <a:t>Metafor Package in 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61</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800" y="1097542"/>
            <a:ext cx="6576400" cy="5258808"/>
          </a:xfrm>
          <a:prstGeom prst="rect">
            <a:avLst/>
          </a:prstGeom>
        </p:spPr>
      </p:pic>
      <p:sp>
        <p:nvSpPr>
          <p:cNvPr id="7" name="Rectangle 6"/>
          <p:cNvSpPr/>
          <p:nvPr/>
        </p:nvSpPr>
        <p:spPr>
          <a:xfrm>
            <a:off x="955141" y="3726946"/>
            <a:ext cx="7632071" cy="618717"/>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6710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Your Turn:</a:t>
            </a:r>
            <a:br>
              <a:rPr lang="en-US" dirty="0"/>
            </a:br>
            <a:r>
              <a:rPr lang="en-US" sz="2800" dirty="0"/>
              <a:t> </a:t>
            </a:r>
            <a:r>
              <a:rPr lang="en-US" sz="3100" dirty="0"/>
              <a:t>Metafor Package in R</a:t>
            </a:r>
          </a:p>
        </p:txBody>
      </p:sp>
      <p:sp>
        <p:nvSpPr>
          <p:cNvPr id="3" name="Content Placeholder 2"/>
          <p:cNvSpPr>
            <a:spLocks noGrp="1"/>
          </p:cNvSpPr>
          <p:nvPr>
            <p:ph idx="1"/>
          </p:nvPr>
        </p:nvSpPr>
        <p:spPr/>
        <p:txBody>
          <a:bodyPr>
            <a:normAutofit/>
          </a:bodyPr>
          <a:lstStyle/>
          <a:p>
            <a:r>
              <a:rPr lang="en-US" dirty="0"/>
              <a:t>Run the </a:t>
            </a:r>
            <a:r>
              <a:rPr lang="en-US" dirty="0" err="1"/>
              <a:t>metafor</a:t>
            </a:r>
            <a:r>
              <a:rPr lang="en-US" dirty="0"/>
              <a:t> package in </a:t>
            </a:r>
            <a:r>
              <a:rPr lang="en-US" dirty="0" err="1"/>
              <a:t>RStudio</a:t>
            </a:r>
            <a:r>
              <a:rPr lang="en-US" dirty="0"/>
              <a:t> as instructed:</a:t>
            </a:r>
          </a:p>
          <a:p>
            <a:pPr lvl="1"/>
            <a:endParaRPr lang="en-US" dirty="0"/>
          </a:p>
          <a:p>
            <a:pPr lvl="1"/>
            <a:r>
              <a:rPr lang="en-US" dirty="0"/>
              <a:t>Run </a:t>
            </a:r>
            <a:r>
              <a:rPr lang="en-US" dirty="0" err="1"/>
              <a:t>rma</a:t>
            </a:r>
            <a:r>
              <a:rPr lang="en-US" dirty="0"/>
              <a:t> () function for testing:</a:t>
            </a:r>
          </a:p>
          <a:p>
            <a:pPr lvl="2"/>
            <a:r>
              <a:rPr lang="en-US" dirty="0"/>
              <a:t>Adoption as a categorical moderator.</a:t>
            </a:r>
          </a:p>
          <a:p>
            <a:pPr lvl="2"/>
            <a:r>
              <a:rPr lang="en-US" dirty="0" err="1"/>
              <a:t>Female_Perc</a:t>
            </a:r>
            <a:r>
              <a:rPr lang="en-US" dirty="0"/>
              <a:t> as a continuous moderator.</a:t>
            </a:r>
          </a:p>
          <a:p>
            <a:pPr lvl="2"/>
            <a:r>
              <a:rPr lang="en-US" dirty="0"/>
              <a:t>Both moderators together in a model.</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62</a:t>
            </a:fld>
            <a:endParaRPr lang="en-US" dirty="0"/>
          </a:p>
        </p:txBody>
      </p:sp>
    </p:spTree>
    <p:extLst>
      <p:ext uri="{BB962C8B-B14F-4D97-AF65-F5344CB8AC3E}">
        <p14:creationId xmlns:p14="http://schemas.microsoft.com/office/powerpoint/2010/main" val="798032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Other Tool for Meta-Analysis: </a:t>
            </a:r>
            <a:br>
              <a:rPr lang="en-US" dirty="0"/>
            </a:br>
            <a:r>
              <a:rPr lang="en-US" dirty="0"/>
              <a:t>Mix 2.0 add-in in MS Excel</a:t>
            </a:r>
            <a:endParaRPr lang="en-US" dirty="0"/>
          </a:p>
        </p:txBody>
      </p:sp>
      <p:sp>
        <p:nvSpPr>
          <p:cNvPr id="3" name="Content Placeholder 2"/>
          <p:cNvSpPr>
            <a:spLocks noGrp="1"/>
          </p:cNvSpPr>
          <p:nvPr>
            <p:ph idx="1"/>
          </p:nvPr>
        </p:nvSpPr>
        <p:spPr/>
        <p:txBody>
          <a:bodyPr>
            <a:normAutofit fontScale="77500" lnSpcReduction="20000"/>
          </a:bodyPr>
          <a:lstStyle/>
          <a:p>
            <a:r>
              <a:rPr lang="en-US" dirty="0">
                <a:hlinkClick r:id="rId2"/>
              </a:rPr>
              <a:t>https://www.meta-analysis-made-easy.com/</a:t>
            </a:r>
            <a:endParaRPr lang="en-US" dirty="0"/>
          </a:p>
          <a:p>
            <a:r>
              <a:rPr lang="en-US" dirty="0"/>
              <a:t>MIX 2.0 is a sophisticated statistical add-in for performing meta-analysis in Excel. The name MIX comes from Meta-analysis In </a:t>
            </a:r>
            <a:r>
              <a:rPr lang="en-US" dirty="0" err="1"/>
              <a:t>eXcel</a:t>
            </a:r>
            <a:r>
              <a:rPr lang="en-US" dirty="0"/>
              <a:t> and 2.0 identifies a major upgrade of the source code a few years back. It has been around for more than 10 years and has been used in hundreds of analyses and publications. MIX 2.0 is unlike any other software in terms of its interface and features. Just take the free Lite version for a spin and discover how easy it is to perform professional meta-analyses from within Excel. Perform various types of fixed and random effects meta-analyses, assess subgroups, make basic indirect comparisons, integrate covariates via meta-regression, and do this all while you have access to the largest selection of plots in any meta-analysis software (which are all Excel objects so easily adjustable). The Lite version is specifically meant for educational purposes and provides all the advanced features of the Pro version with built-in datasets. The paid Pro version enables the import and export features so you can create and edit your own datasets and save your analysis results. ($175 one time fees for academic for two activations; $85 one time fees for students for two activations) </a:t>
            </a:r>
          </a:p>
          <a:p>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63</a:t>
            </a:fld>
            <a:endParaRPr lang="en-US"/>
          </a:p>
        </p:txBody>
      </p:sp>
    </p:spTree>
    <p:extLst>
      <p:ext uri="{BB962C8B-B14F-4D97-AF65-F5344CB8AC3E}">
        <p14:creationId xmlns:p14="http://schemas.microsoft.com/office/powerpoint/2010/main" val="1294032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0304"/>
            <a:ext cx="9144000" cy="847117"/>
          </a:xfrm>
        </p:spPr>
        <p:txBody>
          <a:bodyPr>
            <a:normAutofit fontScale="90000"/>
          </a:bodyPr>
          <a:lstStyle/>
          <a:p>
            <a:br>
              <a:rPr lang="en-US" altLang="x-none" dirty="0"/>
            </a:br>
            <a:r>
              <a:rPr lang="en-US" altLang="x-none" dirty="0"/>
              <a:t>Transform Corrected Correlations to Fisher’s Z (standardization)</a:t>
            </a:r>
            <a:br>
              <a:rPr lang="en-US" altLang="x-none" dirty="0"/>
            </a:b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64</a:t>
            </a:fld>
            <a:endParaRPr lang="en-US"/>
          </a:p>
        </p:txBody>
      </p:sp>
      <p:pic>
        <p:nvPicPr>
          <p:cNvPr id="7" name="Picture 6"/>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18431167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0304"/>
            <a:ext cx="9144000" cy="847117"/>
          </a:xfrm>
        </p:spPr>
        <p:txBody>
          <a:bodyPr/>
          <a:lstStyle/>
          <a:p>
            <a:r>
              <a:rPr lang="en-US" dirty="0"/>
              <a:t>Data with </a:t>
            </a:r>
            <a:r>
              <a:rPr lang="en-US" altLang="x-none" dirty="0"/>
              <a:t>Fisher’s Z and Standard Error</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65</a:t>
            </a:fld>
            <a:endParaRPr lang="en-US"/>
          </a:p>
        </p:txBody>
      </p:sp>
      <p:pic>
        <p:nvPicPr>
          <p:cNvPr id="6" name="Picture 5"/>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38976774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Weighted effect size</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66</a:t>
            </a:fld>
            <a:endParaRPr lang="en-US"/>
          </a:p>
        </p:txBody>
      </p:sp>
      <p:pic>
        <p:nvPicPr>
          <p:cNvPr id="6" name="Picture 5"/>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32761636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67</a:t>
            </a:fld>
            <a:endParaRPr lang="en-US"/>
          </a:p>
        </p:txBody>
      </p:sp>
      <p:pic>
        <p:nvPicPr>
          <p:cNvPr id="8" name="Picture 7"/>
          <p:cNvPicPr>
            <a:picLocks noChangeAspect="1"/>
          </p:cNvPicPr>
          <p:nvPr/>
        </p:nvPicPr>
        <p:blipFill>
          <a:blip r:embed="rId2"/>
          <a:stretch>
            <a:fillRect/>
          </a:stretch>
        </p:blipFill>
        <p:spPr>
          <a:xfrm>
            <a:off x="0" y="858505"/>
            <a:ext cx="9144000" cy="5140990"/>
          </a:xfrm>
          <a:prstGeom prst="rect">
            <a:avLst/>
          </a:prstGeom>
        </p:spPr>
      </p:pic>
    </p:spTree>
    <p:extLst>
      <p:ext uri="{BB962C8B-B14F-4D97-AF65-F5344CB8AC3E}">
        <p14:creationId xmlns:p14="http://schemas.microsoft.com/office/powerpoint/2010/main" val="10878591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for meta-analysis</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68</a:t>
            </a:fld>
            <a:endParaRPr lang="en-US"/>
          </a:p>
        </p:txBody>
      </p:sp>
      <p:pic>
        <p:nvPicPr>
          <p:cNvPr id="6" name="Picture 5"/>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32854151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13" y="174413"/>
            <a:ext cx="8229600" cy="847117"/>
          </a:xfrm>
        </p:spPr>
        <p:txBody>
          <a:bodyPr>
            <a:normAutofit/>
          </a:bodyPr>
          <a:lstStyle/>
          <a:p>
            <a:r>
              <a:rPr lang="en-US" altLang="x-none" dirty="0"/>
              <a:t>Overall weighted mean effect size</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69</a:t>
            </a:fld>
            <a:endParaRPr lang="en-US"/>
          </a:p>
        </p:txBody>
      </p:sp>
      <p:pic>
        <p:nvPicPr>
          <p:cNvPr id="6" name="Picture 5"/>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9674872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Heterogeneity Statistics </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70</a:t>
            </a:fld>
            <a:endParaRPr lang="en-US"/>
          </a:p>
        </p:txBody>
      </p:sp>
      <p:pic>
        <p:nvPicPr>
          <p:cNvPr id="6" name="Picture 5"/>
          <p:cNvPicPr>
            <a:picLocks noChangeAspect="1"/>
          </p:cNvPicPr>
          <p:nvPr/>
        </p:nvPicPr>
        <p:blipFill>
          <a:blip r:embed="rId2"/>
          <a:stretch>
            <a:fillRect/>
          </a:stretch>
        </p:blipFill>
        <p:spPr>
          <a:xfrm>
            <a:off x="0" y="1215360"/>
            <a:ext cx="9144000" cy="5140990"/>
          </a:xfrm>
          <a:prstGeom prst="rect">
            <a:avLst/>
          </a:prstGeom>
        </p:spPr>
      </p:pic>
    </p:spTree>
    <p:extLst>
      <p:ext uri="{BB962C8B-B14F-4D97-AF65-F5344CB8AC3E}">
        <p14:creationId xmlns:p14="http://schemas.microsoft.com/office/powerpoint/2010/main" val="20428959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Moderating analysis Categorical variable</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71</a:t>
            </a:fld>
            <a:endParaRPr lang="en-US"/>
          </a:p>
        </p:txBody>
      </p:sp>
      <p:pic>
        <p:nvPicPr>
          <p:cNvPr id="6" name="Picture 5"/>
          <p:cNvPicPr>
            <a:picLocks noChangeAspect="1"/>
          </p:cNvPicPr>
          <p:nvPr/>
        </p:nvPicPr>
        <p:blipFill>
          <a:blip r:embed="rId2"/>
          <a:stretch>
            <a:fillRect/>
          </a:stretch>
        </p:blipFill>
        <p:spPr>
          <a:xfrm>
            <a:off x="0" y="1242110"/>
            <a:ext cx="9144000" cy="5140990"/>
          </a:xfrm>
          <a:prstGeom prst="rect">
            <a:avLst/>
          </a:prstGeom>
        </p:spPr>
      </p:pic>
    </p:spTree>
    <p:extLst>
      <p:ext uri="{BB962C8B-B14F-4D97-AF65-F5344CB8AC3E}">
        <p14:creationId xmlns:p14="http://schemas.microsoft.com/office/powerpoint/2010/main" val="19042268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Findings for group 1 vs. group 2</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72</a:t>
            </a:fld>
            <a:endParaRPr lang="en-US"/>
          </a:p>
        </p:txBody>
      </p:sp>
      <p:pic>
        <p:nvPicPr>
          <p:cNvPr id="6" name="Picture 5"/>
          <p:cNvPicPr>
            <a:picLocks noChangeAspect="1"/>
          </p:cNvPicPr>
          <p:nvPr/>
        </p:nvPicPr>
        <p:blipFill>
          <a:blip r:embed="rId2"/>
          <a:stretch>
            <a:fillRect/>
          </a:stretch>
        </p:blipFill>
        <p:spPr>
          <a:xfrm>
            <a:off x="0" y="1256178"/>
            <a:ext cx="9144000" cy="5140990"/>
          </a:xfrm>
          <a:prstGeom prst="rect">
            <a:avLst/>
          </a:prstGeom>
        </p:spPr>
      </p:pic>
    </p:spTree>
    <p:extLst>
      <p:ext uri="{BB962C8B-B14F-4D97-AF65-F5344CB8AC3E}">
        <p14:creationId xmlns:p14="http://schemas.microsoft.com/office/powerpoint/2010/main" val="15427511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754" y="1223836"/>
            <a:ext cx="7550491" cy="4793684"/>
          </a:xfrm>
          <a:prstGeom prst="rect">
            <a:avLst/>
          </a:prstGeom>
        </p:spPr>
      </p:pic>
      <p:sp>
        <p:nvSpPr>
          <p:cNvPr id="3" name="Content Placeholder 2"/>
          <p:cNvSpPr>
            <a:spLocks noGrp="1"/>
          </p:cNvSpPr>
          <p:nvPr>
            <p:ph idx="1"/>
          </p:nvPr>
        </p:nvSpPr>
        <p:spPr>
          <a:xfrm>
            <a:off x="457200" y="997422"/>
            <a:ext cx="8229600" cy="5128742"/>
          </a:xfrm>
        </p:spPr>
        <p:txBody>
          <a:bodyPr/>
          <a:lstStyle/>
          <a:p>
            <a:r>
              <a:rPr lang="en-US" sz="2000" dirty="0"/>
              <a:t>For showing the variability of effect sizes across studies.</a:t>
            </a:r>
          </a:p>
          <a:p>
            <a:pPr lvl="1"/>
            <a:r>
              <a:rPr lang="en-US" sz="1800" dirty="0"/>
              <a:t>Can be used for both raw correlations as well as z-transformed effect sizes.</a:t>
            </a:r>
          </a:p>
          <a:p>
            <a:pPr lvl="1"/>
            <a:endParaRPr lang="en-US" sz="1800" dirty="0"/>
          </a:p>
        </p:txBody>
      </p:sp>
      <p:sp>
        <p:nvSpPr>
          <p:cNvPr id="2" name="Title 1"/>
          <p:cNvSpPr>
            <a:spLocks noGrp="1"/>
          </p:cNvSpPr>
          <p:nvPr>
            <p:ph type="title"/>
          </p:nvPr>
        </p:nvSpPr>
        <p:spPr/>
        <p:txBody>
          <a:bodyPr>
            <a:normAutofit fontScale="90000"/>
          </a:bodyPr>
          <a:lstStyle/>
          <a:p>
            <a:r>
              <a:rPr lang="en-US" sz="2200" dirty="0"/>
              <a:t>Plots for Meta-Analysis:</a:t>
            </a:r>
            <a:br>
              <a:rPr lang="en-US" dirty="0"/>
            </a:br>
            <a:r>
              <a:rPr lang="en-US" dirty="0"/>
              <a:t>Forest Plot</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73</a:t>
            </a:fld>
            <a:endParaRPr lang="en-US" dirty="0"/>
          </a:p>
        </p:txBody>
      </p:sp>
    </p:spTree>
    <p:extLst>
      <p:ext uri="{BB962C8B-B14F-4D97-AF65-F5344CB8AC3E}">
        <p14:creationId xmlns:p14="http://schemas.microsoft.com/office/powerpoint/2010/main" val="2990120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7553" y="5212338"/>
            <a:ext cx="2996696" cy="110295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282" y="1406738"/>
            <a:ext cx="5175835" cy="3286054"/>
          </a:xfrm>
          <a:prstGeom prst="rect">
            <a:avLst/>
          </a:prstGeom>
        </p:spPr>
      </p:pic>
      <p:sp>
        <p:nvSpPr>
          <p:cNvPr id="3" name="Content Placeholder 2"/>
          <p:cNvSpPr>
            <a:spLocks noGrp="1"/>
          </p:cNvSpPr>
          <p:nvPr>
            <p:ph idx="1"/>
          </p:nvPr>
        </p:nvSpPr>
        <p:spPr>
          <a:xfrm>
            <a:off x="457200" y="997422"/>
            <a:ext cx="8229600" cy="5317866"/>
          </a:xfrm>
        </p:spPr>
        <p:txBody>
          <a:bodyPr/>
          <a:lstStyle/>
          <a:p>
            <a:r>
              <a:rPr lang="en-US" sz="2000" dirty="0"/>
              <a:t>For assessing </a:t>
            </a:r>
            <a:r>
              <a:rPr lang="en-US" sz="2000" b="1" dirty="0"/>
              <a:t>publication bias </a:t>
            </a:r>
            <a:r>
              <a:rPr lang="en-US" sz="2000" dirty="0"/>
              <a:t>(a.k.a., </a:t>
            </a:r>
            <a:r>
              <a:rPr lang="en-US" sz="2000" b="1" dirty="0"/>
              <a:t>file drawer problem</a:t>
            </a:r>
            <a:r>
              <a:rPr lang="en-US" sz="2000" dirty="0"/>
              <a:t>) </a:t>
            </a:r>
          </a:p>
          <a:p>
            <a:pPr lvl="1"/>
            <a:r>
              <a:rPr lang="en-US" sz="1800" dirty="0"/>
              <a:t>Significant findings are more likely to be published than non-significant findings.</a:t>
            </a:r>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r>
              <a:rPr lang="en-US" sz="1800" dirty="0"/>
              <a:t>Alternative measure is </a:t>
            </a:r>
            <a:r>
              <a:rPr lang="en-US" sz="1800" b="1" dirty="0"/>
              <a:t>fail-safe N</a:t>
            </a:r>
            <a:r>
              <a:rPr lang="en-US" sz="1800" dirty="0"/>
              <a:t> measure. 				</a:t>
            </a:r>
            <a:r>
              <a:rPr lang="en-US" sz="1200" dirty="0"/>
              <a:t>(Rosenthal, 1979)</a:t>
            </a:r>
          </a:p>
          <a:p>
            <a:pPr lvl="2"/>
            <a:r>
              <a:rPr lang="en-US" sz="1600" dirty="0"/>
              <a:t>Number of unpublished studies not included in the meta-analysis to make the population effect size non-significant</a:t>
            </a:r>
          </a:p>
        </p:txBody>
      </p:sp>
      <p:sp>
        <p:nvSpPr>
          <p:cNvPr id="2" name="Title 1"/>
          <p:cNvSpPr>
            <a:spLocks noGrp="1"/>
          </p:cNvSpPr>
          <p:nvPr>
            <p:ph type="title"/>
          </p:nvPr>
        </p:nvSpPr>
        <p:spPr/>
        <p:txBody>
          <a:bodyPr>
            <a:normAutofit fontScale="90000"/>
          </a:bodyPr>
          <a:lstStyle/>
          <a:p>
            <a:r>
              <a:rPr lang="en-US" sz="2200" dirty="0"/>
              <a:t>Plots for Meta-Analysis:</a:t>
            </a:r>
            <a:br>
              <a:rPr lang="en-US" dirty="0"/>
            </a:br>
            <a:r>
              <a:rPr lang="en-US" dirty="0"/>
              <a:t>Funnel Plot</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74</a:t>
            </a:fld>
            <a:endParaRPr lang="en-US"/>
          </a:p>
        </p:txBody>
      </p:sp>
    </p:spTree>
    <p:extLst>
      <p:ext uri="{BB962C8B-B14F-4D97-AF65-F5344CB8AC3E}">
        <p14:creationId xmlns:p14="http://schemas.microsoft.com/office/powerpoint/2010/main" val="17123370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dirty="0"/>
              <a:t>Plots for Meta-Analysis:</a:t>
            </a:r>
            <a:br>
              <a:rPr lang="en-US" sz="2200" dirty="0"/>
            </a:br>
            <a:r>
              <a:rPr lang="en-US" dirty="0"/>
              <a:t>Stem and Leaf from Example</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75</a:t>
            </a:fld>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597838736"/>
              </p:ext>
            </p:extLst>
          </p:nvPr>
        </p:nvGraphicFramePr>
        <p:xfrm>
          <a:off x="1983546" y="1425585"/>
          <a:ext cx="4881488" cy="4187424"/>
        </p:xfrm>
        <a:graphic>
          <a:graphicData uri="http://schemas.openxmlformats.org/drawingml/2006/table">
            <a:tbl>
              <a:tblPr firstRow="1" firstCol="1" bandRow="1">
                <a:tableStyleId>{5C22544A-7EE6-4342-B048-85BDC9FD1C3A}</a:tableStyleId>
              </a:tblPr>
              <a:tblGrid>
                <a:gridCol w="2556655">
                  <a:extLst>
                    <a:ext uri="{9D8B030D-6E8A-4147-A177-3AD203B41FA5}">
                      <a16:colId xmlns:a16="http://schemas.microsoft.com/office/drawing/2014/main" val="2457510730"/>
                    </a:ext>
                  </a:extLst>
                </a:gridCol>
                <a:gridCol w="2324833">
                  <a:extLst>
                    <a:ext uri="{9D8B030D-6E8A-4147-A177-3AD203B41FA5}">
                      <a16:colId xmlns:a16="http://schemas.microsoft.com/office/drawing/2014/main" val="3142896040"/>
                    </a:ext>
                  </a:extLst>
                </a:gridCol>
              </a:tblGrid>
              <a:tr h="261714">
                <a:tc gridSpan="2">
                  <a:txBody>
                    <a:bodyPr/>
                    <a:lstStyle/>
                    <a:p>
                      <a:pPr marL="0" marR="0" algn="ctr">
                        <a:lnSpc>
                          <a:spcPct val="115000"/>
                        </a:lnSpc>
                        <a:spcBef>
                          <a:spcPts val="0"/>
                        </a:spcBef>
                        <a:spcAft>
                          <a:spcPts val="0"/>
                        </a:spcAft>
                      </a:pPr>
                      <a:r>
                        <a:rPr lang="en-US" sz="1200">
                          <a:effectLst/>
                        </a:rPr>
                        <a:t>                      Dependent Variable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336954359"/>
                  </a:ext>
                </a:extLst>
              </a:tr>
              <a:tr h="261714">
                <a:tc>
                  <a:txBody>
                    <a:bodyPr/>
                    <a:lstStyle/>
                    <a:p>
                      <a:pPr marL="0" marR="0" algn="ctr">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73073984"/>
                  </a:ext>
                </a:extLst>
              </a:tr>
              <a:tr h="261714">
                <a:tc>
                  <a:txBody>
                    <a:bodyPr/>
                    <a:lstStyle/>
                    <a:p>
                      <a:pPr marL="0" marR="0" algn="ctr">
                        <a:lnSpc>
                          <a:spcPct val="115000"/>
                        </a:lnSpc>
                        <a:spcBef>
                          <a:spcPts val="0"/>
                        </a:spcBef>
                        <a:spcAft>
                          <a:spcPts val="0"/>
                        </a:spcAft>
                      </a:pPr>
                      <a:r>
                        <a:rPr lang="en-US" sz="1200">
                          <a:effectLst/>
                        </a:rPr>
                        <a:t>.7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48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59212051"/>
                  </a:ext>
                </a:extLst>
              </a:tr>
              <a:tr h="261714">
                <a:tc>
                  <a:txBody>
                    <a:bodyPr/>
                    <a:lstStyle/>
                    <a:p>
                      <a:pPr marL="0" marR="0" algn="ctr">
                        <a:lnSpc>
                          <a:spcPct val="115000"/>
                        </a:lnSpc>
                        <a:spcBef>
                          <a:spcPts val="0"/>
                        </a:spcBef>
                        <a:spcAft>
                          <a:spcPts val="0"/>
                        </a:spcAft>
                      </a:pPr>
                      <a:r>
                        <a:rPr lang="en-US" sz="1200">
                          <a:effectLst/>
                        </a:rPr>
                        <a:t>.6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00133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66855"/>
                  </a:ext>
                </a:extLst>
              </a:tr>
              <a:tr h="261714">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256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5986993"/>
                  </a:ext>
                </a:extLst>
              </a:tr>
              <a:tr h="261714">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9</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11571649"/>
                  </a:ext>
                </a:extLst>
              </a:tr>
              <a:tr h="261714">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44143027"/>
                  </a:ext>
                </a:extLst>
              </a:tr>
              <a:tr h="261714">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4513208"/>
                  </a:ext>
                </a:extLst>
              </a:tr>
              <a:tr h="261714">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5229081"/>
                  </a:ext>
                </a:extLst>
              </a:tr>
              <a:tr h="261714">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99370389"/>
                  </a:ext>
                </a:extLst>
              </a:tr>
              <a:tr h="261714">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59</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7935444"/>
                  </a:ext>
                </a:extLst>
              </a:tr>
              <a:tr h="261714">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42672207"/>
                  </a:ext>
                </a:extLst>
              </a:tr>
              <a:tr h="261714">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36559228"/>
                  </a:ext>
                </a:extLst>
              </a:tr>
              <a:tr h="261714">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80931747"/>
                  </a:ext>
                </a:extLst>
              </a:tr>
              <a:tr h="261714">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73794165"/>
                  </a:ext>
                </a:extLst>
              </a:tr>
              <a:tr h="261714">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5375424"/>
                  </a:ext>
                </a:extLst>
              </a:tr>
            </a:tbl>
          </a:graphicData>
        </a:graphic>
      </p:graphicFrame>
    </p:spTree>
    <p:extLst>
      <p:ext uri="{BB962C8B-B14F-4D97-AF65-F5344CB8AC3E}">
        <p14:creationId xmlns:p14="http://schemas.microsoft.com/office/powerpoint/2010/main" val="19394679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Plots for Meta-Analysis:</a:t>
            </a:r>
            <a:br>
              <a:rPr lang="en-US" dirty="0"/>
            </a:br>
            <a:r>
              <a:rPr lang="en-US" dirty="0"/>
              <a:t>Stem and Leaf (Other examples)</a:t>
            </a:r>
            <a:endParaRPr lang="en-US" dirty="0"/>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76</a:t>
            </a:fld>
            <a:endParaRPr lang="en-US"/>
          </a:p>
        </p:txBody>
      </p:sp>
      <p:graphicFrame>
        <p:nvGraphicFramePr>
          <p:cNvPr id="6" name="Content Placeholder 5"/>
          <p:cNvGraphicFramePr>
            <a:graphicFrameLocks/>
          </p:cNvGraphicFramePr>
          <p:nvPr>
            <p:extLst>
              <p:ext uri="{D42A27DB-BD31-4B8C-83A1-F6EECF244321}">
                <p14:modId xmlns:p14="http://schemas.microsoft.com/office/powerpoint/2010/main" val="42842839"/>
              </p:ext>
            </p:extLst>
          </p:nvPr>
        </p:nvGraphicFramePr>
        <p:xfrm>
          <a:off x="618978" y="1448968"/>
          <a:ext cx="3685736" cy="4262512"/>
        </p:xfrm>
        <a:graphic>
          <a:graphicData uri="http://schemas.openxmlformats.org/drawingml/2006/table">
            <a:tbl>
              <a:tblPr firstRow="1" firstCol="1" bandRow="1">
                <a:tableStyleId>{5C22544A-7EE6-4342-B048-85BDC9FD1C3A}</a:tableStyleId>
              </a:tblPr>
              <a:tblGrid>
                <a:gridCol w="1228579">
                  <a:extLst>
                    <a:ext uri="{9D8B030D-6E8A-4147-A177-3AD203B41FA5}">
                      <a16:colId xmlns:a16="http://schemas.microsoft.com/office/drawing/2014/main" val="3308168629"/>
                    </a:ext>
                  </a:extLst>
                </a:gridCol>
                <a:gridCol w="614289">
                  <a:extLst>
                    <a:ext uri="{9D8B030D-6E8A-4147-A177-3AD203B41FA5}">
                      <a16:colId xmlns:a16="http://schemas.microsoft.com/office/drawing/2014/main" val="677696414"/>
                    </a:ext>
                  </a:extLst>
                </a:gridCol>
                <a:gridCol w="1228579">
                  <a:extLst>
                    <a:ext uri="{9D8B030D-6E8A-4147-A177-3AD203B41FA5}">
                      <a16:colId xmlns:a16="http://schemas.microsoft.com/office/drawing/2014/main" val="624806464"/>
                    </a:ext>
                  </a:extLst>
                </a:gridCol>
                <a:gridCol w="614289">
                  <a:extLst>
                    <a:ext uri="{9D8B030D-6E8A-4147-A177-3AD203B41FA5}">
                      <a16:colId xmlns:a16="http://schemas.microsoft.com/office/drawing/2014/main" val="708053555"/>
                    </a:ext>
                  </a:extLst>
                </a:gridCol>
              </a:tblGrid>
              <a:tr h="590843">
                <a:tc gridSpan="2">
                  <a:txBody>
                    <a:bodyPr/>
                    <a:lstStyle/>
                    <a:p>
                      <a:pPr marL="0" marR="0" algn="ctr">
                        <a:lnSpc>
                          <a:spcPct val="107000"/>
                        </a:lnSpc>
                        <a:spcBef>
                          <a:spcPts val="0"/>
                        </a:spcBef>
                        <a:spcAft>
                          <a:spcPts val="0"/>
                        </a:spcAft>
                      </a:pPr>
                      <a:r>
                        <a:rPr lang="en-US" sz="1000" dirty="0">
                          <a:effectLst/>
                        </a:rPr>
                        <a:t>Concession Behavior(k=16)</a:t>
                      </a:r>
                      <a:endParaRPr lang="en-US"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hMerge="1">
                  <a:txBody>
                    <a:bodyPr/>
                    <a:lstStyle/>
                    <a:p>
                      <a:endParaRPr lang="en-US"/>
                    </a:p>
                  </a:txBody>
                  <a:tcPr/>
                </a:tc>
                <a:tc gridSpan="2">
                  <a:txBody>
                    <a:bodyPr/>
                    <a:lstStyle/>
                    <a:p>
                      <a:pPr marL="0" marR="0" algn="ctr">
                        <a:lnSpc>
                          <a:spcPct val="107000"/>
                        </a:lnSpc>
                        <a:spcBef>
                          <a:spcPts val="0"/>
                        </a:spcBef>
                        <a:spcAft>
                          <a:spcPts val="0"/>
                        </a:spcAft>
                      </a:pPr>
                      <a:r>
                        <a:rPr lang="en-US" sz="1000">
                          <a:effectLst/>
                        </a:rPr>
                        <a:t>Socio Psychological outcomes(k=4)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68968717"/>
                  </a:ext>
                </a:extLst>
              </a:tr>
              <a:tr h="281354">
                <a:tc>
                  <a:txBody>
                    <a:bodyPr/>
                    <a:lstStyle/>
                    <a:p>
                      <a:pPr marL="0" marR="0" algn="ctr">
                        <a:lnSpc>
                          <a:spcPct val="107000"/>
                        </a:lnSpc>
                        <a:spcBef>
                          <a:spcPts val="0"/>
                        </a:spcBef>
                        <a:spcAft>
                          <a:spcPts val="0"/>
                        </a:spcAft>
                      </a:pPr>
                      <a:r>
                        <a:rPr lang="en-US" sz="1000">
                          <a:effectLst/>
                        </a:rPr>
                        <a:t>Stem</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Leaf</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Stem</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Leaf</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72992385"/>
                  </a:ext>
                </a:extLst>
              </a:tr>
              <a:tr h="281354">
                <a:tc>
                  <a:txBody>
                    <a:bodyPr/>
                    <a:lstStyle/>
                    <a:p>
                      <a:pPr marL="0" marR="0" algn="ctr">
                        <a:lnSpc>
                          <a:spcPct val="107000"/>
                        </a:lnSpc>
                        <a:spcBef>
                          <a:spcPts val="0"/>
                        </a:spcBef>
                        <a:spcAft>
                          <a:spcPts val="0"/>
                        </a:spcAft>
                      </a:pPr>
                      <a:r>
                        <a:rPr lang="en-US" sz="1000">
                          <a:effectLst/>
                        </a:rPr>
                        <a:t>0.5</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rPr>
                        <a:t>0.5</a:t>
                      </a:r>
                      <a:endParaRPr lang="en-US"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1532180757"/>
                  </a:ext>
                </a:extLst>
              </a:tr>
              <a:tr h="281354">
                <a:tc>
                  <a:txBody>
                    <a:bodyPr/>
                    <a:lstStyle/>
                    <a:p>
                      <a:pPr marL="0" marR="0" algn="ctr">
                        <a:lnSpc>
                          <a:spcPct val="107000"/>
                        </a:lnSpc>
                        <a:spcBef>
                          <a:spcPts val="0"/>
                        </a:spcBef>
                        <a:spcAft>
                          <a:spcPts val="0"/>
                        </a:spcAft>
                      </a:pPr>
                      <a:r>
                        <a:rPr lang="en-US" sz="1000">
                          <a:effectLst/>
                        </a:rPr>
                        <a:t>0.4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779</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2563667538"/>
                  </a:ext>
                </a:extLst>
              </a:tr>
              <a:tr h="281354">
                <a:tc>
                  <a:txBody>
                    <a:bodyPr/>
                    <a:lstStyle/>
                    <a:p>
                      <a:pPr marL="0" marR="0" algn="ctr">
                        <a:lnSpc>
                          <a:spcPct val="107000"/>
                        </a:lnSpc>
                        <a:spcBef>
                          <a:spcPts val="0"/>
                        </a:spcBef>
                        <a:spcAft>
                          <a:spcPts val="0"/>
                        </a:spcAft>
                      </a:pPr>
                      <a:r>
                        <a:rPr lang="en-US" sz="1000">
                          <a:effectLst/>
                        </a:rPr>
                        <a:t>0.3</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34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0.3</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3096527781"/>
                  </a:ext>
                </a:extLst>
              </a:tr>
              <a:tr h="281354">
                <a:tc>
                  <a:txBody>
                    <a:bodyPr/>
                    <a:lstStyle/>
                    <a:p>
                      <a:pPr marL="0" marR="0" algn="ctr">
                        <a:lnSpc>
                          <a:spcPct val="107000"/>
                        </a:lnSpc>
                        <a:spcBef>
                          <a:spcPts val="0"/>
                        </a:spcBef>
                        <a:spcAft>
                          <a:spcPts val="0"/>
                        </a:spcAft>
                      </a:pPr>
                      <a:r>
                        <a:rPr lang="en-US" sz="1000">
                          <a:effectLst/>
                        </a:rPr>
                        <a:t>0.2</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12456</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0.2</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1344419167"/>
                  </a:ext>
                </a:extLst>
              </a:tr>
              <a:tr h="281354">
                <a:tc>
                  <a:txBody>
                    <a:bodyPr/>
                    <a:lstStyle/>
                    <a:p>
                      <a:pPr marL="0" marR="0" algn="ctr">
                        <a:lnSpc>
                          <a:spcPct val="107000"/>
                        </a:lnSpc>
                        <a:spcBef>
                          <a:spcPts val="0"/>
                        </a:spcBef>
                        <a:spcAft>
                          <a:spcPts val="0"/>
                        </a:spcAft>
                      </a:pPr>
                      <a:r>
                        <a:rPr lang="en-US" sz="1000">
                          <a:effectLst/>
                        </a:rPr>
                        <a:t>0.1</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6</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0.1</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3780366182"/>
                  </a:ext>
                </a:extLst>
              </a:tr>
              <a:tr h="281354">
                <a:tc>
                  <a:txBody>
                    <a:bodyPr/>
                    <a:lstStyle/>
                    <a:p>
                      <a:pPr marL="0" marR="0" algn="ctr">
                        <a:lnSpc>
                          <a:spcPct val="107000"/>
                        </a:lnSpc>
                        <a:spcBef>
                          <a:spcPts val="0"/>
                        </a:spcBef>
                        <a:spcAft>
                          <a:spcPts val="0"/>
                        </a:spcAft>
                      </a:pPr>
                      <a:r>
                        <a:rPr lang="en-US" sz="1000">
                          <a:effectLst/>
                        </a:rPr>
                        <a:t>0</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6</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2432549684"/>
                  </a:ext>
                </a:extLst>
              </a:tr>
              <a:tr h="281354">
                <a:tc>
                  <a:txBody>
                    <a:bodyPr/>
                    <a:lstStyle/>
                    <a:p>
                      <a:pPr marL="0" marR="0" algn="ctr">
                        <a:lnSpc>
                          <a:spcPct val="107000"/>
                        </a:lnSpc>
                        <a:spcBef>
                          <a:spcPts val="0"/>
                        </a:spcBef>
                        <a:spcAft>
                          <a:spcPts val="0"/>
                        </a:spcAft>
                      </a:pPr>
                      <a:r>
                        <a:rPr lang="en-US" sz="1000">
                          <a:effectLst/>
                        </a:rPr>
                        <a:t>0</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774679187"/>
                  </a:ext>
                </a:extLst>
              </a:tr>
              <a:tr h="281354">
                <a:tc>
                  <a:txBody>
                    <a:bodyPr/>
                    <a:lstStyle/>
                    <a:p>
                      <a:pPr marL="0" marR="0" algn="ctr">
                        <a:lnSpc>
                          <a:spcPct val="107000"/>
                        </a:lnSpc>
                        <a:spcBef>
                          <a:spcPts val="0"/>
                        </a:spcBef>
                        <a:spcAft>
                          <a:spcPts val="0"/>
                        </a:spcAft>
                      </a:pPr>
                      <a:r>
                        <a:rPr lang="en-US" sz="1000">
                          <a:effectLst/>
                        </a:rPr>
                        <a:t>0.1</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-0.1</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4117375807"/>
                  </a:ext>
                </a:extLst>
              </a:tr>
              <a:tr h="281354">
                <a:tc>
                  <a:txBody>
                    <a:bodyPr/>
                    <a:lstStyle/>
                    <a:p>
                      <a:pPr marL="0" marR="0" algn="ctr">
                        <a:lnSpc>
                          <a:spcPct val="107000"/>
                        </a:lnSpc>
                        <a:spcBef>
                          <a:spcPts val="0"/>
                        </a:spcBef>
                        <a:spcAft>
                          <a:spcPts val="0"/>
                        </a:spcAft>
                      </a:pPr>
                      <a:r>
                        <a:rPr lang="en-US" sz="1000">
                          <a:effectLst/>
                        </a:rPr>
                        <a:t>-0.2</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6</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-0.2</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77</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92297372"/>
                  </a:ext>
                </a:extLst>
              </a:tr>
              <a:tr h="281354">
                <a:tc>
                  <a:txBody>
                    <a:bodyPr/>
                    <a:lstStyle/>
                    <a:p>
                      <a:pPr marL="0" marR="0" algn="ctr">
                        <a:lnSpc>
                          <a:spcPct val="107000"/>
                        </a:lnSpc>
                        <a:spcBef>
                          <a:spcPts val="0"/>
                        </a:spcBef>
                        <a:spcAft>
                          <a:spcPts val="0"/>
                        </a:spcAft>
                      </a:pPr>
                      <a:r>
                        <a:rPr lang="en-US" sz="1000">
                          <a:effectLst/>
                        </a:rPr>
                        <a:t>-0.3</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-0.3</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17</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50357597"/>
                  </a:ext>
                </a:extLst>
              </a:tr>
              <a:tr h="281354">
                <a:tc>
                  <a:txBody>
                    <a:bodyPr/>
                    <a:lstStyle/>
                    <a:p>
                      <a:pPr marL="0" marR="0" algn="ctr">
                        <a:lnSpc>
                          <a:spcPct val="107000"/>
                        </a:lnSpc>
                        <a:spcBef>
                          <a:spcPts val="0"/>
                        </a:spcBef>
                        <a:spcAft>
                          <a:spcPts val="0"/>
                        </a:spcAft>
                      </a:pPr>
                      <a:r>
                        <a:rPr lang="en-US" sz="1000">
                          <a:effectLst/>
                        </a:rPr>
                        <a:t>-0.4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000">
                          <a:effectLst/>
                        </a:rPr>
                        <a:t>0</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0.4</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sz="1200">
                        <a:effectLst/>
                        <a:latin typeface="Cambria" panose="02040503050406030204" pitchFamily="18" charset="0"/>
                      </a:endParaRPr>
                    </a:p>
                  </a:txBody>
                  <a:tcPr marL="68580" marR="68580" marT="0" marB="0" anchor="ctr"/>
                </a:tc>
                <a:extLst>
                  <a:ext uri="{0D108BD9-81ED-4DB2-BD59-A6C34878D82A}">
                    <a16:rowId xmlns:a16="http://schemas.microsoft.com/office/drawing/2014/main" val="1083533279"/>
                  </a:ext>
                </a:extLst>
              </a:tr>
              <a:tr h="295421">
                <a:tc>
                  <a:txBody>
                    <a:bodyPr/>
                    <a:lstStyle/>
                    <a:p>
                      <a:pPr marL="0" marR="0" algn="ctr">
                        <a:lnSpc>
                          <a:spcPct val="107000"/>
                        </a:lnSpc>
                        <a:spcBef>
                          <a:spcPts val="0"/>
                        </a:spcBef>
                        <a:spcAft>
                          <a:spcPts val="0"/>
                        </a:spcAft>
                      </a:pPr>
                      <a:r>
                        <a:rPr lang="en-US" sz="1000">
                          <a:effectLst/>
                        </a:rPr>
                        <a:t>-0.5</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000">
                          <a:effectLst/>
                        </a:rPr>
                        <a:t> </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000">
                          <a:effectLst/>
                        </a:rPr>
                        <a:t>0.5</a:t>
                      </a:r>
                      <a:endParaRPr lang="en-US"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000" dirty="0">
                          <a:effectLst/>
                        </a:rPr>
                        <a:t> </a:t>
                      </a:r>
                      <a:endParaRPr lang="en-US"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866038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73009391"/>
              </p:ext>
            </p:extLst>
          </p:nvPr>
        </p:nvGraphicFramePr>
        <p:xfrm>
          <a:off x="4688061" y="1448964"/>
          <a:ext cx="3998739" cy="4262518"/>
        </p:xfrm>
        <a:graphic>
          <a:graphicData uri="http://schemas.openxmlformats.org/drawingml/2006/table">
            <a:tbl>
              <a:tblPr firstRow="1" firstCol="1" bandRow="1">
                <a:tableStyleId>{5C22544A-7EE6-4342-B048-85BDC9FD1C3A}</a:tableStyleId>
              </a:tblPr>
              <a:tblGrid>
                <a:gridCol w="396456">
                  <a:extLst>
                    <a:ext uri="{9D8B030D-6E8A-4147-A177-3AD203B41FA5}">
                      <a16:colId xmlns:a16="http://schemas.microsoft.com/office/drawing/2014/main" val="2685382570"/>
                    </a:ext>
                  </a:extLst>
                </a:gridCol>
                <a:gridCol w="360570">
                  <a:extLst>
                    <a:ext uri="{9D8B030D-6E8A-4147-A177-3AD203B41FA5}">
                      <a16:colId xmlns:a16="http://schemas.microsoft.com/office/drawing/2014/main" val="3614090591"/>
                    </a:ext>
                  </a:extLst>
                </a:gridCol>
                <a:gridCol w="396456">
                  <a:extLst>
                    <a:ext uri="{9D8B030D-6E8A-4147-A177-3AD203B41FA5}">
                      <a16:colId xmlns:a16="http://schemas.microsoft.com/office/drawing/2014/main" val="2493405013"/>
                    </a:ext>
                  </a:extLst>
                </a:gridCol>
                <a:gridCol w="384494">
                  <a:extLst>
                    <a:ext uri="{9D8B030D-6E8A-4147-A177-3AD203B41FA5}">
                      <a16:colId xmlns:a16="http://schemas.microsoft.com/office/drawing/2014/main" val="686682944"/>
                    </a:ext>
                  </a:extLst>
                </a:gridCol>
                <a:gridCol w="407991">
                  <a:extLst>
                    <a:ext uri="{9D8B030D-6E8A-4147-A177-3AD203B41FA5}">
                      <a16:colId xmlns:a16="http://schemas.microsoft.com/office/drawing/2014/main" val="1717823192"/>
                    </a:ext>
                  </a:extLst>
                </a:gridCol>
                <a:gridCol w="399447">
                  <a:extLst>
                    <a:ext uri="{9D8B030D-6E8A-4147-A177-3AD203B41FA5}">
                      <a16:colId xmlns:a16="http://schemas.microsoft.com/office/drawing/2014/main" val="3878466968"/>
                    </a:ext>
                  </a:extLst>
                </a:gridCol>
                <a:gridCol w="384494">
                  <a:extLst>
                    <a:ext uri="{9D8B030D-6E8A-4147-A177-3AD203B41FA5}">
                      <a16:colId xmlns:a16="http://schemas.microsoft.com/office/drawing/2014/main" val="3977582897"/>
                    </a:ext>
                  </a:extLst>
                </a:gridCol>
                <a:gridCol w="384494">
                  <a:extLst>
                    <a:ext uri="{9D8B030D-6E8A-4147-A177-3AD203B41FA5}">
                      <a16:colId xmlns:a16="http://schemas.microsoft.com/office/drawing/2014/main" val="3569485517"/>
                    </a:ext>
                  </a:extLst>
                </a:gridCol>
                <a:gridCol w="461393">
                  <a:extLst>
                    <a:ext uri="{9D8B030D-6E8A-4147-A177-3AD203B41FA5}">
                      <a16:colId xmlns:a16="http://schemas.microsoft.com/office/drawing/2014/main" val="3139178345"/>
                    </a:ext>
                  </a:extLst>
                </a:gridCol>
                <a:gridCol w="422944">
                  <a:extLst>
                    <a:ext uri="{9D8B030D-6E8A-4147-A177-3AD203B41FA5}">
                      <a16:colId xmlns:a16="http://schemas.microsoft.com/office/drawing/2014/main" val="3970156250"/>
                    </a:ext>
                  </a:extLst>
                </a:gridCol>
              </a:tblGrid>
              <a:tr h="473612">
                <a:tc gridSpan="2">
                  <a:txBody>
                    <a:bodyPr/>
                    <a:lstStyle/>
                    <a:p>
                      <a:pPr marL="0" marR="0" algn="ctr">
                        <a:lnSpc>
                          <a:spcPct val="115000"/>
                        </a:lnSpc>
                        <a:spcBef>
                          <a:spcPts val="0"/>
                        </a:spcBef>
                        <a:spcAft>
                          <a:spcPts val="0"/>
                        </a:spcAft>
                      </a:pPr>
                      <a:r>
                        <a:rPr lang="en-US" sz="1200">
                          <a:effectLst/>
                        </a:rPr>
                        <a:t>Extraversion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rPr>
                        <a:t>Neuroticism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rPr>
                        <a:t>Agreeableness</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rPr>
                        <a:t>Openness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rPr>
                        <a:t>Conscientiousness</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476803092"/>
                  </a:ext>
                </a:extLst>
              </a:tr>
              <a:tr h="473612">
                <a:tc>
                  <a:txBody>
                    <a:bodyPr/>
                    <a:lstStyle/>
                    <a:p>
                      <a:pPr marL="0" marR="0">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Stem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Leaf</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2316954"/>
                  </a:ext>
                </a:extLst>
              </a:tr>
              <a:tr h="236807">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u="none" strike="noStrike">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882803"/>
                  </a:ext>
                </a:extLst>
              </a:tr>
              <a:tr h="236807">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u="none" strike="noStrike">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51802233"/>
                  </a:ext>
                </a:extLst>
              </a:tr>
              <a:tr h="236807">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32581610"/>
                  </a:ext>
                </a:extLst>
              </a:tr>
              <a:tr h="473612">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088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558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2160113"/>
                  </a:ext>
                </a:extLst>
              </a:tr>
              <a:tr h="236807">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12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3414000"/>
                  </a:ext>
                </a:extLst>
              </a:tr>
              <a:tr h="236807">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3326136"/>
                  </a:ext>
                </a:extLst>
              </a:tr>
              <a:tr h="236807">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23636341"/>
                  </a:ext>
                </a:extLst>
              </a:tr>
              <a:tr h="473612">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5559</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90313853"/>
                  </a:ext>
                </a:extLst>
              </a:tr>
              <a:tr h="236807">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17826015"/>
                  </a:ext>
                </a:extLst>
              </a:tr>
              <a:tr h="236807">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35276815"/>
                  </a:ext>
                </a:extLst>
              </a:tr>
              <a:tr h="236807">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50075779"/>
                  </a:ext>
                </a:extLst>
              </a:tr>
              <a:tr h="236807">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07297977"/>
                  </a:ext>
                </a:extLst>
              </a:tr>
            </a:tbl>
          </a:graphicData>
        </a:graphic>
      </p:graphicFrame>
    </p:spTree>
    <p:extLst>
      <p:ext uri="{BB962C8B-B14F-4D97-AF65-F5344CB8AC3E}">
        <p14:creationId xmlns:p14="http://schemas.microsoft.com/office/powerpoint/2010/main" val="3583424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Cutting Edge Issues in Meta-Analysis</a:t>
            </a:r>
          </a:p>
        </p:txBody>
      </p:sp>
      <p:sp>
        <p:nvSpPr>
          <p:cNvPr id="3" name="Content Placeholder 2"/>
          <p:cNvSpPr>
            <a:spLocks noGrp="1"/>
          </p:cNvSpPr>
          <p:nvPr>
            <p:ph idx="1"/>
          </p:nvPr>
        </p:nvSpPr>
        <p:spPr/>
        <p:txBody>
          <a:bodyPr/>
          <a:lstStyle/>
          <a:p>
            <a:r>
              <a:rPr lang="en-US" dirty="0"/>
              <a:t>Meta-Analytic Structural Equation Modeling (MASEM)</a:t>
            </a:r>
          </a:p>
          <a:p>
            <a:pPr lvl="1"/>
            <a:r>
              <a:rPr lang="en-US" dirty="0"/>
              <a:t>Using Meta-Analytic Data for testing Structural Models using Covariance-based Structural Equation Modeling (SEM).</a:t>
            </a:r>
          </a:p>
          <a:p>
            <a:pPr lvl="2"/>
            <a:r>
              <a:rPr lang="en-US" dirty="0"/>
              <a:t>It can provide the best of both worlds: Meta-Analysis &amp; SEM.</a:t>
            </a:r>
          </a:p>
          <a:p>
            <a:pPr lvl="2"/>
            <a:r>
              <a:rPr lang="en-US" dirty="0"/>
              <a:t>Can be used for testing hypotheses and theoretical models.</a:t>
            </a:r>
          </a:p>
          <a:p>
            <a:pPr lvl="2"/>
            <a:r>
              <a:rPr lang="en-US" dirty="0"/>
              <a:t>More complex than bivariate (basic) meta-analysis.</a:t>
            </a:r>
          </a:p>
          <a:p>
            <a:pPr lvl="1"/>
            <a:endParaRPr lang="en-US" dirty="0"/>
          </a:p>
          <a:p>
            <a:pPr lvl="1"/>
            <a:r>
              <a:rPr lang="en-US" dirty="0"/>
              <a:t>Should be implemented using </a:t>
            </a:r>
            <a:r>
              <a:rPr lang="en-US" dirty="0" err="1"/>
              <a:t>metaSEM</a:t>
            </a:r>
            <a:r>
              <a:rPr lang="en-US" dirty="0"/>
              <a:t> package in R:</a:t>
            </a:r>
          </a:p>
          <a:p>
            <a:pPr lvl="2"/>
            <a:r>
              <a:rPr lang="en-US" i="1" dirty="0">
                <a:hlinkClick r:id="rId2"/>
              </a:rPr>
              <a:t>https://courses.nus.edu.sg/course/psycwlm/internet/metasem/</a:t>
            </a:r>
            <a:r>
              <a:rPr lang="en-US" i="1" dirty="0"/>
              <a:t> </a:t>
            </a:r>
          </a:p>
          <a:p>
            <a:pPr lvl="1"/>
            <a:endParaRPr lang="en-US" dirty="0"/>
          </a:p>
          <a:p>
            <a:pPr lvl="1"/>
            <a:r>
              <a:rPr lang="en-US" i="1" dirty="0"/>
              <a:t>References:</a:t>
            </a:r>
          </a:p>
          <a:p>
            <a:pPr lvl="2"/>
            <a:r>
              <a:rPr lang="en-US" i="1" dirty="0"/>
              <a:t>Cheung (2015) book on two-stage MASEM.</a:t>
            </a:r>
          </a:p>
          <a:p>
            <a:pPr lvl="2"/>
            <a:r>
              <a:rPr lang="en-US" i="1" dirty="0"/>
              <a:t>Montazemi &amp; Qahri-Saremi (2015)’s I&amp;M paper.</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77</a:t>
            </a:fld>
            <a:endParaRPr lang="en-US"/>
          </a:p>
        </p:txBody>
      </p:sp>
    </p:spTree>
    <p:extLst>
      <p:ext uri="{BB962C8B-B14F-4D97-AF65-F5344CB8AC3E}">
        <p14:creationId xmlns:p14="http://schemas.microsoft.com/office/powerpoint/2010/main" val="5973958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0305"/>
            <a:ext cx="8229600" cy="592080"/>
          </a:xfrm>
        </p:spPr>
        <p:txBody>
          <a:bodyPr/>
          <a:lstStyle/>
          <a:p>
            <a:r>
              <a:rPr lang="en-US" dirty="0"/>
              <a:t>References</a:t>
            </a:r>
          </a:p>
        </p:txBody>
      </p:sp>
      <p:sp>
        <p:nvSpPr>
          <p:cNvPr id="3" name="Content Placeholder 2"/>
          <p:cNvSpPr>
            <a:spLocks noGrp="1"/>
          </p:cNvSpPr>
          <p:nvPr>
            <p:ph idx="1"/>
          </p:nvPr>
        </p:nvSpPr>
        <p:spPr>
          <a:xfrm>
            <a:off x="162961" y="742390"/>
            <a:ext cx="8754701" cy="5631256"/>
          </a:xfrm>
        </p:spPr>
        <p:txBody>
          <a:bodyPr>
            <a:normAutofit fontScale="92500"/>
          </a:bodyPr>
          <a:lstStyle/>
          <a:p>
            <a:pPr algn="just">
              <a:lnSpc>
                <a:spcPct val="100000"/>
              </a:lnSpc>
              <a:spcBef>
                <a:spcPts val="0"/>
              </a:spcBef>
              <a:spcAft>
                <a:spcPts val="600"/>
              </a:spcAft>
            </a:pPr>
            <a:r>
              <a:rPr lang="en-US" sz="1400" dirty="0"/>
              <a:t>Cheung, M.W.-L. 2015. </a:t>
            </a:r>
            <a:r>
              <a:rPr lang="en-US" sz="1400" i="1" dirty="0"/>
              <a:t>Meta-Analysis: A Structural Equation Modeling Approach</a:t>
            </a:r>
            <a:r>
              <a:rPr lang="en-US" sz="1400" dirty="0"/>
              <a:t>. United Kingdom: John Wiley &amp; Sons.</a:t>
            </a:r>
          </a:p>
          <a:p>
            <a:pPr algn="just">
              <a:lnSpc>
                <a:spcPct val="100000"/>
              </a:lnSpc>
              <a:spcBef>
                <a:spcPts val="0"/>
              </a:spcBef>
              <a:spcAft>
                <a:spcPts val="600"/>
              </a:spcAft>
            </a:pPr>
            <a:r>
              <a:rPr lang="en-US" sz="1400" dirty="0"/>
              <a:t>Field, A.P. 2005. "Is the Meta-Analysis of Correlation Coefficients Accurate When Population Correlations Vary?," </a:t>
            </a:r>
            <a:r>
              <a:rPr lang="en-US" sz="1400" i="1" dirty="0"/>
              <a:t>Psychological Methods</a:t>
            </a:r>
            <a:r>
              <a:rPr lang="en-US" sz="1400" dirty="0"/>
              <a:t> (10:4), pp. 444-467.</a:t>
            </a:r>
          </a:p>
          <a:p>
            <a:pPr algn="just">
              <a:lnSpc>
                <a:spcPct val="100000"/>
              </a:lnSpc>
              <a:spcBef>
                <a:spcPts val="0"/>
              </a:spcBef>
              <a:spcAft>
                <a:spcPts val="600"/>
              </a:spcAft>
            </a:pPr>
            <a:r>
              <a:rPr lang="en-US" sz="1400" dirty="0"/>
              <a:t>Field, A.P., and Gillett, R. 2010. "How to Do a Meta‐Analysis," </a:t>
            </a:r>
            <a:r>
              <a:rPr lang="en-US" sz="1400" i="1" dirty="0"/>
              <a:t>British Journal of Mathematical and Statistical Psychology</a:t>
            </a:r>
            <a:r>
              <a:rPr lang="en-US" sz="1400" dirty="0"/>
              <a:t> (63:3), pp. 665-694.</a:t>
            </a:r>
          </a:p>
          <a:p>
            <a:pPr algn="just">
              <a:lnSpc>
                <a:spcPct val="100000"/>
              </a:lnSpc>
              <a:spcBef>
                <a:spcPts val="0"/>
              </a:spcBef>
              <a:spcAft>
                <a:spcPts val="600"/>
              </a:spcAft>
            </a:pPr>
            <a:r>
              <a:rPr lang="en-US" sz="1400" dirty="0"/>
              <a:t>Glass, G.V. 1976. "Primary, Secondary, and Meta-Analysis of Research," </a:t>
            </a:r>
            <a:r>
              <a:rPr lang="en-US" sz="1400" i="1" dirty="0"/>
              <a:t>Educational Researcher</a:t>
            </a:r>
            <a:r>
              <a:rPr lang="en-US" sz="1400" dirty="0"/>
              <a:t> (5:10), pp. 3-8.</a:t>
            </a:r>
          </a:p>
          <a:p>
            <a:pPr algn="just">
              <a:lnSpc>
                <a:spcPct val="100000"/>
              </a:lnSpc>
              <a:spcBef>
                <a:spcPts val="0"/>
              </a:spcBef>
              <a:spcAft>
                <a:spcPts val="600"/>
              </a:spcAft>
            </a:pPr>
            <a:r>
              <a:rPr lang="en-US" sz="1400" dirty="0"/>
              <a:t>Hedges, L.V., and </a:t>
            </a:r>
            <a:r>
              <a:rPr lang="en-US" sz="1400" dirty="0" err="1"/>
              <a:t>Olkin</a:t>
            </a:r>
            <a:r>
              <a:rPr lang="en-US" sz="1400" dirty="0"/>
              <a:t>, I. 1985. </a:t>
            </a:r>
            <a:r>
              <a:rPr lang="en-US" sz="1400" i="1" dirty="0"/>
              <a:t>Statistical Methods for Meta-Analysis</a:t>
            </a:r>
            <a:r>
              <a:rPr lang="en-US" sz="1400" dirty="0"/>
              <a:t>. San Diego, CA: Academic Press.</a:t>
            </a:r>
          </a:p>
          <a:p>
            <a:pPr algn="just">
              <a:lnSpc>
                <a:spcPct val="100000"/>
              </a:lnSpc>
              <a:spcBef>
                <a:spcPts val="0"/>
              </a:spcBef>
              <a:spcAft>
                <a:spcPts val="600"/>
              </a:spcAft>
            </a:pPr>
            <a:r>
              <a:rPr lang="en-US" sz="1400" dirty="0" err="1"/>
              <a:t>Huedo</a:t>
            </a:r>
            <a:r>
              <a:rPr lang="en-US" sz="1400" dirty="0"/>
              <a:t>-Medina, T.B., Sánchez-</a:t>
            </a:r>
            <a:r>
              <a:rPr lang="en-US" sz="1400" dirty="0" err="1"/>
              <a:t>Meca</a:t>
            </a:r>
            <a:r>
              <a:rPr lang="en-US" sz="1400" dirty="0"/>
              <a:t>, J., </a:t>
            </a:r>
            <a:r>
              <a:rPr lang="en-US" sz="1400" dirty="0" err="1"/>
              <a:t>Marín-Martínez</a:t>
            </a:r>
            <a:r>
              <a:rPr lang="en-US" sz="1400" dirty="0"/>
              <a:t>, F., and </a:t>
            </a:r>
            <a:r>
              <a:rPr lang="en-US" sz="1400" dirty="0" err="1"/>
              <a:t>Botella</a:t>
            </a:r>
            <a:r>
              <a:rPr lang="en-US" sz="1400" dirty="0"/>
              <a:t>, J. 2006. "Assessing Heterogeneity in Meta-Analysis: Q Statistic or I² Index?," </a:t>
            </a:r>
            <a:r>
              <a:rPr lang="en-US" sz="1400" i="1" dirty="0"/>
              <a:t>Psychological Methods</a:t>
            </a:r>
            <a:r>
              <a:rPr lang="en-US" sz="1400" dirty="0"/>
              <a:t> (11:2), p. 193.</a:t>
            </a:r>
          </a:p>
          <a:p>
            <a:pPr algn="just">
              <a:lnSpc>
                <a:spcPct val="100000"/>
              </a:lnSpc>
              <a:spcBef>
                <a:spcPts val="0"/>
              </a:spcBef>
              <a:spcAft>
                <a:spcPts val="600"/>
              </a:spcAft>
            </a:pPr>
            <a:r>
              <a:rPr lang="en-US" sz="1400" dirty="0"/>
              <a:t>Hunter, J.E., and Schmidt, F.L. 2004. </a:t>
            </a:r>
            <a:r>
              <a:rPr lang="en-US" sz="1400" i="1" dirty="0"/>
              <a:t>Methods of Meta-Analysis: Correcting Error and Bias in Research Findings</a:t>
            </a:r>
            <a:r>
              <a:rPr lang="en-US" sz="1400" dirty="0"/>
              <a:t>, (Second ed.). Sage Publications, Inc.</a:t>
            </a:r>
          </a:p>
          <a:p>
            <a:pPr algn="just">
              <a:lnSpc>
                <a:spcPct val="100000"/>
              </a:lnSpc>
              <a:spcBef>
                <a:spcPts val="0"/>
              </a:spcBef>
              <a:spcAft>
                <a:spcPts val="600"/>
              </a:spcAft>
            </a:pPr>
            <a:r>
              <a:rPr lang="en-US" sz="1400" dirty="0" err="1"/>
              <a:t>Lipsey</a:t>
            </a:r>
            <a:r>
              <a:rPr lang="en-US" sz="1400" dirty="0"/>
              <a:t>, M., and Wilson, D.B. 2001. </a:t>
            </a:r>
            <a:r>
              <a:rPr lang="en-US" sz="1400" i="1" dirty="0"/>
              <a:t>Practical Meta-Analysis</a:t>
            </a:r>
            <a:r>
              <a:rPr lang="en-US" sz="1400" dirty="0"/>
              <a:t>. Thousand Oaks, CA: Sage Publications: </a:t>
            </a:r>
            <a:r>
              <a:rPr lang="en-US" sz="1400" i="1" dirty="0">
                <a:hlinkClick r:id="rId2"/>
              </a:rPr>
              <a:t>http://mason.gmu.edu/~dwilsonb/ma.html</a:t>
            </a:r>
            <a:r>
              <a:rPr lang="en-US" sz="1400" dirty="0"/>
              <a:t>.</a:t>
            </a:r>
          </a:p>
          <a:p>
            <a:pPr algn="just">
              <a:lnSpc>
                <a:spcPct val="100000"/>
              </a:lnSpc>
              <a:spcBef>
                <a:spcPts val="0"/>
              </a:spcBef>
              <a:spcAft>
                <a:spcPts val="600"/>
              </a:spcAft>
            </a:pPr>
            <a:r>
              <a:rPr lang="en-US" sz="1400" dirty="0"/>
              <a:t>Moher D., </a:t>
            </a:r>
            <a:r>
              <a:rPr lang="en-US" sz="1400" dirty="0" err="1"/>
              <a:t>Liberati</a:t>
            </a:r>
            <a:r>
              <a:rPr lang="en-US" sz="1400" dirty="0"/>
              <a:t> A., </a:t>
            </a:r>
            <a:r>
              <a:rPr lang="en-US" sz="1400" dirty="0" err="1"/>
              <a:t>Tetzlaff</a:t>
            </a:r>
            <a:r>
              <a:rPr lang="en-US" sz="1400" dirty="0"/>
              <a:t> J., Altman D.G., The PRISMA Group. 2009. “Preferred Reporting Items for Systematic Reviews and Meta Analyses: The PRISMA Statement”. </a:t>
            </a:r>
            <a:r>
              <a:rPr lang="en-US" sz="1400" i="1" dirty="0" err="1"/>
              <a:t>PLoS</a:t>
            </a:r>
            <a:r>
              <a:rPr lang="en-US" sz="1400" i="1" dirty="0"/>
              <a:t> Med </a:t>
            </a:r>
            <a:r>
              <a:rPr lang="en-US" sz="1400" dirty="0"/>
              <a:t>6(7): e1000097. doi:10.1371/journal.pmed1000097.</a:t>
            </a:r>
          </a:p>
          <a:p>
            <a:pPr algn="just">
              <a:lnSpc>
                <a:spcPct val="100000"/>
              </a:lnSpc>
              <a:spcBef>
                <a:spcPts val="0"/>
              </a:spcBef>
              <a:spcAft>
                <a:spcPts val="600"/>
              </a:spcAft>
            </a:pPr>
            <a:r>
              <a:rPr lang="en-US" sz="1400" dirty="0"/>
              <a:t>Montazemi, A.R., and Qahri-Saremi, H. 2015. "Factors Affecting Adoption of Online Banking: A Meta-Analytic Structural Equation Modeling Study," </a:t>
            </a:r>
            <a:r>
              <a:rPr lang="en-US" sz="1400" i="1" dirty="0"/>
              <a:t>Information &amp; Management</a:t>
            </a:r>
            <a:r>
              <a:rPr lang="en-US" sz="1400" dirty="0"/>
              <a:t> (52:2), pp. 210-226.</a:t>
            </a:r>
          </a:p>
          <a:p>
            <a:pPr algn="just">
              <a:lnSpc>
                <a:spcPct val="100000"/>
              </a:lnSpc>
              <a:spcBef>
                <a:spcPts val="0"/>
              </a:spcBef>
              <a:spcAft>
                <a:spcPts val="600"/>
              </a:spcAft>
            </a:pPr>
            <a:r>
              <a:rPr lang="en-US" sz="1400" dirty="0"/>
              <a:t>Rosenthal, R. 1979. "The “File Drawer Problem” and Tolerance for Null Results," </a:t>
            </a:r>
            <a:r>
              <a:rPr lang="en-US" sz="1400" i="1" dirty="0"/>
              <a:t>Psychological Bulletin</a:t>
            </a:r>
            <a:r>
              <a:rPr lang="en-US" sz="1400" dirty="0"/>
              <a:t> (86:3), pp. 638-641.</a:t>
            </a:r>
          </a:p>
          <a:p>
            <a:pPr algn="just">
              <a:lnSpc>
                <a:spcPct val="100000"/>
              </a:lnSpc>
              <a:spcBef>
                <a:spcPts val="0"/>
              </a:spcBef>
              <a:spcAft>
                <a:spcPts val="600"/>
              </a:spcAft>
            </a:pPr>
            <a:r>
              <a:rPr lang="en-US" sz="1400" dirty="0"/>
              <a:t>Sharma, S., Bottom, W.P., and </a:t>
            </a:r>
            <a:r>
              <a:rPr lang="en-US" sz="1400" dirty="0" err="1"/>
              <a:t>Elfenbein</a:t>
            </a:r>
            <a:r>
              <a:rPr lang="en-US" sz="1400" dirty="0"/>
              <a:t>, H.A. 2013. "On the Role of Personality, Cognitive Ability, and Emotional Intelligence in Predicting Negotiation Outcomes: A Meta-Analysis," </a:t>
            </a:r>
            <a:r>
              <a:rPr lang="en-US" sz="1400" i="1" dirty="0"/>
              <a:t>Organizational Psychology Review</a:t>
            </a:r>
            <a:r>
              <a:rPr lang="en-US" sz="1400" dirty="0"/>
              <a:t> (3:4), pp. 293-336.</a:t>
            </a:r>
          </a:p>
          <a:p>
            <a:pPr algn="just">
              <a:lnSpc>
                <a:spcPct val="100000"/>
              </a:lnSpc>
              <a:spcBef>
                <a:spcPts val="0"/>
              </a:spcBef>
              <a:spcAft>
                <a:spcPts val="600"/>
              </a:spcAft>
            </a:pPr>
            <a:r>
              <a:rPr lang="en-US" sz="1400" dirty="0" err="1"/>
              <a:t>Viechtbauer</a:t>
            </a:r>
            <a:r>
              <a:rPr lang="en-US" sz="1400" dirty="0"/>
              <a:t>, W. 2010. "Conducting Meta-Analyses in R with the Metafor Package," </a:t>
            </a:r>
            <a:r>
              <a:rPr lang="en-US" sz="1400" i="1" dirty="0"/>
              <a:t>Journal of Statistical Software</a:t>
            </a:r>
            <a:r>
              <a:rPr lang="en-US" sz="1400" dirty="0"/>
              <a:t> (36:3), pp. 1-48.</a:t>
            </a:r>
          </a:p>
        </p:txBody>
      </p:sp>
      <p:sp>
        <p:nvSpPr>
          <p:cNvPr id="4" name="Footer Placeholder 3"/>
          <p:cNvSpPr>
            <a:spLocks noGrp="1"/>
          </p:cNvSpPr>
          <p:nvPr>
            <p:ph type="ftr" sz="quarter" idx="11"/>
          </p:nvPr>
        </p:nvSpPr>
        <p:spPr/>
        <p:txBody>
          <a:bodyPr/>
          <a:lstStyle/>
          <a:p>
            <a:r>
              <a:rPr lang="en-US"/>
              <a:t>Qahri-Saremi &amp; Sharma, AMCIS 2017</a:t>
            </a:r>
            <a:endParaRPr lang="en-US" dirty="0"/>
          </a:p>
        </p:txBody>
      </p:sp>
      <p:sp>
        <p:nvSpPr>
          <p:cNvPr id="5" name="Slide Number Placeholder 4"/>
          <p:cNvSpPr>
            <a:spLocks noGrp="1"/>
          </p:cNvSpPr>
          <p:nvPr>
            <p:ph type="sldNum" sz="quarter" idx="12"/>
          </p:nvPr>
        </p:nvSpPr>
        <p:spPr/>
        <p:txBody>
          <a:bodyPr/>
          <a:lstStyle/>
          <a:p>
            <a:fld id="{9E0F272A-0FC0-1943-B826-E8D4777EEB37}" type="slidenum">
              <a:rPr lang="en-US" smtClean="0"/>
              <a:t>78</a:t>
            </a:fld>
            <a:endParaRPr lang="en-US"/>
          </a:p>
        </p:txBody>
      </p:sp>
    </p:spTree>
    <p:extLst>
      <p:ext uri="{BB962C8B-B14F-4D97-AF65-F5344CB8AC3E}">
        <p14:creationId xmlns:p14="http://schemas.microsoft.com/office/powerpoint/2010/main" val="11127959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4759535970_3467f04902_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8068" y="0"/>
            <a:ext cx="4506405" cy="6858000"/>
          </a:xfrm>
          <a:prstGeom prst="rect">
            <a:avLst/>
          </a:prstGeom>
        </p:spPr>
      </p:pic>
      <p:sp>
        <p:nvSpPr>
          <p:cNvPr id="3" name="Rectangle 2"/>
          <p:cNvSpPr/>
          <p:nvPr/>
        </p:nvSpPr>
        <p:spPr>
          <a:xfrm>
            <a:off x="503459" y="6387887"/>
            <a:ext cx="2971555" cy="307777"/>
          </a:xfrm>
          <a:prstGeom prst="rect">
            <a:avLst/>
          </a:prstGeom>
        </p:spPr>
        <p:txBody>
          <a:bodyPr wrap="none">
            <a:spAutoFit/>
          </a:bodyPr>
          <a:lstStyle/>
          <a:p>
            <a:r>
              <a:rPr lang="en-US" sz="1400" i="1" dirty="0">
                <a:latin typeface="Georgia"/>
                <a:cs typeface="Georgia"/>
              </a:rPr>
              <a:t>Image by </a:t>
            </a:r>
            <a:r>
              <a:rPr lang="en-US" sz="1400" i="1" dirty="0" err="1">
                <a:latin typeface="Georgia"/>
                <a:cs typeface="Georgia"/>
              </a:rPr>
              <a:t>WoodleyWonderWorks</a:t>
            </a:r>
            <a:endParaRPr lang="en-US" sz="1400" i="1" dirty="0">
              <a:latin typeface="Georgia"/>
              <a:cs typeface="Georgia"/>
            </a:endParaRPr>
          </a:p>
        </p:txBody>
      </p:sp>
      <p:sp>
        <p:nvSpPr>
          <p:cNvPr id="5" name="Slide Number Placeholder 4"/>
          <p:cNvSpPr>
            <a:spLocks noGrp="1"/>
          </p:cNvSpPr>
          <p:nvPr>
            <p:ph type="sldNum" sz="quarter" idx="12"/>
          </p:nvPr>
        </p:nvSpPr>
        <p:spPr/>
        <p:txBody>
          <a:bodyPr/>
          <a:lstStyle/>
          <a:p>
            <a:fld id="{CD167C25-93B4-594F-9786-C0BAE2ADE106}" type="slidenum">
              <a:rPr lang="en-US" smtClean="0"/>
              <a:t>79</a:t>
            </a:fld>
            <a:endParaRPr lang="en-US"/>
          </a:p>
        </p:txBody>
      </p:sp>
      <p:sp>
        <p:nvSpPr>
          <p:cNvPr id="2" name="Footer Placeholder 1"/>
          <p:cNvSpPr>
            <a:spLocks noGrp="1"/>
          </p:cNvSpPr>
          <p:nvPr>
            <p:ph type="ftr" sz="quarter" idx="11"/>
          </p:nvPr>
        </p:nvSpPr>
        <p:spPr/>
        <p:txBody>
          <a:bodyPr/>
          <a:lstStyle/>
          <a:p>
            <a:r>
              <a:rPr lang="en-US"/>
              <a:t>Qahri-Saremi &amp; Sharma, AMCIS 2017</a:t>
            </a:r>
            <a:endParaRPr lang="en-US" dirty="0"/>
          </a:p>
        </p:txBody>
      </p:sp>
    </p:spTree>
    <p:extLst>
      <p:ext uri="{BB962C8B-B14F-4D97-AF65-F5344CB8AC3E}">
        <p14:creationId xmlns:p14="http://schemas.microsoft.com/office/powerpoint/2010/main" val="326567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14347</TotalTime>
  <Words>4902</Words>
  <Application>Microsoft Office PowerPoint</Application>
  <PresentationFormat>On-screen Show (4:3)</PresentationFormat>
  <Paragraphs>943</Paragraphs>
  <Slides>79</Slides>
  <Notes>16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79</vt:i4>
      </vt:variant>
    </vt:vector>
  </HeadingPairs>
  <TitlesOfParts>
    <vt:vector size="88" baseType="lpstr">
      <vt:lpstr>Arial</vt:lpstr>
      <vt:lpstr>Calibri</vt:lpstr>
      <vt:lpstr>Cambria</vt:lpstr>
      <vt:lpstr>DejaVu Sans</vt:lpstr>
      <vt:lpstr>Georgia</vt:lpstr>
      <vt:lpstr>Times New Roman</vt:lpstr>
      <vt:lpstr>Office Theme</vt:lpstr>
      <vt:lpstr>Equation</vt:lpstr>
      <vt:lpstr>Document</vt:lpstr>
      <vt:lpstr>Introduction to Meta Analysis</vt:lpstr>
      <vt:lpstr>Overview of the Workshop</vt:lpstr>
      <vt:lpstr>What is a Meta-Analysis?</vt:lpstr>
      <vt:lpstr>A little bit of History…</vt:lpstr>
      <vt:lpstr>Meta-Analysis vs. Narrative Reviews</vt:lpstr>
      <vt:lpstr>Meta-Analysis vs. Narrative Reviews</vt:lpstr>
      <vt:lpstr>Meta-Analysis vs. Narrative Reviews</vt:lpstr>
      <vt:lpstr>Meta-Analysis vs. Narrative Reviews</vt:lpstr>
      <vt:lpstr>Meta-Analysis vs. Narrative Reviews</vt:lpstr>
      <vt:lpstr>Meta-Analysis vs. Single Studies</vt:lpstr>
      <vt:lpstr>When Can You Do Meta-analysis?</vt:lpstr>
      <vt:lpstr>Eight Steps to Conduct a Meta-Analysis</vt:lpstr>
      <vt:lpstr>Problem Definition</vt:lpstr>
      <vt:lpstr>Establishing Inclusion/Exclusion Criteria: Which Studies to Include? </vt:lpstr>
      <vt:lpstr>Literature Search and Studies Retrieval </vt:lpstr>
      <vt:lpstr>Literature Search and Studies Retrieval </vt:lpstr>
      <vt:lpstr>Literature Search and Studies Retrieval </vt:lpstr>
      <vt:lpstr>Coding Data</vt:lpstr>
      <vt:lpstr>Effect Size (ES):  The Key to Meta-Analysis</vt:lpstr>
      <vt:lpstr>Effect Size (ES):  The Correlation Coefficient</vt:lpstr>
      <vt:lpstr>Effect Size (ES):  The Standardized Mean Difference</vt:lpstr>
      <vt:lpstr>Effect Size (ES):  The Odds-Ratio</vt:lpstr>
      <vt:lpstr>Effect Size (ES):  The Risk Ratio</vt:lpstr>
      <vt:lpstr>Effect Size (ES):  Issues in Coding Effect Sizes</vt:lpstr>
      <vt:lpstr>Effect Size (ES):  Independent Set of Effect Sizes</vt:lpstr>
      <vt:lpstr>Effect Size (ES)</vt:lpstr>
      <vt:lpstr>The Basic Meta-Analysis: Fixed-Effects vs. Random-Effects Method of Meta-Analysis</vt:lpstr>
      <vt:lpstr>PowerPoint Presentation</vt:lpstr>
      <vt:lpstr>PowerPoint Presentation</vt:lpstr>
      <vt:lpstr>PowerPoint Presentation</vt:lpstr>
      <vt:lpstr>Tools for Meta-Analysis:  Wilson/Lipsey SPSS Macros</vt:lpstr>
      <vt:lpstr>Tools for Meta-Analysis:  Metafor Package in R</vt:lpstr>
      <vt:lpstr>The Basic Meta-Analysis:</vt:lpstr>
      <vt:lpstr>The Basic Meta-Analysis:</vt:lpstr>
      <vt:lpstr>The Basic Meta-Analysis:</vt:lpstr>
      <vt:lpstr>The Basic Meta-Analysis:</vt:lpstr>
      <vt:lpstr>The Basic Meta-Analysis:</vt:lpstr>
      <vt:lpstr>The Basic Meta-Analysis:</vt:lpstr>
      <vt:lpstr>The Basic Meta-Analysis:</vt:lpstr>
      <vt:lpstr>The Basic Meta-Analysis:</vt:lpstr>
      <vt:lpstr>The Basic Meta-Analysis:</vt:lpstr>
      <vt:lpstr>The Basic Meta-Analysis:</vt:lpstr>
      <vt:lpstr>The Basic Meta-Analysis:</vt:lpstr>
      <vt:lpstr>The Basic Meta-Analysis:  Wilson/Linsey SPSS Macros</vt:lpstr>
      <vt:lpstr>The Basic Meta-Analysis:  Metafor Package in R</vt:lpstr>
      <vt:lpstr>The Basic Meta-Analysis:</vt:lpstr>
      <vt:lpstr>The Basic Meta-Analysis:</vt:lpstr>
      <vt:lpstr>The Basic Meta-Analysis:  Metafor Package in R</vt:lpstr>
      <vt:lpstr>Your Turn: Use Wilson/Linsey SPSS Macros</vt:lpstr>
      <vt:lpstr>Your Turn: Use Metafor Package in R</vt:lpstr>
      <vt:lpstr>Moderator Analysis</vt:lpstr>
      <vt:lpstr>Moderator Analysis</vt:lpstr>
      <vt:lpstr>Moderator Analysis: Wilson/Linsey SPSS Macros</vt:lpstr>
      <vt:lpstr>Moderator Analysis: Wilson/Linsey SPSS Macros</vt:lpstr>
      <vt:lpstr>Moderator Analysis: Wilson/Linsey SPSS Macros</vt:lpstr>
      <vt:lpstr>Moderator Analysis: Wilson/Linsey SPSS Macros</vt:lpstr>
      <vt:lpstr>Your Turn: Use Wilson/Linsey SPSS Macros</vt:lpstr>
      <vt:lpstr>Moderator Analysis: Metafor Package in R</vt:lpstr>
      <vt:lpstr>Moderator Analysis: Metafor Package in R</vt:lpstr>
      <vt:lpstr>Moderator Analysis: Metafor Package in R</vt:lpstr>
      <vt:lpstr>Moderator Analysis: Metafor Package in R</vt:lpstr>
      <vt:lpstr>Your Turn:  Metafor Package in R</vt:lpstr>
      <vt:lpstr>Other Tool for Meta-Analysis:  Mix 2.0 add-in in MS Excel</vt:lpstr>
      <vt:lpstr> Transform Corrected Correlations to Fisher’s Z (standardization) </vt:lpstr>
      <vt:lpstr>Data with Fisher’s Z and Standard Error</vt:lpstr>
      <vt:lpstr>Weighted effect size</vt:lpstr>
      <vt:lpstr>PowerPoint Presentation</vt:lpstr>
      <vt:lpstr>Data for meta-analysis</vt:lpstr>
      <vt:lpstr>Overall weighted mean effect size</vt:lpstr>
      <vt:lpstr>Heterogeneity Statistics </vt:lpstr>
      <vt:lpstr>Moderating analysis Categorical variable</vt:lpstr>
      <vt:lpstr>Findings for group 1 vs. group 2</vt:lpstr>
      <vt:lpstr>Plots for Meta-Analysis: Forest Plot</vt:lpstr>
      <vt:lpstr>Plots for Meta-Analysis: Funnel Plot</vt:lpstr>
      <vt:lpstr>Plots for Meta-Analysis: Stem and Leaf from Example</vt:lpstr>
      <vt:lpstr>Plots for Meta-Analysis: Stem and Leaf (Other examples)</vt:lpstr>
      <vt:lpstr>Cutting Edge Issues in Meta-Analysis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 Qahri-Saremi</dc:creator>
  <cp:lastModifiedBy>sudeep sharma</cp:lastModifiedBy>
  <cp:revision>1708</cp:revision>
  <dcterms:created xsi:type="dcterms:W3CDTF">2015-10-04T21:24:22Z</dcterms:created>
  <dcterms:modified xsi:type="dcterms:W3CDTF">2017-08-08T04:36:02Z</dcterms:modified>
</cp:coreProperties>
</file>