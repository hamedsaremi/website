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6" r:id="rId2"/>
    <p:sldId id="271" r:id="rId3"/>
    <p:sldId id="292" r:id="rId4"/>
    <p:sldId id="273" r:id="rId5"/>
    <p:sldId id="293" r:id="rId6"/>
    <p:sldId id="294" r:id="rId7"/>
    <p:sldId id="295" r:id="rId8"/>
    <p:sldId id="296" r:id="rId9"/>
    <p:sldId id="297" r:id="rId10"/>
    <p:sldId id="279" r:id="rId11"/>
    <p:sldId id="298" r:id="rId12"/>
    <p:sldId id="280" r:id="rId13"/>
    <p:sldId id="299" r:id="rId14"/>
    <p:sldId id="300" r:id="rId15"/>
    <p:sldId id="301" r:id="rId16"/>
    <p:sldId id="302" r:id="rId17"/>
    <p:sldId id="304" r:id="rId18"/>
    <p:sldId id="303" r:id="rId19"/>
    <p:sldId id="306" r:id="rId20"/>
    <p:sldId id="305" r:id="rId21"/>
    <p:sldId id="307" r:id="rId22"/>
    <p:sldId id="308" r:id="rId23"/>
    <p:sldId id="312" r:id="rId24"/>
    <p:sldId id="309" r:id="rId25"/>
    <p:sldId id="319" r:id="rId26"/>
    <p:sldId id="327" r:id="rId27"/>
    <p:sldId id="313" r:id="rId28"/>
    <p:sldId id="320" r:id="rId29"/>
    <p:sldId id="321" r:id="rId30"/>
    <p:sldId id="324" r:id="rId31"/>
    <p:sldId id="371" r:id="rId32"/>
    <p:sldId id="372" r:id="rId33"/>
    <p:sldId id="323" r:id="rId34"/>
    <p:sldId id="335" r:id="rId35"/>
    <p:sldId id="339" r:id="rId36"/>
    <p:sldId id="340" r:id="rId37"/>
    <p:sldId id="328" r:id="rId38"/>
    <p:sldId id="346" r:id="rId39"/>
    <p:sldId id="343" r:id="rId40"/>
    <p:sldId id="352" r:id="rId41"/>
    <p:sldId id="353" r:id="rId42"/>
    <p:sldId id="355" r:id="rId43"/>
    <p:sldId id="358" r:id="rId44"/>
    <p:sldId id="360" r:id="rId45"/>
    <p:sldId id="361" r:id="rId46"/>
    <p:sldId id="357" r:id="rId47"/>
    <p:sldId id="356" r:id="rId48"/>
    <p:sldId id="362" r:id="rId49"/>
    <p:sldId id="363" r:id="rId50"/>
    <p:sldId id="373" r:id="rId51"/>
    <p:sldId id="348" r:id="rId52"/>
    <p:sldId id="349" r:id="rId53"/>
    <p:sldId id="351" r:id="rId54"/>
    <p:sldId id="368" r:id="rId55"/>
    <p:sldId id="369" r:id="rId56"/>
    <p:sldId id="370" r:id="rId57"/>
    <p:sldId id="374" r:id="rId58"/>
    <p:sldId id="375" r:id="rId59"/>
    <p:sldId id="364" r:id="rId60"/>
    <p:sldId id="376" r:id="rId61"/>
    <p:sldId id="378" r:id="rId62"/>
    <p:sldId id="377" r:id="rId63"/>
    <p:sldId id="379" r:id="rId64"/>
    <p:sldId id="365" r:id="rId65"/>
    <p:sldId id="366" r:id="rId66"/>
    <p:sldId id="380" r:id="rId67"/>
    <p:sldId id="381" r:id="rId68"/>
    <p:sldId id="382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2F3F2"/>
    <a:srgbClr val="007F50"/>
    <a:srgbClr val="008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5838" autoAdjust="0"/>
  </p:normalViewPr>
  <p:slideViewPr>
    <p:cSldViewPr snapToGrid="0" snapToObjects="1">
      <p:cViewPr varScale="1">
        <p:scale>
          <a:sx n="141" d="100"/>
          <a:sy n="141" d="100"/>
        </p:scale>
        <p:origin x="2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notesMaster" Target="notesMasters/notesMaster1.xml"/><Relationship Id="rId71" Type="http://schemas.openxmlformats.org/officeDocument/2006/relationships/handoutMaster" Target="handoutMasters/handoutMaster1.xml"/><Relationship Id="rId72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4A3CD-A3A5-B346-8CA0-C29EACE95187}" type="datetime1">
              <a:rPr lang="en-US" smtClean="0"/>
              <a:t>8/5/17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7B04E-9D11-7E4F-8B0D-F4AEDBDA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67E80-74C8-A146-9534-B39C72A3951C}" type="datetime1">
              <a:rPr lang="en-US" smtClean="0"/>
              <a:t>8/5/17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667B-CFC3-844D-9F99-34C86AC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61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2CABC9-99CD-3644-BEB1-8E8BB5000C4E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2764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28713" y="690563"/>
            <a:ext cx="4600575" cy="3451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65183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F02B80C-B7A0-EC4A-B553-800B1366247B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8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9796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4B2A0F-A780-6345-86B9-EA6A2293A287}" type="slidenum">
              <a:rPr lang="en-GB" altLang="x-none"/>
              <a:pPr/>
              <a:t>10</a:t>
            </a:fld>
            <a:endParaRPr lang="en-GB" altLang="x-none"/>
          </a:p>
        </p:txBody>
      </p:sp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97327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9BB403-7601-C842-AF33-C9BD0DB5653D}" type="slidenum">
              <a:rPr lang="en-GB" altLang="x-none"/>
              <a:pPr/>
              <a:t>12</a:t>
            </a:fld>
            <a:endParaRPr lang="en-GB" altLang="x-none"/>
          </a:p>
        </p:txBody>
      </p:sp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54914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25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567360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26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135853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30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79871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07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1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46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9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53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5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90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90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7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DB02-F888-2949-A40A-1F561219C784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7F50"/>
                </a:solidFill>
              </a:defRPr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DB2F-B6DA-294A-A600-72774BEE9009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454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69956644-C519-324B-9831-D004D13DEDDD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i="1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 smtClean="0"/>
              <a:t>Qahri-Saremi &amp; Sharma, AMCIS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E0F272A-0FC0-1943-B826-E8D4777EE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FF6600"/>
          </a:solidFill>
          <a:latin typeface="Georgia" charset="0"/>
          <a:ea typeface="Georgia" charset="0"/>
          <a:cs typeface="Georgia" charset="0"/>
        </a:defRPr>
      </a:lvl1pPr>
    </p:titleStyle>
    <p:bodyStyle>
      <a:lvl1pPr marL="342900" indent="-3429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2000" kern="1200">
          <a:solidFill>
            <a:srgbClr val="0000FF"/>
          </a:solidFill>
          <a:latin typeface="Times New Roman"/>
          <a:ea typeface="+mn-ea"/>
          <a:cs typeface="Times New Roman"/>
        </a:defRPr>
      </a:lvl2pPr>
      <a:lvl3pPr marL="11430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1800" kern="1200">
          <a:solidFill>
            <a:srgbClr val="C00000"/>
          </a:solidFill>
          <a:latin typeface="Times New Roman"/>
          <a:ea typeface="+mn-ea"/>
          <a:cs typeface="Times New Roman"/>
        </a:defRPr>
      </a:lvl3pPr>
      <a:lvl4pPr marL="16002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1600" kern="1200">
          <a:solidFill>
            <a:srgbClr val="007F50"/>
          </a:solidFill>
          <a:latin typeface="Times New Roman"/>
          <a:ea typeface="+mn-ea"/>
          <a:cs typeface="Times New Roman"/>
        </a:defRPr>
      </a:lvl4pPr>
      <a:lvl5pPr marL="20574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»"/>
        <a:defRPr sz="1600" kern="1200">
          <a:solidFill>
            <a:schemeClr val="accent6">
              <a:lumMod val="75000"/>
            </a:schemeClr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www.prisma-statement.org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9.wmf"/><Relationship Id="rId5" Type="http://schemas.openxmlformats.org/officeDocument/2006/relationships/image" Target="../media/image10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son.gmu.edu/~dwilsonb/ma.html" TargetMode="External"/><Relationship Id="rId3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etafor-project.org/doku.php" TargetMode="External"/><Relationship Id="rId3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17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oleObject" Target="../embeddings/oleObject8.bin"/><Relationship Id="rId5" Type="http://schemas.openxmlformats.org/officeDocument/2006/relationships/image" Target="../media/image17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19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21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4" Type="http://schemas.openxmlformats.org/officeDocument/2006/relationships/image" Target="../media/image21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acsrv.cdm.depaul.edu/~hqahrisa/#workshops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acsrv.cdm.depaul.edu/~hqahrisa/#workshops" TargetMode="External"/><Relationship Id="rId3" Type="http://schemas.openxmlformats.org/officeDocument/2006/relationships/hyperlink" Target="https://www.rstudio.com/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son.gmu.edu/~dwilsonb/ma.html" TargetMode="Externa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619" y="786173"/>
            <a:ext cx="7296234" cy="133673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3600" dirty="0" smtClean="0"/>
              <a:t>Introduction to Meta Analysis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136" y="3009900"/>
            <a:ext cx="3433313" cy="1245351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Hamed Qahri-Saremi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DePaul University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Chicago, IL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10021" y="3009899"/>
            <a:ext cx="3864635" cy="1245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  <a:lvl2pPr marL="4572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2pPr>
            <a:lvl3pPr marL="9144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3pPr>
            <a:lvl4pPr marL="13716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4pPr>
            <a:lvl5pPr marL="18288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solidFill>
                  <a:schemeClr val="tx1"/>
                </a:solidFill>
              </a:rPr>
              <a:t>Sudeep</a:t>
            </a:r>
            <a:r>
              <a:rPr lang="en-US" b="1" dirty="0" smtClean="0">
                <a:solidFill>
                  <a:schemeClr val="tx1"/>
                </a:solidFill>
              </a:rPr>
              <a:t> Sharma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University of Illinois at Springfield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Springfield, IL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495" y="4823261"/>
            <a:ext cx="2304456" cy="19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8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CE495F-6934-6D47-9189-BF7386F6AD99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51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Overview of the Workshop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GB" altLang="x-none" dirty="0"/>
          </a:p>
        </p:txBody>
      </p:sp>
    </p:spTree>
    <p:extLst>
      <p:ext uri="{BB962C8B-B14F-4D97-AF65-F5344CB8AC3E}">
        <p14:creationId xmlns:p14="http://schemas.microsoft.com/office/powerpoint/2010/main" val="1387733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Meta-Analysis?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Meta-analysis </a:t>
            </a:r>
            <a:r>
              <a:rPr lang="en-US" dirty="0"/>
              <a:t>is a statistical technique for </a:t>
            </a:r>
            <a:r>
              <a:rPr lang="en-US" dirty="0" smtClean="0"/>
              <a:t>synthesizing </a:t>
            </a:r>
            <a:r>
              <a:rPr lang="en-US" dirty="0"/>
              <a:t>the results of </a:t>
            </a:r>
            <a:r>
              <a:rPr lang="en-US" dirty="0" smtClean="0"/>
              <a:t>a set </a:t>
            </a:r>
            <a:r>
              <a:rPr lang="en-US" dirty="0"/>
              <a:t>of </a:t>
            </a:r>
            <a:r>
              <a:rPr lang="en-US" dirty="0" smtClean="0"/>
              <a:t>independent, quantitative, empirical studies </a:t>
            </a:r>
            <a:r>
              <a:rPr lang="en-US" dirty="0"/>
              <a:t>on </a:t>
            </a:r>
            <a:r>
              <a:rPr lang="en-US" dirty="0" smtClean="0"/>
              <a:t>a topic</a:t>
            </a:r>
            <a:r>
              <a:rPr lang="en-US" dirty="0"/>
              <a:t>, in order </a:t>
            </a:r>
            <a:r>
              <a:rPr lang="en-US" dirty="0" smtClean="0"/>
              <a:t>to determine </a:t>
            </a:r>
            <a:r>
              <a:rPr lang="en-US" dirty="0"/>
              <a:t>an overall estimate of </a:t>
            </a:r>
            <a:r>
              <a:rPr lang="en-US" dirty="0" smtClean="0"/>
              <a:t>a treatment </a:t>
            </a:r>
            <a:r>
              <a:rPr lang="en-US" dirty="0"/>
              <a:t>effect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mr-IN" dirty="0" smtClean="0"/>
              <a:t>…</a:t>
            </a:r>
            <a:r>
              <a:rPr lang="en-US" dirty="0" smtClean="0"/>
              <a:t> now </a:t>
            </a:r>
            <a:r>
              <a:rPr lang="en-US" dirty="0"/>
              <a:t>widely accepted as a method of summarizing </a:t>
            </a:r>
            <a:r>
              <a:rPr lang="en-US" dirty="0" smtClean="0"/>
              <a:t>the results </a:t>
            </a:r>
            <a:r>
              <a:rPr lang="en-US" dirty="0"/>
              <a:t>of empirical studies within the behavioral</a:t>
            </a:r>
            <a:r>
              <a:rPr lang="en-US" dirty="0" smtClean="0"/>
              <a:t>, social </a:t>
            </a:r>
            <a:r>
              <a:rPr lang="en-US" dirty="0"/>
              <a:t>and health </a:t>
            </a:r>
            <a:r>
              <a:rPr lang="en-US" dirty="0" smtClean="0"/>
              <a:t>sciences.” 								</a:t>
            </a:r>
            <a:r>
              <a:rPr lang="en-US" sz="1400" i="1" dirty="0" err="1" smtClean="0"/>
              <a:t>Lipsey</a:t>
            </a:r>
            <a:r>
              <a:rPr lang="en-US" sz="1400" i="1" dirty="0" smtClean="0"/>
              <a:t> </a:t>
            </a:r>
            <a:r>
              <a:rPr lang="en-US" sz="1400" i="1" dirty="0"/>
              <a:t>and </a:t>
            </a:r>
            <a:r>
              <a:rPr lang="en-US" sz="1400" i="1" dirty="0" smtClean="0"/>
              <a:t>Wilson (2001)</a:t>
            </a:r>
            <a:endParaRPr lang="en-US" sz="1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910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27635E-FDED-814E-92CB-A74EA2E177A5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 smtClean="0"/>
              <a:t>A little bit of History</a:t>
            </a:r>
            <a:r>
              <a:rPr lang="mr-IN" altLang="x-none" dirty="0" smtClean="0"/>
              <a:t>…</a:t>
            </a:r>
            <a:endParaRPr lang="en-GB" altLang="x-none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167" y="1285336"/>
            <a:ext cx="4485735" cy="5003321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just"/>
            <a:r>
              <a:rPr lang="en-GB" altLang="x-none" dirty="0"/>
              <a:t>The Great Debate  </a:t>
            </a:r>
            <a:r>
              <a:rPr lang="en-US" sz="1600" i="1" dirty="0"/>
              <a:t>(</a:t>
            </a:r>
            <a:r>
              <a:rPr lang="en-US" sz="1600" i="1" dirty="0" err="1"/>
              <a:t>Lipsey</a:t>
            </a:r>
            <a:r>
              <a:rPr lang="en-US" sz="1600" i="1" dirty="0"/>
              <a:t> and Wilson, 2001)</a:t>
            </a:r>
            <a:endParaRPr lang="en-GB" altLang="x-none" sz="1600" i="1" dirty="0"/>
          </a:p>
          <a:p>
            <a:pPr lvl="1" algn="just"/>
            <a:r>
              <a:rPr lang="en-GB" altLang="x-none" dirty="0"/>
              <a:t>In 1952, Hans J. Eysenck concluded that there were no favourable effects of psychotherapy, starting a raging debate</a:t>
            </a:r>
            <a:r>
              <a:rPr lang="mr-IN" altLang="x-none" dirty="0"/>
              <a:t>…</a:t>
            </a:r>
            <a:endParaRPr lang="en-GB" altLang="x-none" dirty="0"/>
          </a:p>
          <a:p>
            <a:pPr lvl="2" algn="just"/>
            <a:r>
              <a:rPr lang="en-GB" altLang="x-none" dirty="0"/>
              <a:t>20 years of evaluation research and hundreds of studies failed to resolve the debate</a:t>
            </a:r>
          </a:p>
          <a:p>
            <a:pPr lvl="1" algn="just"/>
            <a:endParaRPr lang="en-GB" altLang="x-none" dirty="0"/>
          </a:p>
          <a:p>
            <a:pPr lvl="1" algn="just"/>
            <a:r>
              <a:rPr lang="en-GB" altLang="x-none" dirty="0"/>
              <a:t>In 1977, Smith and Glass statistically aggregated the findings of 375 psychotherapy outcome studies to </a:t>
            </a:r>
            <a:r>
              <a:rPr lang="en-GB" altLang="x-none" dirty="0" smtClean="0"/>
              <a:t>show </a:t>
            </a:r>
            <a:r>
              <a:rPr lang="en-GB" altLang="x-none" dirty="0"/>
              <a:t>Eysenck </a:t>
            </a:r>
            <a:r>
              <a:rPr lang="en-GB" altLang="x-none" dirty="0" smtClean="0"/>
              <a:t>is wrong and psychotherapy </a:t>
            </a:r>
            <a:r>
              <a:rPr lang="en-GB" altLang="x-none" dirty="0"/>
              <a:t>is indeed effective.</a:t>
            </a:r>
          </a:p>
          <a:p>
            <a:pPr lvl="2" algn="just"/>
            <a:r>
              <a:rPr lang="en-GB" altLang="x-none" dirty="0"/>
              <a:t>In their research, they used a method developed by Glass (1976), called “not for want of a less pretentious name - the </a:t>
            </a:r>
            <a:r>
              <a:rPr lang="en-GB" altLang="x-none" b="1" dirty="0">
                <a:solidFill>
                  <a:srgbClr val="FF0000"/>
                </a:solidFill>
              </a:rPr>
              <a:t>meta-analysis of research</a:t>
            </a:r>
            <a:r>
              <a:rPr lang="en-GB" altLang="x-none" dirty="0"/>
              <a:t>” (p. 3).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26" y="1417638"/>
            <a:ext cx="3950898" cy="4743279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25776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732547"/>
          </a:xfrm>
        </p:spPr>
        <p:txBody>
          <a:bodyPr/>
          <a:lstStyle/>
          <a:p>
            <a:r>
              <a:rPr lang="en-US" dirty="0" smtClean="0"/>
              <a:t>Meta-Analysis vs. Narrative Reviews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99" y="1074546"/>
            <a:ext cx="4037162" cy="5051617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Let us review this sample of studies and answer the following two questions:</a:t>
            </a:r>
          </a:p>
          <a:p>
            <a:pPr algn="just"/>
            <a:endParaRPr lang="en-US" sz="1800" dirty="0" smtClean="0"/>
          </a:p>
          <a:p>
            <a:pPr marL="403225" lvl="1" indent="-317500" algn="just"/>
            <a:r>
              <a:rPr lang="en-US" sz="1800" i="1" dirty="0" smtClean="0"/>
              <a:t>What </a:t>
            </a:r>
            <a:r>
              <a:rPr lang="en-US" sz="1800" i="1" dirty="0"/>
              <a:t>tentative conclusions </a:t>
            </a:r>
            <a:r>
              <a:rPr lang="en-US" sz="1800" i="1" dirty="0" smtClean="0"/>
              <a:t>can you reach </a:t>
            </a:r>
            <a:r>
              <a:rPr lang="en-US" sz="1800" i="1" dirty="0"/>
              <a:t>about the relationship between </a:t>
            </a:r>
            <a:r>
              <a:rPr lang="en-US" sz="1800" i="1" dirty="0" smtClean="0">
                <a:solidFill>
                  <a:srgbClr val="FF0000"/>
                </a:solidFill>
              </a:rPr>
              <a:t>job satisfaction </a:t>
            </a:r>
            <a:r>
              <a:rPr lang="en-US" sz="1800" i="1" dirty="0"/>
              <a:t>and </a:t>
            </a:r>
            <a:r>
              <a:rPr lang="en-US" sz="1800" i="1" dirty="0">
                <a:solidFill>
                  <a:srgbClr val="FF0000"/>
                </a:solidFill>
              </a:rPr>
              <a:t>organizational </a:t>
            </a:r>
            <a:r>
              <a:rPr lang="en-US" sz="1800" i="1" dirty="0" smtClean="0">
                <a:solidFill>
                  <a:srgbClr val="FF0000"/>
                </a:solidFill>
              </a:rPr>
              <a:t>commitment</a:t>
            </a:r>
            <a:r>
              <a:rPr lang="en-US" sz="1800" i="1" dirty="0" smtClean="0">
                <a:solidFill>
                  <a:srgbClr val="0432FF"/>
                </a:solidFill>
              </a:rPr>
              <a:t>?</a:t>
            </a:r>
            <a:r>
              <a:rPr lang="en-US" sz="1800" i="1" dirty="0" smtClean="0"/>
              <a:t> </a:t>
            </a:r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r>
              <a:rPr lang="en-US" sz="1800" i="1" dirty="0" smtClean="0"/>
              <a:t>What variables do you believe </a:t>
            </a:r>
            <a:r>
              <a:rPr lang="en-US" sz="1800" i="1" dirty="0" smtClean="0">
                <a:solidFill>
                  <a:srgbClr val="FF0000"/>
                </a:solidFill>
              </a:rPr>
              <a:t>moderate</a:t>
            </a:r>
            <a:r>
              <a:rPr lang="en-US" sz="1800" i="1" dirty="0" smtClean="0"/>
              <a:t> this relationship?</a:t>
            </a:r>
            <a:endParaRPr lang="en-US" sz="1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463" y="920337"/>
            <a:ext cx="4718649" cy="5851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424" y="649548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37826" y="936099"/>
            <a:ext cx="474453" cy="5489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72664" y="936098"/>
            <a:ext cx="3476448" cy="54892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3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6" y="1048685"/>
            <a:ext cx="6383548" cy="5135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68312" y="613183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1031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preceding review was conducted using standard </a:t>
            </a:r>
            <a:r>
              <a:rPr lang="en-US" dirty="0" smtClean="0"/>
              <a:t>review </a:t>
            </a:r>
            <a:r>
              <a:rPr lang="en-US" dirty="0"/>
              <a:t>practices that </a:t>
            </a:r>
            <a:r>
              <a:rPr lang="en-US" dirty="0" smtClean="0"/>
              <a:t>characterize many </a:t>
            </a:r>
            <a:r>
              <a:rPr lang="en-US" dirty="0"/>
              <a:t>narrative </a:t>
            </a:r>
            <a:r>
              <a:rPr lang="en-US" dirty="0" smtClean="0"/>
              <a:t>reviews in social sciences, including information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83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4546"/>
            <a:ext cx="8419381" cy="505161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There is one problem, though:</a:t>
            </a:r>
          </a:p>
          <a:p>
            <a:pPr lvl="1"/>
            <a:r>
              <a:rPr lang="en-US" dirty="0"/>
              <a:t>The data were constructed by a Monte Carlo </a:t>
            </a:r>
            <a:r>
              <a:rPr lang="en-US" dirty="0" smtClean="0"/>
              <a:t>simulation:</a:t>
            </a:r>
          </a:p>
          <a:p>
            <a:pPr lvl="2"/>
            <a:r>
              <a:rPr lang="en-US" dirty="0" smtClean="0"/>
              <a:t>The mean population </a:t>
            </a:r>
            <a:r>
              <a:rPr lang="en-US" dirty="0"/>
              <a:t>correlation was </a:t>
            </a:r>
            <a:r>
              <a:rPr lang="en-US" dirty="0" smtClean="0"/>
              <a:t>assumed </a:t>
            </a:r>
            <a:r>
              <a:rPr lang="en-US" dirty="0"/>
              <a:t>to be </a:t>
            </a:r>
            <a:r>
              <a:rPr lang="en-US" dirty="0" smtClean="0"/>
              <a:t>0.33.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sample </a:t>
            </a:r>
            <a:r>
              <a:rPr lang="en-US" dirty="0" smtClean="0"/>
              <a:t>sizes were randomly </a:t>
            </a:r>
            <a:r>
              <a:rPr lang="en-US" dirty="0"/>
              <a:t>chosen from a distribution centering about </a:t>
            </a:r>
            <a:r>
              <a:rPr lang="en-US" dirty="0" smtClean="0"/>
              <a:t>40.</a:t>
            </a:r>
          </a:p>
          <a:p>
            <a:pPr lvl="2"/>
            <a:r>
              <a:rPr lang="en-US" dirty="0" smtClean="0"/>
              <a:t>The study characteristics were assigned randomly.</a:t>
            </a:r>
          </a:p>
          <a:p>
            <a:pPr lvl="1"/>
            <a:r>
              <a:rPr lang="en-US" dirty="0" smtClean="0"/>
              <a:t>In other words,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The variation among correlations is </a:t>
            </a:r>
            <a:r>
              <a:rPr lang="en-US" dirty="0">
                <a:solidFill>
                  <a:srgbClr val="FF0000"/>
                </a:solidFill>
              </a:rPr>
              <a:t>entirely the result of </a:t>
            </a:r>
            <a:r>
              <a:rPr lang="en-US" b="1" dirty="0" smtClean="0">
                <a:solidFill>
                  <a:srgbClr val="FF0000"/>
                </a:solidFill>
              </a:rPr>
              <a:t>sampling error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The moderator effects </a:t>
            </a:r>
            <a:r>
              <a:rPr lang="en-US" dirty="0" smtClean="0">
                <a:solidFill>
                  <a:srgbClr val="FF0000"/>
                </a:solidFill>
              </a:rPr>
              <a:t>that appear </a:t>
            </a:r>
            <a:r>
              <a:rPr lang="en-US" dirty="0">
                <a:solidFill>
                  <a:srgbClr val="FF0000"/>
                </a:solidFill>
              </a:rPr>
              <a:t>to make </a:t>
            </a:r>
            <a:r>
              <a:rPr lang="en-US" dirty="0" smtClean="0">
                <a:solidFill>
                  <a:srgbClr val="FF0000"/>
                </a:solidFill>
              </a:rPr>
              <a:t>sense are </a:t>
            </a:r>
            <a:r>
              <a:rPr lang="en-US" dirty="0">
                <a:solidFill>
                  <a:srgbClr val="FF0000"/>
                </a:solidFill>
              </a:rPr>
              <a:t>purely the </a:t>
            </a:r>
            <a:r>
              <a:rPr lang="en-US" dirty="0" smtClean="0">
                <a:solidFill>
                  <a:srgbClr val="FF0000"/>
                </a:solidFill>
              </a:rPr>
              <a:t>results of </a:t>
            </a:r>
            <a:r>
              <a:rPr lang="en-US" b="1" dirty="0">
                <a:solidFill>
                  <a:srgbClr val="FF0000"/>
                </a:solidFill>
              </a:rPr>
              <a:t>chance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2"/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/>
              <a:t>The crucial </a:t>
            </a:r>
            <a:r>
              <a:rPr lang="en-US" dirty="0" smtClean="0"/>
              <a:t>lesson: “conflicting results in </a:t>
            </a:r>
            <a:r>
              <a:rPr lang="en-US" dirty="0"/>
              <a:t>the literature” may be entirely </a:t>
            </a:r>
            <a:r>
              <a:rPr lang="en-US" dirty="0" smtClean="0"/>
              <a:t>artefactual.</a:t>
            </a:r>
          </a:p>
          <a:p>
            <a:pPr lvl="1"/>
            <a:r>
              <a:rPr lang="en-US" dirty="0" smtClean="0"/>
              <a:t>Meta-Analysis can help us detect them and differentiate between artefactual and systematic sources of variations in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029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Meta-Analysis vs. Single 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</a:t>
            </a:r>
            <a:r>
              <a:rPr lang="en-US" dirty="0"/>
              <a:t>studies </a:t>
            </a:r>
            <a:r>
              <a:rPr lang="en-US" dirty="0" smtClean="0"/>
              <a:t>may not be </a:t>
            </a:r>
            <a:r>
              <a:rPr lang="en-US" dirty="0"/>
              <a:t>sufficient </a:t>
            </a:r>
            <a:r>
              <a:rPr lang="en-US" dirty="0" smtClean="0"/>
              <a:t>to determine </a:t>
            </a:r>
            <a:r>
              <a:rPr lang="en-US" dirty="0"/>
              <a:t>the utility of an </a:t>
            </a:r>
            <a:r>
              <a:rPr lang="en-US" dirty="0" smtClean="0"/>
              <a:t>intervention or </a:t>
            </a:r>
            <a:r>
              <a:rPr lang="en-US" dirty="0"/>
              <a:t>a hypothesis’ </a:t>
            </a:r>
            <a:r>
              <a:rPr lang="en-US" dirty="0" smtClean="0"/>
              <a:t>validity.</a:t>
            </a:r>
          </a:p>
          <a:p>
            <a:pPr lvl="1"/>
            <a:r>
              <a:rPr lang="en-US" dirty="0" smtClean="0"/>
              <a:t>E.g., </a:t>
            </a:r>
            <a:r>
              <a:rPr lang="en-US" dirty="0"/>
              <a:t>‘The Great Debate’ </a:t>
            </a:r>
            <a:r>
              <a:rPr lang="en-US" dirty="0" smtClean="0"/>
              <a:t>on Psychotherapy’s effectiveness (</a:t>
            </a:r>
            <a:r>
              <a:rPr lang="en-US" dirty="0"/>
              <a:t>1952-1978) </a:t>
            </a:r>
            <a:r>
              <a:rPr lang="en-US" i="1" dirty="0"/>
              <a:t>(</a:t>
            </a:r>
            <a:r>
              <a:rPr lang="en-US" i="1" dirty="0" err="1"/>
              <a:t>Lipsey</a:t>
            </a:r>
            <a:r>
              <a:rPr lang="en-US" i="1" dirty="0"/>
              <a:t> and Wilson, 2001</a:t>
            </a:r>
            <a:r>
              <a:rPr lang="en-US" i="1" dirty="0" smtClean="0"/>
              <a:t>)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Single studies are limited in their </a:t>
            </a:r>
            <a:r>
              <a:rPr lang="en-US" b="1" dirty="0" smtClean="0"/>
              <a:t>statistical power</a:t>
            </a:r>
            <a:r>
              <a:rPr lang="en-US" dirty="0" smtClean="0"/>
              <a:t>, unless the sample size is very large, which is not common.</a:t>
            </a:r>
          </a:p>
          <a:p>
            <a:pPr lvl="2"/>
            <a:r>
              <a:rPr lang="en-US" dirty="0" smtClean="0"/>
              <a:t>Low statistical power can increase the error rates well beyond the 5%.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Meta-Analysis can be used </a:t>
            </a:r>
            <a:r>
              <a:rPr lang="en-US" dirty="0"/>
              <a:t>as original </a:t>
            </a:r>
            <a:r>
              <a:rPr lang="en-US" dirty="0" smtClean="0"/>
              <a:t>publications, highlighting directions for future research on a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68907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28B1E38-2491-4E43-95AE-39BBABFC3C68}" type="slidenum">
              <a:rPr lang="en-GB" altLang="x-none"/>
              <a:pPr/>
              <a:t>10</a:t>
            </a:fld>
            <a:endParaRPr lang="en-GB" altLang="x-none"/>
          </a:p>
        </p:txBody>
      </p:sp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When Can You Do Meta-analysis?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7638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altLang="x-none" dirty="0"/>
              <a:t>Meta-analysis is applicable to collections of research that</a:t>
            </a:r>
          </a:p>
          <a:p>
            <a:pPr lvl="1"/>
            <a:r>
              <a:rPr lang="en-GB" altLang="x-none" dirty="0"/>
              <a:t>Are </a:t>
            </a:r>
            <a:r>
              <a:rPr lang="en-GB" altLang="x-none" dirty="0" smtClean="0"/>
              <a:t>empirical, </a:t>
            </a:r>
            <a:r>
              <a:rPr lang="en-GB" altLang="x-none" dirty="0"/>
              <a:t>rather than </a:t>
            </a:r>
            <a:r>
              <a:rPr lang="en-GB" altLang="x-none" dirty="0" smtClean="0"/>
              <a:t>theoretical.</a:t>
            </a:r>
            <a:endParaRPr lang="en-GB" altLang="x-none" dirty="0"/>
          </a:p>
          <a:p>
            <a:pPr lvl="1"/>
            <a:r>
              <a:rPr lang="en-GB" altLang="x-none" dirty="0"/>
              <a:t>Produce quantitative results, rather than qualitative </a:t>
            </a:r>
            <a:r>
              <a:rPr lang="en-GB" altLang="x-none" dirty="0" smtClean="0"/>
              <a:t>findings.</a:t>
            </a:r>
            <a:endParaRPr lang="en-GB" altLang="x-none" dirty="0"/>
          </a:p>
          <a:p>
            <a:pPr lvl="1"/>
            <a:r>
              <a:rPr lang="en-GB" altLang="x-none" dirty="0"/>
              <a:t>Examine the same constructs and </a:t>
            </a:r>
            <a:r>
              <a:rPr lang="en-GB" altLang="x-none" dirty="0" smtClean="0"/>
              <a:t>relationships.</a:t>
            </a:r>
            <a:endParaRPr lang="en-GB" altLang="x-none" dirty="0"/>
          </a:p>
          <a:p>
            <a:pPr lvl="1"/>
            <a:r>
              <a:rPr lang="en-GB" altLang="x-none" dirty="0" smtClean="0"/>
              <a:t>Provide </a:t>
            </a:r>
            <a:r>
              <a:rPr lang="en-GB" altLang="x-none" dirty="0"/>
              <a:t>findings that can be configured in a comparable statistical </a:t>
            </a:r>
            <a:r>
              <a:rPr lang="en-GB" altLang="x-none" dirty="0" smtClean="0"/>
              <a:t>form as effect sizes. </a:t>
            </a:r>
          </a:p>
          <a:p>
            <a:pPr lvl="1"/>
            <a:r>
              <a:rPr lang="en-GB" altLang="x-none" dirty="0" smtClean="0"/>
              <a:t>Are </a:t>
            </a:r>
            <a:r>
              <a:rPr lang="en-GB" altLang="x-none" dirty="0"/>
              <a:t>“comparable” given the question at </a:t>
            </a:r>
            <a:r>
              <a:rPr lang="en-GB" altLang="x-none" dirty="0" smtClean="0"/>
              <a:t>hand.</a:t>
            </a:r>
            <a:endParaRPr lang="en-GB" altLang="x-none" dirty="0"/>
          </a:p>
          <a:p>
            <a:endParaRPr lang="en-GB" altLang="x-none" dirty="0"/>
          </a:p>
        </p:txBody>
      </p:sp>
      <p:sp>
        <p:nvSpPr>
          <p:cNvPr id="2" name="Rectangle 1"/>
          <p:cNvSpPr/>
          <p:nvPr/>
        </p:nvSpPr>
        <p:spPr>
          <a:xfrm>
            <a:off x="6839204" y="4512416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06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Eight Steps to Conduct a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Problem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Establishing </a:t>
            </a:r>
            <a:r>
              <a:rPr lang="en-US" dirty="0"/>
              <a:t>Inclusion/Exclusion Criteria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Literature </a:t>
            </a:r>
            <a:r>
              <a:rPr lang="en-US" dirty="0"/>
              <a:t>Search and Studies Retrieval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Coding Data and Calculating Effect </a:t>
            </a:r>
            <a:r>
              <a:rPr lang="en-US" dirty="0"/>
              <a:t>Sizes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Doing </a:t>
            </a:r>
            <a:r>
              <a:rPr lang="en-US" dirty="0"/>
              <a:t>the Basic Meta-Analysis </a:t>
            </a:r>
          </a:p>
          <a:p>
            <a:pPr marL="857250" lvl="1" indent="-457200"/>
            <a:r>
              <a:rPr lang="en-US" dirty="0" smtClean="0"/>
              <a:t>Decide on Fixed-Effects </a:t>
            </a:r>
            <a:r>
              <a:rPr lang="en-US" dirty="0"/>
              <a:t>vs. Random-Effects Meta-Analysis </a:t>
            </a:r>
          </a:p>
          <a:p>
            <a:pPr marL="857250" lvl="1" indent="-457200"/>
            <a:r>
              <a:rPr lang="en-US" dirty="0" smtClean="0"/>
              <a:t>Conduct the Basic Meta-Analysis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Moderation </a:t>
            </a:r>
            <a:r>
              <a:rPr lang="en-US" dirty="0"/>
              <a:t>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Generates the Plots (as needed)</a:t>
            </a:r>
          </a:p>
          <a:p>
            <a:pPr marL="857250" lvl="1" indent="-457200"/>
            <a:r>
              <a:rPr lang="en-US" dirty="0" smtClean="0"/>
              <a:t>Estimating </a:t>
            </a:r>
            <a:r>
              <a:rPr lang="en-US" dirty="0" smtClean="0"/>
              <a:t>the Publication </a:t>
            </a:r>
            <a:r>
              <a:rPr lang="en-US" dirty="0" smtClean="0"/>
              <a:t>Bias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3027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CF9A7B-E533-8A41-AC4B-D2EE3C539E18}" type="slidenum">
              <a:rPr lang="en-GB" altLang="x-none"/>
              <a:pPr/>
              <a:t>12</a:t>
            </a:fld>
            <a:endParaRPr lang="en-GB" altLang="x-none"/>
          </a:p>
        </p:txBody>
      </p:sp>
      <p:sp>
        <p:nvSpPr>
          <p:cNvPr id="143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3902"/>
            <a:ext cx="8229600" cy="681487"/>
          </a:xfrm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800" dirty="0" smtClean="0"/>
              <a:t>Problem Definition</a:t>
            </a:r>
            <a:endParaRPr lang="en-GB" altLang="x-none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845390"/>
            <a:ext cx="8324491" cy="5400136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GB" altLang="x-none" dirty="0"/>
              <a:t>Forms of </a:t>
            </a:r>
            <a:r>
              <a:rPr lang="en-GB" altLang="x-none" dirty="0" smtClean="0"/>
              <a:t>Problems Suitable </a:t>
            </a:r>
            <a:r>
              <a:rPr lang="en-GB" altLang="x-none" dirty="0"/>
              <a:t>to </a:t>
            </a:r>
            <a:r>
              <a:rPr lang="en-GB" altLang="x-none" dirty="0" smtClean="0"/>
              <a:t>a Meta-analysis:</a:t>
            </a:r>
          </a:p>
          <a:p>
            <a:pPr marL="114300" indent="0" algn="ctr">
              <a:buNone/>
            </a:pPr>
            <a:r>
              <a:rPr lang="en-GB" altLang="x-none" sz="1500" dirty="0" smtClean="0"/>
              <a:t>(determine the choice of effect size)</a:t>
            </a:r>
          </a:p>
          <a:p>
            <a:pPr marL="114300" indent="0" algn="ctr">
              <a:buNone/>
            </a:pPr>
            <a:endParaRPr lang="en-GB" altLang="x-none" sz="1500" dirty="0" smtClean="0"/>
          </a:p>
          <a:p>
            <a:pPr lvl="1"/>
            <a:r>
              <a:rPr lang="en-GB" altLang="x-none" b="1" u="sng" dirty="0"/>
              <a:t>Association between Variables</a:t>
            </a:r>
          </a:p>
          <a:p>
            <a:pPr lvl="2"/>
            <a:r>
              <a:rPr lang="en-GB" altLang="x-none" dirty="0"/>
              <a:t>What is the correlation between system use and job satisfaction?</a:t>
            </a:r>
          </a:p>
          <a:p>
            <a:pPr lvl="2"/>
            <a:r>
              <a:rPr lang="en-GB" altLang="x-none" dirty="0"/>
              <a:t>Measurement Research</a:t>
            </a:r>
          </a:p>
          <a:p>
            <a:pPr lvl="3"/>
            <a:r>
              <a:rPr lang="en-GB" altLang="x-none" dirty="0"/>
              <a:t>Validation Generalization.</a:t>
            </a:r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Central Tendency Description</a:t>
            </a:r>
            <a:endParaRPr lang="en-GB" altLang="x-none" dirty="0"/>
          </a:p>
          <a:p>
            <a:pPr lvl="2"/>
            <a:r>
              <a:rPr lang="en-GB" altLang="x-none" dirty="0"/>
              <a:t>What is the mean level of satisfaction among </a:t>
            </a:r>
            <a:r>
              <a:rPr lang="en-GB" altLang="x-none" dirty="0" smtClean="0"/>
              <a:t>users of a system?</a:t>
            </a:r>
          </a:p>
          <a:p>
            <a:pPr lvl="2"/>
            <a:endParaRPr lang="en-GB" altLang="x-none" dirty="0"/>
          </a:p>
          <a:p>
            <a:pPr lvl="1"/>
            <a:r>
              <a:rPr lang="en-GB" altLang="x-none" dirty="0" smtClean="0"/>
              <a:t>Pre-Post Contrasts</a:t>
            </a:r>
            <a:endParaRPr lang="en-GB" altLang="x-none" dirty="0"/>
          </a:p>
          <a:p>
            <a:pPr lvl="2"/>
            <a:r>
              <a:rPr lang="en-GB" altLang="x-none" dirty="0"/>
              <a:t>How did </a:t>
            </a:r>
            <a:r>
              <a:rPr lang="en-GB" altLang="x-none" dirty="0" smtClean="0"/>
              <a:t>employees’ satisfaction </a:t>
            </a:r>
            <a:r>
              <a:rPr lang="en-GB" altLang="x-none" dirty="0"/>
              <a:t>levels change before and after </a:t>
            </a:r>
            <a:r>
              <a:rPr lang="en-GB" altLang="x-none" dirty="0" smtClean="0"/>
              <a:t>adopting a system?</a:t>
            </a:r>
            <a:endParaRPr lang="en-GB" altLang="x-none" dirty="0"/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Group Contrasts</a:t>
            </a:r>
            <a:endParaRPr lang="en-GB" altLang="x-none" dirty="0"/>
          </a:p>
          <a:p>
            <a:pPr lvl="2"/>
            <a:r>
              <a:rPr lang="en-GB" altLang="x-none" dirty="0" smtClean="0"/>
              <a:t>Are employees who are using a system more </a:t>
            </a:r>
            <a:r>
              <a:rPr lang="en-GB" altLang="x-none" dirty="0"/>
              <a:t>satisfied than </a:t>
            </a:r>
            <a:r>
              <a:rPr lang="en-GB" altLang="x-none" dirty="0" smtClean="0"/>
              <a:t>non-users?</a:t>
            </a:r>
            <a:endParaRPr lang="en-GB" altLang="x-none" dirty="0"/>
          </a:p>
        </p:txBody>
      </p:sp>
      <p:sp>
        <p:nvSpPr>
          <p:cNvPr id="7" name="Rectangle 6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4490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 smtClean="0"/>
              <a:t>Components </a:t>
            </a:r>
            <a:r>
              <a:rPr lang="en-US" dirty="0"/>
              <a:t>of a detailed </a:t>
            </a:r>
            <a:r>
              <a:rPr lang="en-US" dirty="0" smtClean="0"/>
              <a:t>criteria:</a:t>
            </a:r>
            <a:endParaRPr lang="en-US" dirty="0"/>
          </a:p>
          <a:p>
            <a:pPr lvl="1"/>
            <a:r>
              <a:rPr lang="en-US" dirty="0" smtClean="0"/>
              <a:t>Distinguishing Features</a:t>
            </a:r>
          </a:p>
          <a:p>
            <a:pPr lvl="2"/>
            <a:r>
              <a:rPr lang="en-US" dirty="0" smtClean="0"/>
              <a:t>E.g., post-adoption studies.</a:t>
            </a:r>
            <a:endParaRPr lang="en-US" dirty="0"/>
          </a:p>
          <a:p>
            <a:pPr lvl="1"/>
            <a:r>
              <a:rPr lang="en-US" dirty="0" smtClean="0"/>
              <a:t>Research respondents</a:t>
            </a:r>
          </a:p>
          <a:p>
            <a:pPr lvl="2"/>
            <a:r>
              <a:rPr lang="en-US" dirty="0" smtClean="0"/>
              <a:t>E.g., Studies of online banking users.</a:t>
            </a:r>
            <a:endParaRPr lang="en-US" dirty="0"/>
          </a:p>
          <a:p>
            <a:pPr lvl="1"/>
            <a:r>
              <a:rPr lang="en-US" dirty="0" smtClean="0"/>
              <a:t>Key </a:t>
            </a:r>
            <a:r>
              <a:rPr lang="en-US" dirty="0"/>
              <a:t>variables</a:t>
            </a:r>
          </a:p>
          <a:p>
            <a:pPr lvl="1"/>
            <a:r>
              <a:rPr lang="en-US" dirty="0" smtClean="0"/>
              <a:t>Research methods</a:t>
            </a:r>
          </a:p>
          <a:p>
            <a:pPr lvl="2"/>
            <a:r>
              <a:rPr lang="en-US" dirty="0" smtClean="0"/>
              <a:t>E.g., Survey-based research.</a:t>
            </a:r>
            <a:endParaRPr lang="en-US" dirty="0"/>
          </a:p>
          <a:p>
            <a:pPr lvl="1"/>
            <a:r>
              <a:rPr lang="en-US" dirty="0" smtClean="0"/>
              <a:t>Cultural </a:t>
            </a:r>
            <a:r>
              <a:rPr lang="en-US" dirty="0"/>
              <a:t>and linguistic range</a:t>
            </a:r>
          </a:p>
          <a:p>
            <a:pPr lvl="1"/>
            <a:r>
              <a:rPr lang="en-US" dirty="0" smtClean="0"/>
              <a:t>Time </a:t>
            </a:r>
            <a:r>
              <a:rPr lang="en-US" dirty="0"/>
              <a:t>frame</a:t>
            </a:r>
          </a:p>
          <a:p>
            <a:pPr lvl="1"/>
            <a:r>
              <a:rPr lang="en-US" dirty="0" smtClean="0"/>
              <a:t>Publication types</a:t>
            </a:r>
          </a:p>
          <a:p>
            <a:pPr lvl="2"/>
            <a:endParaRPr lang="en-US" sz="1050" dirty="0"/>
          </a:p>
          <a:p>
            <a:r>
              <a:rPr lang="en-US" dirty="0"/>
              <a:t>Refine the criteria as you interact with the literature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8461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/>
              <a:t>Include or exclude low quality studies?</a:t>
            </a:r>
          </a:p>
          <a:p>
            <a:pPr lvl="1"/>
            <a:r>
              <a:rPr lang="en-US" dirty="0"/>
              <a:t>The findings of all studies are potentially in error </a:t>
            </a:r>
            <a:endParaRPr lang="en-US" dirty="0" smtClean="0"/>
          </a:p>
          <a:p>
            <a:pPr lvl="2"/>
            <a:r>
              <a:rPr lang="en-US" dirty="0" smtClean="0"/>
              <a:t>Methodological </a:t>
            </a:r>
            <a:r>
              <a:rPr lang="en-US" dirty="0"/>
              <a:t>quality is a continuum, not a </a:t>
            </a:r>
            <a:r>
              <a:rPr lang="en-US" dirty="0" smtClean="0"/>
              <a:t>dichotomy.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Being too restrictive may restrict ability to </a:t>
            </a:r>
            <a:r>
              <a:rPr lang="en-US" dirty="0" smtClean="0"/>
              <a:t>generalize.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Being too inclusive may weaken the confidence that can be placed in the </a:t>
            </a:r>
            <a:r>
              <a:rPr lang="en-US" dirty="0" smtClean="0"/>
              <a:t>findings.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Methodological quality is often in the “eye-of-the-beholder</a:t>
            </a:r>
            <a:r>
              <a:rPr lang="en-US" dirty="0" smtClean="0"/>
              <a:t>”.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must strike a balance that is appropriate to your research </a:t>
            </a:r>
            <a:r>
              <a:rPr lang="en-US" dirty="0" smtClean="0"/>
              <a:t>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9521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34050"/>
            <a:ext cx="8367623" cy="54577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400" b="1" u="sng" dirty="0">
                <a:solidFill>
                  <a:srgbClr val="C00000"/>
                </a:solidFill>
              </a:rPr>
              <a:t>Search </a:t>
            </a:r>
            <a:r>
              <a:rPr lang="en-US" sz="3400" b="1" u="sng" dirty="0" smtClean="0">
                <a:solidFill>
                  <a:srgbClr val="C00000"/>
                </a:solidFill>
              </a:rPr>
              <a:t>Far </a:t>
            </a:r>
            <a:r>
              <a:rPr lang="en-US" sz="3400" b="1" u="sng" dirty="0">
                <a:solidFill>
                  <a:srgbClr val="C00000"/>
                </a:solidFill>
              </a:rPr>
              <a:t>&amp; </a:t>
            </a:r>
            <a:r>
              <a:rPr lang="en-US" sz="3400" b="1" u="sng" dirty="0" smtClean="0">
                <a:solidFill>
                  <a:srgbClr val="C00000"/>
                </a:solidFill>
              </a:rPr>
              <a:t>Wide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(not </a:t>
            </a:r>
            <a:r>
              <a:rPr lang="en-US" dirty="0">
                <a:solidFill>
                  <a:srgbClr val="C00000"/>
                </a:solidFill>
              </a:rPr>
              <a:t>just </a:t>
            </a:r>
            <a:r>
              <a:rPr lang="en-US" dirty="0" smtClean="0">
                <a:solidFill>
                  <a:srgbClr val="C00000"/>
                </a:solidFill>
              </a:rPr>
              <a:t>published studies)</a:t>
            </a:r>
          </a:p>
          <a:p>
            <a:pPr marL="0" indent="0" algn="ctr">
              <a:buNone/>
            </a:pPr>
            <a:endParaRPr lang="en-US" sz="2600" dirty="0" smtClean="0"/>
          </a:p>
          <a:p>
            <a:r>
              <a:rPr lang="en-US" dirty="0" smtClean="0"/>
              <a:t>You </a:t>
            </a:r>
            <a:r>
              <a:rPr lang="en-US" dirty="0"/>
              <a:t>should have EVERY relevant article </a:t>
            </a:r>
            <a:endParaRPr lang="en-US" dirty="0" smtClean="0"/>
          </a:p>
          <a:p>
            <a:pPr lvl="1"/>
            <a:r>
              <a:rPr lang="en-US" dirty="0" smtClean="0"/>
              <a:t>Census</a:t>
            </a:r>
            <a:r>
              <a:rPr lang="en-US" dirty="0"/>
              <a:t>, not a </a:t>
            </a:r>
            <a:r>
              <a:rPr lang="en-US" dirty="0" smtClean="0"/>
              <a:t>sample.</a:t>
            </a:r>
          </a:p>
          <a:p>
            <a:pPr lvl="1"/>
            <a:r>
              <a:rPr lang="en-US" dirty="0"/>
              <a:t>Look for conference presentations and </a:t>
            </a:r>
            <a:r>
              <a:rPr lang="en-US" dirty="0" smtClean="0"/>
              <a:t>proceedings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Search </a:t>
            </a:r>
            <a:r>
              <a:rPr lang="en-US" dirty="0"/>
              <a:t>in electronic reference </a:t>
            </a:r>
            <a:r>
              <a:rPr lang="en-US" dirty="0" smtClean="0"/>
              <a:t>databases.</a:t>
            </a:r>
          </a:p>
          <a:p>
            <a:endParaRPr lang="en-US" dirty="0" smtClean="0"/>
          </a:p>
          <a:p>
            <a:r>
              <a:rPr lang="en-US" dirty="0" smtClean="0"/>
              <a:t>Search bibliography </a:t>
            </a:r>
            <a:r>
              <a:rPr lang="en-US" dirty="0"/>
              <a:t>of previous </a:t>
            </a:r>
            <a:r>
              <a:rPr lang="en-US" dirty="0" smtClean="0"/>
              <a:t>reviews and </a:t>
            </a:r>
            <a:r>
              <a:rPr lang="en-US" dirty="0"/>
              <a:t>pertinent primary </a:t>
            </a:r>
            <a:r>
              <a:rPr lang="en-US" dirty="0" smtClean="0"/>
              <a:t>studies.</a:t>
            </a:r>
          </a:p>
          <a:p>
            <a:endParaRPr lang="en-US" dirty="0" smtClean="0"/>
          </a:p>
          <a:p>
            <a:r>
              <a:rPr lang="en-US" dirty="0" smtClean="0"/>
              <a:t>Hand </a:t>
            </a:r>
            <a:r>
              <a:rPr lang="en-US" dirty="0"/>
              <a:t>search journals that </a:t>
            </a:r>
            <a:r>
              <a:rPr lang="en-US" dirty="0" smtClean="0"/>
              <a:t>frequently publish </a:t>
            </a:r>
            <a:r>
              <a:rPr lang="en-US" dirty="0"/>
              <a:t>on the </a:t>
            </a:r>
            <a:r>
              <a:rPr lang="en-US" dirty="0" smtClean="0"/>
              <a:t>topic.</a:t>
            </a:r>
          </a:p>
          <a:p>
            <a:pPr lvl="1"/>
            <a:r>
              <a:rPr lang="en-US" dirty="0" smtClean="0"/>
              <a:t>AND the important journals in the field.</a:t>
            </a:r>
          </a:p>
          <a:p>
            <a:endParaRPr lang="en-US" dirty="0" smtClean="0"/>
          </a:p>
          <a:p>
            <a:r>
              <a:rPr lang="en-US" dirty="0" smtClean="0"/>
              <a:t>Try </a:t>
            </a:r>
            <a:r>
              <a:rPr lang="en-US" dirty="0"/>
              <a:t>to find “</a:t>
            </a:r>
            <a:r>
              <a:rPr lang="en-US" dirty="0" smtClean="0"/>
              <a:t>special issues” on the topic.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Post to </a:t>
            </a:r>
            <a:r>
              <a:rPr lang="en-US" dirty="0" err="1" smtClean="0"/>
              <a:t>Listservs</a:t>
            </a:r>
            <a:r>
              <a:rPr lang="en-US" dirty="0" smtClean="0"/>
              <a:t> and relevant forums for unpublished work.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Contact </a:t>
            </a:r>
            <a:r>
              <a:rPr lang="en-US" dirty="0" smtClean="0"/>
              <a:t>authors </a:t>
            </a:r>
            <a:r>
              <a:rPr lang="en-US" dirty="0"/>
              <a:t>who have published </a:t>
            </a:r>
            <a:r>
              <a:rPr lang="en-US" dirty="0" smtClean="0"/>
              <a:t>on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33745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294" y="864236"/>
            <a:ext cx="5641676" cy="552148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27630" y="5061911"/>
            <a:ext cx="298474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Moher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Liberati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A,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Tetzlaff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J, Altman DG, The PRISMA Group (2009). Preferred Reporting Items for Systematic Reviews and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Meta Analyses: The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PRISMA Statement.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PLoS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Med 6(7): e1000097.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doi:10.1371/journal.pmed1000097 </a:t>
            </a:r>
          </a:p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  <a:hlinkClick r:id="rId3"/>
              </a:rPr>
              <a:t>www.prisma-statement.org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. 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586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27" y="1047387"/>
            <a:ext cx="8799968" cy="5281804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What to code – An important decision</a:t>
            </a:r>
            <a:r>
              <a:rPr lang="mr-IN" sz="2800" b="1" u="sng" dirty="0" smtClean="0">
                <a:solidFill>
                  <a:srgbClr val="C00000"/>
                </a:solidFill>
              </a:rPr>
              <a:t>…</a:t>
            </a:r>
            <a:endParaRPr lang="en-US" sz="2800" b="1" u="sng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600" dirty="0" smtClean="0"/>
              <a:t>Decide </a:t>
            </a:r>
            <a:r>
              <a:rPr lang="en-US" sz="2600" dirty="0"/>
              <a:t>which characteristics you want to </a:t>
            </a:r>
            <a:r>
              <a:rPr lang="en-US" sz="2600" dirty="0" smtClean="0"/>
              <a:t>code in each study.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Effect Sizes to </a:t>
            </a:r>
            <a:r>
              <a:rPr lang="en-US" dirty="0" smtClean="0"/>
              <a:t>Code.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Depends on Problem Definition.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potential Moderators to </a:t>
            </a:r>
            <a:r>
              <a:rPr lang="en-US" dirty="0" smtClean="0"/>
              <a:t>Code.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Code </a:t>
            </a:r>
            <a:r>
              <a:rPr lang="en-US" dirty="0"/>
              <a:t>everything that might </a:t>
            </a:r>
            <a:r>
              <a:rPr lang="en-US" dirty="0" smtClean="0"/>
              <a:t>explain </a:t>
            </a:r>
            <a:r>
              <a:rPr lang="en-US" dirty="0"/>
              <a:t>variation in findings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Methodological </a:t>
            </a:r>
            <a:r>
              <a:rPr lang="en-US" sz="1800" dirty="0" smtClean="0"/>
              <a:t>Issues</a:t>
            </a:r>
            <a:endParaRPr lang="en-US" sz="1800" dirty="0"/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Variations </a:t>
            </a:r>
            <a:r>
              <a:rPr lang="en-US" sz="1800" dirty="0" smtClean="0"/>
              <a:t>in Measures and Operationalization; </a:t>
            </a:r>
            <a:r>
              <a:rPr lang="en-US" sz="1800" dirty="0" smtClean="0"/>
              <a:t>Survey </a:t>
            </a:r>
            <a:r>
              <a:rPr lang="en-US" sz="1800" dirty="0" smtClean="0"/>
              <a:t>vs. Panel data.</a:t>
            </a:r>
            <a:endParaRPr lang="en-US" sz="1800" dirty="0"/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Study Characteristics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Contextual Differences; Rigor.</a:t>
            </a:r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Theoretical Differences Across Studies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Firm Size; Pre-adoption vs. Post-adoption Studies.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Effect Size (ES): </a:t>
            </a:r>
            <a:br>
              <a:rPr lang="en-US" sz="2800" dirty="0" smtClean="0"/>
            </a:br>
            <a:r>
              <a:rPr lang="en-US" sz="1800" dirty="0" smtClean="0"/>
              <a:t>The Key to Meta-Analysis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 effect size (ES) is </a:t>
            </a:r>
            <a:r>
              <a:rPr lang="en-US" dirty="0" smtClean="0"/>
              <a:t>a measure </a:t>
            </a:r>
            <a:r>
              <a:rPr lang="en-US" dirty="0"/>
              <a:t>of the magnitude </a:t>
            </a:r>
            <a:r>
              <a:rPr lang="en-US" dirty="0" smtClean="0"/>
              <a:t>and direction of a relationship </a:t>
            </a:r>
            <a:r>
              <a:rPr lang="en-US" dirty="0"/>
              <a:t>between two variables or a </a:t>
            </a:r>
            <a:r>
              <a:rPr lang="en-US" dirty="0" smtClean="0"/>
              <a:t>contrast between groups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the “dependent variable</a:t>
            </a:r>
            <a:r>
              <a:rPr lang="en-US" dirty="0" smtClean="0"/>
              <a:t>” in meta-analysis.</a:t>
            </a:r>
          </a:p>
          <a:p>
            <a:pPr lvl="1"/>
            <a:r>
              <a:rPr lang="en-US" dirty="0"/>
              <a:t>The ES encodes the selected research findings on a numeric </a:t>
            </a:r>
            <a:r>
              <a:rPr lang="en-US" dirty="0" smtClean="0"/>
              <a:t>scale.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An ES should be:</a:t>
            </a:r>
          </a:p>
          <a:p>
            <a:pPr lvl="1" algn="just"/>
            <a:r>
              <a:rPr lang="en-GB" altLang="x-none" dirty="0" smtClean="0"/>
              <a:t>Comparable </a:t>
            </a:r>
            <a:r>
              <a:rPr lang="en-GB" altLang="x-none" dirty="0"/>
              <a:t>across studies (generally requires </a:t>
            </a:r>
            <a:r>
              <a:rPr lang="en-GB" altLang="x-none" dirty="0" smtClean="0"/>
              <a:t>standardization across studies).</a:t>
            </a:r>
            <a:endParaRPr lang="en-GB" altLang="x-none" dirty="0"/>
          </a:p>
          <a:p>
            <a:pPr lvl="1"/>
            <a:r>
              <a:rPr lang="en-GB" altLang="x-none" dirty="0" smtClean="0"/>
              <a:t>Independent </a:t>
            </a:r>
            <a:r>
              <a:rPr lang="en-GB" altLang="x-none" dirty="0"/>
              <a:t>of sample </a:t>
            </a:r>
            <a:r>
              <a:rPr lang="en-GB" altLang="x-none" dirty="0" smtClean="0"/>
              <a:t>size.</a:t>
            </a:r>
          </a:p>
          <a:p>
            <a:pPr lvl="1"/>
            <a:endParaRPr lang="en-GB" altLang="x-none" dirty="0"/>
          </a:p>
          <a:p>
            <a:pPr algn="just"/>
            <a:r>
              <a:rPr lang="en-GB" altLang="x-none" dirty="0"/>
              <a:t>Different meta-analyses use different effect size indices depending on their objectives.</a:t>
            </a:r>
          </a:p>
          <a:p>
            <a:pPr lvl="1" algn="just"/>
            <a:r>
              <a:rPr lang="en-GB" altLang="x-none" dirty="0"/>
              <a:t>Each ES type may also have multiple methods of computation</a:t>
            </a:r>
            <a:r>
              <a:rPr lang="en-GB" altLang="x-none" dirty="0" smtClean="0"/>
              <a:t>.</a:t>
            </a:r>
            <a:endParaRPr lang="en-GB" altLang="x-none" dirty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25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73B2-5AB0-EB44-A94D-5669E39C824C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sz="3100" dirty="0" smtClean="0"/>
              <a:t>The </a:t>
            </a:r>
            <a:r>
              <a:rPr lang="en-US" altLang="x-none" sz="3100" dirty="0"/>
              <a:t>Correlation Coefficient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7419" y="2612554"/>
            <a:ext cx="8419381" cy="2735823"/>
          </a:xfrm>
        </p:spPr>
        <p:txBody>
          <a:bodyPr/>
          <a:lstStyle/>
          <a:p>
            <a:r>
              <a:rPr lang="en-US" altLang="x-none" dirty="0"/>
              <a:t>Represents the strength of </a:t>
            </a:r>
            <a:r>
              <a:rPr lang="en-US" altLang="x-none" dirty="0">
                <a:solidFill>
                  <a:srgbClr val="FF0000"/>
                </a:solidFill>
              </a:rPr>
              <a:t>association</a:t>
            </a:r>
            <a:r>
              <a:rPr lang="en-US" altLang="x-none" dirty="0"/>
              <a:t> between two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variables.</a:t>
            </a:r>
          </a:p>
          <a:p>
            <a:endParaRPr lang="en-US" altLang="x-none" dirty="0"/>
          </a:p>
          <a:p>
            <a:r>
              <a:rPr lang="en-US" altLang="x-none" dirty="0"/>
              <a:t>Generally reported directly as “r” (the Pearson product moment coefficient)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24051"/>
              </p:ext>
            </p:extLst>
          </p:nvPr>
        </p:nvGraphicFramePr>
        <p:xfrm>
          <a:off x="3652089" y="1449567"/>
          <a:ext cx="1839821" cy="7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1" name="Equation" r:id="rId3" imgW="457200" imgH="177480" progId="Equation.3">
                  <p:embed/>
                </p:oleObj>
              </mc:Choice>
              <mc:Fallback>
                <p:oleObj name="Equation" r:id="rId3" imgW="457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089" y="1449567"/>
                        <a:ext cx="1839821" cy="710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647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7208-6579-1E45-A173-16E03B4B3D9F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dirty="0" smtClean="0"/>
              <a:t>The </a:t>
            </a:r>
            <a:r>
              <a:rPr lang="en-US" altLang="x-none" dirty="0"/>
              <a:t>Standardized Mean Difference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43225"/>
            <a:ext cx="8229600" cy="3187700"/>
          </a:xfrm>
        </p:spPr>
        <p:txBody>
          <a:bodyPr>
            <a:normAutofit/>
          </a:bodyPr>
          <a:lstStyle/>
          <a:p>
            <a:r>
              <a:rPr lang="en-US" altLang="x-none" dirty="0"/>
              <a:t>Represents a </a:t>
            </a:r>
            <a:r>
              <a:rPr lang="en-US" altLang="x-none" dirty="0">
                <a:solidFill>
                  <a:srgbClr val="FF0000"/>
                </a:solidFill>
              </a:rPr>
              <a:t>standardized group contrast </a:t>
            </a:r>
            <a:r>
              <a:rPr lang="en-US" altLang="x-none" dirty="0"/>
              <a:t>on an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measure.</a:t>
            </a:r>
          </a:p>
          <a:p>
            <a:endParaRPr lang="en-US" altLang="x-none" dirty="0"/>
          </a:p>
          <a:p>
            <a:r>
              <a:rPr lang="en-US" altLang="x-none" dirty="0"/>
              <a:t>Uses the pooled standard deviation (some situations use control group standard deviation</a:t>
            </a:r>
            <a:r>
              <a:rPr lang="en-US" altLang="x-none" dirty="0" smtClean="0"/>
              <a:t>).</a:t>
            </a:r>
          </a:p>
          <a:p>
            <a:pPr lvl="1"/>
            <a:r>
              <a:rPr lang="en-US" altLang="x-none" dirty="0" smtClean="0"/>
              <a:t>Cohen’s d</a:t>
            </a:r>
          </a:p>
          <a:p>
            <a:pPr lvl="1"/>
            <a:r>
              <a:rPr lang="en-US" altLang="x-none" dirty="0" smtClean="0"/>
              <a:t>Hedge’s g</a:t>
            </a:r>
            <a:endParaRPr lang="en-US" altLang="x-none" dirty="0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371833"/>
              </p:ext>
            </p:extLst>
          </p:nvPr>
        </p:nvGraphicFramePr>
        <p:xfrm>
          <a:off x="4217183" y="1403650"/>
          <a:ext cx="4177892" cy="1088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6" name="Equation" r:id="rId3" imgW="1892160" imgH="495000" progId="Equation.3">
                  <p:embed/>
                </p:oleObj>
              </mc:Choice>
              <mc:Fallback>
                <p:oleObj name="Equation" r:id="rId3" imgW="1892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183" y="1403650"/>
                        <a:ext cx="4177892" cy="1088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752025" y="1403650"/>
            <a:ext cx="2372175" cy="1088048"/>
            <a:chOff x="790088" y="1571147"/>
            <a:chExt cx="2071688" cy="909638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02216"/>
                </p:ext>
              </p:extLst>
            </p:nvPr>
          </p:nvGraphicFramePr>
          <p:xfrm>
            <a:off x="790088" y="1571147"/>
            <a:ext cx="2071688" cy="909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77" name="Equation" r:id="rId5" imgW="1041120" imgH="457200" progId="Equation.3">
                    <p:embed/>
                  </p:oleObj>
                </mc:Choice>
                <mc:Fallback>
                  <p:oleObj name="Equation" r:id="rId5" imgW="10411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088" y="1571147"/>
                          <a:ext cx="2071688" cy="909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790088" y="1698450"/>
              <a:ext cx="533400" cy="15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28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9D4-33F8-3F49-BDBF-6DD55C2040F5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sz="2700" dirty="0" smtClean="0"/>
              <a:t/>
            </a:r>
            <a:br>
              <a:rPr lang="en-US" altLang="x-none" sz="2700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Odds-Ratio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147865"/>
            <a:ext cx="8117456" cy="2028151"/>
          </a:xfrm>
        </p:spPr>
        <p:txBody>
          <a:bodyPr>
            <a:noAutofit/>
          </a:bodyPr>
          <a:lstStyle/>
          <a:p>
            <a:r>
              <a:rPr lang="en-US" altLang="x-none" sz="2000" dirty="0"/>
              <a:t>Represents a </a:t>
            </a:r>
            <a:r>
              <a:rPr lang="en-US" altLang="x-none" sz="2000" dirty="0" smtClean="0">
                <a:solidFill>
                  <a:srgbClr val="FF0000"/>
                </a:solidFill>
              </a:rPr>
              <a:t>group </a:t>
            </a:r>
            <a:r>
              <a:rPr lang="en-US" altLang="x-none" sz="2000" dirty="0">
                <a:solidFill>
                  <a:srgbClr val="FF0000"/>
                </a:solidFill>
              </a:rPr>
              <a:t>contrast </a:t>
            </a:r>
            <a:r>
              <a:rPr lang="en-US" altLang="x-none" sz="2000" dirty="0"/>
              <a:t>on an </a:t>
            </a:r>
            <a:r>
              <a:rPr lang="en-US" altLang="x-none" sz="2000" i="1" dirty="0"/>
              <a:t>inherently </a:t>
            </a:r>
            <a:r>
              <a:rPr lang="en-US" altLang="x-none" sz="2000" i="1" dirty="0" smtClean="0"/>
              <a:t>dichotomized</a:t>
            </a:r>
            <a:r>
              <a:rPr lang="en-US" altLang="x-none" sz="2000" dirty="0" smtClean="0"/>
              <a:t> </a:t>
            </a:r>
            <a:r>
              <a:rPr lang="en-US" altLang="x-none" sz="2000" dirty="0"/>
              <a:t>measure</a:t>
            </a:r>
            <a:r>
              <a:rPr lang="en-US" altLang="x-none" sz="2000" dirty="0" smtClean="0"/>
              <a:t>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odds-ratio is based on a 2 </a:t>
            </a:r>
            <a:r>
              <a:rPr lang="en-US" altLang="x-none" sz="2000" dirty="0" smtClean="0"/>
              <a:t>x </a:t>
            </a:r>
            <a:r>
              <a:rPr lang="en-US" altLang="x-none" sz="2000" dirty="0"/>
              <a:t>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 smtClean="0"/>
              <a:t>The </a:t>
            </a:r>
            <a:r>
              <a:rPr lang="en-US" altLang="x-none" sz="1800" dirty="0"/>
              <a:t>odds of success in the treatment group relative to the odds of success in the control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728"/>
              </p:ext>
            </p:extLst>
          </p:nvPr>
        </p:nvGraphicFramePr>
        <p:xfrm>
          <a:off x="1045234" y="4270713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" name="Document" r:id="rId3" imgW="3724200" imgH="1285920" progId="WP8Doc">
                  <p:embed/>
                </p:oleObj>
              </mc:Choice>
              <mc:Fallback>
                <p:oleObj name="Document" r:id="rId3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4" y="4270713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553200" y="4270713"/>
            <a:ext cx="1936630" cy="785411"/>
            <a:chOff x="6232585" y="2968002"/>
            <a:chExt cx="1936630" cy="78541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585" y="2968002"/>
              <a:ext cx="1936630" cy="78541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234550" y="3118446"/>
              <a:ext cx="604653" cy="523220"/>
            </a:xfrm>
            <a:prstGeom prst="rect">
              <a:avLst/>
            </a:prstGeom>
            <a:solidFill>
              <a:srgbClr val="F2F3F2"/>
            </a:solidFill>
          </p:spPr>
          <p:txBody>
            <a:bodyPr wrap="none" rtlCol="0">
              <a:spAutoFit/>
            </a:bodyPr>
            <a:lstStyle/>
            <a:p>
              <a:r>
                <a:rPr lang="en-US" sz="2700" smtClean="0">
                  <a:latin typeface="Times New Roman" charset="0"/>
                  <a:ea typeface="Times New Roman" charset="0"/>
                  <a:cs typeface="Times New Roman" charset="0"/>
                </a:rPr>
                <a:t>ES</a:t>
              </a:r>
              <a:endParaRPr lang="en-US" sz="270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947359" y="3434808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Satisfaction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657045" y="3439476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25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AA39-D136-EB41-93EE-A42159D08479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dirty="0" smtClean="0"/>
              <a:t/>
            </a:r>
            <a:br>
              <a:rPr lang="en-US" altLang="x-none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Risk Ratio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0289"/>
            <a:ext cx="8229600" cy="4883959"/>
          </a:xfrm>
        </p:spPr>
        <p:txBody>
          <a:bodyPr>
            <a:normAutofit/>
          </a:bodyPr>
          <a:lstStyle/>
          <a:p>
            <a:r>
              <a:rPr lang="en-US" altLang="x-none" sz="2000"/>
              <a:t>Represents a </a:t>
            </a:r>
            <a:r>
              <a:rPr lang="en-US" altLang="x-none" sz="2000">
                <a:solidFill>
                  <a:srgbClr val="FF0000"/>
                </a:solidFill>
              </a:rPr>
              <a:t>group contrast </a:t>
            </a:r>
            <a:r>
              <a:rPr lang="en-US" altLang="x-none" sz="2000"/>
              <a:t>on an </a:t>
            </a:r>
            <a:r>
              <a:rPr lang="en-US" altLang="x-none" sz="2000" i="1"/>
              <a:t>inherently dichotomized</a:t>
            </a:r>
            <a:r>
              <a:rPr lang="en-US" altLang="x-none" sz="2000"/>
              <a:t> measure.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risk ratio is also based on data from a 2 by 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/>
              <a:t>T</a:t>
            </a:r>
            <a:r>
              <a:rPr lang="en-US" altLang="x-none" sz="1800" dirty="0" smtClean="0"/>
              <a:t>he </a:t>
            </a:r>
            <a:r>
              <a:rPr lang="en-US" altLang="x-none" sz="1800" dirty="0"/>
              <a:t>ratio of the probability of success (or failure) for each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375127"/>
              </p:ext>
            </p:extLst>
          </p:nvPr>
        </p:nvGraphicFramePr>
        <p:xfrm>
          <a:off x="6286229" y="4063679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2" name="Equation" r:id="rId3" imgW="1028520" imgH="419040" progId="Equation.COEE2">
                  <p:embed/>
                </p:oleObj>
              </mc:Choice>
              <mc:Fallback>
                <p:oleObj name="Equation" r:id="rId3" imgW="1028520" imgH="419040" progId="Equation.COEE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229" y="4063679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776061"/>
              </p:ext>
            </p:extLst>
          </p:nvPr>
        </p:nvGraphicFramePr>
        <p:xfrm>
          <a:off x="1045233" y="4063679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83" name="Document" r:id="rId5" imgW="3724200" imgH="1285920" progId="WP8Doc">
                  <p:embed/>
                </p:oleObj>
              </mc:Choice>
              <mc:Fallback>
                <p:oleObj name="Document" r:id="rId5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3" y="4063679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ular Callout 10"/>
          <p:cNvSpPr/>
          <p:nvPr/>
        </p:nvSpPr>
        <p:spPr>
          <a:xfrm>
            <a:off x="2947358" y="3227774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Promotion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657044" y="3232442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4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603D-ED49-4247-BE89-75AF1370C15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52086" y="304800"/>
            <a:ext cx="7992374" cy="1143000"/>
          </a:xfrm>
        </p:spPr>
        <p:txBody>
          <a:bodyPr>
            <a:noAutofit/>
          </a:bodyPr>
          <a:lstStyle/>
          <a:p>
            <a:r>
              <a:rPr lang="en-US" sz="2400" dirty="0"/>
              <a:t>Effect Size (ES): </a:t>
            </a:r>
            <a:r>
              <a:rPr lang="en-US" altLang="x-none" sz="2800" dirty="0" smtClean="0"/>
              <a:t/>
            </a:r>
            <a:br>
              <a:rPr lang="en-US" altLang="x-none" sz="2800" dirty="0" smtClean="0"/>
            </a:br>
            <a:r>
              <a:rPr lang="en-US" altLang="x-none" sz="2800" dirty="0" smtClean="0"/>
              <a:t>Additional Data </a:t>
            </a:r>
            <a:r>
              <a:rPr lang="en-US" altLang="x-none" sz="2800" dirty="0"/>
              <a:t>to Code Along With the ES</a:t>
            </a:r>
          </a:p>
        </p:txBody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endParaRPr lang="en-US" altLang="x-none" dirty="0" smtClean="0"/>
          </a:p>
          <a:p>
            <a:r>
              <a:rPr lang="en-US" altLang="x-none" dirty="0" smtClean="0"/>
              <a:t>Sample Size</a:t>
            </a:r>
          </a:p>
          <a:p>
            <a:r>
              <a:rPr lang="en-US" altLang="x-none" dirty="0" smtClean="0"/>
              <a:t>Construct Measurement Scale</a:t>
            </a:r>
          </a:p>
          <a:p>
            <a:r>
              <a:rPr lang="en-US" altLang="x-none" dirty="0" smtClean="0"/>
              <a:t>Reliability of Constructs </a:t>
            </a:r>
          </a:p>
          <a:p>
            <a:pPr lvl="1"/>
            <a:r>
              <a:rPr lang="en-US" altLang="x-none" dirty="0" smtClean="0"/>
              <a:t>E.g., Cronbach’s Alpha.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573772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altLang="x-none" dirty="0" smtClean="0"/>
              <a:t>Issues </a:t>
            </a:r>
            <a:r>
              <a:rPr lang="en-US" altLang="x-none" dirty="0"/>
              <a:t>in Coding Effect Sizes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326"/>
            <a:ext cx="8229600" cy="4909838"/>
          </a:xfrm>
        </p:spPr>
        <p:txBody>
          <a:bodyPr/>
          <a:lstStyle/>
          <a:p>
            <a:r>
              <a:rPr lang="en-US" dirty="0"/>
              <a:t>Not every article will have a nice correlation table with </a:t>
            </a:r>
            <a:r>
              <a:rPr lang="en-US" dirty="0" smtClean="0"/>
              <a:t>sample size (N), </a:t>
            </a:r>
            <a:r>
              <a:rPr lang="en-US" dirty="0"/>
              <a:t>alphas, etc.</a:t>
            </a:r>
          </a:p>
          <a:p>
            <a:r>
              <a:rPr lang="en-US" dirty="0" smtClean="0"/>
              <a:t>So, you may need to look </a:t>
            </a:r>
            <a:r>
              <a:rPr lang="en-US" dirty="0"/>
              <a:t>for “r” substitutes:</a:t>
            </a:r>
          </a:p>
          <a:p>
            <a:pPr lvl="1"/>
            <a:r>
              <a:rPr lang="en-US" dirty="0" smtClean="0"/>
              <a:t>Beta values </a:t>
            </a:r>
            <a:r>
              <a:rPr lang="en-US" dirty="0"/>
              <a:t>if there is only one </a:t>
            </a:r>
            <a:r>
              <a:rPr lang="en-US" dirty="0" smtClean="0"/>
              <a:t>independent variable (IV) in the regression equation.</a:t>
            </a:r>
            <a:endParaRPr lang="en-US" dirty="0"/>
          </a:p>
          <a:p>
            <a:pPr lvl="1"/>
            <a:r>
              <a:rPr lang="en-US" dirty="0" smtClean="0"/>
              <a:t>Beta </a:t>
            </a:r>
            <a:r>
              <a:rPr lang="en-US" dirty="0"/>
              <a:t>if this is the first step in hierarchical </a:t>
            </a:r>
            <a:r>
              <a:rPr lang="en-US" dirty="0" smtClean="0"/>
              <a:t>regression.</a:t>
            </a:r>
            <a:endParaRPr lang="en-US" dirty="0"/>
          </a:p>
          <a:p>
            <a:pPr lvl="1"/>
            <a:r>
              <a:rPr lang="en-US" dirty="0"/>
              <a:t>A path coefficient in SEM (if no other IVs affecting that </a:t>
            </a:r>
            <a:r>
              <a:rPr lang="en-US" dirty="0" smtClean="0"/>
              <a:t>dependent variable).</a:t>
            </a:r>
          </a:p>
          <a:p>
            <a:pPr marL="457200" lvl="1" indent="0">
              <a:buNone/>
            </a:pPr>
            <a:endParaRPr lang="en-US" sz="1400" i="1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600" i="1" dirty="0" smtClean="0">
                <a:solidFill>
                  <a:srgbClr val="C00000"/>
                </a:solidFill>
              </a:rPr>
              <a:t>(See</a:t>
            </a:r>
            <a:r>
              <a:rPr lang="en-US" sz="1600" i="1" dirty="0" smtClean="0">
                <a:solidFill>
                  <a:srgbClr val="C00000"/>
                </a:solidFill>
              </a:rPr>
              <a:t>: Appendix B in Montazemi &amp; Qahri-Saremi (2015))</a:t>
            </a:r>
            <a:endParaRPr lang="en-US" sz="1600" i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2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25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dirty="0"/>
              <a:t>Effect Size (ES):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altLang="x-none" sz="2800" dirty="0" smtClean="0"/>
              <a:t>Independent Set of Effect Sizes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199" y="1417638"/>
            <a:ext cx="840614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dirty="0"/>
              <a:t>Must be dealing with an independent set of effect sizes before proceeding with the analysis.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a study </a:t>
            </a:r>
            <a:r>
              <a:rPr lang="en-US" altLang="x-none" dirty="0"/>
              <a:t>OR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each subsample </a:t>
            </a:r>
            <a:r>
              <a:rPr lang="en-US" altLang="x-none" dirty="0"/>
              <a:t>within a </a:t>
            </a:r>
            <a:r>
              <a:rPr lang="en-US" altLang="x-none" dirty="0" smtClean="0"/>
              <a:t>study</a:t>
            </a:r>
          </a:p>
          <a:p>
            <a:pPr lvl="1"/>
            <a:endParaRPr lang="en-US" altLang="x-none" dirty="0"/>
          </a:p>
          <a:p>
            <a:r>
              <a:rPr lang="en-US" altLang="x-none" b="1" dirty="0" smtClean="0"/>
              <a:t>Remember:</a:t>
            </a:r>
          </a:p>
          <a:p>
            <a:pPr lvl="1"/>
            <a:r>
              <a:rPr lang="en-US" altLang="x-none" dirty="0" smtClean="0"/>
              <a:t>One paper can report multiple independent studies (e.g., study1, study </a:t>
            </a:r>
            <a:r>
              <a:rPr lang="en-US" altLang="x-none" dirty="0" smtClean="0"/>
              <a:t>2)</a:t>
            </a:r>
            <a:endParaRPr lang="en-US" altLang="x-none" dirty="0" smtClean="0"/>
          </a:p>
          <a:p>
            <a:pPr lvl="2"/>
            <a:r>
              <a:rPr lang="en-US" altLang="x-none" dirty="0" smtClean="0"/>
              <a:t>Therefore, one paper can provide multiple ES, one for each independent sample.</a:t>
            </a:r>
          </a:p>
          <a:p>
            <a:pPr lvl="1"/>
            <a:r>
              <a:rPr lang="en-US" altLang="x-none" dirty="0" smtClean="0"/>
              <a:t>Multiple studies might be based on the same sample</a:t>
            </a:r>
          </a:p>
          <a:p>
            <a:pPr lvl="2"/>
            <a:r>
              <a:rPr lang="en-US" altLang="x-none" dirty="0" smtClean="0"/>
              <a:t>In this case, only one ES from that sample should be drawn.</a:t>
            </a:r>
            <a:endParaRPr lang="en-US" altLang="x-none" dirty="0"/>
          </a:p>
        </p:txBody>
      </p:sp>
      <p:sp>
        <p:nvSpPr>
          <p:cNvPr id="6" name="Rectangle 5"/>
          <p:cNvSpPr/>
          <p:nvPr/>
        </p:nvSpPr>
        <p:spPr>
          <a:xfrm>
            <a:off x="6584830" y="6102434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350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26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/>
              <a:t>Effect Size (</a:t>
            </a:r>
            <a:r>
              <a:rPr lang="en-US"/>
              <a:t>ES</a:t>
            </a:r>
            <a:r>
              <a:rPr lang="en-US" smtClean="0"/>
              <a:t>)</a:t>
            </a:r>
            <a:endParaRPr lang="en-US" altLang="x-none" sz="3600" dirty="0" smtClean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588" y="1417638"/>
            <a:ext cx="314155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sz="1800" dirty="0" smtClean="0"/>
              <a:t>So far, you should have a list of studies with their:</a:t>
            </a:r>
          </a:p>
          <a:p>
            <a:pPr lvl="1"/>
            <a:r>
              <a:rPr lang="en-US" altLang="x-none" sz="1600" dirty="0" smtClean="0"/>
              <a:t>Effect sizes</a:t>
            </a:r>
          </a:p>
          <a:p>
            <a:pPr lvl="1"/>
            <a:r>
              <a:rPr lang="en-US" altLang="x-none" sz="1600" dirty="0" smtClean="0"/>
              <a:t>Sample sizes</a:t>
            </a:r>
          </a:p>
          <a:p>
            <a:pPr lvl="1"/>
            <a:r>
              <a:rPr lang="en-US" altLang="x-none" sz="1600" dirty="0" smtClean="0"/>
              <a:t>Reliabilities of Measures </a:t>
            </a:r>
          </a:p>
          <a:p>
            <a:pPr lvl="1"/>
            <a:r>
              <a:rPr lang="en-US" altLang="x-none" sz="1600" dirty="0" smtClean="0"/>
              <a:t>Potential moderators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838" y="1535332"/>
            <a:ext cx="5895736" cy="33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74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Fixed-Effects Meta-Analysis:</a:t>
            </a:r>
          </a:p>
          <a:p>
            <a:pPr lvl="1" algn="just"/>
            <a:r>
              <a:rPr lang="en-US" dirty="0" smtClean="0"/>
              <a:t>All studies are drawn from ONE homogenous population and any variation among their effect sizes is the result of sampling errors. </a:t>
            </a:r>
          </a:p>
          <a:p>
            <a:pPr lvl="2" algn="just"/>
            <a:r>
              <a:rPr lang="en-US" dirty="0" smtClean="0"/>
              <a:t>There is a fixed effect that varies in different samples (studies) as a result of sampling error.</a:t>
            </a:r>
          </a:p>
          <a:p>
            <a:pPr lvl="2" algn="just"/>
            <a:endParaRPr lang="en-US" dirty="0" smtClean="0"/>
          </a:p>
          <a:p>
            <a:pPr lvl="1" algn="just"/>
            <a:r>
              <a:rPr lang="en-US" dirty="0" smtClean="0"/>
              <a:t>The variance for the pooled ES is made up only </a:t>
            </a:r>
            <a:r>
              <a:rPr lang="en-US" dirty="0"/>
              <a:t>sampling errors (within study variance)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E.g., Hedges &amp; </a:t>
            </a:r>
            <a:r>
              <a:rPr lang="en-US" dirty="0" err="1" smtClean="0"/>
              <a:t>Olkin</a:t>
            </a:r>
            <a:r>
              <a:rPr lang="en-US" dirty="0" smtClean="0"/>
              <a:t> (1985) fixed-effects method.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765493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99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Random-Effects Meta-Analysis:</a:t>
            </a:r>
          </a:p>
          <a:p>
            <a:pPr lvl="1" algn="just"/>
            <a:r>
              <a:rPr lang="en-US" dirty="0"/>
              <a:t>The </a:t>
            </a:r>
            <a:r>
              <a:rPr lang="en-US" dirty="0" smtClean="0"/>
              <a:t>assumption </a:t>
            </a:r>
            <a:r>
              <a:rPr lang="en-US" dirty="0"/>
              <a:t>is that the average effect size in the population varies randomly from </a:t>
            </a:r>
            <a:r>
              <a:rPr lang="en-US" dirty="0" smtClean="0"/>
              <a:t>study to </a:t>
            </a:r>
            <a:r>
              <a:rPr lang="en-US" dirty="0"/>
              <a:t>study: </a:t>
            </a:r>
            <a:endParaRPr lang="en-US" dirty="0" smtClean="0"/>
          </a:p>
          <a:p>
            <a:pPr lvl="2" algn="just"/>
            <a:r>
              <a:rPr lang="en-US" dirty="0" smtClean="0"/>
              <a:t>Studies </a:t>
            </a:r>
            <a:r>
              <a:rPr lang="en-US" dirty="0"/>
              <a:t>in a meta-analysis come from populations that have different </a:t>
            </a:r>
            <a:r>
              <a:rPr lang="en-US" dirty="0" smtClean="0"/>
              <a:t>average effect </a:t>
            </a:r>
            <a:r>
              <a:rPr lang="en-US" dirty="0"/>
              <a:t>sizes, so population effect sizes can be thought of as being sampled from </a:t>
            </a:r>
            <a:r>
              <a:rPr lang="en-US" dirty="0" smtClean="0"/>
              <a:t>a ‘super population’. </a:t>
            </a:r>
          </a:p>
          <a:p>
            <a:pPr lvl="2" algn="just"/>
            <a:r>
              <a:rPr lang="en-US" dirty="0" smtClean="0"/>
              <a:t>In </a:t>
            </a:r>
            <a:r>
              <a:rPr lang="en-US" dirty="0"/>
              <a:t>this case, the effect sizes should be </a:t>
            </a:r>
            <a:r>
              <a:rPr lang="en-US" dirty="0" smtClean="0"/>
              <a:t>heterogeneous because </a:t>
            </a:r>
            <a:r>
              <a:rPr lang="en-US" dirty="0"/>
              <a:t>they come from populations with varying average effect sizes</a:t>
            </a:r>
            <a:r>
              <a:rPr lang="en-US" dirty="0" smtClean="0"/>
              <a:t>. </a:t>
            </a:r>
          </a:p>
          <a:p>
            <a:pPr lvl="1" algn="just"/>
            <a:r>
              <a:rPr lang="en-US" dirty="0" smtClean="0"/>
              <a:t>The variance for the pooled ES includes both sampling error (within study variance) and between-study variance.</a:t>
            </a:r>
          </a:p>
          <a:p>
            <a:pPr lvl="2" algn="just"/>
            <a:r>
              <a:rPr lang="en-US" dirty="0"/>
              <a:t>E.g., </a:t>
            </a:r>
            <a:r>
              <a:rPr lang="en-US" dirty="0" smtClean="0"/>
              <a:t>Hunter &amp; Schmidt (2004); Hedges </a:t>
            </a:r>
            <a:r>
              <a:rPr lang="en-US" dirty="0"/>
              <a:t>&amp; </a:t>
            </a:r>
            <a:r>
              <a:rPr lang="en-US" dirty="0" err="1"/>
              <a:t>Olkin</a:t>
            </a:r>
            <a:r>
              <a:rPr lang="en-US" dirty="0"/>
              <a:t> (1985) </a:t>
            </a:r>
            <a:r>
              <a:rPr lang="en-US" dirty="0" smtClean="0"/>
              <a:t>random-effects </a:t>
            </a:r>
            <a:r>
              <a:rPr lang="en-US" dirty="0"/>
              <a:t>method.</a:t>
            </a:r>
          </a:p>
          <a:p>
            <a:pPr lvl="2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872247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1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Which Approach Should be Selected for the Meta-Analysis?</a:t>
            </a:r>
          </a:p>
          <a:p>
            <a:pPr lvl="1" algn="just"/>
            <a:r>
              <a:rPr lang="en-US" b="1" dirty="0" smtClean="0"/>
              <a:t>Fixed-effect </a:t>
            </a:r>
            <a:r>
              <a:rPr lang="en-US" b="1" dirty="0"/>
              <a:t>models </a:t>
            </a:r>
            <a:r>
              <a:rPr lang="en-US" dirty="0" smtClean="0"/>
              <a:t>are appropriate </a:t>
            </a:r>
            <a:r>
              <a:rPr lang="en-US" dirty="0"/>
              <a:t>for inferences that extend only to the studies included in the </a:t>
            </a:r>
            <a:r>
              <a:rPr lang="en-US" dirty="0" smtClean="0"/>
              <a:t>meta-analysis (conditional </a:t>
            </a:r>
            <a:r>
              <a:rPr lang="en-US" dirty="0"/>
              <a:t>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Only if the effect sizes are homogenous.</a:t>
            </a:r>
          </a:p>
          <a:p>
            <a:pPr lvl="1" algn="just"/>
            <a:r>
              <a:rPr lang="en-US" b="1" dirty="0" smtClean="0"/>
              <a:t>Random-effects </a:t>
            </a:r>
            <a:r>
              <a:rPr lang="en-US" b="1" dirty="0"/>
              <a:t>models </a:t>
            </a:r>
            <a:r>
              <a:rPr lang="en-US" dirty="0"/>
              <a:t>allow inferences </a:t>
            </a:r>
            <a:r>
              <a:rPr lang="en-US" dirty="0" smtClean="0"/>
              <a:t>that generalize </a:t>
            </a:r>
            <a:r>
              <a:rPr lang="en-US" dirty="0"/>
              <a:t>beyond the studies included in the meta-analysis (unconditional 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When the effect sizes are not homogenous.</a:t>
            </a:r>
            <a:endParaRPr lang="en-US" dirty="0"/>
          </a:p>
          <a:p>
            <a:pPr lvl="2" algn="just"/>
            <a:r>
              <a:rPr lang="en-US" dirty="0" smtClean="0"/>
              <a:t>Data suggest that </a:t>
            </a:r>
            <a:r>
              <a:rPr lang="en-US" dirty="0"/>
              <a:t>a random-effects approach should be the norm in social </a:t>
            </a:r>
            <a:r>
              <a:rPr lang="en-US" dirty="0" smtClean="0"/>
              <a:t>sciences </a:t>
            </a:r>
            <a:r>
              <a:rPr lang="en-US" dirty="0"/>
              <a:t>data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Note </a:t>
            </a:r>
            <a:r>
              <a:rPr lang="en-US" dirty="0"/>
              <a:t>that </a:t>
            </a:r>
            <a:r>
              <a:rPr lang="en-US" dirty="0" smtClean="0"/>
              <a:t>the </a:t>
            </a:r>
            <a:r>
              <a:rPr lang="en-US" dirty="0"/>
              <a:t>consequences of applying </a:t>
            </a:r>
            <a:r>
              <a:rPr lang="en-US" dirty="0" smtClean="0"/>
              <a:t>fixed-effects methods </a:t>
            </a:r>
            <a:r>
              <a:rPr lang="en-US" dirty="0"/>
              <a:t>to random-effects data can be quite dramatic: </a:t>
            </a:r>
            <a:endParaRPr lang="en-US" dirty="0" smtClean="0"/>
          </a:p>
          <a:p>
            <a:pPr lvl="3" algn="just"/>
            <a:r>
              <a:rPr lang="en-US" dirty="0" smtClean="0"/>
              <a:t>Significance </a:t>
            </a:r>
            <a:r>
              <a:rPr lang="en-US" dirty="0"/>
              <a:t>tests of the </a:t>
            </a:r>
            <a:r>
              <a:rPr lang="en-US" dirty="0" smtClean="0"/>
              <a:t>estimate of </a:t>
            </a:r>
            <a:r>
              <a:rPr lang="en-US" dirty="0"/>
              <a:t>the population effect </a:t>
            </a:r>
            <a:r>
              <a:rPr lang="en-US" dirty="0" smtClean="0"/>
              <a:t>size (pooled effect size) have </a:t>
            </a:r>
            <a:r>
              <a:rPr lang="en-US" dirty="0"/>
              <a:t>Type I error rates inflated from the normal 5% to </a:t>
            </a:r>
            <a:r>
              <a:rPr lang="en-US" dirty="0" smtClean="0"/>
              <a:t>11% – 80%. </a:t>
            </a:r>
            <a:endParaRPr lang="en-US" dirty="0"/>
          </a:p>
          <a:p>
            <a:pPr lvl="3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58310" y="5924901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Field &amp; Gillette (2010)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189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7485"/>
            <a:ext cx="8229600" cy="4858678"/>
          </a:xfrm>
        </p:spPr>
        <p:txBody>
          <a:bodyPr>
            <a:normAutofit lnSpcReduction="10000"/>
          </a:bodyPr>
          <a:lstStyle/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Correct </a:t>
            </a:r>
            <a:r>
              <a:rPr lang="en-US" altLang="x-none" dirty="0"/>
              <a:t>the effect sizes for unreliability </a:t>
            </a: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Standardize the effect sizes using Fisher’s Z Transformation</a:t>
            </a:r>
            <a:endParaRPr lang="en-US" altLang="x-none" dirty="0"/>
          </a:p>
          <a:p>
            <a:pPr marL="514350" indent="-457200">
              <a:lnSpc>
                <a:spcPct val="80000"/>
              </a:lnSpc>
              <a:buFont typeface="+mj-lt"/>
              <a:buAutoNum type="arabicParenR"/>
            </a:pPr>
            <a:endParaRPr lang="en-US" altLang="x-none" i="1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Weight </a:t>
            </a:r>
            <a:r>
              <a:rPr lang="en-US" altLang="x-none" dirty="0"/>
              <a:t>the effect </a:t>
            </a:r>
            <a:r>
              <a:rPr lang="en-US" altLang="x-none" dirty="0" smtClean="0"/>
              <a:t>sizes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/>
              <a:t>Calculate the overall weighted mean effect size (pooled effect size)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</a:t>
            </a:r>
            <a:r>
              <a:rPr lang="en-US" altLang="x-none" dirty="0"/>
              <a:t>the homogeneity index (Q statistic) for the pooled effect size.</a:t>
            </a:r>
          </a:p>
          <a:p>
            <a:pPr marL="914400" lvl="1" indent="-514350">
              <a:lnSpc>
                <a:spcPct val="80000"/>
              </a:lnSpc>
            </a:pPr>
            <a:r>
              <a:rPr lang="en-US" altLang="x-none" dirty="0"/>
              <a:t>Provide the ground for </a:t>
            </a:r>
            <a:r>
              <a:rPr lang="en-US" altLang="x-none" dirty="0" smtClean="0"/>
              <a:t>random-effects analysis and moderation </a:t>
            </a:r>
            <a:r>
              <a:rPr lang="en-US" altLang="x-none" dirty="0"/>
              <a:t>analysis</a:t>
            </a:r>
            <a:r>
              <a:rPr lang="en-US" altLang="x-none" dirty="0" smtClean="0"/>
              <a:t>.</a:t>
            </a: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the </a:t>
            </a:r>
            <a:r>
              <a:rPr lang="en-US" altLang="x-none" dirty="0" smtClean="0"/>
              <a:t>confidence </a:t>
            </a:r>
            <a:r>
              <a:rPr lang="en-US" altLang="x-none" dirty="0" smtClean="0"/>
              <a:t>interval for the pooled effect size.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901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 smtClean="0"/>
              <a:t>The Basic Meta-Analysis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34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Tools for Meta-Analysis: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Wilson/</a:t>
            </a:r>
            <a:r>
              <a:rPr lang="en-US" sz="2800" dirty="0" err="1" smtClean="0"/>
              <a:t>Lipsey</a:t>
            </a:r>
            <a:r>
              <a:rPr lang="en-US" sz="2800" dirty="0" smtClean="0"/>
              <a:t> SPSS Macro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http://mason.gmu.edu/~</a:t>
            </a:r>
            <a:r>
              <a:rPr lang="en-US" dirty="0" smtClean="0">
                <a:hlinkClick r:id="rId2"/>
              </a:rPr>
              <a:t>dwilsonb/ma.html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01615"/>
            <a:ext cx="2895600" cy="365125"/>
          </a:xfrm>
        </p:spPr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057" y="1501385"/>
            <a:ext cx="4706286" cy="4946996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1910281" y="5585992"/>
            <a:ext cx="1520982" cy="316871"/>
          </a:xfrm>
          <a:custGeom>
            <a:avLst/>
            <a:gdLst>
              <a:gd name="connsiteX0" fmla="*/ 81481 w 1520982"/>
              <a:gd name="connsiteY0" fmla="*/ 63374 h 316871"/>
              <a:gd name="connsiteX1" fmla="*/ 126749 w 1520982"/>
              <a:gd name="connsiteY1" fmla="*/ 144855 h 316871"/>
              <a:gd name="connsiteX2" fmla="*/ 153909 w 1520982"/>
              <a:gd name="connsiteY2" fmla="*/ 172016 h 316871"/>
              <a:gd name="connsiteX3" fmla="*/ 280658 w 1520982"/>
              <a:gd name="connsiteY3" fmla="*/ 226336 h 316871"/>
              <a:gd name="connsiteX4" fmla="*/ 307818 w 1520982"/>
              <a:gd name="connsiteY4" fmla="*/ 235390 h 316871"/>
              <a:gd name="connsiteX5" fmla="*/ 353085 w 1520982"/>
              <a:gd name="connsiteY5" fmla="*/ 244443 h 316871"/>
              <a:gd name="connsiteX6" fmla="*/ 407406 w 1520982"/>
              <a:gd name="connsiteY6" fmla="*/ 262550 h 316871"/>
              <a:gd name="connsiteX7" fmla="*/ 434567 w 1520982"/>
              <a:gd name="connsiteY7" fmla="*/ 271604 h 316871"/>
              <a:gd name="connsiteX8" fmla="*/ 479834 w 1520982"/>
              <a:gd name="connsiteY8" fmla="*/ 280657 h 316871"/>
              <a:gd name="connsiteX9" fmla="*/ 615636 w 1520982"/>
              <a:gd name="connsiteY9" fmla="*/ 289711 h 316871"/>
              <a:gd name="connsiteX10" fmla="*/ 724277 w 1520982"/>
              <a:gd name="connsiteY10" fmla="*/ 298764 h 316871"/>
              <a:gd name="connsiteX11" fmla="*/ 914400 w 1520982"/>
              <a:gd name="connsiteY11" fmla="*/ 316871 h 316871"/>
              <a:gd name="connsiteX12" fmla="*/ 1149790 w 1520982"/>
              <a:gd name="connsiteY12" fmla="*/ 307818 h 316871"/>
              <a:gd name="connsiteX13" fmla="*/ 1195058 w 1520982"/>
              <a:gd name="connsiteY13" fmla="*/ 298764 h 316871"/>
              <a:gd name="connsiteX14" fmla="*/ 1249378 w 1520982"/>
              <a:gd name="connsiteY14" fmla="*/ 289711 h 316871"/>
              <a:gd name="connsiteX15" fmla="*/ 1330860 w 1520982"/>
              <a:gd name="connsiteY15" fmla="*/ 271604 h 316871"/>
              <a:gd name="connsiteX16" fmla="*/ 1394234 w 1520982"/>
              <a:gd name="connsiteY16" fmla="*/ 244443 h 316871"/>
              <a:gd name="connsiteX17" fmla="*/ 1421394 w 1520982"/>
              <a:gd name="connsiteY17" fmla="*/ 226336 h 316871"/>
              <a:gd name="connsiteX18" fmla="*/ 1448555 w 1520982"/>
              <a:gd name="connsiteY18" fmla="*/ 217283 h 316871"/>
              <a:gd name="connsiteX19" fmla="*/ 1520982 w 1520982"/>
              <a:gd name="connsiteY19" fmla="*/ 153909 h 316871"/>
              <a:gd name="connsiteX20" fmla="*/ 1493822 w 1520982"/>
              <a:gd name="connsiteY20" fmla="*/ 81481 h 316871"/>
              <a:gd name="connsiteX21" fmla="*/ 1403287 w 1520982"/>
              <a:gd name="connsiteY21" fmla="*/ 36214 h 316871"/>
              <a:gd name="connsiteX22" fmla="*/ 1312753 w 1520982"/>
              <a:gd name="connsiteY22" fmla="*/ 18107 h 316871"/>
              <a:gd name="connsiteX23" fmla="*/ 1276539 w 1520982"/>
              <a:gd name="connsiteY23" fmla="*/ 9053 h 316871"/>
              <a:gd name="connsiteX24" fmla="*/ 1213165 w 1520982"/>
              <a:gd name="connsiteY24" fmla="*/ 0 h 316871"/>
              <a:gd name="connsiteX25" fmla="*/ 642796 w 1520982"/>
              <a:gd name="connsiteY25" fmla="*/ 18107 h 316871"/>
              <a:gd name="connsiteX26" fmla="*/ 579422 w 1520982"/>
              <a:gd name="connsiteY26" fmla="*/ 27160 h 316871"/>
              <a:gd name="connsiteX27" fmla="*/ 479834 w 1520982"/>
              <a:gd name="connsiteY27" fmla="*/ 36214 h 316871"/>
              <a:gd name="connsiteX28" fmla="*/ 398353 w 1520982"/>
              <a:gd name="connsiteY28" fmla="*/ 63374 h 316871"/>
              <a:gd name="connsiteX29" fmla="*/ 334978 w 1520982"/>
              <a:gd name="connsiteY29" fmla="*/ 81481 h 316871"/>
              <a:gd name="connsiteX30" fmla="*/ 307818 w 1520982"/>
              <a:gd name="connsiteY30" fmla="*/ 99588 h 316871"/>
              <a:gd name="connsiteX31" fmla="*/ 217283 w 1520982"/>
              <a:gd name="connsiteY31" fmla="*/ 135802 h 316871"/>
              <a:gd name="connsiteX32" fmla="*/ 181069 w 1520982"/>
              <a:gd name="connsiteY32" fmla="*/ 162962 h 316871"/>
              <a:gd name="connsiteX33" fmla="*/ 108642 w 1520982"/>
              <a:gd name="connsiteY33" fmla="*/ 199176 h 316871"/>
              <a:gd name="connsiteX34" fmla="*/ 54321 w 1520982"/>
              <a:gd name="connsiteY34" fmla="*/ 226336 h 316871"/>
              <a:gd name="connsiteX35" fmla="*/ 0 w 1520982"/>
              <a:gd name="connsiteY35" fmla="*/ 271604 h 31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20982" h="316871">
                <a:moveTo>
                  <a:pt x="81481" y="63374"/>
                </a:moveTo>
                <a:cubicBezTo>
                  <a:pt x="100224" y="110230"/>
                  <a:pt x="94450" y="107173"/>
                  <a:pt x="126749" y="144855"/>
                </a:cubicBezTo>
                <a:cubicBezTo>
                  <a:pt x="135081" y="154576"/>
                  <a:pt x="143107" y="165142"/>
                  <a:pt x="153909" y="172016"/>
                </a:cubicBezTo>
                <a:cubicBezTo>
                  <a:pt x="203132" y="203340"/>
                  <a:pt x="229210" y="209186"/>
                  <a:pt x="280658" y="226336"/>
                </a:cubicBezTo>
                <a:cubicBezTo>
                  <a:pt x="289711" y="229354"/>
                  <a:pt x="298460" y="233519"/>
                  <a:pt x="307818" y="235390"/>
                </a:cubicBezTo>
                <a:cubicBezTo>
                  <a:pt x="322907" y="238408"/>
                  <a:pt x="338239" y="240394"/>
                  <a:pt x="353085" y="244443"/>
                </a:cubicBezTo>
                <a:cubicBezTo>
                  <a:pt x="371499" y="249465"/>
                  <a:pt x="389299" y="256514"/>
                  <a:pt x="407406" y="262550"/>
                </a:cubicBezTo>
                <a:cubicBezTo>
                  <a:pt x="416460" y="265568"/>
                  <a:pt x="425209" y="269732"/>
                  <a:pt x="434567" y="271604"/>
                </a:cubicBezTo>
                <a:cubicBezTo>
                  <a:pt x="449656" y="274622"/>
                  <a:pt x="464523" y="279126"/>
                  <a:pt x="479834" y="280657"/>
                </a:cubicBezTo>
                <a:cubicBezTo>
                  <a:pt x="524977" y="285171"/>
                  <a:pt x="570392" y="286360"/>
                  <a:pt x="615636" y="289711"/>
                </a:cubicBezTo>
                <a:lnTo>
                  <a:pt x="724277" y="298764"/>
                </a:lnTo>
                <a:cubicBezTo>
                  <a:pt x="884640" y="311100"/>
                  <a:pt x="802883" y="300941"/>
                  <a:pt x="914400" y="316871"/>
                </a:cubicBezTo>
                <a:cubicBezTo>
                  <a:pt x="992863" y="313853"/>
                  <a:pt x="1071432" y="312873"/>
                  <a:pt x="1149790" y="307818"/>
                </a:cubicBezTo>
                <a:cubicBezTo>
                  <a:pt x="1165146" y="306827"/>
                  <a:pt x="1179918" y="301517"/>
                  <a:pt x="1195058" y="298764"/>
                </a:cubicBezTo>
                <a:cubicBezTo>
                  <a:pt x="1213118" y="295480"/>
                  <a:pt x="1231318" y="292995"/>
                  <a:pt x="1249378" y="289711"/>
                </a:cubicBezTo>
                <a:cubicBezTo>
                  <a:pt x="1291512" y="282050"/>
                  <a:pt x="1292117" y="281289"/>
                  <a:pt x="1330860" y="271604"/>
                </a:cubicBezTo>
                <a:cubicBezTo>
                  <a:pt x="1399046" y="226146"/>
                  <a:pt x="1312387" y="279521"/>
                  <a:pt x="1394234" y="244443"/>
                </a:cubicBezTo>
                <a:cubicBezTo>
                  <a:pt x="1404235" y="240157"/>
                  <a:pt x="1411662" y="231202"/>
                  <a:pt x="1421394" y="226336"/>
                </a:cubicBezTo>
                <a:cubicBezTo>
                  <a:pt x="1429930" y="222068"/>
                  <a:pt x="1439501" y="220301"/>
                  <a:pt x="1448555" y="217283"/>
                </a:cubicBezTo>
                <a:cubicBezTo>
                  <a:pt x="1511928" y="175033"/>
                  <a:pt x="1490804" y="199176"/>
                  <a:pt x="1520982" y="153909"/>
                </a:cubicBezTo>
                <a:cubicBezTo>
                  <a:pt x="1514505" y="121520"/>
                  <a:pt x="1517135" y="104793"/>
                  <a:pt x="1493822" y="81481"/>
                </a:cubicBezTo>
                <a:cubicBezTo>
                  <a:pt x="1467471" y="55130"/>
                  <a:pt x="1440133" y="43583"/>
                  <a:pt x="1403287" y="36214"/>
                </a:cubicBezTo>
                <a:cubicBezTo>
                  <a:pt x="1373109" y="30178"/>
                  <a:pt x="1342610" y="25572"/>
                  <a:pt x="1312753" y="18107"/>
                </a:cubicBezTo>
                <a:cubicBezTo>
                  <a:pt x="1300682" y="15089"/>
                  <a:pt x="1288781" y="11279"/>
                  <a:pt x="1276539" y="9053"/>
                </a:cubicBezTo>
                <a:cubicBezTo>
                  <a:pt x="1255544" y="5236"/>
                  <a:pt x="1234290" y="3018"/>
                  <a:pt x="1213165" y="0"/>
                </a:cubicBezTo>
                <a:cubicBezTo>
                  <a:pt x="1092572" y="2941"/>
                  <a:pt x="795368" y="7585"/>
                  <a:pt x="642796" y="18107"/>
                </a:cubicBezTo>
                <a:cubicBezTo>
                  <a:pt x="621507" y="19575"/>
                  <a:pt x="600631" y="24803"/>
                  <a:pt x="579422" y="27160"/>
                </a:cubicBezTo>
                <a:cubicBezTo>
                  <a:pt x="546293" y="30841"/>
                  <a:pt x="513030" y="33196"/>
                  <a:pt x="479834" y="36214"/>
                </a:cubicBezTo>
                <a:cubicBezTo>
                  <a:pt x="419150" y="51384"/>
                  <a:pt x="466541" y="37804"/>
                  <a:pt x="398353" y="63374"/>
                </a:cubicBezTo>
                <a:cubicBezTo>
                  <a:pt x="372384" y="73112"/>
                  <a:pt x="363506" y="74349"/>
                  <a:pt x="334978" y="81481"/>
                </a:cubicBezTo>
                <a:cubicBezTo>
                  <a:pt x="325925" y="87517"/>
                  <a:pt x="317697" y="95028"/>
                  <a:pt x="307818" y="99588"/>
                </a:cubicBezTo>
                <a:cubicBezTo>
                  <a:pt x="278307" y="113209"/>
                  <a:pt x="243286" y="116300"/>
                  <a:pt x="217283" y="135802"/>
                </a:cubicBezTo>
                <a:cubicBezTo>
                  <a:pt x="205212" y="144855"/>
                  <a:pt x="194103" y="155359"/>
                  <a:pt x="181069" y="162962"/>
                </a:cubicBezTo>
                <a:cubicBezTo>
                  <a:pt x="157754" y="176563"/>
                  <a:pt x="131101" y="184204"/>
                  <a:pt x="108642" y="199176"/>
                </a:cubicBezTo>
                <a:cubicBezTo>
                  <a:pt x="73541" y="222576"/>
                  <a:pt x="91804" y="213842"/>
                  <a:pt x="54321" y="226336"/>
                </a:cubicBezTo>
                <a:cubicBezTo>
                  <a:pt x="11278" y="258618"/>
                  <a:pt x="28777" y="242827"/>
                  <a:pt x="0" y="27160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9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Tools for Meta-Analysis: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smtClean="0"/>
              <a:t>Metafor Package in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www.metafor-project.org/doku.php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118" y="1660591"/>
            <a:ext cx="6428882" cy="50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13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 smtClean="0"/>
              <a:t>Correction for the sources of errors in effect sizes:</a:t>
            </a:r>
          </a:p>
          <a:p>
            <a:pPr lvl="1"/>
            <a:r>
              <a:rPr lang="en-US" dirty="0" smtClean="0"/>
              <a:t>Such as measurement errors (measures reliability):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altLang="x-none" b="1" dirty="0"/>
              <a:t>So if: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xy</a:t>
            </a:r>
            <a:r>
              <a:rPr lang="en-US" altLang="x-none" b="1" dirty="0"/>
              <a:t> </a:t>
            </a:r>
            <a:r>
              <a:rPr lang="en-US" altLang="x-none" dirty="0"/>
              <a:t>=</a:t>
            </a:r>
            <a:r>
              <a:rPr lang="en-US" altLang="x-none" b="1" dirty="0"/>
              <a:t> </a:t>
            </a:r>
            <a:r>
              <a:rPr lang="en-US" altLang="x-none" dirty="0"/>
              <a:t>.45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xx</a:t>
            </a:r>
            <a:r>
              <a:rPr lang="en-US" altLang="x-none" dirty="0"/>
              <a:t> = .93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yy</a:t>
            </a:r>
            <a:r>
              <a:rPr lang="en-US" altLang="x-none" dirty="0"/>
              <a:t> = .91</a:t>
            </a:r>
          </a:p>
          <a:p>
            <a:pPr lvl="1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r>
              <a:rPr lang="en-US" altLang="x-none" dirty="0"/>
              <a:t>Then  </a:t>
            </a:r>
            <a:r>
              <a:rPr lang="en-US" altLang="x-none" b="1" dirty="0" err="1" smtClean="0"/>
              <a:t>r</a:t>
            </a:r>
            <a:r>
              <a:rPr lang="en-US" altLang="x-none" b="1" baseline="-25000" dirty="0" err="1" smtClean="0"/>
              <a:t>c</a:t>
            </a:r>
            <a:r>
              <a:rPr lang="en-US" altLang="x-none" b="1" dirty="0" smtClean="0"/>
              <a:t> </a:t>
            </a:r>
            <a:r>
              <a:rPr lang="en-US" altLang="x-none" dirty="0"/>
              <a:t>= </a:t>
            </a:r>
            <a:r>
              <a:rPr lang="en-US" altLang="x-none" dirty="0" smtClean="0"/>
              <a:t>0.45 / </a:t>
            </a:r>
            <a:r>
              <a:rPr lang="en-US" altLang="x-none" dirty="0" err="1" smtClean="0"/>
              <a:t>sqrt</a:t>
            </a:r>
            <a:r>
              <a:rPr lang="en-US" altLang="x-none" dirty="0" smtClean="0"/>
              <a:t>(0.93 x 0.91) = 0.49</a:t>
            </a:r>
            <a:endParaRPr lang="en-US" altLang="x-none" baseline="-25000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 reliability reported = 1.</a:t>
            </a:r>
          </a:p>
          <a:p>
            <a:pPr lvl="1"/>
            <a:endParaRPr lang="en-US" dirty="0"/>
          </a:p>
          <a:p>
            <a:pPr marL="57150" indent="0">
              <a:buNone/>
            </a:pPr>
            <a:r>
              <a:rPr lang="en-US" sz="1700" dirty="0" smtClean="0"/>
              <a:t>For other </a:t>
            </a:r>
            <a:r>
              <a:rPr lang="en-US" sz="1700" dirty="0"/>
              <a:t>possible corrections, see:  </a:t>
            </a:r>
            <a:endParaRPr lang="en-US" sz="1700" dirty="0" smtClean="0"/>
          </a:p>
          <a:p>
            <a:pPr marL="457200" lvl="1" indent="0">
              <a:buNone/>
            </a:pPr>
            <a:r>
              <a:rPr lang="en-US" sz="1500" i="1" dirty="0" smtClean="0"/>
              <a:t>Hunter</a:t>
            </a:r>
            <a:r>
              <a:rPr lang="en-US" sz="1500" i="1" dirty="0"/>
              <a:t>, J.E., and Schmidt, F.L. 2004. Methods of Meta-Analysis: Correcting Error and Bias in Research Findings, (Second ed</a:t>
            </a:r>
            <a:r>
              <a:rPr lang="en-US" sz="1500" i="1" dirty="0" smtClean="0"/>
              <a:t>.), </a:t>
            </a:r>
            <a:r>
              <a:rPr lang="en-US" sz="1500" i="1" dirty="0"/>
              <a:t>Sage Publications, Inc</a:t>
            </a:r>
            <a:r>
              <a:rPr lang="en-US" sz="1500" i="1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168" y="2290312"/>
            <a:ext cx="1875096" cy="914399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6167886" y="2134864"/>
            <a:ext cx="2130725" cy="612648"/>
          </a:xfrm>
          <a:prstGeom prst="borderCallout1">
            <a:avLst>
              <a:gd name="adj1" fmla="val 18750"/>
              <a:gd name="adj2" fmla="val -8333"/>
              <a:gd name="adj3" fmla="val 60402"/>
              <a:gd name="adj4" fmla="val -529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Observed 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553200" y="3294030"/>
            <a:ext cx="1518250" cy="612648"/>
          </a:xfrm>
          <a:prstGeom prst="borderCallout1">
            <a:avLst>
              <a:gd name="adj1" fmla="val 18750"/>
              <a:gd name="adj2" fmla="val -8333"/>
              <a:gd name="adj3" fmla="val -17041"/>
              <a:gd name="adj4" fmla="val -11173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Reliabilities for </a:t>
            </a:r>
          </a:p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variables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Line Callout 1 9"/>
          <p:cNvSpPr/>
          <p:nvPr/>
        </p:nvSpPr>
        <p:spPr>
          <a:xfrm>
            <a:off x="759124" y="2134864"/>
            <a:ext cx="2130725" cy="612648"/>
          </a:xfrm>
          <a:prstGeom prst="borderCallout1">
            <a:avLst>
              <a:gd name="adj1" fmla="val 17342"/>
              <a:gd name="adj2" fmla="val 104622"/>
              <a:gd name="adj3" fmla="val 88564"/>
              <a:gd name="adj4" fmla="val 12684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Corrected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7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850" y="1348748"/>
            <a:ext cx="1875096" cy="914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Correction for the sources of errors in effect sizes: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2" y="2505829"/>
            <a:ext cx="7387408" cy="3759986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3920148" y="1955551"/>
            <a:ext cx="2534969" cy="959667"/>
          </a:xfrm>
          <a:custGeom>
            <a:avLst/>
            <a:gdLst>
              <a:gd name="connsiteX0" fmla="*/ 2326741 w 2326741"/>
              <a:gd name="connsiteY0" fmla="*/ 0 h 959667"/>
              <a:gd name="connsiteX1" fmla="*/ 2181886 w 2326741"/>
              <a:gd name="connsiteY1" fmla="*/ 18107 h 959667"/>
              <a:gd name="connsiteX2" fmla="*/ 1865014 w 2326741"/>
              <a:gd name="connsiteY2" fmla="*/ 27160 h 959667"/>
              <a:gd name="connsiteX3" fmla="*/ 1747319 w 2326741"/>
              <a:gd name="connsiteY3" fmla="*/ 36214 h 959667"/>
              <a:gd name="connsiteX4" fmla="*/ 1674892 w 2326741"/>
              <a:gd name="connsiteY4" fmla="*/ 45267 h 959667"/>
              <a:gd name="connsiteX5" fmla="*/ 1584357 w 2326741"/>
              <a:gd name="connsiteY5" fmla="*/ 54321 h 959667"/>
              <a:gd name="connsiteX6" fmla="*/ 1530036 w 2326741"/>
              <a:gd name="connsiteY6" fmla="*/ 63374 h 959667"/>
              <a:gd name="connsiteX7" fmla="*/ 1421395 w 2326741"/>
              <a:gd name="connsiteY7" fmla="*/ 72428 h 959667"/>
              <a:gd name="connsiteX8" fmla="*/ 1376127 w 2326741"/>
              <a:gd name="connsiteY8" fmla="*/ 81481 h 959667"/>
              <a:gd name="connsiteX9" fmla="*/ 1285593 w 2326741"/>
              <a:gd name="connsiteY9" fmla="*/ 108641 h 959667"/>
              <a:gd name="connsiteX10" fmla="*/ 1167898 w 2326741"/>
              <a:gd name="connsiteY10" fmla="*/ 153909 h 959667"/>
              <a:gd name="connsiteX11" fmla="*/ 1095470 w 2326741"/>
              <a:gd name="connsiteY11" fmla="*/ 181069 h 959667"/>
              <a:gd name="connsiteX12" fmla="*/ 1059256 w 2326741"/>
              <a:gd name="connsiteY12" fmla="*/ 199176 h 959667"/>
              <a:gd name="connsiteX13" fmla="*/ 1004935 w 2326741"/>
              <a:gd name="connsiteY13" fmla="*/ 217283 h 959667"/>
              <a:gd name="connsiteX14" fmla="*/ 923454 w 2326741"/>
              <a:gd name="connsiteY14" fmla="*/ 262550 h 959667"/>
              <a:gd name="connsiteX15" fmla="*/ 851026 w 2326741"/>
              <a:gd name="connsiteY15" fmla="*/ 307818 h 959667"/>
              <a:gd name="connsiteX16" fmla="*/ 814812 w 2326741"/>
              <a:gd name="connsiteY16" fmla="*/ 325925 h 959667"/>
              <a:gd name="connsiteX17" fmla="*/ 769545 w 2326741"/>
              <a:gd name="connsiteY17" fmla="*/ 334978 h 959667"/>
              <a:gd name="connsiteX18" fmla="*/ 715224 w 2326741"/>
              <a:gd name="connsiteY18" fmla="*/ 353085 h 959667"/>
              <a:gd name="connsiteX19" fmla="*/ 633743 w 2326741"/>
              <a:gd name="connsiteY19" fmla="*/ 398352 h 959667"/>
              <a:gd name="connsiteX20" fmla="*/ 579422 w 2326741"/>
              <a:gd name="connsiteY20" fmla="*/ 434566 h 959667"/>
              <a:gd name="connsiteX21" fmla="*/ 506995 w 2326741"/>
              <a:gd name="connsiteY21" fmla="*/ 516047 h 959667"/>
              <a:gd name="connsiteX22" fmla="*/ 488888 w 2326741"/>
              <a:gd name="connsiteY22" fmla="*/ 570368 h 959667"/>
              <a:gd name="connsiteX23" fmla="*/ 470781 w 2326741"/>
              <a:gd name="connsiteY23" fmla="*/ 642796 h 959667"/>
              <a:gd name="connsiteX24" fmla="*/ 488888 w 2326741"/>
              <a:gd name="connsiteY24" fmla="*/ 841972 h 959667"/>
              <a:gd name="connsiteX25" fmla="*/ 497941 w 2326741"/>
              <a:gd name="connsiteY25" fmla="*/ 869133 h 959667"/>
              <a:gd name="connsiteX26" fmla="*/ 534155 w 2326741"/>
              <a:gd name="connsiteY26" fmla="*/ 923453 h 959667"/>
              <a:gd name="connsiteX27" fmla="*/ 588476 w 2326741"/>
              <a:gd name="connsiteY27" fmla="*/ 959667 h 959667"/>
              <a:gd name="connsiteX28" fmla="*/ 733331 w 2326741"/>
              <a:gd name="connsiteY28" fmla="*/ 950614 h 959667"/>
              <a:gd name="connsiteX29" fmla="*/ 760492 w 2326741"/>
              <a:gd name="connsiteY29" fmla="*/ 941560 h 959667"/>
              <a:gd name="connsiteX30" fmla="*/ 832919 w 2326741"/>
              <a:gd name="connsiteY30" fmla="*/ 860079 h 959667"/>
              <a:gd name="connsiteX31" fmla="*/ 841973 w 2326741"/>
              <a:gd name="connsiteY31" fmla="*/ 832919 h 959667"/>
              <a:gd name="connsiteX32" fmla="*/ 851026 w 2326741"/>
              <a:gd name="connsiteY32" fmla="*/ 787651 h 959667"/>
              <a:gd name="connsiteX33" fmla="*/ 841973 w 2326741"/>
              <a:gd name="connsiteY33" fmla="*/ 642796 h 959667"/>
              <a:gd name="connsiteX34" fmla="*/ 832919 w 2326741"/>
              <a:gd name="connsiteY34" fmla="*/ 606582 h 959667"/>
              <a:gd name="connsiteX35" fmla="*/ 805759 w 2326741"/>
              <a:gd name="connsiteY35" fmla="*/ 570368 h 959667"/>
              <a:gd name="connsiteX36" fmla="*/ 760492 w 2326741"/>
              <a:gd name="connsiteY36" fmla="*/ 506994 h 959667"/>
              <a:gd name="connsiteX37" fmla="*/ 742385 w 2326741"/>
              <a:gd name="connsiteY37" fmla="*/ 479834 h 959667"/>
              <a:gd name="connsiteX38" fmla="*/ 679010 w 2326741"/>
              <a:gd name="connsiteY38" fmla="*/ 443620 h 959667"/>
              <a:gd name="connsiteX39" fmla="*/ 642797 w 2326741"/>
              <a:gd name="connsiteY39" fmla="*/ 416459 h 959667"/>
              <a:gd name="connsiteX40" fmla="*/ 525101 w 2326741"/>
              <a:gd name="connsiteY40" fmla="*/ 362138 h 959667"/>
              <a:gd name="connsiteX41" fmla="*/ 479834 w 2326741"/>
              <a:gd name="connsiteY41" fmla="*/ 325925 h 959667"/>
              <a:gd name="connsiteX42" fmla="*/ 153909 w 2326741"/>
              <a:gd name="connsiteY42" fmla="*/ 172016 h 959667"/>
              <a:gd name="connsiteX43" fmla="*/ 63375 w 2326741"/>
              <a:gd name="connsiteY43" fmla="*/ 135802 h 959667"/>
              <a:gd name="connsiteX44" fmla="*/ 0 w 2326741"/>
              <a:gd name="connsiteY44" fmla="*/ 117695 h 9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326741" h="959667">
                <a:moveTo>
                  <a:pt x="2326741" y="0"/>
                </a:moveTo>
                <a:cubicBezTo>
                  <a:pt x="2263422" y="15829"/>
                  <a:pt x="2279128" y="13969"/>
                  <a:pt x="2181886" y="18107"/>
                </a:cubicBezTo>
                <a:cubicBezTo>
                  <a:pt x="2076314" y="22599"/>
                  <a:pt x="1970638" y="24142"/>
                  <a:pt x="1865014" y="27160"/>
                </a:cubicBezTo>
                <a:lnTo>
                  <a:pt x="1747319" y="36214"/>
                </a:lnTo>
                <a:cubicBezTo>
                  <a:pt x="1723098" y="38521"/>
                  <a:pt x="1699073" y="42580"/>
                  <a:pt x="1674892" y="45267"/>
                </a:cubicBezTo>
                <a:cubicBezTo>
                  <a:pt x="1644749" y="48616"/>
                  <a:pt x="1614452" y="50559"/>
                  <a:pt x="1584357" y="54321"/>
                </a:cubicBezTo>
                <a:cubicBezTo>
                  <a:pt x="1566142" y="56598"/>
                  <a:pt x="1548280" y="61347"/>
                  <a:pt x="1530036" y="63374"/>
                </a:cubicBezTo>
                <a:cubicBezTo>
                  <a:pt x="1493919" y="67387"/>
                  <a:pt x="1457609" y="69410"/>
                  <a:pt x="1421395" y="72428"/>
                </a:cubicBezTo>
                <a:cubicBezTo>
                  <a:pt x="1406306" y="75446"/>
                  <a:pt x="1391149" y="78143"/>
                  <a:pt x="1376127" y="81481"/>
                </a:cubicBezTo>
                <a:cubicBezTo>
                  <a:pt x="1344369" y="88538"/>
                  <a:pt x="1316480" y="96761"/>
                  <a:pt x="1285593" y="108641"/>
                </a:cubicBezTo>
                <a:cubicBezTo>
                  <a:pt x="1246361" y="123730"/>
                  <a:pt x="1206765" y="137905"/>
                  <a:pt x="1167898" y="153909"/>
                </a:cubicBezTo>
                <a:cubicBezTo>
                  <a:pt x="1094736" y="184035"/>
                  <a:pt x="1168581" y="162792"/>
                  <a:pt x="1095470" y="181069"/>
                </a:cubicBezTo>
                <a:cubicBezTo>
                  <a:pt x="1083399" y="187105"/>
                  <a:pt x="1071787" y="194164"/>
                  <a:pt x="1059256" y="199176"/>
                </a:cubicBezTo>
                <a:cubicBezTo>
                  <a:pt x="1041535" y="206265"/>
                  <a:pt x="1004935" y="217283"/>
                  <a:pt x="1004935" y="217283"/>
                </a:cubicBezTo>
                <a:cubicBezTo>
                  <a:pt x="942674" y="258791"/>
                  <a:pt x="971259" y="246616"/>
                  <a:pt x="923454" y="262550"/>
                </a:cubicBezTo>
                <a:cubicBezTo>
                  <a:pt x="895156" y="281416"/>
                  <a:pt x="883786" y="289618"/>
                  <a:pt x="851026" y="307818"/>
                </a:cubicBezTo>
                <a:cubicBezTo>
                  <a:pt x="839228" y="314372"/>
                  <a:pt x="827616" y="321657"/>
                  <a:pt x="814812" y="325925"/>
                </a:cubicBezTo>
                <a:cubicBezTo>
                  <a:pt x="800214" y="330791"/>
                  <a:pt x="784391" y="330929"/>
                  <a:pt x="769545" y="334978"/>
                </a:cubicBezTo>
                <a:cubicBezTo>
                  <a:pt x="751131" y="340000"/>
                  <a:pt x="732295" y="344549"/>
                  <a:pt x="715224" y="353085"/>
                </a:cubicBezTo>
                <a:cubicBezTo>
                  <a:pt x="674897" y="373248"/>
                  <a:pt x="675424" y="371828"/>
                  <a:pt x="633743" y="398352"/>
                </a:cubicBezTo>
                <a:cubicBezTo>
                  <a:pt x="615383" y="410035"/>
                  <a:pt x="594810" y="419178"/>
                  <a:pt x="579422" y="434566"/>
                </a:cubicBezTo>
                <a:cubicBezTo>
                  <a:pt x="563029" y="450959"/>
                  <a:pt x="519920" y="486965"/>
                  <a:pt x="506995" y="516047"/>
                </a:cubicBezTo>
                <a:cubicBezTo>
                  <a:pt x="499243" y="533488"/>
                  <a:pt x="493517" y="551851"/>
                  <a:pt x="488888" y="570368"/>
                </a:cubicBezTo>
                <a:lnTo>
                  <a:pt x="470781" y="642796"/>
                </a:lnTo>
                <a:cubicBezTo>
                  <a:pt x="477171" y="757830"/>
                  <a:pt x="467405" y="766781"/>
                  <a:pt x="488888" y="841972"/>
                </a:cubicBezTo>
                <a:cubicBezTo>
                  <a:pt x="491510" y="851148"/>
                  <a:pt x="493306" y="860791"/>
                  <a:pt x="497941" y="869133"/>
                </a:cubicBezTo>
                <a:cubicBezTo>
                  <a:pt x="508509" y="888156"/>
                  <a:pt x="516048" y="911382"/>
                  <a:pt x="534155" y="923453"/>
                </a:cubicBezTo>
                <a:lnTo>
                  <a:pt x="588476" y="959667"/>
                </a:lnTo>
                <a:cubicBezTo>
                  <a:pt x="636761" y="956649"/>
                  <a:pt x="685218" y="955679"/>
                  <a:pt x="733331" y="950614"/>
                </a:cubicBezTo>
                <a:cubicBezTo>
                  <a:pt x="742822" y="949615"/>
                  <a:pt x="752959" y="947419"/>
                  <a:pt x="760492" y="941560"/>
                </a:cubicBezTo>
                <a:cubicBezTo>
                  <a:pt x="780122" y="926292"/>
                  <a:pt x="818617" y="888682"/>
                  <a:pt x="832919" y="860079"/>
                </a:cubicBezTo>
                <a:cubicBezTo>
                  <a:pt x="837187" y="851543"/>
                  <a:pt x="839658" y="842177"/>
                  <a:pt x="841973" y="832919"/>
                </a:cubicBezTo>
                <a:cubicBezTo>
                  <a:pt x="845705" y="817990"/>
                  <a:pt x="848008" y="802740"/>
                  <a:pt x="851026" y="787651"/>
                </a:cubicBezTo>
                <a:cubicBezTo>
                  <a:pt x="848008" y="739366"/>
                  <a:pt x="846787" y="690935"/>
                  <a:pt x="841973" y="642796"/>
                </a:cubicBezTo>
                <a:cubicBezTo>
                  <a:pt x="840735" y="630415"/>
                  <a:pt x="838484" y="617711"/>
                  <a:pt x="832919" y="606582"/>
                </a:cubicBezTo>
                <a:cubicBezTo>
                  <a:pt x="826171" y="593086"/>
                  <a:pt x="814812" y="582439"/>
                  <a:pt x="805759" y="570368"/>
                </a:cubicBezTo>
                <a:cubicBezTo>
                  <a:pt x="789123" y="520463"/>
                  <a:pt x="807359" y="561672"/>
                  <a:pt x="760492" y="506994"/>
                </a:cubicBezTo>
                <a:cubicBezTo>
                  <a:pt x="753411" y="498733"/>
                  <a:pt x="750079" y="487528"/>
                  <a:pt x="742385" y="479834"/>
                </a:cubicBezTo>
                <a:cubicBezTo>
                  <a:pt x="725771" y="463221"/>
                  <a:pt x="697946" y="455455"/>
                  <a:pt x="679010" y="443620"/>
                </a:cubicBezTo>
                <a:cubicBezTo>
                  <a:pt x="666215" y="435623"/>
                  <a:pt x="655898" y="423945"/>
                  <a:pt x="642797" y="416459"/>
                </a:cubicBezTo>
                <a:cubicBezTo>
                  <a:pt x="573452" y="376833"/>
                  <a:pt x="575863" y="379059"/>
                  <a:pt x="525101" y="362138"/>
                </a:cubicBezTo>
                <a:cubicBezTo>
                  <a:pt x="510012" y="350067"/>
                  <a:pt x="495912" y="336644"/>
                  <a:pt x="479834" y="325925"/>
                </a:cubicBezTo>
                <a:cubicBezTo>
                  <a:pt x="398636" y="271793"/>
                  <a:pt x="180676" y="182723"/>
                  <a:pt x="153909" y="172016"/>
                </a:cubicBezTo>
                <a:cubicBezTo>
                  <a:pt x="123731" y="159945"/>
                  <a:pt x="94025" y="146620"/>
                  <a:pt x="63375" y="135802"/>
                </a:cubicBezTo>
                <a:cubicBezTo>
                  <a:pt x="42657" y="128490"/>
                  <a:pt x="0" y="117695"/>
                  <a:pt x="0" y="11769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55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</a:t>
            </a:r>
            <a:r>
              <a:rPr lang="en-US" sz="2800" dirty="0" smtClean="0"/>
              <a:t>Meta-Analysis</a:t>
            </a:r>
            <a:r>
              <a:rPr lang="en-US" sz="2800" dirty="0" smtClean="0"/>
              <a:t>: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4928"/>
            <a:ext cx="8229600" cy="505161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 startAt="2"/>
            </a:pPr>
            <a:r>
              <a:rPr lang="en-US" altLang="x-none" sz="2000" dirty="0" smtClean="0"/>
              <a:t>Transform Corrected Correlations to Fisher’s Z (standardization)</a:t>
            </a:r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 smtClean="0"/>
              <a:t>The </a:t>
            </a:r>
            <a:r>
              <a:rPr lang="en-US" altLang="x-none" sz="1800" dirty="0"/>
              <a:t>unstandardized corrected r has a problematic standard error </a:t>
            </a:r>
            <a:r>
              <a:rPr lang="en-US" altLang="x-none" sz="1800" dirty="0" smtClean="0"/>
              <a:t>formulation, </a:t>
            </a:r>
            <a:r>
              <a:rPr lang="en-US" altLang="x-none" sz="1800" dirty="0"/>
              <a:t>so we transform it</a:t>
            </a:r>
            <a:r>
              <a:rPr lang="en-US" altLang="x-none" sz="1800" dirty="0" smtClean="0"/>
              <a:t>: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 smtClean="0">
                <a:latin typeface="Times New Roman" charset="0"/>
              </a:rPr>
              <a:t>			= </a:t>
            </a:r>
            <a:r>
              <a:rPr lang="en-US" altLang="x-none" dirty="0">
                <a:latin typeface="Times New Roman" charset="0"/>
              </a:rPr>
              <a:t>0.5 x ln (( 1 + .49)/(1 - .49))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 smtClean="0">
                <a:latin typeface="Times New Roman" charset="0"/>
              </a:rPr>
              <a:t>			= </a:t>
            </a:r>
            <a:r>
              <a:rPr lang="en-US" altLang="x-none" dirty="0">
                <a:latin typeface="Times New Roman" charset="0"/>
              </a:rPr>
              <a:t>0.53.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 smtClean="0"/>
              <a:t>Depending on the tools that you use, you may need to do this transformation manually (e.g., in SPSS macro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 smtClean="0"/>
              <a:t>Some tools does the transformation for you, such as </a:t>
            </a:r>
            <a:r>
              <a:rPr lang="en-US" altLang="x-none" sz="1600" dirty="0" err="1" smtClean="0"/>
              <a:t>metafor</a:t>
            </a:r>
            <a:r>
              <a:rPr lang="en-US" altLang="x-none" sz="1600" dirty="0" smtClean="0"/>
              <a:t> package in R.</a:t>
            </a:r>
            <a:endParaRPr lang="en-US" altLang="x-none" sz="16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84005"/>
              </p:ext>
            </p:extLst>
          </p:nvPr>
        </p:nvGraphicFramePr>
        <p:xfrm>
          <a:off x="2786407" y="2303918"/>
          <a:ext cx="3571186" cy="125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6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407" y="2303918"/>
                        <a:ext cx="3571186" cy="1257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0040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8321"/>
            <a:ext cx="9144000" cy="36742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2"/>
            </a:pPr>
            <a:r>
              <a:rPr lang="en-US" altLang="x-none" sz="2000" dirty="0"/>
              <a:t>Transform Corrected Correlations to Fisher’s Z (standardization)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861548"/>
              </p:ext>
            </p:extLst>
          </p:nvPr>
        </p:nvGraphicFramePr>
        <p:xfrm>
          <a:off x="3339975" y="1519767"/>
          <a:ext cx="2314264" cy="81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9" name="Equation" r:id="rId4" imgW="1143000" imgH="431640" progId="Equation.3">
                  <p:embed/>
                </p:oleObj>
              </mc:Choice>
              <mc:Fallback>
                <p:oleObj name="Equation" r:id="rId4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975" y="1519767"/>
                        <a:ext cx="2314264" cy="814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>
          <a:xfrm>
            <a:off x="5667469" y="1946495"/>
            <a:ext cx="860080" cy="832919"/>
          </a:xfrm>
          <a:custGeom>
            <a:avLst/>
            <a:gdLst>
              <a:gd name="connsiteX0" fmla="*/ 162963 w 860080"/>
              <a:gd name="connsiteY0" fmla="*/ 0 h 832919"/>
              <a:gd name="connsiteX1" fmla="*/ 190123 w 860080"/>
              <a:gd name="connsiteY1" fmla="*/ 36214 h 832919"/>
              <a:gd name="connsiteX2" fmla="*/ 208230 w 860080"/>
              <a:gd name="connsiteY2" fmla="*/ 63374 h 832919"/>
              <a:gd name="connsiteX3" fmla="*/ 271604 w 860080"/>
              <a:gd name="connsiteY3" fmla="*/ 144855 h 832919"/>
              <a:gd name="connsiteX4" fmla="*/ 289711 w 860080"/>
              <a:gd name="connsiteY4" fmla="*/ 172016 h 832919"/>
              <a:gd name="connsiteX5" fmla="*/ 334979 w 860080"/>
              <a:gd name="connsiteY5" fmla="*/ 208230 h 832919"/>
              <a:gd name="connsiteX6" fmla="*/ 362139 w 860080"/>
              <a:gd name="connsiteY6" fmla="*/ 235390 h 832919"/>
              <a:gd name="connsiteX7" fmla="*/ 425513 w 860080"/>
              <a:gd name="connsiteY7" fmla="*/ 280657 h 832919"/>
              <a:gd name="connsiteX8" fmla="*/ 479834 w 860080"/>
              <a:gd name="connsiteY8" fmla="*/ 344032 h 832919"/>
              <a:gd name="connsiteX9" fmla="*/ 497941 w 860080"/>
              <a:gd name="connsiteY9" fmla="*/ 371192 h 832919"/>
              <a:gd name="connsiteX10" fmla="*/ 525101 w 860080"/>
              <a:gd name="connsiteY10" fmla="*/ 407406 h 832919"/>
              <a:gd name="connsiteX11" fmla="*/ 570369 w 860080"/>
              <a:gd name="connsiteY11" fmla="*/ 479834 h 832919"/>
              <a:gd name="connsiteX12" fmla="*/ 588476 w 860080"/>
              <a:gd name="connsiteY12" fmla="*/ 543208 h 832919"/>
              <a:gd name="connsiteX13" fmla="*/ 597529 w 860080"/>
              <a:gd name="connsiteY13" fmla="*/ 570368 h 832919"/>
              <a:gd name="connsiteX14" fmla="*/ 588476 w 860080"/>
              <a:gd name="connsiteY14" fmla="*/ 669956 h 832919"/>
              <a:gd name="connsiteX15" fmla="*/ 570369 w 860080"/>
              <a:gd name="connsiteY15" fmla="*/ 697117 h 832919"/>
              <a:gd name="connsiteX16" fmla="*/ 516048 w 860080"/>
              <a:gd name="connsiteY16" fmla="*/ 751438 h 832919"/>
              <a:gd name="connsiteX17" fmla="*/ 407406 w 860080"/>
              <a:gd name="connsiteY17" fmla="*/ 814812 h 832919"/>
              <a:gd name="connsiteX18" fmla="*/ 334979 w 860080"/>
              <a:gd name="connsiteY18" fmla="*/ 832919 h 832919"/>
              <a:gd name="connsiteX19" fmla="*/ 181070 w 860080"/>
              <a:gd name="connsiteY19" fmla="*/ 823865 h 832919"/>
              <a:gd name="connsiteX20" fmla="*/ 144856 w 860080"/>
              <a:gd name="connsiteY20" fmla="*/ 814812 h 832919"/>
              <a:gd name="connsiteX21" fmla="*/ 72428 w 860080"/>
              <a:gd name="connsiteY21" fmla="*/ 805758 h 832919"/>
              <a:gd name="connsiteX22" fmla="*/ 18107 w 860080"/>
              <a:gd name="connsiteY22" fmla="*/ 796705 h 832919"/>
              <a:gd name="connsiteX23" fmla="*/ 0 w 860080"/>
              <a:gd name="connsiteY23" fmla="*/ 733331 h 832919"/>
              <a:gd name="connsiteX24" fmla="*/ 9054 w 860080"/>
              <a:gd name="connsiteY24" fmla="*/ 697117 h 832919"/>
              <a:gd name="connsiteX25" fmla="*/ 72428 w 860080"/>
              <a:gd name="connsiteY25" fmla="*/ 633743 h 832919"/>
              <a:gd name="connsiteX26" fmla="*/ 108642 w 860080"/>
              <a:gd name="connsiteY26" fmla="*/ 615636 h 832919"/>
              <a:gd name="connsiteX27" fmla="*/ 144856 w 860080"/>
              <a:gd name="connsiteY27" fmla="*/ 606582 h 832919"/>
              <a:gd name="connsiteX28" fmla="*/ 172016 w 860080"/>
              <a:gd name="connsiteY28" fmla="*/ 597529 h 832919"/>
              <a:gd name="connsiteX29" fmla="*/ 217283 w 860080"/>
              <a:gd name="connsiteY29" fmla="*/ 561315 h 832919"/>
              <a:gd name="connsiteX30" fmla="*/ 253497 w 860080"/>
              <a:gd name="connsiteY30" fmla="*/ 543208 h 832919"/>
              <a:gd name="connsiteX31" fmla="*/ 280658 w 860080"/>
              <a:gd name="connsiteY31" fmla="*/ 516048 h 832919"/>
              <a:gd name="connsiteX32" fmla="*/ 334979 w 860080"/>
              <a:gd name="connsiteY32" fmla="*/ 479834 h 832919"/>
              <a:gd name="connsiteX33" fmla="*/ 362139 w 860080"/>
              <a:gd name="connsiteY33" fmla="*/ 461727 h 832919"/>
              <a:gd name="connsiteX34" fmla="*/ 470781 w 860080"/>
              <a:gd name="connsiteY34" fmla="*/ 407406 h 832919"/>
              <a:gd name="connsiteX35" fmla="*/ 506994 w 860080"/>
              <a:gd name="connsiteY35" fmla="*/ 389299 h 832919"/>
              <a:gd name="connsiteX36" fmla="*/ 588476 w 860080"/>
              <a:gd name="connsiteY36" fmla="*/ 334978 h 832919"/>
              <a:gd name="connsiteX37" fmla="*/ 679010 w 860080"/>
              <a:gd name="connsiteY37" fmla="*/ 298764 h 832919"/>
              <a:gd name="connsiteX38" fmla="*/ 769545 w 860080"/>
              <a:gd name="connsiteY38" fmla="*/ 262551 h 832919"/>
              <a:gd name="connsiteX39" fmla="*/ 814812 w 860080"/>
              <a:gd name="connsiteY39" fmla="*/ 244444 h 832919"/>
              <a:gd name="connsiteX40" fmla="*/ 851026 w 860080"/>
              <a:gd name="connsiteY40" fmla="*/ 235390 h 832919"/>
              <a:gd name="connsiteX41" fmla="*/ 860080 w 860080"/>
              <a:gd name="connsiteY41" fmla="*/ 226337 h 832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60080" h="832919">
                <a:moveTo>
                  <a:pt x="162963" y="0"/>
                </a:moveTo>
                <a:cubicBezTo>
                  <a:pt x="172016" y="12071"/>
                  <a:pt x="181353" y="23936"/>
                  <a:pt x="190123" y="36214"/>
                </a:cubicBezTo>
                <a:cubicBezTo>
                  <a:pt x="196447" y="45068"/>
                  <a:pt x="201701" y="54669"/>
                  <a:pt x="208230" y="63374"/>
                </a:cubicBezTo>
                <a:cubicBezTo>
                  <a:pt x="228875" y="90901"/>
                  <a:pt x="252518" y="116225"/>
                  <a:pt x="271604" y="144855"/>
                </a:cubicBezTo>
                <a:cubicBezTo>
                  <a:pt x="277640" y="153909"/>
                  <a:pt x="282017" y="164322"/>
                  <a:pt x="289711" y="172016"/>
                </a:cubicBezTo>
                <a:cubicBezTo>
                  <a:pt x="303375" y="185680"/>
                  <a:pt x="320436" y="195505"/>
                  <a:pt x="334979" y="208230"/>
                </a:cubicBezTo>
                <a:cubicBezTo>
                  <a:pt x="344615" y="216661"/>
                  <a:pt x="352418" y="227058"/>
                  <a:pt x="362139" y="235390"/>
                </a:cubicBezTo>
                <a:cubicBezTo>
                  <a:pt x="381797" y="252240"/>
                  <a:pt x="404013" y="266324"/>
                  <a:pt x="425513" y="280657"/>
                </a:cubicBezTo>
                <a:cubicBezTo>
                  <a:pt x="467080" y="343009"/>
                  <a:pt x="413975" y="267198"/>
                  <a:pt x="479834" y="344032"/>
                </a:cubicBezTo>
                <a:cubicBezTo>
                  <a:pt x="486915" y="352293"/>
                  <a:pt x="491617" y="362338"/>
                  <a:pt x="497941" y="371192"/>
                </a:cubicBezTo>
                <a:cubicBezTo>
                  <a:pt x="506711" y="383470"/>
                  <a:pt x="516731" y="394851"/>
                  <a:pt x="525101" y="407406"/>
                </a:cubicBezTo>
                <a:cubicBezTo>
                  <a:pt x="540893" y="431095"/>
                  <a:pt x="570369" y="479834"/>
                  <a:pt x="570369" y="479834"/>
                </a:cubicBezTo>
                <a:cubicBezTo>
                  <a:pt x="592075" y="544954"/>
                  <a:pt x="565740" y="463633"/>
                  <a:pt x="588476" y="543208"/>
                </a:cubicBezTo>
                <a:cubicBezTo>
                  <a:pt x="591098" y="552384"/>
                  <a:pt x="594511" y="561315"/>
                  <a:pt x="597529" y="570368"/>
                </a:cubicBezTo>
                <a:cubicBezTo>
                  <a:pt x="594511" y="603564"/>
                  <a:pt x="595460" y="637363"/>
                  <a:pt x="588476" y="669956"/>
                </a:cubicBezTo>
                <a:cubicBezTo>
                  <a:pt x="586196" y="680596"/>
                  <a:pt x="577598" y="688984"/>
                  <a:pt x="570369" y="697117"/>
                </a:cubicBezTo>
                <a:cubicBezTo>
                  <a:pt x="553357" y="716256"/>
                  <a:pt x="537763" y="737866"/>
                  <a:pt x="516048" y="751438"/>
                </a:cubicBezTo>
                <a:cubicBezTo>
                  <a:pt x="479492" y="774285"/>
                  <a:pt x="446654" y="797992"/>
                  <a:pt x="407406" y="814812"/>
                </a:cubicBezTo>
                <a:cubicBezTo>
                  <a:pt x="383050" y="825250"/>
                  <a:pt x="361543" y="827606"/>
                  <a:pt x="334979" y="832919"/>
                </a:cubicBezTo>
                <a:cubicBezTo>
                  <a:pt x="283676" y="829901"/>
                  <a:pt x="232230" y="828737"/>
                  <a:pt x="181070" y="823865"/>
                </a:cubicBezTo>
                <a:cubicBezTo>
                  <a:pt x="168683" y="822685"/>
                  <a:pt x="157130" y="816858"/>
                  <a:pt x="144856" y="814812"/>
                </a:cubicBezTo>
                <a:cubicBezTo>
                  <a:pt x="120856" y="810812"/>
                  <a:pt x="96514" y="809199"/>
                  <a:pt x="72428" y="805758"/>
                </a:cubicBezTo>
                <a:cubicBezTo>
                  <a:pt x="54256" y="803162"/>
                  <a:pt x="36214" y="799723"/>
                  <a:pt x="18107" y="796705"/>
                </a:cubicBezTo>
                <a:cubicBezTo>
                  <a:pt x="13838" y="783899"/>
                  <a:pt x="0" y="744696"/>
                  <a:pt x="0" y="733331"/>
                </a:cubicBezTo>
                <a:cubicBezTo>
                  <a:pt x="0" y="720888"/>
                  <a:pt x="3489" y="708246"/>
                  <a:pt x="9054" y="697117"/>
                </a:cubicBezTo>
                <a:cubicBezTo>
                  <a:pt x="23321" y="668583"/>
                  <a:pt x="46089" y="650205"/>
                  <a:pt x="72428" y="633743"/>
                </a:cubicBezTo>
                <a:cubicBezTo>
                  <a:pt x="83873" y="626590"/>
                  <a:pt x="96005" y="620375"/>
                  <a:pt x="108642" y="615636"/>
                </a:cubicBezTo>
                <a:cubicBezTo>
                  <a:pt x="120293" y="611267"/>
                  <a:pt x="132892" y="610000"/>
                  <a:pt x="144856" y="606582"/>
                </a:cubicBezTo>
                <a:cubicBezTo>
                  <a:pt x="154032" y="603960"/>
                  <a:pt x="162963" y="600547"/>
                  <a:pt x="172016" y="597529"/>
                </a:cubicBezTo>
                <a:cubicBezTo>
                  <a:pt x="187105" y="585458"/>
                  <a:pt x="201205" y="572034"/>
                  <a:pt x="217283" y="561315"/>
                </a:cubicBezTo>
                <a:cubicBezTo>
                  <a:pt x="228512" y="553829"/>
                  <a:pt x="242515" y="551052"/>
                  <a:pt x="253497" y="543208"/>
                </a:cubicBezTo>
                <a:cubicBezTo>
                  <a:pt x="263916" y="535766"/>
                  <a:pt x="270551" y="523909"/>
                  <a:pt x="280658" y="516048"/>
                </a:cubicBezTo>
                <a:cubicBezTo>
                  <a:pt x="297836" y="502688"/>
                  <a:pt x="316872" y="491905"/>
                  <a:pt x="334979" y="479834"/>
                </a:cubicBezTo>
                <a:cubicBezTo>
                  <a:pt x="344032" y="473798"/>
                  <a:pt x="352407" y="466593"/>
                  <a:pt x="362139" y="461727"/>
                </a:cubicBezTo>
                <a:lnTo>
                  <a:pt x="470781" y="407406"/>
                </a:lnTo>
                <a:cubicBezTo>
                  <a:pt x="482852" y="401370"/>
                  <a:pt x="496197" y="397396"/>
                  <a:pt x="506994" y="389299"/>
                </a:cubicBezTo>
                <a:cubicBezTo>
                  <a:pt x="533797" y="369197"/>
                  <a:pt x="557662" y="349358"/>
                  <a:pt x="588476" y="334978"/>
                </a:cubicBezTo>
                <a:cubicBezTo>
                  <a:pt x="617929" y="321233"/>
                  <a:pt x="648832" y="310835"/>
                  <a:pt x="679010" y="298764"/>
                </a:cubicBezTo>
                <a:lnTo>
                  <a:pt x="769545" y="262551"/>
                </a:lnTo>
                <a:cubicBezTo>
                  <a:pt x="784634" y="256515"/>
                  <a:pt x="799046" y="248386"/>
                  <a:pt x="814812" y="244444"/>
                </a:cubicBezTo>
                <a:cubicBezTo>
                  <a:pt x="826883" y="241426"/>
                  <a:pt x="839473" y="240011"/>
                  <a:pt x="851026" y="235390"/>
                </a:cubicBezTo>
                <a:cubicBezTo>
                  <a:pt x="854989" y="233805"/>
                  <a:pt x="857062" y="229355"/>
                  <a:pt x="860080" y="22633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66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</a:t>
            </a:r>
            <a:r>
              <a:rPr lang="en-US" altLang="x-none" sz="2000" dirty="0"/>
              <a:t>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/>
              <a:t>The standard error (SE) is a direct index of ES precision.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/>
              <a:t>The smaller the SE, the more precise the ES</a:t>
            </a:r>
            <a:r>
              <a:rPr lang="en-US" altLang="x-none" sz="1600" dirty="0" smtClean="0"/>
              <a:t>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 smtClean="0"/>
              <a:t>We would like to reduce the effect of effect sizes that are less precise (have larger SE) on our results.</a:t>
            </a:r>
            <a:endParaRPr lang="en-US" altLang="x-none" sz="1600" dirty="0"/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 smtClean="0"/>
              <a:t>Hedges </a:t>
            </a:r>
            <a:r>
              <a:rPr lang="en-US" altLang="x-none" sz="1600" dirty="0"/>
              <a:t>showed that the optimal weight for </a:t>
            </a:r>
            <a:r>
              <a:rPr lang="en-US" altLang="x-none" sz="1600" dirty="0" smtClean="0"/>
              <a:t>effect sizes </a:t>
            </a:r>
            <a:r>
              <a:rPr lang="en-US" altLang="x-none" sz="1600" dirty="0"/>
              <a:t>is: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lvl="1" algn="just"/>
            <a:endParaRPr lang="en-US" sz="1800" dirty="0" smtClean="0"/>
          </a:p>
          <a:p>
            <a:pPr lvl="1" algn="just"/>
            <a:r>
              <a:rPr lang="en-US" sz="1800" dirty="0" smtClean="0"/>
              <a:t>The </a:t>
            </a:r>
            <a:r>
              <a:rPr lang="en-US" sz="1800" dirty="0"/>
              <a:t>weight (w) for the transformed r (</a:t>
            </a:r>
            <a:r>
              <a:rPr lang="en-US" sz="1800" dirty="0" err="1"/>
              <a:t>Zr</a:t>
            </a:r>
            <a:r>
              <a:rPr lang="en-US" sz="1800" dirty="0"/>
              <a:t>) is simply:</a:t>
            </a:r>
          </a:p>
          <a:p>
            <a:pPr lvl="2"/>
            <a:r>
              <a:rPr lang="en-US" sz="1600" dirty="0" smtClean="0"/>
              <a:t>n = sample size for the pertinent effect size.</a:t>
            </a:r>
          </a:p>
          <a:p>
            <a:pPr marL="457200" lvl="1" indent="0">
              <a:buNone/>
            </a:pPr>
            <a:r>
              <a:rPr lang="en-US" sz="3600" i="1" dirty="0" smtClean="0">
                <a:solidFill>
                  <a:schemeClr val="tx1"/>
                </a:solidFill>
              </a:rPr>
              <a:t>						w = n-3 </a:t>
            </a:r>
            <a:endParaRPr lang="en-US" sz="3600" i="1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688427"/>
              </p:ext>
            </p:extLst>
          </p:nvPr>
        </p:nvGraphicFramePr>
        <p:xfrm>
          <a:off x="3623271" y="2816915"/>
          <a:ext cx="1915562" cy="1267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1" name="Equation" r:id="rId3" imgW="571320" imgH="393480" progId="Equation.3">
                  <p:embed/>
                </p:oleObj>
              </mc:Choice>
              <mc:Fallback>
                <p:oleObj name="Equation" r:id="rId3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271" y="2816915"/>
                        <a:ext cx="1915562" cy="1267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757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9900"/>
            <a:ext cx="9144000" cy="33553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dirty="0" smtClean="0"/>
              <a:t>Meta-Analysis</a:t>
            </a:r>
            <a:r>
              <a:rPr lang="en-US" sz="2900" dirty="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9"/>
            <a:ext cx="8492151" cy="4351472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the z-transformed effect sizes: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38</a:t>
            </a:fld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812325" y="1665838"/>
            <a:ext cx="878186" cy="3720974"/>
          </a:xfrm>
          <a:custGeom>
            <a:avLst/>
            <a:gdLst>
              <a:gd name="connsiteX0" fmla="*/ 1404057 w 1413110"/>
              <a:gd name="connsiteY0" fmla="*/ 3548959 h 3802456"/>
              <a:gd name="connsiteX1" fmla="*/ 1367843 w 1413110"/>
              <a:gd name="connsiteY1" fmla="*/ 3558012 h 3802456"/>
              <a:gd name="connsiteX2" fmla="*/ 1322575 w 1413110"/>
              <a:gd name="connsiteY2" fmla="*/ 3567066 h 3802456"/>
              <a:gd name="connsiteX3" fmla="*/ 1222987 w 1413110"/>
              <a:gd name="connsiteY3" fmla="*/ 3594226 h 3802456"/>
              <a:gd name="connsiteX4" fmla="*/ 1105292 w 1413110"/>
              <a:gd name="connsiteY4" fmla="*/ 3603279 h 3802456"/>
              <a:gd name="connsiteX5" fmla="*/ 878956 w 1413110"/>
              <a:gd name="connsiteY5" fmla="*/ 3594226 h 3802456"/>
              <a:gd name="connsiteX6" fmla="*/ 734100 w 1413110"/>
              <a:gd name="connsiteY6" fmla="*/ 3576119 h 3802456"/>
              <a:gd name="connsiteX7" fmla="*/ 643566 w 1413110"/>
              <a:gd name="connsiteY7" fmla="*/ 3567066 h 3802456"/>
              <a:gd name="connsiteX8" fmla="*/ 589245 w 1413110"/>
              <a:gd name="connsiteY8" fmla="*/ 3558012 h 3802456"/>
              <a:gd name="connsiteX9" fmla="*/ 516817 w 1413110"/>
              <a:gd name="connsiteY9" fmla="*/ 3548959 h 3802456"/>
              <a:gd name="connsiteX10" fmla="*/ 471550 w 1413110"/>
              <a:gd name="connsiteY10" fmla="*/ 3539905 h 3802456"/>
              <a:gd name="connsiteX11" fmla="*/ 417229 w 1413110"/>
              <a:gd name="connsiteY11" fmla="*/ 3530852 h 3802456"/>
              <a:gd name="connsiteX12" fmla="*/ 353855 w 1413110"/>
              <a:gd name="connsiteY12" fmla="*/ 3512745 h 3802456"/>
              <a:gd name="connsiteX13" fmla="*/ 254267 w 1413110"/>
              <a:gd name="connsiteY13" fmla="*/ 3494638 h 3802456"/>
              <a:gd name="connsiteX14" fmla="*/ 172785 w 1413110"/>
              <a:gd name="connsiteY14" fmla="*/ 3476531 h 3802456"/>
              <a:gd name="connsiteX15" fmla="*/ 46037 w 1413110"/>
              <a:gd name="connsiteY15" fmla="*/ 3422210 h 3802456"/>
              <a:gd name="connsiteX16" fmla="*/ 18876 w 1413110"/>
              <a:gd name="connsiteY16" fmla="*/ 3395050 h 3802456"/>
              <a:gd name="connsiteX17" fmla="*/ 769 w 1413110"/>
              <a:gd name="connsiteY17" fmla="*/ 3204927 h 3802456"/>
              <a:gd name="connsiteX18" fmla="*/ 18876 w 1413110"/>
              <a:gd name="connsiteY18" fmla="*/ 3023858 h 3802456"/>
              <a:gd name="connsiteX19" fmla="*/ 36983 w 1413110"/>
              <a:gd name="connsiteY19" fmla="*/ 2842788 h 3802456"/>
              <a:gd name="connsiteX20" fmla="*/ 46037 w 1413110"/>
              <a:gd name="connsiteY20" fmla="*/ 2770361 h 3802456"/>
              <a:gd name="connsiteX21" fmla="*/ 55090 w 1413110"/>
              <a:gd name="connsiteY21" fmla="*/ 2734147 h 3802456"/>
              <a:gd name="connsiteX22" fmla="*/ 73197 w 1413110"/>
              <a:gd name="connsiteY22" fmla="*/ 2580238 h 3802456"/>
              <a:gd name="connsiteX23" fmla="*/ 82251 w 1413110"/>
              <a:gd name="connsiteY23" fmla="*/ 2516864 h 3802456"/>
              <a:gd name="connsiteX24" fmla="*/ 100358 w 1413110"/>
              <a:gd name="connsiteY24" fmla="*/ 2444436 h 3802456"/>
              <a:gd name="connsiteX25" fmla="*/ 100358 w 1413110"/>
              <a:gd name="connsiteY25" fmla="*/ 2218099 h 3802456"/>
              <a:gd name="connsiteX26" fmla="*/ 118465 w 1413110"/>
              <a:gd name="connsiteY26" fmla="*/ 1946495 h 3802456"/>
              <a:gd name="connsiteX27" fmla="*/ 91304 w 1413110"/>
              <a:gd name="connsiteY27" fmla="*/ 1720159 h 3802456"/>
              <a:gd name="connsiteX28" fmla="*/ 73197 w 1413110"/>
              <a:gd name="connsiteY28" fmla="*/ 1358020 h 3802456"/>
              <a:gd name="connsiteX29" fmla="*/ 55090 w 1413110"/>
              <a:gd name="connsiteY29" fmla="*/ 706170 h 3802456"/>
              <a:gd name="connsiteX30" fmla="*/ 64144 w 1413110"/>
              <a:gd name="connsiteY30" fmla="*/ 443620 h 3802456"/>
              <a:gd name="connsiteX31" fmla="*/ 82251 w 1413110"/>
              <a:gd name="connsiteY31" fmla="*/ 298765 h 3802456"/>
              <a:gd name="connsiteX32" fmla="*/ 100358 w 1413110"/>
              <a:gd name="connsiteY32" fmla="*/ 226337 h 3802456"/>
              <a:gd name="connsiteX33" fmla="*/ 136571 w 1413110"/>
              <a:gd name="connsiteY33" fmla="*/ 153909 h 3802456"/>
              <a:gd name="connsiteX34" fmla="*/ 181839 w 1413110"/>
              <a:gd name="connsiteY34" fmla="*/ 72428 h 3802456"/>
              <a:gd name="connsiteX35" fmla="*/ 236160 w 1413110"/>
              <a:gd name="connsiteY35" fmla="*/ 54321 h 3802456"/>
              <a:gd name="connsiteX36" fmla="*/ 335748 w 1413110"/>
              <a:gd name="connsiteY36" fmla="*/ 27161 h 3802456"/>
              <a:gd name="connsiteX37" fmla="*/ 661672 w 1413110"/>
              <a:gd name="connsiteY37" fmla="*/ 18107 h 3802456"/>
              <a:gd name="connsiteX38" fmla="*/ 951383 w 1413110"/>
              <a:gd name="connsiteY38" fmla="*/ 9054 h 3802456"/>
              <a:gd name="connsiteX39" fmla="*/ 1078132 w 1413110"/>
              <a:gd name="connsiteY39" fmla="*/ 0 h 3802456"/>
              <a:gd name="connsiteX40" fmla="*/ 1141506 w 1413110"/>
              <a:gd name="connsiteY40" fmla="*/ 9054 h 3802456"/>
              <a:gd name="connsiteX41" fmla="*/ 1268255 w 1413110"/>
              <a:gd name="connsiteY41" fmla="*/ 27161 h 3802456"/>
              <a:gd name="connsiteX42" fmla="*/ 1295415 w 1413110"/>
              <a:gd name="connsiteY42" fmla="*/ 36214 h 3802456"/>
              <a:gd name="connsiteX43" fmla="*/ 1331629 w 1413110"/>
              <a:gd name="connsiteY43" fmla="*/ 45268 h 3802456"/>
              <a:gd name="connsiteX44" fmla="*/ 1385950 w 1413110"/>
              <a:gd name="connsiteY44" fmla="*/ 90535 h 3802456"/>
              <a:gd name="connsiteX45" fmla="*/ 1395003 w 1413110"/>
              <a:gd name="connsiteY45" fmla="*/ 135802 h 3802456"/>
              <a:gd name="connsiteX46" fmla="*/ 1413110 w 1413110"/>
              <a:gd name="connsiteY46" fmla="*/ 298765 h 3802456"/>
              <a:gd name="connsiteX47" fmla="*/ 1404057 w 1413110"/>
              <a:gd name="connsiteY47" fmla="*/ 814812 h 3802456"/>
              <a:gd name="connsiteX48" fmla="*/ 1413110 w 1413110"/>
              <a:gd name="connsiteY48" fmla="*/ 1602464 h 3802456"/>
              <a:gd name="connsiteX49" fmla="*/ 1395003 w 1413110"/>
              <a:gd name="connsiteY49" fmla="*/ 2453489 h 3802456"/>
              <a:gd name="connsiteX50" fmla="*/ 1376896 w 1413110"/>
              <a:gd name="connsiteY50" fmla="*/ 2906163 h 3802456"/>
              <a:gd name="connsiteX51" fmla="*/ 1358789 w 1413110"/>
              <a:gd name="connsiteY51" fmla="*/ 3159660 h 3802456"/>
              <a:gd name="connsiteX52" fmla="*/ 1340682 w 1413110"/>
              <a:gd name="connsiteY52" fmla="*/ 3295462 h 3802456"/>
              <a:gd name="connsiteX53" fmla="*/ 1313522 w 1413110"/>
              <a:gd name="connsiteY53" fmla="*/ 3494638 h 3802456"/>
              <a:gd name="connsiteX54" fmla="*/ 1295415 w 1413110"/>
              <a:gd name="connsiteY54" fmla="*/ 3585172 h 3802456"/>
              <a:gd name="connsiteX55" fmla="*/ 1277308 w 1413110"/>
              <a:gd name="connsiteY55" fmla="*/ 3666654 h 3802456"/>
              <a:gd name="connsiteX56" fmla="*/ 1259201 w 1413110"/>
              <a:gd name="connsiteY56" fmla="*/ 3711921 h 3802456"/>
              <a:gd name="connsiteX57" fmla="*/ 1222987 w 1413110"/>
              <a:gd name="connsiteY57" fmla="*/ 3793402 h 3802456"/>
              <a:gd name="connsiteX58" fmla="*/ 1213934 w 1413110"/>
              <a:gd name="connsiteY58" fmla="*/ 3802456 h 380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13110" h="3802456">
                <a:moveTo>
                  <a:pt x="1404057" y="3548959"/>
                </a:moveTo>
                <a:cubicBezTo>
                  <a:pt x="1391986" y="3551977"/>
                  <a:pt x="1379990" y="3555313"/>
                  <a:pt x="1367843" y="3558012"/>
                </a:cubicBezTo>
                <a:cubicBezTo>
                  <a:pt x="1352821" y="3561350"/>
                  <a:pt x="1337421" y="3563017"/>
                  <a:pt x="1322575" y="3567066"/>
                </a:cubicBezTo>
                <a:cubicBezTo>
                  <a:pt x="1271468" y="3581004"/>
                  <a:pt x="1272610" y="3588712"/>
                  <a:pt x="1222987" y="3594226"/>
                </a:cubicBezTo>
                <a:cubicBezTo>
                  <a:pt x="1183880" y="3598571"/>
                  <a:pt x="1144524" y="3600261"/>
                  <a:pt x="1105292" y="3603279"/>
                </a:cubicBezTo>
                <a:lnTo>
                  <a:pt x="878956" y="3594226"/>
                </a:lnTo>
                <a:cubicBezTo>
                  <a:pt x="753426" y="3587053"/>
                  <a:pt x="828463" y="3587914"/>
                  <a:pt x="734100" y="3576119"/>
                </a:cubicBezTo>
                <a:cubicBezTo>
                  <a:pt x="704006" y="3572357"/>
                  <a:pt x="673660" y="3570828"/>
                  <a:pt x="643566" y="3567066"/>
                </a:cubicBezTo>
                <a:cubicBezTo>
                  <a:pt x="625351" y="3564789"/>
                  <a:pt x="607417" y="3560608"/>
                  <a:pt x="589245" y="3558012"/>
                </a:cubicBezTo>
                <a:cubicBezTo>
                  <a:pt x="565159" y="3554571"/>
                  <a:pt x="540865" y="3552659"/>
                  <a:pt x="516817" y="3548959"/>
                </a:cubicBezTo>
                <a:cubicBezTo>
                  <a:pt x="501608" y="3546619"/>
                  <a:pt x="486690" y="3542658"/>
                  <a:pt x="471550" y="3539905"/>
                </a:cubicBezTo>
                <a:cubicBezTo>
                  <a:pt x="453489" y="3536621"/>
                  <a:pt x="435116" y="3534980"/>
                  <a:pt x="417229" y="3530852"/>
                </a:cubicBezTo>
                <a:cubicBezTo>
                  <a:pt x="395822" y="3525912"/>
                  <a:pt x="375262" y="3517685"/>
                  <a:pt x="353855" y="3512745"/>
                </a:cubicBezTo>
                <a:cubicBezTo>
                  <a:pt x="248964" y="3488539"/>
                  <a:pt x="347202" y="3517872"/>
                  <a:pt x="254267" y="3494638"/>
                </a:cubicBezTo>
                <a:cubicBezTo>
                  <a:pt x="165114" y="3472350"/>
                  <a:pt x="322264" y="3501443"/>
                  <a:pt x="172785" y="3476531"/>
                </a:cubicBezTo>
                <a:cubicBezTo>
                  <a:pt x="140321" y="3465709"/>
                  <a:pt x="68412" y="3444585"/>
                  <a:pt x="46037" y="3422210"/>
                </a:cubicBezTo>
                <a:lnTo>
                  <a:pt x="18876" y="3395050"/>
                </a:lnTo>
                <a:cubicBezTo>
                  <a:pt x="-5699" y="3321320"/>
                  <a:pt x="769" y="3348665"/>
                  <a:pt x="769" y="3204927"/>
                </a:cubicBezTo>
                <a:cubicBezTo>
                  <a:pt x="769" y="3086975"/>
                  <a:pt x="618" y="3096893"/>
                  <a:pt x="18876" y="3023858"/>
                </a:cubicBezTo>
                <a:cubicBezTo>
                  <a:pt x="24912" y="2963501"/>
                  <a:pt x="29459" y="2902977"/>
                  <a:pt x="36983" y="2842788"/>
                </a:cubicBezTo>
                <a:cubicBezTo>
                  <a:pt x="40001" y="2818646"/>
                  <a:pt x="42037" y="2794360"/>
                  <a:pt x="46037" y="2770361"/>
                </a:cubicBezTo>
                <a:cubicBezTo>
                  <a:pt x="48083" y="2758087"/>
                  <a:pt x="52072" y="2746218"/>
                  <a:pt x="55090" y="2734147"/>
                </a:cubicBezTo>
                <a:cubicBezTo>
                  <a:pt x="62167" y="2670461"/>
                  <a:pt x="64907" y="2642410"/>
                  <a:pt x="73197" y="2580238"/>
                </a:cubicBezTo>
                <a:cubicBezTo>
                  <a:pt x="76017" y="2559086"/>
                  <a:pt x="78066" y="2537789"/>
                  <a:pt x="82251" y="2516864"/>
                </a:cubicBezTo>
                <a:cubicBezTo>
                  <a:pt x="87132" y="2492462"/>
                  <a:pt x="100358" y="2444436"/>
                  <a:pt x="100358" y="2444436"/>
                </a:cubicBezTo>
                <a:cubicBezTo>
                  <a:pt x="123929" y="2255859"/>
                  <a:pt x="93638" y="2533917"/>
                  <a:pt x="100358" y="2218099"/>
                </a:cubicBezTo>
                <a:cubicBezTo>
                  <a:pt x="102288" y="2127384"/>
                  <a:pt x="118465" y="1946495"/>
                  <a:pt x="118465" y="1946495"/>
                </a:cubicBezTo>
                <a:cubicBezTo>
                  <a:pt x="98827" y="1750115"/>
                  <a:pt x="112255" y="1824905"/>
                  <a:pt x="91304" y="1720159"/>
                </a:cubicBezTo>
                <a:cubicBezTo>
                  <a:pt x="85268" y="1599446"/>
                  <a:pt x="77511" y="1478807"/>
                  <a:pt x="73197" y="1358020"/>
                </a:cubicBezTo>
                <a:cubicBezTo>
                  <a:pt x="59404" y="971789"/>
                  <a:pt x="66065" y="1189054"/>
                  <a:pt x="55090" y="706170"/>
                </a:cubicBezTo>
                <a:cubicBezTo>
                  <a:pt x="58108" y="618653"/>
                  <a:pt x="59659" y="531074"/>
                  <a:pt x="64144" y="443620"/>
                </a:cubicBezTo>
                <a:cubicBezTo>
                  <a:pt x="65972" y="407984"/>
                  <a:pt x="73689" y="338719"/>
                  <a:pt x="82251" y="298765"/>
                </a:cubicBezTo>
                <a:cubicBezTo>
                  <a:pt x="87465" y="274432"/>
                  <a:pt x="89229" y="248596"/>
                  <a:pt x="100358" y="226337"/>
                </a:cubicBezTo>
                <a:cubicBezTo>
                  <a:pt x="112429" y="202194"/>
                  <a:pt x="128035" y="179516"/>
                  <a:pt x="136571" y="153909"/>
                </a:cubicBezTo>
                <a:cubicBezTo>
                  <a:pt x="144543" y="129994"/>
                  <a:pt x="158492" y="80210"/>
                  <a:pt x="181839" y="72428"/>
                </a:cubicBezTo>
                <a:cubicBezTo>
                  <a:pt x="199946" y="66392"/>
                  <a:pt x="218439" y="61410"/>
                  <a:pt x="236160" y="54321"/>
                </a:cubicBezTo>
                <a:cubicBezTo>
                  <a:pt x="277431" y="37812"/>
                  <a:pt x="289162" y="29379"/>
                  <a:pt x="335748" y="27161"/>
                </a:cubicBezTo>
                <a:cubicBezTo>
                  <a:pt x="444308" y="21991"/>
                  <a:pt x="553036" y="21302"/>
                  <a:pt x="661672" y="18107"/>
                </a:cubicBezTo>
                <a:lnTo>
                  <a:pt x="951383" y="9054"/>
                </a:lnTo>
                <a:cubicBezTo>
                  <a:pt x="993633" y="6036"/>
                  <a:pt x="1035775" y="0"/>
                  <a:pt x="1078132" y="0"/>
                </a:cubicBezTo>
                <a:cubicBezTo>
                  <a:pt x="1099471" y="0"/>
                  <a:pt x="1120415" y="5809"/>
                  <a:pt x="1141506" y="9054"/>
                </a:cubicBezTo>
                <a:cubicBezTo>
                  <a:pt x="1254616" y="26456"/>
                  <a:pt x="1131500" y="10066"/>
                  <a:pt x="1268255" y="27161"/>
                </a:cubicBezTo>
                <a:cubicBezTo>
                  <a:pt x="1277308" y="30179"/>
                  <a:pt x="1286239" y="33592"/>
                  <a:pt x="1295415" y="36214"/>
                </a:cubicBezTo>
                <a:cubicBezTo>
                  <a:pt x="1307379" y="39632"/>
                  <a:pt x="1320192" y="40367"/>
                  <a:pt x="1331629" y="45268"/>
                </a:cubicBezTo>
                <a:cubicBezTo>
                  <a:pt x="1353688" y="54722"/>
                  <a:pt x="1369634" y="74219"/>
                  <a:pt x="1385950" y="90535"/>
                </a:cubicBezTo>
                <a:cubicBezTo>
                  <a:pt x="1388968" y="105624"/>
                  <a:pt x="1392663" y="120593"/>
                  <a:pt x="1395003" y="135802"/>
                </a:cubicBezTo>
                <a:cubicBezTo>
                  <a:pt x="1402329" y="183420"/>
                  <a:pt x="1408480" y="252461"/>
                  <a:pt x="1413110" y="298765"/>
                </a:cubicBezTo>
                <a:cubicBezTo>
                  <a:pt x="1410092" y="470781"/>
                  <a:pt x="1404057" y="642770"/>
                  <a:pt x="1404057" y="814812"/>
                </a:cubicBezTo>
                <a:cubicBezTo>
                  <a:pt x="1404057" y="1077380"/>
                  <a:pt x="1413110" y="1339896"/>
                  <a:pt x="1413110" y="1602464"/>
                </a:cubicBezTo>
                <a:cubicBezTo>
                  <a:pt x="1413110" y="1910196"/>
                  <a:pt x="1406176" y="2159271"/>
                  <a:pt x="1395003" y="2453489"/>
                </a:cubicBezTo>
                <a:cubicBezTo>
                  <a:pt x="1389272" y="2604392"/>
                  <a:pt x="1387655" y="2755535"/>
                  <a:pt x="1376896" y="2906163"/>
                </a:cubicBezTo>
                <a:cubicBezTo>
                  <a:pt x="1370860" y="2990662"/>
                  <a:pt x="1368144" y="3075464"/>
                  <a:pt x="1358789" y="3159660"/>
                </a:cubicBezTo>
                <a:cubicBezTo>
                  <a:pt x="1337625" y="3350144"/>
                  <a:pt x="1361002" y="3153220"/>
                  <a:pt x="1340682" y="3295462"/>
                </a:cubicBezTo>
                <a:cubicBezTo>
                  <a:pt x="1331444" y="3360128"/>
                  <a:pt x="1326109" y="3431703"/>
                  <a:pt x="1313522" y="3494638"/>
                </a:cubicBezTo>
                <a:lnTo>
                  <a:pt x="1295415" y="3585172"/>
                </a:lnTo>
                <a:cubicBezTo>
                  <a:pt x="1291825" y="3603122"/>
                  <a:pt x="1283704" y="3647467"/>
                  <a:pt x="1277308" y="3666654"/>
                </a:cubicBezTo>
                <a:cubicBezTo>
                  <a:pt x="1272169" y="3682071"/>
                  <a:pt x="1264755" y="3696648"/>
                  <a:pt x="1259201" y="3711921"/>
                </a:cubicBezTo>
                <a:cubicBezTo>
                  <a:pt x="1239770" y="3765355"/>
                  <a:pt x="1250474" y="3756751"/>
                  <a:pt x="1222987" y="3793402"/>
                </a:cubicBezTo>
                <a:cubicBezTo>
                  <a:pt x="1220426" y="3796816"/>
                  <a:pt x="1216952" y="3799438"/>
                  <a:pt x="1213934" y="380245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00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(pooled effect size)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altLang="x-none" sz="2000" dirty="0" smtClean="0"/>
              <a:t>Remember: 	</a:t>
            </a:r>
            <a:r>
              <a:rPr lang="en-US" altLang="x-none" sz="2000" i="1" dirty="0" smtClean="0"/>
              <a:t>w = n-3.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buNone/>
            </a:pPr>
            <a:r>
              <a:rPr lang="en-US" altLang="x-none" sz="2000" dirty="0" smtClean="0"/>
              <a:t>							= 1780.03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2888</a:t>
            </a:r>
            <a:endParaRPr lang="en-US" altLang="x-none" sz="2000" dirty="0"/>
          </a:p>
          <a:p>
            <a:pPr marL="0" indent="0"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</a:t>
            </a:r>
            <a:r>
              <a:rPr lang="en-US" altLang="x-none" sz="2000" b="1" dirty="0" smtClean="0"/>
              <a:t>0.62.</a:t>
            </a:r>
          </a:p>
          <a:p>
            <a:pPr lvl="1"/>
            <a:endParaRPr lang="en-US" altLang="x-none" sz="1600" dirty="0" smtClean="0"/>
          </a:p>
          <a:p>
            <a:pPr lvl="1"/>
            <a:r>
              <a:rPr lang="en-US" altLang="x-none" sz="1600" dirty="0" smtClean="0"/>
              <a:t>Since we have considered sampling error (SE) as the only component of variance for weighting the effect sizes, this is the “fixed-effect” pooled effect size.</a:t>
            </a:r>
            <a:endParaRPr lang="en-US" altLang="x-none" sz="1600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39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1885652"/>
            <a:ext cx="3067050" cy="1339850"/>
            <a:chOff x="3038475" y="2220630"/>
            <a:chExt cx="3067050" cy="1339850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6040548"/>
                </p:ext>
              </p:extLst>
            </p:nvPr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01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2899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Basic Meta-Analysis: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 smtClean="0"/>
              <a:t>Calculate the homogeneity index (Q statistic) for the pooled effect size.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r>
              <a:rPr lang="en-US" altLang="x-none" sz="1800" dirty="0" smtClean="0"/>
              <a:t>Q has a chi-square distribution, with number </a:t>
            </a:r>
            <a:r>
              <a:rPr lang="en-US" altLang="x-none" sz="1800" dirty="0"/>
              <a:t>of effect </a:t>
            </a:r>
            <a:r>
              <a:rPr lang="en-US" altLang="x-none" sz="1800" dirty="0" smtClean="0"/>
              <a:t>sizes (k) </a:t>
            </a:r>
            <a:r>
              <a:rPr lang="mr-IN" altLang="x-none" sz="1800" dirty="0" smtClean="0"/>
              <a:t>–</a:t>
            </a:r>
            <a:r>
              <a:rPr lang="en-US" altLang="x-none" sz="1800" dirty="0" smtClean="0"/>
              <a:t> 1 degrees of freedom (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).</a:t>
            </a:r>
          </a:p>
          <a:p>
            <a:pPr marL="857250" lvl="1" indent="-457200"/>
            <a:r>
              <a:rPr lang="en-US" altLang="x-none" sz="1800" dirty="0" smtClean="0"/>
              <a:t>To assess existence of heterogeneity, Q should be compared with the critical value in chi-square distribution with 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 = k-1 for alpha level (0.05).</a:t>
            </a:r>
            <a:endParaRPr lang="en-US" altLang="x-none" sz="1600" dirty="0" smtClean="0"/>
          </a:p>
          <a:p>
            <a:pPr marL="1257300" lvl="2" indent="-457200"/>
            <a:r>
              <a:rPr lang="en-US" altLang="x-none" sz="1600" dirty="0" smtClean="0"/>
              <a:t>Compare with </a:t>
            </a:r>
            <a:r>
              <a:rPr lang="hr-HR" sz="1600" b="1" dirty="0" smtClean="0"/>
              <a:t>6.571</a:t>
            </a:r>
            <a:r>
              <a:rPr lang="hr-HR" sz="1600" dirty="0" smtClean="0"/>
              <a:t> for K = 15-1 = 14 </a:t>
            </a:r>
            <a:r>
              <a:rPr lang="hr-HR" sz="1600" dirty="0" err="1" smtClean="0"/>
              <a:t>and</a:t>
            </a:r>
            <a:r>
              <a:rPr lang="hr-HR" sz="1600" dirty="0" smtClean="0"/>
              <a:t> </a:t>
            </a:r>
            <a:r>
              <a:rPr lang="hr-HR" sz="1600" dirty="0" err="1" smtClean="0"/>
              <a:t>alpha</a:t>
            </a:r>
            <a:r>
              <a:rPr lang="hr-HR" sz="1600" dirty="0" smtClean="0"/>
              <a:t>=0.05</a:t>
            </a:r>
            <a:r>
              <a:rPr lang="en-US" altLang="x-none" sz="1600" dirty="0" smtClean="0"/>
              <a:t>.</a:t>
            </a:r>
          </a:p>
          <a:p>
            <a:pPr marL="1257300" lvl="2" indent="-457200"/>
            <a:endParaRPr lang="en-US" altLang="x-none" sz="1600" dirty="0" smtClean="0"/>
          </a:p>
          <a:p>
            <a:pPr marL="857250" lvl="1" indent="-457200"/>
            <a:r>
              <a:rPr lang="en-US" altLang="x-none" dirty="0" smtClean="0"/>
              <a:t>Other homogeneity indices:</a:t>
            </a:r>
          </a:p>
          <a:p>
            <a:pPr marL="457200" indent="-457200">
              <a:buFont typeface="+mj-lt"/>
              <a:buAutoNum type="arabicParenR" startAt="5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40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95824" y="6102434"/>
            <a:ext cx="22183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Huedo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-Medina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et al., (2006)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81" y="5408351"/>
            <a:ext cx="1435419" cy="7894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919" y="5344929"/>
            <a:ext cx="2510778" cy="9089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85" y="1673811"/>
            <a:ext cx="3087357" cy="114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18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effect </a:t>
            </a:r>
            <a:r>
              <a:rPr lang="en-US" altLang="x-none" sz="2000" dirty="0" smtClean="0"/>
              <a:t>sizes for random-effects calculation.</a:t>
            </a:r>
            <a:endParaRPr lang="en-US" altLang="x-none" sz="2000" dirty="0"/>
          </a:p>
          <a:p>
            <a:pPr marL="914400" lvl="1" indent="-514350" algn="just">
              <a:lnSpc>
                <a:spcPct val="100000"/>
              </a:lnSpc>
            </a:pPr>
            <a:r>
              <a:rPr lang="en-US" altLang="x-none" sz="1800" dirty="0" smtClean="0"/>
              <a:t>To Calculate </a:t>
            </a:r>
            <a:r>
              <a:rPr lang="en-US" altLang="x-none" sz="1800" dirty="0"/>
              <a:t>the </a:t>
            </a:r>
            <a:r>
              <a:rPr lang="en-US" altLang="x-none" sz="1800" dirty="0" smtClean="0"/>
              <a:t>random-effects pooled effect size, we should add an additional element to the weight for the effect sizes that reflect </a:t>
            </a:r>
            <a:r>
              <a:rPr lang="en-US" altLang="x-none" sz="1800" b="1" dirty="0" smtClean="0"/>
              <a:t>“between-study variance” (T</a:t>
            </a:r>
            <a:r>
              <a:rPr lang="en-US" altLang="x-none" sz="1800" b="1" baseline="30000" dirty="0" smtClean="0"/>
              <a:t>2</a:t>
            </a:r>
            <a:r>
              <a:rPr lang="en-US" altLang="x-none" sz="1800" b="1" dirty="0" smtClean="0"/>
              <a:t>)</a:t>
            </a:r>
            <a:r>
              <a:rPr lang="en-US" altLang="x-none" sz="1800" dirty="0" smtClean="0"/>
              <a:t>:</a:t>
            </a: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80" y="2507540"/>
            <a:ext cx="3448724" cy="13223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57" y="4530143"/>
            <a:ext cx="2555592" cy="1017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129" y="4468471"/>
            <a:ext cx="3622141" cy="11411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82869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</a:t>
            </a:r>
            <a:r>
              <a:rPr lang="en-US" altLang="x-none" sz="2000" dirty="0" smtClean="0"/>
              <a:t>(random-effects pooled </a:t>
            </a:r>
            <a:r>
              <a:rPr lang="en-US" altLang="x-none" sz="2000" dirty="0"/>
              <a:t>effect size</a:t>
            </a:r>
            <a:r>
              <a:rPr lang="en-US" altLang="x-none" sz="2000" dirty="0" smtClean="0"/>
              <a:t>) using new weights</a:t>
            </a: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 smtClean="0"/>
              <a:t>Remember to use	</a:t>
            </a:r>
            <a:r>
              <a:rPr lang="en-US" altLang="x-none" sz="2000" i="1" dirty="0" smtClean="0"/>
              <a:t>w*.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 smtClean="0"/>
              <a:t>							= 79.65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149.03</a:t>
            </a:r>
            <a:endParaRPr lang="en-US" altLang="x-none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0.53.</a:t>
            </a:r>
          </a:p>
          <a:p>
            <a:pPr lvl="1">
              <a:lnSpc>
                <a:spcPct val="100000"/>
              </a:lnSpc>
            </a:pPr>
            <a:endParaRPr lang="en-US" altLang="x-none" sz="16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42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2379983"/>
            <a:ext cx="3067050" cy="1343455"/>
            <a:chOff x="3038475" y="2217025"/>
            <a:chExt cx="3067050" cy="1343455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83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79818" y="2217025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smtClean="0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1544" y="2899608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smtClean="0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6408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altLang="x-none" dirty="0"/>
              <a:t>Calculate the confidence interval for the pooled effect size.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For alpha = 0.05 (two-tailed Z (Z</a:t>
            </a:r>
            <a:r>
              <a:rPr lang="en-US" baseline="-25000" dirty="0" smtClean="0"/>
              <a:t>0.025</a:t>
            </a:r>
            <a:r>
              <a:rPr lang="en-US" dirty="0" smtClean="0"/>
              <a:t>) = 1.96):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135" y="2031000"/>
            <a:ext cx="4196093" cy="1680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314" y="4583500"/>
            <a:ext cx="4973371" cy="12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54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</a:t>
            </a:r>
            <a:r>
              <a:rPr lang="en-US" sz="2000" dirty="0" smtClean="0"/>
              <a:t>: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Wilson/Linsey SPSS Macro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96" y="1152699"/>
            <a:ext cx="7136269" cy="5097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22630" y="4544840"/>
            <a:ext cx="6572816" cy="8148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40737" y="3014805"/>
            <a:ext cx="6572816" cy="10049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69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65" y="1191766"/>
            <a:ext cx="7417177" cy="4996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</a:t>
            </a:r>
            <a:r>
              <a:rPr lang="en-US" sz="2000" dirty="0" smtClean="0"/>
              <a:t>: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45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0162" y="1883121"/>
            <a:ext cx="7632071" cy="22312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20162" y="4282289"/>
            <a:ext cx="7632071" cy="182879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763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x-none" sz="2000" dirty="0" smtClean="0"/>
              <a:t>The pooled effect size is based on z-transformed values. You can transform it back to correlation, using:</a:t>
            </a:r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Depending on the tools that you use, you may need to do this transformation manually </a:t>
            </a:r>
            <a:r>
              <a:rPr lang="en-US" altLang="x-none" sz="1800" dirty="0" smtClean="0"/>
              <a:t>(e.g</a:t>
            </a:r>
            <a:r>
              <a:rPr lang="en-US" altLang="x-none" sz="1800" dirty="0"/>
              <a:t>., in SPSS macro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/>
              <a:t>Some tools does the transformation for you, such as </a:t>
            </a:r>
            <a:r>
              <a:rPr lang="en-US" altLang="x-none" sz="1600" dirty="0" err="1"/>
              <a:t>metafor</a:t>
            </a:r>
            <a:r>
              <a:rPr lang="en-US" altLang="x-none" sz="1600" dirty="0"/>
              <a:t> package in R</a:t>
            </a:r>
            <a:r>
              <a:rPr lang="en-US" altLang="x-none" sz="1600" dirty="0" smtClean="0"/>
              <a:t>.</a:t>
            </a:r>
            <a:endParaRPr lang="en-US" altLang="x-none" sz="2000" dirty="0"/>
          </a:p>
          <a:p>
            <a:pPr lvl="1">
              <a:lnSpc>
                <a:spcPct val="100000"/>
              </a:lnSpc>
            </a:pPr>
            <a:endParaRPr lang="en-US" altLang="x-none" sz="16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46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734" y="2553629"/>
            <a:ext cx="3626350" cy="164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94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dirty="0" smtClean="0"/>
              <a:t>Meta-Analysis</a:t>
            </a:r>
            <a:r>
              <a:rPr lang="en-US" sz="2900" dirty="0" smtClean="0"/>
              <a:t>:</a:t>
            </a:r>
            <a:endParaRPr lang="en-US" sz="2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0" y="1127458"/>
            <a:ext cx="8500244" cy="4963646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45269" y="5433488"/>
            <a:ext cx="3177766" cy="922861"/>
          </a:xfrm>
          <a:custGeom>
            <a:avLst/>
            <a:gdLst>
              <a:gd name="connsiteX0" fmla="*/ 2699137 w 2699137"/>
              <a:gd name="connsiteY0" fmla="*/ 390204 h 743289"/>
              <a:gd name="connsiteX1" fmla="*/ 2671977 w 2699137"/>
              <a:gd name="connsiteY1" fmla="*/ 426418 h 743289"/>
              <a:gd name="connsiteX2" fmla="*/ 2608603 w 2699137"/>
              <a:gd name="connsiteY2" fmla="*/ 462631 h 743289"/>
              <a:gd name="connsiteX3" fmla="*/ 2581442 w 2699137"/>
              <a:gd name="connsiteY3" fmla="*/ 480738 h 743289"/>
              <a:gd name="connsiteX4" fmla="*/ 2509015 w 2699137"/>
              <a:gd name="connsiteY4" fmla="*/ 507899 h 743289"/>
              <a:gd name="connsiteX5" fmla="*/ 2463747 w 2699137"/>
              <a:gd name="connsiteY5" fmla="*/ 516952 h 743289"/>
              <a:gd name="connsiteX6" fmla="*/ 2327945 w 2699137"/>
              <a:gd name="connsiteY6" fmla="*/ 553166 h 743289"/>
              <a:gd name="connsiteX7" fmla="*/ 2255518 w 2699137"/>
              <a:gd name="connsiteY7" fmla="*/ 571273 h 743289"/>
              <a:gd name="connsiteX8" fmla="*/ 2164983 w 2699137"/>
              <a:gd name="connsiteY8" fmla="*/ 589380 h 743289"/>
              <a:gd name="connsiteX9" fmla="*/ 2047288 w 2699137"/>
              <a:gd name="connsiteY9" fmla="*/ 598433 h 743289"/>
              <a:gd name="connsiteX10" fmla="*/ 1965807 w 2699137"/>
              <a:gd name="connsiteY10" fmla="*/ 607487 h 743289"/>
              <a:gd name="connsiteX11" fmla="*/ 1911486 w 2699137"/>
              <a:gd name="connsiteY11" fmla="*/ 616540 h 743289"/>
              <a:gd name="connsiteX12" fmla="*/ 1784737 w 2699137"/>
              <a:gd name="connsiteY12" fmla="*/ 625594 h 743289"/>
              <a:gd name="connsiteX13" fmla="*/ 1431652 w 2699137"/>
              <a:gd name="connsiteY13" fmla="*/ 652754 h 743289"/>
              <a:gd name="connsiteX14" fmla="*/ 1033300 w 2699137"/>
              <a:gd name="connsiteY14" fmla="*/ 634647 h 743289"/>
              <a:gd name="connsiteX15" fmla="*/ 988033 w 2699137"/>
              <a:gd name="connsiteY15" fmla="*/ 625594 h 743289"/>
              <a:gd name="connsiteX16" fmla="*/ 933712 w 2699137"/>
              <a:gd name="connsiteY16" fmla="*/ 616540 h 743289"/>
              <a:gd name="connsiteX17" fmla="*/ 888444 w 2699137"/>
              <a:gd name="connsiteY17" fmla="*/ 607487 h 743289"/>
              <a:gd name="connsiteX18" fmla="*/ 816017 w 2699137"/>
              <a:gd name="connsiteY18" fmla="*/ 598433 h 743289"/>
              <a:gd name="connsiteX19" fmla="*/ 761696 w 2699137"/>
              <a:gd name="connsiteY19" fmla="*/ 589380 h 743289"/>
              <a:gd name="connsiteX20" fmla="*/ 689268 w 2699137"/>
              <a:gd name="connsiteY20" fmla="*/ 580327 h 743289"/>
              <a:gd name="connsiteX21" fmla="*/ 644001 w 2699137"/>
              <a:gd name="connsiteY21" fmla="*/ 571273 h 743289"/>
              <a:gd name="connsiteX22" fmla="*/ 453878 w 2699137"/>
              <a:gd name="connsiteY22" fmla="*/ 553166 h 743289"/>
              <a:gd name="connsiteX23" fmla="*/ 372397 w 2699137"/>
              <a:gd name="connsiteY23" fmla="*/ 535059 h 743289"/>
              <a:gd name="connsiteX24" fmla="*/ 327130 w 2699137"/>
              <a:gd name="connsiteY24" fmla="*/ 526006 h 743289"/>
              <a:gd name="connsiteX25" fmla="*/ 245648 w 2699137"/>
              <a:gd name="connsiteY25" fmla="*/ 498845 h 743289"/>
              <a:gd name="connsiteX26" fmla="*/ 191328 w 2699137"/>
              <a:gd name="connsiteY26" fmla="*/ 489792 h 743289"/>
              <a:gd name="connsiteX27" fmla="*/ 155114 w 2699137"/>
              <a:gd name="connsiteY27" fmla="*/ 471685 h 743289"/>
              <a:gd name="connsiteX28" fmla="*/ 127953 w 2699137"/>
              <a:gd name="connsiteY28" fmla="*/ 462631 h 743289"/>
              <a:gd name="connsiteX29" fmla="*/ 46472 w 2699137"/>
              <a:gd name="connsiteY29" fmla="*/ 399257 h 743289"/>
              <a:gd name="connsiteX30" fmla="*/ 37419 w 2699137"/>
              <a:gd name="connsiteY30" fmla="*/ 372097 h 743289"/>
              <a:gd name="connsiteX31" fmla="*/ 10258 w 2699137"/>
              <a:gd name="connsiteY31" fmla="*/ 308723 h 743289"/>
              <a:gd name="connsiteX32" fmla="*/ 10258 w 2699137"/>
              <a:gd name="connsiteY32" fmla="*/ 145760 h 743289"/>
              <a:gd name="connsiteX33" fmla="*/ 37419 w 2699137"/>
              <a:gd name="connsiteY33" fmla="*/ 91439 h 743289"/>
              <a:gd name="connsiteX34" fmla="*/ 64579 w 2699137"/>
              <a:gd name="connsiteY34" fmla="*/ 82386 h 743289"/>
              <a:gd name="connsiteX35" fmla="*/ 91739 w 2699137"/>
              <a:gd name="connsiteY35" fmla="*/ 64279 h 743289"/>
              <a:gd name="connsiteX36" fmla="*/ 164167 w 2699137"/>
              <a:gd name="connsiteY36" fmla="*/ 46172 h 743289"/>
              <a:gd name="connsiteX37" fmla="*/ 327130 w 2699137"/>
              <a:gd name="connsiteY37" fmla="*/ 28065 h 743289"/>
              <a:gd name="connsiteX38" fmla="*/ 571573 w 2699137"/>
              <a:gd name="connsiteY38" fmla="*/ 19012 h 743289"/>
              <a:gd name="connsiteX39" fmla="*/ 1332064 w 2699137"/>
              <a:gd name="connsiteY39" fmla="*/ 19012 h 743289"/>
              <a:gd name="connsiteX40" fmla="*/ 1657989 w 2699137"/>
              <a:gd name="connsiteY40" fmla="*/ 9958 h 743289"/>
              <a:gd name="connsiteX41" fmla="*/ 2201197 w 2699137"/>
              <a:gd name="connsiteY41" fmla="*/ 19012 h 743289"/>
              <a:gd name="connsiteX42" fmla="*/ 2228357 w 2699137"/>
              <a:gd name="connsiteY42" fmla="*/ 28065 h 743289"/>
              <a:gd name="connsiteX43" fmla="*/ 2300785 w 2699137"/>
              <a:gd name="connsiteY43" fmla="*/ 37119 h 743289"/>
              <a:gd name="connsiteX44" fmla="*/ 2355106 w 2699137"/>
              <a:gd name="connsiteY44" fmla="*/ 46172 h 743289"/>
              <a:gd name="connsiteX45" fmla="*/ 2382266 w 2699137"/>
              <a:gd name="connsiteY45" fmla="*/ 55226 h 743289"/>
              <a:gd name="connsiteX46" fmla="*/ 2436587 w 2699137"/>
              <a:gd name="connsiteY46" fmla="*/ 82386 h 743289"/>
              <a:gd name="connsiteX47" fmla="*/ 2445640 w 2699137"/>
              <a:gd name="connsiteY47" fmla="*/ 109546 h 743289"/>
              <a:gd name="connsiteX48" fmla="*/ 2499961 w 2699137"/>
              <a:gd name="connsiteY48" fmla="*/ 172921 h 743289"/>
              <a:gd name="connsiteX49" fmla="*/ 2509015 w 2699137"/>
              <a:gd name="connsiteY49" fmla="*/ 200081 h 743289"/>
              <a:gd name="connsiteX50" fmla="*/ 2545229 w 2699137"/>
              <a:gd name="connsiteY50" fmla="*/ 263455 h 743289"/>
              <a:gd name="connsiteX51" fmla="*/ 2554282 w 2699137"/>
              <a:gd name="connsiteY51" fmla="*/ 290616 h 743289"/>
              <a:gd name="connsiteX52" fmla="*/ 2572389 w 2699137"/>
              <a:gd name="connsiteY52" fmla="*/ 372097 h 743289"/>
              <a:gd name="connsiteX53" fmla="*/ 2554282 w 2699137"/>
              <a:gd name="connsiteY53" fmla="*/ 643701 h 743289"/>
              <a:gd name="connsiteX54" fmla="*/ 2536175 w 2699137"/>
              <a:gd name="connsiteY54" fmla="*/ 725182 h 743289"/>
              <a:gd name="connsiteX55" fmla="*/ 2536175 w 2699137"/>
              <a:gd name="connsiteY55" fmla="*/ 743289 h 74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699137" h="743289">
                <a:moveTo>
                  <a:pt x="2699137" y="390204"/>
                </a:moveTo>
                <a:cubicBezTo>
                  <a:pt x="2690084" y="402275"/>
                  <a:pt x="2682646" y="415748"/>
                  <a:pt x="2671977" y="426418"/>
                </a:cubicBezTo>
                <a:cubicBezTo>
                  <a:pt x="2657270" y="441125"/>
                  <a:pt x="2625175" y="453162"/>
                  <a:pt x="2608603" y="462631"/>
                </a:cubicBezTo>
                <a:cubicBezTo>
                  <a:pt x="2599155" y="468029"/>
                  <a:pt x="2591174" y="475872"/>
                  <a:pt x="2581442" y="480738"/>
                </a:cubicBezTo>
                <a:cubicBezTo>
                  <a:pt x="2573141" y="484889"/>
                  <a:pt x="2524682" y="503982"/>
                  <a:pt x="2509015" y="507899"/>
                </a:cubicBezTo>
                <a:cubicBezTo>
                  <a:pt x="2494086" y="511631"/>
                  <a:pt x="2478836" y="513934"/>
                  <a:pt x="2463747" y="516952"/>
                </a:cubicBezTo>
                <a:cubicBezTo>
                  <a:pt x="2371163" y="553986"/>
                  <a:pt x="2469908" y="517675"/>
                  <a:pt x="2327945" y="553166"/>
                </a:cubicBezTo>
                <a:lnTo>
                  <a:pt x="2255518" y="571273"/>
                </a:lnTo>
                <a:cubicBezTo>
                  <a:pt x="2220640" y="579993"/>
                  <a:pt x="2203333" y="585343"/>
                  <a:pt x="2164983" y="589380"/>
                </a:cubicBezTo>
                <a:cubicBezTo>
                  <a:pt x="2125852" y="593499"/>
                  <a:pt x="2086474" y="594871"/>
                  <a:pt x="2047288" y="598433"/>
                </a:cubicBezTo>
                <a:cubicBezTo>
                  <a:pt x="2020073" y="600907"/>
                  <a:pt x="1992895" y="603875"/>
                  <a:pt x="1965807" y="607487"/>
                </a:cubicBezTo>
                <a:cubicBezTo>
                  <a:pt x="1947611" y="609913"/>
                  <a:pt x="1929752" y="614713"/>
                  <a:pt x="1911486" y="616540"/>
                </a:cubicBezTo>
                <a:cubicBezTo>
                  <a:pt x="1869339" y="620755"/>
                  <a:pt x="1826909" y="621640"/>
                  <a:pt x="1784737" y="625594"/>
                </a:cubicBezTo>
                <a:cubicBezTo>
                  <a:pt x="1473671" y="654757"/>
                  <a:pt x="1775094" y="636400"/>
                  <a:pt x="1431652" y="652754"/>
                </a:cubicBezTo>
                <a:cubicBezTo>
                  <a:pt x="1342897" y="649694"/>
                  <a:pt x="1142946" y="645612"/>
                  <a:pt x="1033300" y="634647"/>
                </a:cubicBezTo>
                <a:cubicBezTo>
                  <a:pt x="1017989" y="633116"/>
                  <a:pt x="1003173" y="628347"/>
                  <a:pt x="988033" y="625594"/>
                </a:cubicBezTo>
                <a:cubicBezTo>
                  <a:pt x="969972" y="622310"/>
                  <a:pt x="951773" y="619824"/>
                  <a:pt x="933712" y="616540"/>
                </a:cubicBezTo>
                <a:cubicBezTo>
                  <a:pt x="918572" y="613787"/>
                  <a:pt x="903653" y="609827"/>
                  <a:pt x="888444" y="607487"/>
                </a:cubicBezTo>
                <a:cubicBezTo>
                  <a:pt x="864397" y="603787"/>
                  <a:pt x="840103" y="601874"/>
                  <a:pt x="816017" y="598433"/>
                </a:cubicBezTo>
                <a:cubicBezTo>
                  <a:pt x="797845" y="595837"/>
                  <a:pt x="779868" y="591976"/>
                  <a:pt x="761696" y="589380"/>
                </a:cubicBezTo>
                <a:cubicBezTo>
                  <a:pt x="737610" y="585939"/>
                  <a:pt x="713316" y="584027"/>
                  <a:pt x="689268" y="580327"/>
                </a:cubicBezTo>
                <a:cubicBezTo>
                  <a:pt x="674059" y="577987"/>
                  <a:pt x="659270" y="573182"/>
                  <a:pt x="644001" y="571273"/>
                </a:cubicBezTo>
                <a:cubicBezTo>
                  <a:pt x="526894" y="556634"/>
                  <a:pt x="566039" y="568121"/>
                  <a:pt x="453878" y="553166"/>
                </a:cubicBezTo>
                <a:cubicBezTo>
                  <a:pt x="419731" y="548613"/>
                  <a:pt x="404681" y="542233"/>
                  <a:pt x="372397" y="535059"/>
                </a:cubicBezTo>
                <a:cubicBezTo>
                  <a:pt x="357376" y="531721"/>
                  <a:pt x="341926" y="530233"/>
                  <a:pt x="327130" y="526006"/>
                </a:cubicBezTo>
                <a:cubicBezTo>
                  <a:pt x="299602" y="518141"/>
                  <a:pt x="273888" y="503552"/>
                  <a:pt x="245648" y="498845"/>
                </a:cubicBezTo>
                <a:lnTo>
                  <a:pt x="191328" y="489792"/>
                </a:lnTo>
                <a:cubicBezTo>
                  <a:pt x="179257" y="483756"/>
                  <a:pt x="167519" y="477001"/>
                  <a:pt x="155114" y="471685"/>
                </a:cubicBezTo>
                <a:cubicBezTo>
                  <a:pt x="146342" y="467926"/>
                  <a:pt x="136295" y="467266"/>
                  <a:pt x="127953" y="462631"/>
                </a:cubicBezTo>
                <a:cubicBezTo>
                  <a:pt x="79222" y="435559"/>
                  <a:pt x="79464" y="432249"/>
                  <a:pt x="46472" y="399257"/>
                </a:cubicBezTo>
                <a:cubicBezTo>
                  <a:pt x="43454" y="390204"/>
                  <a:pt x="41178" y="380868"/>
                  <a:pt x="37419" y="372097"/>
                </a:cubicBezTo>
                <a:cubicBezTo>
                  <a:pt x="3852" y="293773"/>
                  <a:pt x="31494" y="372427"/>
                  <a:pt x="10258" y="308723"/>
                </a:cubicBezTo>
                <a:cubicBezTo>
                  <a:pt x="-2988" y="229245"/>
                  <a:pt x="-3846" y="251537"/>
                  <a:pt x="10258" y="145760"/>
                </a:cubicBezTo>
                <a:cubicBezTo>
                  <a:pt x="12216" y="131074"/>
                  <a:pt x="26033" y="100548"/>
                  <a:pt x="37419" y="91439"/>
                </a:cubicBezTo>
                <a:cubicBezTo>
                  <a:pt x="44871" y="85477"/>
                  <a:pt x="55526" y="85404"/>
                  <a:pt x="64579" y="82386"/>
                </a:cubicBezTo>
                <a:cubicBezTo>
                  <a:pt x="73632" y="76350"/>
                  <a:pt x="81513" y="67997"/>
                  <a:pt x="91739" y="64279"/>
                </a:cubicBezTo>
                <a:cubicBezTo>
                  <a:pt x="115126" y="55774"/>
                  <a:pt x="139765" y="51052"/>
                  <a:pt x="164167" y="46172"/>
                </a:cubicBezTo>
                <a:cubicBezTo>
                  <a:pt x="238678" y="31271"/>
                  <a:pt x="217975" y="33523"/>
                  <a:pt x="327130" y="28065"/>
                </a:cubicBezTo>
                <a:cubicBezTo>
                  <a:pt x="408565" y="23993"/>
                  <a:pt x="490092" y="22030"/>
                  <a:pt x="571573" y="19012"/>
                </a:cubicBezTo>
                <a:cubicBezTo>
                  <a:pt x="871000" y="-23766"/>
                  <a:pt x="548296" y="19012"/>
                  <a:pt x="1332064" y="19012"/>
                </a:cubicBezTo>
                <a:cubicBezTo>
                  <a:pt x="1440748" y="19012"/>
                  <a:pt x="1549347" y="12976"/>
                  <a:pt x="1657989" y="9958"/>
                </a:cubicBezTo>
                <a:lnTo>
                  <a:pt x="2201197" y="19012"/>
                </a:lnTo>
                <a:cubicBezTo>
                  <a:pt x="2210735" y="19315"/>
                  <a:pt x="2218968" y="26358"/>
                  <a:pt x="2228357" y="28065"/>
                </a:cubicBezTo>
                <a:cubicBezTo>
                  <a:pt x="2252295" y="32417"/>
                  <a:pt x="2276699" y="33678"/>
                  <a:pt x="2300785" y="37119"/>
                </a:cubicBezTo>
                <a:cubicBezTo>
                  <a:pt x="2318957" y="39715"/>
                  <a:pt x="2336999" y="43154"/>
                  <a:pt x="2355106" y="46172"/>
                </a:cubicBezTo>
                <a:cubicBezTo>
                  <a:pt x="2364159" y="49190"/>
                  <a:pt x="2373730" y="50958"/>
                  <a:pt x="2382266" y="55226"/>
                </a:cubicBezTo>
                <a:cubicBezTo>
                  <a:pt x="2452468" y="90326"/>
                  <a:pt x="2368320" y="59629"/>
                  <a:pt x="2436587" y="82386"/>
                </a:cubicBezTo>
                <a:cubicBezTo>
                  <a:pt x="2439605" y="91439"/>
                  <a:pt x="2440093" y="101781"/>
                  <a:pt x="2445640" y="109546"/>
                </a:cubicBezTo>
                <a:cubicBezTo>
                  <a:pt x="2482771" y="161529"/>
                  <a:pt x="2476704" y="126409"/>
                  <a:pt x="2499961" y="172921"/>
                </a:cubicBezTo>
                <a:cubicBezTo>
                  <a:pt x="2504229" y="181457"/>
                  <a:pt x="2504747" y="191545"/>
                  <a:pt x="2509015" y="200081"/>
                </a:cubicBezTo>
                <a:cubicBezTo>
                  <a:pt x="2554462" y="290972"/>
                  <a:pt x="2497630" y="152387"/>
                  <a:pt x="2545229" y="263455"/>
                </a:cubicBezTo>
                <a:cubicBezTo>
                  <a:pt x="2548988" y="272227"/>
                  <a:pt x="2551660" y="281440"/>
                  <a:pt x="2554282" y="290616"/>
                </a:cubicBezTo>
                <a:cubicBezTo>
                  <a:pt x="2562804" y="320444"/>
                  <a:pt x="2566167" y="340988"/>
                  <a:pt x="2572389" y="372097"/>
                </a:cubicBezTo>
                <a:cubicBezTo>
                  <a:pt x="2568806" y="436586"/>
                  <a:pt x="2562852" y="570853"/>
                  <a:pt x="2554282" y="643701"/>
                </a:cubicBezTo>
                <a:cubicBezTo>
                  <a:pt x="2546230" y="712147"/>
                  <a:pt x="2546179" y="665163"/>
                  <a:pt x="2536175" y="725182"/>
                </a:cubicBezTo>
                <a:cubicBezTo>
                  <a:pt x="2535183" y="731136"/>
                  <a:pt x="2536175" y="737253"/>
                  <a:pt x="2536175" y="74328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783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</a:t>
            </a:r>
            <a:r>
              <a:rPr lang="en-US" sz="2000" dirty="0" smtClean="0"/>
              <a:t>: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8" y="3005751"/>
            <a:ext cx="8542784" cy="87386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84301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>Your Turn: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Use </a:t>
            </a:r>
            <a:r>
              <a:rPr lang="en-US" sz="3100" dirty="0"/>
              <a:t>Wilson/Linsey SPSS 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Download the SPSS data file (</a:t>
            </a:r>
            <a:r>
              <a:rPr lang="en-US" dirty="0" err="1" smtClean="0"/>
              <a:t>Example_Datafile.sav</a:t>
            </a:r>
            <a:r>
              <a:rPr lang="en-US" dirty="0" smtClean="0"/>
              <a:t>), Wilson’s SPSS Macros, and SPSS syntax from: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http://facsrv.cdm.depaul.edu/~hqahrisa/#</a:t>
            </a:r>
            <a:r>
              <a:rPr lang="en-US" dirty="0" smtClean="0">
                <a:hlinkClick r:id="rId2"/>
              </a:rPr>
              <a:t>workshops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Unzip the macro zip file (remember the location where the unzipped folder is). </a:t>
            </a:r>
          </a:p>
          <a:p>
            <a:endParaRPr lang="en-US" dirty="0"/>
          </a:p>
          <a:p>
            <a:r>
              <a:rPr lang="en-US" dirty="0" smtClean="0"/>
              <a:t>Run the macro in SPSS Syntax as instructed.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22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Your Turn: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 smtClean="0"/>
              <a:t>Metafor Package in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Download the .csv file (</a:t>
            </a:r>
            <a:r>
              <a:rPr lang="en-US" dirty="0" err="1" smtClean="0"/>
              <a:t>Example.csv</a:t>
            </a:r>
            <a:r>
              <a:rPr lang="en-US" dirty="0"/>
              <a:t>) and </a:t>
            </a:r>
            <a:r>
              <a:rPr lang="en-US" dirty="0" err="1" smtClean="0"/>
              <a:t>Metafor_Script.R</a:t>
            </a:r>
            <a:r>
              <a:rPr lang="en-US" dirty="0" smtClean="0"/>
              <a:t> from: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http://facsrv.cdm.depaul.edu/~hqahrisa/#</a:t>
            </a:r>
            <a:r>
              <a:rPr lang="en-US" dirty="0" smtClean="0">
                <a:hlinkClick r:id="rId2"/>
              </a:rPr>
              <a:t>workshops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You need </a:t>
            </a:r>
            <a:r>
              <a:rPr lang="en-US" dirty="0" err="1" smtClean="0"/>
              <a:t>metafor</a:t>
            </a:r>
            <a:r>
              <a:rPr lang="en-US" dirty="0" smtClean="0"/>
              <a:t> package installed in R, using </a:t>
            </a:r>
            <a:r>
              <a:rPr lang="en-US" dirty="0" err="1" smtClean="0"/>
              <a:t>RStudio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Download </a:t>
            </a:r>
            <a:r>
              <a:rPr lang="en-US" dirty="0" err="1"/>
              <a:t>RStudio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https://www.rstudio.com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Install “</a:t>
            </a:r>
            <a:r>
              <a:rPr lang="en-US" dirty="0" err="1" smtClean="0"/>
              <a:t>metafor</a:t>
            </a:r>
            <a:r>
              <a:rPr lang="en-US" dirty="0" smtClean="0"/>
              <a:t>” package using </a:t>
            </a:r>
            <a:r>
              <a:rPr lang="en-US" dirty="0" err="1" smtClean="0"/>
              <a:t>RStudio</a:t>
            </a:r>
            <a:r>
              <a:rPr lang="en-US" dirty="0" smtClean="0"/>
              <a:t> interface.</a:t>
            </a:r>
          </a:p>
          <a:p>
            <a:endParaRPr lang="en-US" dirty="0" smtClean="0"/>
          </a:p>
          <a:p>
            <a:r>
              <a:rPr lang="en-US" dirty="0" smtClean="0"/>
              <a:t>Open and run the R script as instructed.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9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Moderator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for moderator effects is a </a:t>
            </a:r>
            <a:r>
              <a:rPr lang="en-US" dirty="0" smtClean="0"/>
              <a:t>mixed-effects model:</a:t>
            </a:r>
            <a:endParaRPr lang="en-US" dirty="0"/>
          </a:p>
          <a:p>
            <a:pPr lvl="1"/>
            <a:r>
              <a:rPr lang="en-US" dirty="0"/>
              <a:t>Mixed-effects models </a:t>
            </a:r>
            <a:r>
              <a:rPr lang="en-US" dirty="0" smtClean="0"/>
              <a:t>partially explain the variation among population </a:t>
            </a:r>
            <a:r>
              <a:rPr lang="en-US" dirty="0"/>
              <a:t>effect sizes </a:t>
            </a:r>
            <a:r>
              <a:rPr lang="en-US" dirty="0" smtClean="0"/>
              <a:t>by a moderator </a:t>
            </a:r>
            <a:r>
              <a:rPr lang="en-US" dirty="0"/>
              <a:t>variable </a:t>
            </a:r>
            <a:r>
              <a:rPr lang="en-US" dirty="0" smtClean="0"/>
              <a:t>and </a:t>
            </a:r>
            <a:r>
              <a:rPr lang="en-US" dirty="0"/>
              <a:t>also includes additional </a:t>
            </a:r>
            <a:r>
              <a:rPr lang="en-US" dirty="0" smtClean="0"/>
              <a:t>random heterogeneity</a:t>
            </a:r>
            <a:r>
              <a:rPr lang="en-US" dirty="0"/>
              <a:t>. 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assumes a general linear model in which each z-transformed effect size can </a:t>
            </a:r>
            <a:r>
              <a:rPr lang="en-US" dirty="0" smtClean="0"/>
              <a:t>be, at least partially, predicted </a:t>
            </a:r>
            <a:r>
              <a:rPr lang="en-US" dirty="0"/>
              <a:t>from the </a:t>
            </a:r>
            <a:r>
              <a:rPr lang="en-US" dirty="0" smtClean="0"/>
              <a:t>moderator </a:t>
            </a:r>
            <a:r>
              <a:rPr lang="en-US" dirty="0"/>
              <a:t>effect </a:t>
            </a:r>
            <a:r>
              <a:rPr lang="en-US" dirty="0" smtClean="0"/>
              <a:t>represented </a:t>
            </a:r>
            <a:r>
              <a:rPr lang="en-US" dirty="0"/>
              <a:t>by </a:t>
            </a:r>
            <a:r>
              <a:rPr lang="en-US" dirty="0" smtClean="0"/>
              <a:t>b</a:t>
            </a:r>
            <a:r>
              <a:rPr lang="en-US" baseline="-25000" dirty="0" smtClean="0"/>
              <a:t>1</a:t>
            </a:r>
            <a:r>
              <a:rPr lang="en-US" dirty="0" smtClean="0"/>
              <a:t>: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sz="3600" i="1" dirty="0" err="1" smtClean="0"/>
              <a:t>Z</a:t>
            </a:r>
            <a:r>
              <a:rPr lang="en-US" sz="3600" i="1" baseline="-25000" dirty="0" err="1" smtClean="0"/>
              <a:t>r</a:t>
            </a:r>
            <a:r>
              <a:rPr lang="en-US" sz="3600" i="1" dirty="0" smtClean="0"/>
              <a:t> = b</a:t>
            </a:r>
            <a:r>
              <a:rPr lang="en-US" sz="3600" i="1" baseline="-25000" dirty="0" smtClean="0"/>
              <a:t>0</a:t>
            </a:r>
            <a:r>
              <a:rPr lang="en-US" sz="3600" i="1" dirty="0" smtClean="0"/>
              <a:t> + b</a:t>
            </a:r>
            <a:r>
              <a:rPr lang="en-US" sz="3600" i="1" baseline="-25000" dirty="0" smtClean="0"/>
              <a:t>1 </a:t>
            </a:r>
            <a:r>
              <a:rPr lang="en-US" sz="3600" i="1" dirty="0" smtClean="0"/>
              <a:t>M + </a:t>
            </a:r>
            <a:r>
              <a:rPr lang="en-US" sz="3600" i="1" dirty="0" err="1" smtClean="0"/>
              <a:t>e</a:t>
            </a:r>
            <a:r>
              <a:rPr lang="en-US" sz="3600" i="1" baseline="-25000" dirty="0" err="1" smtClean="0"/>
              <a:t>i</a:t>
            </a:r>
            <a:endParaRPr lang="en-US" sz="3600" i="1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757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5567"/>
            <a:ext cx="9144000" cy="3345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Moderator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1822563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Categorical Moderators</a:t>
            </a:r>
            <a:endParaRPr lang="en-US" sz="2000" dirty="0"/>
          </a:p>
          <a:p>
            <a:pPr lvl="1"/>
            <a:r>
              <a:rPr lang="en-US" sz="1800" dirty="0"/>
              <a:t>E.g., Adoption; </a:t>
            </a:r>
            <a:r>
              <a:rPr lang="en-US" sz="1800" dirty="0" smtClean="0"/>
              <a:t>Gender</a:t>
            </a:r>
          </a:p>
          <a:p>
            <a:pPr lvl="1"/>
            <a:r>
              <a:rPr lang="en-US" sz="1800" dirty="0" smtClean="0"/>
              <a:t>Analyzed based on dichotomous variables</a:t>
            </a:r>
            <a:endParaRPr lang="en-US" sz="1800" dirty="0"/>
          </a:p>
          <a:p>
            <a:r>
              <a:rPr lang="en-US" sz="2000" dirty="0"/>
              <a:t>Continuous</a:t>
            </a:r>
          </a:p>
          <a:p>
            <a:pPr lvl="1"/>
            <a:r>
              <a:rPr lang="en-US" sz="1800" dirty="0"/>
              <a:t>Female Percentage (</a:t>
            </a:r>
            <a:r>
              <a:rPr lang="en-US" sz="1800" dirty="0" err="1"/>
              <a:t>Female_Perc</a:t>
            </a:r>
            <a:r>
              <a:rPr lang="en-US" sz="1800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636191" y="3005567"/>
            <a:ext cx="2507810" cy="33458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/>
          <p:cNvSpPr/>
          <p:nvPr/>
        </p:nvSpPr>
        <p:spPr>
          <a:xfrm>
            <a:off x="5327965" y="2183752"/>
            <a:ext cx="2616451" cy="1638677"/>
          </a:xfrm>
          <a:prstGeom prst="arc">
            <a:avLst>
              <a:gd name="adj1" fmla="val 15967291"/>
              <a:gd name="adj2" fmla="val 21590050"/>
            </a:avLst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443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Categorical Variables using Meta Factor function (</a:t>
            </a:r>
            <a:r>
              <a:rPr lang="en-US" dirty="0" err="1" smtClean="0"/>
              <a:t>MetaF</a:t>
            </a:r>
            <a:r>
              <a:rPr lang="en-US" dirty="0" smtClean="0"/>
              <a:t>)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Analog </a:t>
            </a:r>
            <a:r>
              <a:rPr lang="en-US" dirty="0"/>
              <a:t>to the one-way </a:t>
            </a:r>
            <a:r>
              <a:rPr lang="en-US" dirty="0" smtClean="0"/>
              <a:t>ANOVA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Useful </a:t>
            </a:r>
            <a:r>
              <a:rPr lang="en-US" dirty="0"/>
              <a:t>for testing the </a:t>
            </a:r>
            <a:r>
              <a:rPr lang="en-US" dirty="0" smtClean="0"/>
              <a:t>differences across </a:t>
            </a:r>
            <a:r>
              <a:rPr lang="en-US" dirty="0"/>
              <a:t>mean effect sizes for a categorical </a:t>
            </a:r>
            <a:r>
              <a:rPr lang="en-US" dirty="0" smtClean="0"/>
              <a:t>variable.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 of the output for “Adoption” as a categorical moderator.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216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321" y="1127720"/>
            <a:ext cx="6089915" cy="54111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Macro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41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Continuous Variables using Meta Regression (</a:t>
            </a:r>
            <a:r>
              <a:rPr lang="en-US" dirty="0" err="1" smtClean="0"/>
              <a:t>MetaReg</a:t>
            </a:r>
            <a:r>
              <a:rPr lang="en-US" dirty="0" smtClean="0"/>
              <a:t>)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Analog </a:t>
            </a:r>
            <a:r>
              <a:rPr lang="en-US" dirty="0"/>
              <a:t>to the </a:t>
            </a:r>
            <a:r>
              <a:rPr lang="en-US" dirty="0" smtClean="0"/>
              <a:t>regression analysis</a:t>
            </a:r>
          </a:p>
          <a:p>
            <a:pPr lvl="2"/>
            <a:r>
              <a:rPr lang="en-US" dirty="0" smtClean="0"/>
              <a:t>Estimate beta values using restricted maximum likelihood estimator (REML).</a:t>
            </a:r>
          </a:p>
          <a:p>
            <a:pPr lvl="3"/>
            <a:r>
              <a:rPr lang="en-US" dirty="0" smtClean="0"/>
              <a:t>You can change the estimation method if you want.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 of the output for “</a:t>
            </a:r>
            <a:r>
              <a:rPr lang="en-US" dirty="0" err="1" smtClean="0"/>
              <a:t>Female_Perc</a:t>
            </a:r>
            <a:r>
              <a:rPr lang="en-US" dirty="0" smtClean="0"/>
              <a:t>” as a continuous moderator.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155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17" y="997421"/>
            <a:ext cx="7332338" cy="55414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Macro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897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>Your Turn: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Use </a:t>
            </a:r>
            <a:r>
              <a:rPr lang="en-US" sz="3100" dirty="0"/>
              <a:t>Wilson/Linsey SPSS 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Run the macro in SPSS Syntax as instructed.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Run </a:t>
            </a:r>
            <a:r>
              <a:rPr lang="en-US" dirty="0" err="1" smtClean="0"/>
              <a:t>MetaF</a:t>
            </a:r>
            <a:r>
              <a:rPr lang="en-US" dirty="0" smtClean="0"/>
              <a:t> for adoption as a categorical moderator.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Run </a:t>
            </a:r>
            <a:r>
              <a:rPr lang="en-US" dirty="0" err="1" smtClean="0"/>
              <a:t>MetaReg</a:t>
            </a:r>
            <a:r>
              <a:rPr lang="en-US" dirty="0" smtClean="0"/>
              <a:t> for </a:t>
            </a:r>
            <a:r>
              <a:rPr lang="en-US" dirty="0" err="1" smtClean="0"/>
              <a:t>Female_Perc</a:t>
            </a:r>
            <a:r>
              <a:rPr lang="en-US" dirty="0" smtClean="0"/>
              <a:t> as a continuous moderator.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17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924242"/>
          </a:xfrm>
        </p:spPr>
        <p:txBody>
          <a:bodyPr>
            <a:normAutofit/>
          </a:bodyPr>
          <a:lstStyle/>
          <a:p>
            <a:r>
              <a:rPr lang="en-US" sz="2000" dirty="0"/>
              <a:t>Moderator </a:t>
            </a:r>
            <a:r>
              <a:rPr lang="en-US" sz="20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Metafor Package in R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For both Continuous and Categorical Variables uses Meta Regression: </a:t>
            </a:r>
            <a:r>
              <a:rPr lang="en-US" i="1" dirty="0" err="1" smtClean="0">
                <a:solidFill>
                  <a:srgbClr val="0432FF"/>
                </a:solidFill>
              </a:rPr>
              <a:t>rma</a:t>
            </a:r>
            <a:r>
              <a:rPr lang="en-US" i="1" dirty="0" smtClean="0">
                <a:solidFill>
                  <a:srgbClr val="0432FF"/>
                </a:solidFill>
              </a:rPr>
              <a:t>() </a:t>
            </a:r>
            <a:r>
              <a:rPr lang="en-US" dirty="0" smtClean="0"/>
              <a:t>function.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Analog </a:t>
            </a:r>
            <a:r>
              <a:rPr lang="en-US" dirty="0"/>
              <a:t>to the </a:t>
            </a:r>
            <a:r>
              <a:rPr lang="en-US" dirty="0" smtClean="0"/>
              <a:t>regression analysis</a:t>
            </a:r>
          </a:p>
          <a:p>
            <a:pPr lvl="2"/>
            <a:r>
              <a:rPr lang="en-US" dirty="0" smtClean="0"/>
              <a:t>Estimate beta values using restricted maximum likelihood estimator (REML).</a:t>
            </a:r>
          </a:p>
          <a:p>
            <a:pPr lvl="3"/>
            <a:r>
              <a:rPr lang="en-US" dirty="0" smtClean="0"/>
              <a:t>You can change the estimation method if you want.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Categorical variables are tested in form of dichotomous variable.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Examples of the output for </a:t>
            </a:r>
          </a:p>
          <a:p>
            <a:pPr lvl="2"/>
            <a:r>
              <a:rPr lang="en-US" dirty="0" smtClean="0"/>
              <a:t>Adoption as a categorical moderator.</a:t>
            </a:r>
            <a:endParaRPr lang="en-US" dirty="0"/>
          </a:p>
          <a:p>
            <a:pPr lvl="2"/>
            <a:r>
              <a:rPr lang="en-US" dirty="0" smtClean="0"/>
              <a:t>“</a:t>
            </a:r>
            <a:r>
              <a:rPr lang="en-US" dirty="0" err="1" smtClean="0"/>
              <a:t>Female_Perc</a:t>
            </a:r>
            <a:r>
              <a:rPr lang="en-US" dirty="0" smtClean="0"/>
              <a:t>” as a continuous moderator.</a:t>
            </a:r>
          </a:p>
          <a:p>
            <a:pPr lvl="2"/>
            <a:r>
              <a:rPr lang="en-US" dirty="0" smtClean="0"/>
              <a:t>Both moderators together in a model.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182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18" y="1108279"/>
            <a:ext cx="7025364" cy="52752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8391" y="3745894"/>
            <a:ext cx="7632071" cy="6721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76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88" y="1147590"/>
            <a:ext cx="7019424" cy="5208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5964" y="3751970"/>
            <a:ext cx="7632071" cy="7023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062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800" y="1097542"/>
            <a:ext cx="6576400" cy="52588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141" y="3726946"/>
            <a:ext cx="7632071" cy="61871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710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>Your Turn: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/>
              <a:t> </a:t>
            </a:r>
            <a:r>
              <a:rPr lang="en-US" sz="3100" dirty="0"/>
              <a:t>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Run the </a:t>
            </a:r>
            <a:r>
              <a:rPr lang="en-US" dirty="0" err="1" smtClean="0"/>
              <a:t>metafor</a:t>
            </a:r>
            <a:r>
              <a:rPr lang="en-US" dirty="0" smtClean="0"/>
              <a:t> package in </a:t>
            </a:r>
            <a:r>
              <a:rPr lang="en-US" dirty="0" err="1" smtClean="0"/>
              <a:t>RStudio</a:t>
            </a:r>
            <a:r>
              <a:rPr lang="en-US" dirty="0" smtClean="0"/>
              <a:t> as instructed: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Run </a:t>
            </a:r>
            <a:r>
              <a:rPr lang="en-US" dirty="0" err="1" smtClean="0"/>
              <a:t>rma</a:t>
            </a:r>
            <a:r>
              <a:rPr lang="en-US" dirty="0" smtClean="0"/>
              <a:t> () function for testing:</a:t>
            </a:r>
          </a:p>
          <a:p>
            <a:pPr lvl="2"/>
            <a:r>
              <a:rPr lang="en-US" dirty="0" smtClean="0"/>
              <a:t>Adoption as a categorical moderator.</a:t>
            </a:r>
            <a:endParaRPr lang="en-US" dirty="0"/>
          </a:p>
          <a:p>
            <a:pPr lvl="2"/>
            <a:r>
              <a:rPr lang="en-US" dirty="0" err="1" smtClean="0"/>
              <a:t>Female_Perc</a:t>
            </a:r>
            <a:r>
              <a:rPr lang="en-US" dirty="0" smtClean="0"/>
              <a:t> as a continuous moderator.</a:t>
            </a:r>
          </a:p>
          <a:p>
            <a:pPr lvl="2"/>
            <a:r>
              <a:rPr lang="en-US" dirty="0" smtClean="0"/>
              <a:t>Both moderators together in a model.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323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54" y="1223836"/>
            <a:ext cx="7550491" cy="479368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128742"/>
          </a:xfrm>
        </p:spPr>
        <p:txBody>
          <a:bodyPr/>
          <a:lstStyle/>
          <a:p>
            <a:r>
              <a:rPr lang="en-US" sz="2000" dirty="0" smtClean="0"/>
              <a:t>For showing the variability of effect sizes across studies</a:t>
            </a:r>
          </a:p>
          <a:p>
            <a:pPr lvl="1"/>
            <a:r>
              <a:rPr lang="en-US" sz="1800" dirty="0" smtClean="0"/>
              <a:t>Can be used for both raw correlation as well as z-transformed effect sizes</a:t>
            </a:r>
          </a:p>
          <a:p>
            <a:pPr lvl="1"/>
            <a:endParaRPr lang="en-US" sz="18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 smtClean="0"/>
              <a:t>Plots for 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Forest Plot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2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553" y="5212338"/>
            <a:ext cx="2996696" cy="110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282" y="1406738"/>
            <a:ext cx="5175835" cy="3286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317866"/>
          </a:xfrm>
        </p:spPr>
        <p:txBody>
          <a:bodyPr/>
          <a:lstStyle/>
          <a:p>
            <a:r>
              <a:rPr lang="en-US" sz="2000" dirty="0" smtClean="0"/>
              <a:t>For assessing </a:t>
            </a:r>
            <a:r>
              <a:rPr lang="en-US" sz="2000" b="1" dirty="0" smtClean="0"/>
              <a:t>publication bias </a:t>
            </a:r>
            <a:r>
              <a:rPr lang="en-US" sz="2000" dirty="0" smtClean="0"/>
              <a:t>(a.k.a., </a:t>
            </a:r>
            <a:r>
              <a:rPr lang="en-US" sz="2000" b="1" dirty="0" smtClean="0"/>
              <a:t>file drawer problem</a:t>
            </a:r>
            <a:r>
              <a:rPr lang="en-US" sz="2000" dirty="0" smtClean="0"/>
              <a:t>) </a:t>
            </a:r>
          </a:p>
          <a:p>
            <a:pPr lvl="1"/>
            <a:r>
              <a:rPr lang="en-US" sz="1800" dirty="0" smtClean="0"/>
              <a:t>Significant </a:t>
            </a:r>
            <a:r>
              <a:rPr lang="en-US" sz="1800" dirty="0"/>
              <a:t>findings are </a:t>
            </a:r>
            <a:r>
              <a:rPr lang="en-US" sz="1800" dirty="0" smtClean="0"/>
              <a:t>more likely </a:t>
            </a:r>
            <a:r>
              <a:rPr lang="en-US" sz="1800" dirty="0"/>
              <a:t>to be published than non-significant </a:t>
            </a:r>
            <a:r>
              <a:rPr lang="en-US" sz="1800" dirty="0" smtClean="0"/>
              <a:t>findings.</a:t>
            </a:r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r>
              <a:rPr lang="en-US" sz="1800" dirty="0" smtClean="0"/>
              <a:t>Alternative measure is </a:t>
            </a:r>
            <a:r>
              <a:rPr lang="en-US" sz="1800" b="1" dirty="0" smtClean="0"/>
              <a:t>fail-safe N</a:t>
            </a:r>
            <a:r>
              <a:rPr lang="en-US" sz="1800" dirty="0" smtClean="0"/>
              <a:t> measure. 				</a:t>
            </a:r>
            <a:r>
              <a:rPr lang="en-US" sz="1200" dirty="0" smtClean="0"/>
              <a:t>(</a:t>
            </a:r>
            <a:r>
              <a:rPr lang="en-US" sz="1200" dirty="0"/>
              <a:t>Rosenthal, 1979</a:t>
            </a:r>
            <a:r>
              <a:rPr lang="en-US" sz="1200" dirty="0" smtClean="0"/>
              <a:t>)</a:t>
            </a:r>
          </a:p>
          <a:p>
            <a:pPr lvl="2"/>
            <a:r>
              <a:rPr lang="en-US" sz="1600" dirty="0" smtClean="0"/>
              <a:t>Number of unpublished studies not </a:t>
            </a:r>
            <a:r>
              <a:rPr lang="en-US" sz="1600" dirty="0"/>
              <a:t>included in the meta-analysis to make the population effect size non-significant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 smtClean="0"/>
              <a:t>Plots for 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Funnel Plot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370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Plots for Meta-Analysis:</a:t>
            </a:r>
            <a:br>
              <a:rPr lang="en-US" sz="2200" dirty="0"/>
            </a:br>
            <a:r>
              <a:rPr lang="en-US" dirty="0" smtClean="0"/>
              <a:t>Stem and Leaf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679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Cutting Edge Issues in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Meta-Analytic Structural Equation Modeling (MASEM)</a:t>
            </a:r>
          </a:p>
          <a:p>
            <a:pPr lvl="1"/>
            <a:r>
              <a:rPr lang="en-US" dirty="0" smtClean="0"/>
              <a:t>Using Meta-Analytic Data for testing Structural Models using Covariance-based Structural Equation Modeling (SEM).</a:t>
            </a:r>
          </a:p>
          <a:p>
            <a:pPr lvl="2"/>
            <a:r>
              <a:rPr lang="en-US" dirty="0" smtClean="0"/>
              <a:t>It can provide the best of both worlds: Meta-Analysis &amp; SEM.</a:t>
            </a:r>
          </a:p>
          <a:p>
            <a:pPr lvl="2"/>
            <a:r>
              <a:rPr lang="en-US" dirty="0" smtClean="0"/>
              <a:t>Can be used for testing hypotheses and theoretical models.</a:t>
            </a:r>
          </a:p>
          <a:p>
            <a:pPr lvl="2"/>
            <a:r>
              <a:rPr lang="en-US" dirty="0" smtClean="0"/>
              <a:t>More complex than bivariate (basic) meta-analysis.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Should be implemented using </a:t>
            </a:r>
            <a:r>
              <a:rPr lang="en-US" dirty="0" err="1" smtClean="0"/>
              <a:t>metaSEM</a:t>
            </a:r>
            <a:r>
              <a:rPr lang="en-US" dirty="0" smtClean="0"/>
              <a:t> package in R.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References:</a:t>
            </a:r>
          </a:p>
          <a:p>
            <a:pPr lvl="2"/>
            <a:r>
              <a:rPr lang="en-US" dirty="0" smtClean="0"/>
              <a:t>Cheung (2015) book on two-stage MASEM.</a:t>
            </a:r>
          </a:p>
          <a:p>
            <a:pPr lvl="2"/>
            <a:r>
              <a:rPr lang="en-US" dirty="0" smtClean="0"/>
              <a:t>Montazemi &amp; Qahri-Saremi (2015)’s I&amp;M paper.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958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5"/>
            <a:ext cx="8229600" cy="592080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961" y="742390"/>
            <a:ext cx="8754701" cy="563125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Field, A.P. 2005. "Is the Meta-Analysis of Correlation Coefficients Accurate When Population Correlations Vary?," </a:t>
            </a:r>
            <a:r>
              <a:rPr lang="en-US" sz="1400" i="1" dirty="0"/>
              <a:t>Psychological Methods</a:t>
            </a:r>
            <a:r>
              <a:rPr lang="en-US" sz="1400" dirty="0"/>
              <a:t> (10:4), pp. 444-467.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Field</a:t>
            </a:r>
            <a:r>
              <a:rPr lang="en-US" sz="1400" dirty="0"/>
              <a:t>, A.P., and Gillett, R. 2010. "How to Do a Meta‐Analysis," </a:t>
            </a:r>
            <a:r>
              <a:rPr lang="en-US" sz="1400" i="1" dirty="0"/>
              <a:t>British Journal of Mathematical and Statistical Psychology</a:t>
            </a:r>
            <a:r>
              <a:rPr lang="en-US" sz="1400" dirty="0"/>
              <a:t> (63:3), pp. 665-694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Glass</a:t>
            </a:r>
            <a:r>
              <a:rPr lang="en-US" sz="1400" dirty="0"/>
              <a:t>, G.V. 1976. "Primary, Secondary, and Meta-Analysis of Research," </a:t>
            </a:r>
            <a:r>
              <a:rPr lang="en-US" sz="1400" i="1" dirty="0"/>
              <a:t>Educational researcher</a:t>
            </a:r>
            <a:r>
              <a:rPr lang="en-US" sz="1400" dirty="0"/>
              <a:t> (5:10), pp. 3-8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Hedges, L.V., and </a:t>
            </a:r>
            <a:r>
              <a:rPr lang="en-US" sz="1400" dirty="0" err="1"/>
              <a:t>Olkin</a:t>
            </a:r>
            <a:r>
              <a:rPr lang="en-US" sz="1400" dirty="0"/>
              <a:t>, I. 1985. </a:t>
            </a:r>
            <a:r>
              <a:rPr lang="en-US" sz="1400" i="1" dirty="0"/>
              <a:t>Statistical Methods for Meta-Analysis</a:t>
            </a:r>
            <a:r>
              <a:rPr lang="en-US" sz="1400" dirty="0"/>
              <a:t>. San Diego, CA: Academic Press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Huedo</a:t>
            </a:r>
            <a:r>
              <a:rPr lang="en-US" sz="1400" dirty="0"/>
              <a:t>-Medina, T.B., Sánchez-</a:t>
            </a:r>
            <a:r>
              <a:rPr lang="en-US" sz="1400" dirty="0" err="1"/>
              <a:t>Meca</a:t>
            </a:r>
            <a:r>
              <a:rPr lang="en-US" sz="1400" dirty="0"/>
              <a:t>, J., </a:t>
            </a:r>
            <a:r>
              <a:rPr lang="en-US" sz="1400" dirty="0" err="1"/>
              <a:t>Marín-Martínez</a:t>
            </a:r>
            <a:r>
              <a:rPr lang="en-US" sz="1400" dirty="0"/>
              <a:t>, F., and </a:t>
            </a:r>
            <a:r>
              <a:rPr lang="en-US" sz="1400" dirty="0" err="1"/>
              <a:t>Botella</a:t>
            </a:r>
            <a:r>
              <a:rPr lang="en-US" sz="1400" dirty="0"/>
              <a:t>, J. 2006. "Assessing Heterogeneity in Meta-Analysis: Q Statistic or I² Index?," </a:t>
            </a:r>
            <a:r>
              <a:rPr lang="en-US" sz="1400" i="1" dirty="0"/>
              <a:t>Psychological Methods</a:t>
            </a:r>
            <a:r>
              <a:rPr lang="en-US" sz="1400" dirty="0"/>
              <a:t> (11:2), p. 193</a:t>
            </a:r>
            <a:r>
              <a:rPr lang="en-US" sz="1400" dirty="0" smtClean="0"/>
              <a:t>.</a:t>
            </a:r>
            <a:endParaRPr lang="en-US" sz="1400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Hunter</a:t>
            </a:r>
            <a:r>
              <a:rPr lang="en-US" sz="1400" dirty="0"/>
              <a:t>, J.E., and Schmidt, F.L. 2004. </a:t>
            </a:r>
            <a:r>
              <a:rPr lang="en-US" sz="1400" i="1" dirty="0"/>
              <a:t>Methods of Meta-Analysis: Correcting Error and Bias in Research Findings</a:t>
            </a:r>
            <a:r>
              <a:rPr lang="en-US" sz="1400" dirty="0"/>
              <a:t>, (Second ed.). Sage Publications, Inc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 smtClean="0"/>
              <a:t>Lipsey</a:t>
            </a:r>
            <a:r>
              <a:rPr lang="en-US" sz="1400" dirty="0"/>
              <a:t>, M., and Wilson, D.B. 2001. </a:t>
            </a:r>
            <a:r>
              <a:rPr lang="en-US" sz="1400" i="1" dirty="0"/>
              <a:t>Practical Meta-Analysis</a:t>
            </a:r>
            <a:r>
              <a:rPr lang="en-US" sz="1400" dirty="0"/>
              <a:t>. Thousand Oaks, CA: Sage </a:t>
            </a:r>
            <a:r>
              <a:rPr lang="en-US" sz="1400" dirty="0"/>
              <a:t>Publications: </a:t>
            </a:r>
            <a:r>
              <a:rPr lang="en-US" sz="1400" i="1" dirty="0">
                <a:hlinkClick r:id="rId2"/>
              </a:rPr>
              <a:t>http://mason.gmu.edu/~</a:t>
            </a:r>
            <a:r>
              <a:rPr lang="en-US" sz="1400" i="1" dirty="0" smtClean="0">
                <a:hlinkClick r:id="rId2"/>
              </a:rPr>
              <a:t>dwilsonb/ma.html</a:t>
            </a:r>
            <a:r>
              <a:rPr lang="en-US" sz="1400" dirty="0"/>
              <a:t>.</a:t>
            </a:r>
            <a:endParaRPr lang="en-US" sz="1400" dirty="0" smtClean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Moher </a:t>
            </a:r>
            <a:r>
              <a:rPr lang="en-US" sz="1400" dirty="0" smtClean="0"/>
              <a:t>D., </a:t>
            </a:r>
            <a:r>
              <a:rPr lang="en-US" sz="1400" dirty="0" err="1"/>
              <a:t>Liberati</a:t>
            </a:r>
            <a:r>
              <a:rPr lang="en-US" sz="1400" dirty="0"/>
              <a:t> </a:t>
            </a:r>
            <a:r>
              <a:rPr lang="en-US" sz="1400" dirty="0" smtClean="0"/>
              <a:t>A., </a:t>
            </a:r>
            <a:r>
              <a:rPr lang="en-US" sz="1400" dirty="0" err="1"/>
              <a:t>Tetzlaff</a:t>
            </a:r>
            <a:r>
              <a:rPr lang="en-US" sz="1400" dirty="0"/>
              <a:t> </a:t>
            </a:r>
            <a:r>
              <a:rPr lang="en-US" sz="1400" dirty="0" smtClean="0"/>
              <a:t>J., </a:t>
            </a:r>
            <a:r>
              <a:rPr lang="en-US" sz="1400" dirty="0"/>
              <a:t>Altman </a:t>
            </a:r>
            <a:r>
              <a:rPr lang="en-US" sz="1400" dirty="0" smtClean="0"/>
              <a:t>D.G., </a:t>
            </a:r>
            <a:r>
              <a:rPr lang="en-US" sz="1400" dirty="0"/>
              <a:t>The PRISMA </a:t>
            </a:r>
            <a:r>
              <a:rPr lang="en-US" sz="1400" dirty="0" smtClean="0"/>
              <a:t>Group. 2009. “Preferred </a:t>
            </a:r>
            <a:r>
              <a:rPr lang="en-US" sz="1400" dirty="0"/>
              <a:t>Reporting Items for Systematic Reviews and Meta Analyses: The PRISMA </a:t>
            </a:r>
            <a:r>
              <a:rPr lang="en-US" sz="1400" dirty="0" smtClean="0"/>
              <a:t>Statement”. </a:t>
            </a:r>
            <a:r>
              <a:rPr lang="en-US" sz="1400" i="1" dirty="0" err="1"/>
              <a:t>PLoS</a:t>
            </a:r>
            <a:r>
              <a:rPr lang="en-US" sz="1400" i="1" dirty="0"/>
              <a:t> Med </a:t>
            </a:r>
            <a:r>
              <a:rPr lang="en-US" sz="1400" dirty="0"/>
              <a:t>6(7): e1000097. </a:t>
            </a:r>
            <a:r>
              <a:rPr lang="en-US" sz="1400" dirty="0" smtClean="0"/>
              <a:t>doi:10.1371/journal.pmed1000097.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Montazemi</a:t>
            </a:r>
            <a:r>
              <a:rPr lang="en-US" sz="1400" dirty="0"/>
              <a:t>, A.R., and Qahri-Saremi, H. 2015. "Factors Affecting Adoption of Online Banking: A Meta-Analytic Structural Equation Modeling Study," </a:t>
            </a:r>
            <a:r>
              <a:rPr lang="en-US" sz="1400" i="1" dirty="0"/>
              <a:t>Information &amp; Management</a:t>
            </a:r>
            <a:r>
              <a:rPr lang="en-US" sz="1400" dirty="0"/>
              <a:t> (52:2), pp. 210-226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Rosenthal, R. 1979. "The “File Drawer Problem” and Tolerance for Null Results," </a:t>
            </a:r>
            <a:r>
              <a:rPr lang="en-US" sz="1400" i="1" dirty="0"/>
              <a:t>Psychological Bulletin</a:t>
            </a:r>
            <a:r>
              <a:rPr lang="en-US" sz="1400" dirty="0"/>
              <a:t> (86:3), pp. 638-641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Sharma, S., Bottom, W.P., and </a:t>
            </a:r>
            <a:r>
              <a:rPr lang="en-US" sz="1400" dirty="0" err="1"/>
              <a:t>Elfenbein</a:t>
            </a:r>
            <a:r>
              <a:rPr lang="en-US" sz="1400" dirty="0"/>
              <a:t>, H.A. 2013. "On the Role of Personality, Cognitive Ability, and Emotional Intelligence in Predicting Negotiation Outcomes: A Meta-Analysis," </a:t>
            </a:r>
            <a:r>
              <a:rPr lang="en-US" sz="1400" i="1" dirty="0"/>
              <a:t>Organizational Psychology Review</a:t>
            </a:r>
            <a:r>
              <a:rPr lang="en-US" sz="1400" dirty="0"/>
              <a:t> (3:4), pp. 293-336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Viechtbauer</a:t>
            </a:r>
            <a:r>
              <a:rPr lang="en-US" sz="1400" dirty="0"/>
              <a:t>, W. 2010. "Conducting Meta-Analyses in R with the Metafor Package," </a:t>
            </a:r>
            <a:r>
              <a:rPr lang="en-US" sz="1400" i="1" dirty="0"/>
              <a:t>Journal of Statistical Software</a:t>
            </a:r>
            <a:r>
              <a:rPr lang="en-US" sz="1400" dirty="0"/>
              <a:t> (36:3), pp. 1-48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959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4759535970_3467f04902_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68" y="0"/>
            <a:ext cx="450640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3459" y="6387887"/>
            <a:ext cx="29715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 smtClean="0">
                <a:latin typeface="Georgia"/>
                <a:cs typeface="Georgia"/>
              </a:rPr>
              <a:t>Image </a:t>
            </a:r>
            <a:r>
              <a:rPr lang="en-US" sz="1400" i="1" dirty="0">
                <a:latin typeface="Georgia"/>
                <a:cs typeface="Georgia"/>
              </a:rPr>
              <a:t>by </a:t>
            </a:r>
            <a:r>
              <a:rPr lang="en-US" sz="1400" i="1" dirty="0" err="1" smtClean="0">
                <a:latin typeface="Georgia"/>
                <a:cs typeface="Georgia"/>
              </a:rPr>
              <a:t>WoodleyWonderWorks</a:t>
            </a:r>
            <a:endParaRPr lang="en-US" sz="1400" i="1" dirty="0">
              <a:latin typeface="Georgia"/>
              <a:cs typeface="Georg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7C25-93B4-594F-9786-C0BAE2ADE106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13082</TotalTime>
  <Words>4096</Words>
  <Application>Microsoft Macintosh PowerPoint</Application>
  <PresentationFormat>On-screen Show (4:3)</PresentationFormat>
  <Paragraphs>672</Paragraphs>
  <Slides>68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Georgia</vt:lpstr>
      <vt:lpstr>Arial</vt:lpstr>
      <vt:lpstr>Calibri</vt:lpstr>
      <vt:lpstr>DejaVu Sans</vt:lpstr>
      <vt:lpstr>Times New Roman</vt:lpstr>
      <vt:lpstr>Office Theme</vt:lpstr>
      <vt:lpstr>Equation</vt:lpstr>
      <vt:lpstr>Document</vt:lpstr>
      <vt:lpstr>Microsoft Equation 3.0</vt:lpstr>
      <vt:lpstr>Introduction to Meta Analysis</vt:lpstr>
      <vt:lpstr>Overview of the Workshop</vt:lpstr>
      <vt:lpstr>What is a Meta-Analysis?</vt:lpstr>
      <vt:lpstr>A little bit of History…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Single Studies</vt:lpstr>
      <vt:lpstr>When Can You Do Meta-analysis?</vt:lpstr>
      <vt:lpstr>Eight Steps to Conduct a Meta-Analysis</vt:lpstr>
      <vt:lpstr>Problem Definition</vt:lpstr>
      <vt:lpstr>Establishing Inclusion/Exclusion Criteria: Which Studies to Include? </vt:lpstr>
      <vt:lpstr>Establishing Inclusion/Exclusion Criteria: Which Studies to Include? </vt:lpstr>
      <vt:lpstr>Literature Search and Studies Retrieval </vt:lpstr>
      <vt:lpstr>Literature Search and Studies Retrieval </vt:lpstr>
      <vt:lpstr>Coding Data</vt:lpstr>
      <vt:lpstr>Effect Size (ES):  The Key to Meta-Analysis</vt:lpstr>
      <vt:lpstr>Effect Size (ES):  The Correlation Coefficient</vt:lpstr>
      <vt:lpstr>Effect Size (ES):  The Standardized Mean Difference</vt:lpstr>
      <vt:lpstr>Effect Size (ES):  The Odds-Ratio</vt:lpstr>
      <vt:lpstr>Effect Size (ES):  The Risk Ratio</vt:lpstr>
      <vt:lpstr>Effect Size (ES):  Additional Data to Code Along With the ES</vt:lpstr>
      <vt:lpstr>Effect Size (ES):  Issues in Coding Effect Sizes</vt:lpstr>
      <vt:lpstr>Effect Size (ES):  Independent Set of Effect Sizes</vt:lpstr>
      <vt:lpstr>Effect Size (ES)</vt:lpstr>
      <vt:lpstr>The Basic Meta-Analysis Fixed-Effects vs. Random-Effects Meta-Analysis</vt:lpstr>
      <vt:lpstr>The Basic Meta-Analysis Fixed-Effects vs. Random-Effects Meta-Analysis</vt:lpstr>
      <vt:lpstr>The Basic Meta-Analysis Fixed-Effects vs. Random-Effects Meta-Analysis</vt:lpstr>
      <vt:lpstr>PowerPoint Presentation</vt:lpstr>
      <vt:lpstr>Tools for Meta-Analysis:  Wilson/Lipsey SPSS Macro</vt:lpstr>
      <vt:lpstr>Tools for Meta-Analysis:  Metafor Package in R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  Wilson/Linsey SPSS Macro</vt:lpstr>
      <vt:lpstr>The Basic Meta-Analysis:  Metafor Package in R</vt:lpstr>
      <vt:lpstr>The Basic Meta-Analysis:</vt:lpstr>
      <vt:lpstr>The Basic Meta-Analysis:</vt:lpstr>
      <vt:lpstr>The Basic Meta-Analysis:  Metafor Package in R</vt:lpstr>
      <vt:lpstr>Your Turn: Use Wilson/Linsey SPSS Macro</vt:lpstr>
      <vt:lpstr>Your Turn: Use Metafor Package in R</vt:lpstr>
      <vt:lpstr>Moderator Analysis</vt:lpstr>
      <vt:lpstr>Moderator Analysis</vt:lpstr>
      <vt:lpstr>Moderator Analysis: Wilson/Linsey SPSS Macro</vt:lpstr>
      <vt:lpstr>Moderator Analysis: Wilson/Linsey SPSS Macro</vt:lpstr>
      <vt:lpstr>Moderator Analysis: Wilson/Linsey SPSS Macro</vt:lpstr>
      <vt:lpstr>Moderator Analysis: Wilson/Linsey SPSS Macro</vt:lpstr>
      <vt:lpstr>Your Turn: Use Wilson/Linsey SPSS Macro</vt:lpstr>
      <vt:lpstr>Moderator Analysis: Metafor Package in R</vt:lpstr>
      <vt:lpstr>Moderator Analysis: Metafor Package in R</vt:lpstr>
      <vt:lpstr>Moderator Analysis: Metafor Package in R</vt:lpstr>
      <vt:lpstr>Moderator Analysis: Metafor Package in R</vt:lpstr>
      <vt:lpstr>Your Turn:  Metafor Package in R</vt:lpstr>
      <vt:lpstr>Plots for Meta-Analysis: Forest Plot</vt:lpstr>
      <vt:lpstr>Plots for Meta-Analysis: Funnel Plot</vt:lpstr>
      <vt:lpstr>Plots for Meta-Analysis: Stem and Leaf</vt:lpstr>
      <vt:lpstr>Cutting Edge Issues in Meta-Analysis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Qahri-Saremi</dc:creator>
  <cp:lastModifiedBy>Hamed Qahri Saremi</cp:lastModifiedBy>
  <cp:revision>1522</cp:revision>
  <dcterms:created xsi:type="dcterms:W3CDTF">2015-10-04T21:24:22Z</dcterms:created>
  <dcterms:modified xsi:type="dcterms:W3CDTF">2017-08-07T01:32:27Z</dcterms:modified>
</cp:coreProperties>
</file>