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emf" ContentType="image/x-emf"/>
  <Default Extension="vml" ContentType="application/vnd.openxmlformats-officedocument.vmlDrawing"/>
  <Default Extension="bin" ContentType="application/vnd.openxmlformats-officedocument.oleObject"/>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39"/>
  </p:notesMasterIdLst>
  <p:handoutMasterIdLst>
    <p:handoutMasterId r:id="rId40"/>
  </p:handoutMasterIdLst>
  <p:sldIdLst>
    <p:sldId id="280" r:id="rId2"/>
    <p:sldId id="289" r:id="rId3"/>
    <p:sldId id="292" r:id="rId4"/>
    <p:sldId id="293" r:id="rId5"/>
    <p:sldId id="294" r:id="rId6"/>
    <p:sldId id="295" r:id="rId7"/>
    <p:sldId id="296" r:id="rId8"/>
    <p:sldId id="297" r:id="rId9"/>
    <p:sldId id="298" r:id="rId10"/>
    <p:sldId id="299" r:id="rId11"/>
    <p:sldId id="300" r:id="rId12"/>
    <p:sldId id="387" r:id="rId13"/>
    <p:sldId id="303" r:id="rId14"/>
    <p:sldId id="304" r:id="rId15"/>
    <p:sldId id="305" r:id="rId16"/>
    <p:sldId id="306" r:id="rId17"/>
    <p:sldId id="307" r:id="rId18"/>
    <p:sldId id="310" r:id="rId19"/>
    <p:sldId id="311" r:id="rId20"/>
    <p:sldId id="312" r:id="rId21"/>
    <p:sldId id="385" r:id="rId22"/>
    <p:sldId id="386" r:id="rId23"/>
    <p:sldId id="313" r:id="rId24"/>
    <p:sldId id="314" r:id="rId25"/>
    <p:sldId id="315" r:id="rId26"/>
    <p:sldId id="316" r:id="rId27"/>
    <p:sldId id="317" r:id="rId28"/>
    <p:sldId id="318" r:id="rId29"/>
    <p:sldId id="319" r:id="rId30"/>
    <p:sldId id="320" r:id="rId31"/>
    <p:sldId id="336" r:id="rId32"/>
    <p:sldId id="337" r:id="rId33"/>
    <p:sldId id="381" r:id="rId34"/>
    <p:sldId id="382" r:id="rId35"/>
    <p:sldId id="383" r:id="rId36"/>
    <p:sldId id="384" r:id="rId37"/>
    <p:sldId id="380" r:id="rId38"/>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3E64"/>
    <a:srgbClr val="C1C1C1"/>
    <a:srgbClr val="F1D5A6"/>
    <a:srgbClr val="FDE6AD"/>
    <a:srgbClr val="CE783A"/>
    <a:srgbClr val="FFF7C3"/>
    <a:srgbClr val="F0D994"/>
    <a:srgbClr val="F0E5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51"/>
    <p:restoredTop sz="94012" autoAdjust="0"/>
  </p:normalViewPr>
  <p:slideViewPr>
    <p:cSldViewPr snapToObjects="1">
      <p:cViewPr varScale="1">
        <p:scale>
          <a:sx n="138" d="100"/>
          <a:sy n="138" d="100"/>
        </p:scale>
        <p:origin x="2408" y="192"/>
      </p:cViewPr>
      <p:guideLst/>
    </p:cSldViewPr>
  </p:slideViewPr>
  <p:notesTextViewPr>
    <p:cViewPr>
      <p:scale>
        <a:sx n="1" d="1"/>
        <a:sy n="1" d="1"/>
      </p:scale>
      <p:origin x="0" y="0"/>
    </p:cViewPr>
  </p:notesTextViewPr>
  <p:notesViewPr>
    <p:cSldViewPr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 Id="rId2"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 Id="rId2"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ＭＳ Ｐゴシック" pitchFamily="-84" charset="-128"/>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fld id="{E725402C-011E-4E16-A6B9-68FC0D606D1C}" type="datetimeFigureOut">
              <a:rPr lang="en-US" altLang="en-US"/>
              <a:pPr/>
              <a:t>8/2/17</a:t>
            </a:fld>
            <a:endParaRPr lang="en-US"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ＭＳ Ｐゴシック" pitchFamily="-84" charset="-128"/>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01C3EEAE-6507-46A7-B3E6-FD7F2A6079BC}"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ＭＳ Ｐゴシック" pitchFamily="-84" charset="-128"/>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fld id="{B12AA6D5-CD2B-4973-B4AC-6FBA981B5577}" type="datetimeFigureOut">
              <a:rPr lang="en-US" altLang="en-US"/>
              <a:pPr/>
              <a:t>8/2/17</a:t>
            </a:fld>
            <a:endParaRPr lang="en-US"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ＭＳ Ｐゴシック" pitchFamily="-84" charset="-128"/>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5BA09947-3971-4AF1-958E-1C7DDF4DB47E}"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SimSun" pitchFamily="2" charset="-122"/>
              </a:defRPr>
            </a:lvl1pPr>
            <a:lvl2pPr marL="742950" indent="-285750" eaLnBrk="0" hangingPunct="0">
              <a:defRPr>
                <a:solidFill>
                  <a:schemeClr val="tx1"/>
                </a:solidFill>
                <a:latin typeface="Arial" pitchFamily="34" charset="0"/>
                <a:ea typeface="SimSun" pitchFamily="2" charset="-122"/>
              </a:defRPr>
            </a:lvl2pPr>
            <a:lvl3pPr marL="1143000" indent="-228600" eaLnBrk="0" hangingPunct="0">
              <a:defRPr>
                <a:solidFill>
                  <a:schemeClr val="tx1"/>
                </a:solidFill>
                <a:latin typeface="Arial" pitchFamily="34" charset="0"/>
                <a:ea typeface="SimSun" pitchFamily="2" charset="-122"/>
              </a:defRPr>
            </a:lvl3pPr>
            <a:lvl4pPr marL="1600200" indent="-228600" eaLnBrk="0" hangingPunct="0">
              <a:defRPr>
                <a:solidFill>
                  <a:schemeClr val="tx1"/>
                </a:solidFill>
                <a:latin typeface="Arial" pitchFamily="34" charset="0"/>
                <a:ea typeface="SimSun" pitchFamily="2" charset="-122"/>
              </a:defRPr>
            </a:lvl4pPr>
            <a:lvl5pPr marL="2057400" indent="-228600" eaLnBrk="0" hangingPunct="0">
              <a:defRPr>
                <a:solidFill>
                  <a:schemeClr val="tx1"/>
                </a:solidFill>
                <a:latin typeface="Arial" pitchFamily="34" charset="0"/>
                <a:ea typeface="SimSun" pitchFamily="2" charset="-122"/>
              </a:defRPr>
            </a:lvl5pPr>
            <a:lvl6pPr marL="2514600" indent="-228600" eaLnBrk="0" fontAlgn="base" hangingPunct="0">
              <a:spcBef>
                <a:spcPct val="0"/>
              </a:spcBef>
              <a:spcAft>
                <a:spcPct val="0"/>
              </a:spcAft>
              <a:defRPr>
                <a:solidFill>
                  <a:schemeClr val="tx1"/>
                </a:solidFill>
                <a:latin typeface="Arial" pitchFamily="34" charset="0"/>
                <a:ea typeface="SimSun" pitchFamily="2" charset="-122"/>
              </a:defRPr>
            </a:lvl6pPr>
            <a:lvl7pPr marL="2971800" indent="-228600" eaLnBrk="0" fontAlgn="base" hangingPunct="0">
              <a:spcBef>
                <a:spcPct val="0"/>
              </a:spcBef>
              <a:spcAft>
                <a:spcPct val="0"/>
              </a:spcAft>
              <a:defRPr>
                <a:solidFill>
                  <a:schemeClr val="tx1"/>
                </a:solidFill>
                <a:latin typeface="Arial" pitchFamily="34" charset="0"/>
                <a:ea typeface="SimSun" pitchFamily="2" charset="-122"/>
              </a:defRPr>
            </a:lvl7pPr>
            <a:lvl8pPr marL="3429000" indent="-228600" eaLnBrk="0" fontAlgn="base" hangingPunct="0">
              <a:spcBef>
                <a:spcPct val="0"/>
              </a:spcBef>
              <a:spcAft>
                <a:spcPct val="0"/>
              </a:spcAft>
              <a:defRPr>
                <a:solidFill>
                  <a:schemeClr val="tx1"/>
                </a:solidFill>
                <a:latin typeface="Arial" pitchFamily="34" charset="0"/>
                <a:ea typeface="SimSun" pitchFamily="2" charset="-122"/>
              </a:defRPr>
            </a:lvl8pPr>
            <a:lvl9pPr marL="3886200" indent="-228600" eaLnBrk="0" fontAlgn="base" hangingPunct="0">
              <a:spcBef>
                <a:spcPct val="0"/>
              </a:spcBef>
              <a:spcAft>
                <a:spcPct val="0"/>
              </a:spcAft>
              <a:defRPr>
                <a:solidFill>
                  <a:schemeClr val="tx1"/>
                </a:solidFill>
                <a:latin typeface="Arial" pitchFamily="34" charset="0"/>
                <a:ea typeface="SimSun" pitchFamily="2" charset="-122"/>
              </a:defRPr>
            </a:lvl9pPr>
          </a:lstStyle>
          <a:p>
            <a:fld id="{3BB2E53A-C9B6-47B9-AA3C-EFD993E862F2}" type="slidenum">
              <a:rPr lang="en-US" smtClean="0">
                <a:latin typeface="Times New Roman" pitchFamily="18" charset="0"/>
              </a:rPr>
              <a:pPr/>
              <a:t>0</a:t>
            </a:fld>
            <a:endParaRPr lang="en-US">
              <a:latin typeface="Times New Roman" pitchFamily="18"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dirty="0">
              <a:latin typeface="Times New Roman" pitchFamily="18" charset="0"/>
            </a:endParaRPr>
          </a:p>
        </p:txBody>
      </p:sp>
    </p:spTree>
    <p:extLst>
      <p:ext uri="{BB962C8B-B14F-4D97-AF65-F5344CB8AC3E}">
        <p14:creationId xmlns:p14="http://schemas.microsoft.com/office/powerpoint/2010/main" val="2013673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B5BEB09D-3BE7-481C-980B-CB1C72ED2101}" type="slidenum">
              <a:rPr lang="en-GB" altLang="en-US"/>
              <a:pPr/>
              <a:t>1</a:t>
            </a:fld>
            <a:endParaRPr lang="en-GB" altLang="en-US"/>
          </a:p>
        </p:txBody>
      </p:sp>
      <p:sp>
        <p:nvSpPr>
          <p:cNvPr id="27649" name="Rectangle 1"/>
          <p:cNvSpPr txBox="1">
            <a:spLocks noGrp="1" noRot="1" noChangeAspect="1" noChangeArrowheads="1"/>
          </p:cNvSpPr>
          <p:nvPr>
            <p:ph type="sldImg"/>
          </p:nvPr>
        </p:nvSpPr>
        <p:spPr bwMode="auto">
          <a:xfrm>
            <a:off x="1128713" y="690563"/>
            <a:ext cx="4600575" cy="34512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0" name="Rectangle 2"/>
          <p:cNvSpPr txBox="1">
            <a:spLocks noGrp="1" noChangeArrowheads="1"/>
          </p:cNvSpPr>
          <p:nvPr>
            <p:ph type="body" idx="1"/>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en-US" dirty="0"/>
              <a:t>If time permits</a:t>
            </a:r>
          </a:p>
        </p:txBody>
      </p:sp>
    </p:spTree>
    <p:extLst>
      <p:ext uri="{BB962C8B-B14F-4D97-AF65-F5344CB8AC3E}">
        <p14:creationId xmlns:p14="http://schemas.microsoft.com/office/powerpoint/2010/main" val="2734467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CA299AAF-3AC0-46D0-B823-9016FC5A73DA}" type="slidenum">
              <a:rPr lang="en-GB" altLang="en-US"/>
              <a:pPr/>
              <a:t>2</a:t>
            </a:fld>
            <a:endParaRPr lang="en-GB" altLang="en-US"/>
          </a:p>
        </p:txBody>
      </p:sp>
      <p:sp>
        <p:nvSpPr>
          <p:cNvPr id="29697"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9698" name="Rectangle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558761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BC30053C-B040-4B64-AC70-C08DE510AA57}" type="slidenum">
              <a:rPr lang="en-GB" altLang="en-US"/>
              <a:pPr/>
              <a:t>3</a:t>
            </a:fld>
            <a:endParaRPr lang="en-GB" altLang="en-US"/>
          </a:p>
        </p:txBody>
      </p:sp>
      <p:sp>
        <p:nvSpPr>
          <p:cNvPr id="30721"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22" name="Rectangle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292201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9CEADD9A-E838-428A-B122-446B299A3B10}" type="slidenum">
              <a:rPr lang="en-GB" altLang="en-US"/>
              <a:pPr/>
              <a:t>4</a:t>
            </a:fld>
            <a:endParaRPr lang="en-GB" altLang="en-US"/>
          </a:p>
        </p:txBody>
      </p:sp>
      <p:sp>
        <p:nvSpPr>
          <p:cNvPr id="31745"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1746" name="Rectangle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630292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5EF6E07F-2029-4660-AC95-C70EC7488086}" type="slidenum">
              <a:rPr lang="en-GB" altLang="en-US"/>
              <a:pPr/>
              <a:t>5</a:t>
            </a:fld>
            <a:endParaRPr lang="en-GB" altLang="en-US"/>
          </a:p>
        </p:txBody>
      </p:sp>
      <p:sp>
        <p:nvSpPr>
          <p:cNvPr id="32769"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2770" name="Rectangle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001859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53A8D5DC-22C0-4719-AFEE-291A05CDCD46}" type="slidenum">
              <a:rPr lang="en-GB" altLang="en-US"/>
              <a:pPr/>
              <a:t>6</a:t>
            </a:fld>
            <a:endParaRPr lang="en-GB" altLang="en-US"/>
          </a:p>
        </p:txBody>
      </p:sp>
      <p:sp>
        <p:nvSpPr>
          <p:cNvPr id="33793"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3794" name="Rectangle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677953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D34AAB57-8842-4ED1-A275-8786802C495D}" type="slidenum">
              <a:rPr lang="en-GB" altLang="en-US"/>
              <a:pPr/>
              <a:t>7</a:t>
            </a:fld>
            <a:endParaRPr lang="en-GB" altLang="en-US"/>
          </a:p>
        </p:txBody>
      </p:sp>
      <p:sp>
        <p:nvSpPr>
          <p:cNvPr id="34817"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4818" name="Rectangle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764797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D771C5B1-CF7B-4802-B690-30B1D14AB246}" type="slidenum">
              <a:rPr lang="en-GB" altLang="en-US"/>
              <a:pPr/>
              <a:t>8</a:t>
            </a:fld>
            <a:endParaRPr lang="en-GB" altLang="en-US"/>
          </a:p>
        </p:txBody>
      </p:sp>
      <p:sp>
        <p:nvSpPr>
          <p:cNvPr id="35841"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842" name="Rectangle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4212484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8B2A6771-26F9-45EE-B601-3422B726DCC7}" type="slidenum">
              <a:rPr lang="en-GB" altLang="en-US"/>
              <a:pPr/>
              <a:t>9</a:t>
            </a:fld>
            <a:endParaRPr lang="en-GB" altLang="en-US"/>
          </a:p>
        </p:txBody>
      </p:sp>
      <p:sp>
        <p:nvSpPr>
          <p:cNvPr id="36865"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6866" name="Rectangle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237298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E05857AA-9D9F-4D13-B0FD-654595D5AEE2}" type="slidenum">
              <a:rPr lang="en-GB" altLang="en-US"/>
              <a:pPr/>
              <a:t>10</a:t>
            </a:fld>
            <a:endParaRPr lang="en-GB" altLang="en-US"/>
          </a:p>
        </p:txBody>
      </p:sp>
      <p:sp>
        <p:nvSpPr>
          <p:cNvPr id="37889" name="Rectangle 1"/>
          <p:cNvSpPr txBox="1">
            <a:spLocks noGrp="1" noRot="1" noChangeAspect="1" noChangeArrowheads="1"/>
          </p:cNvSpPr>
          <p:nvPr>
            <p:ph type="sldImg"/>
          </p:nvPr>
        </p:nvSpPr>
        <p:spPr bwMode="auto">
          <a:xfrm>
            <a:off x="1128713" y="690563"/>
            <a:ext cx="4600575" cy="34512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0" name="Rectangle 2"/>
          <p:cNvSpPr txBox="1">
            <a:spLocks noGrp="1" noChangeArrowheads="1"/>
          </p:cNvSpPr>
          <p:nvPr>
            <p:ph type="body" idx="1"/>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599315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B0D04101-0F4E-4386-A13B-14FF06B32D55}" type="slidenum">
              <a:rPr lang="en-GB" altLang="en-US"/>
              <a:pPr/>
              <a:t>12</a:t>
            </a:fld>
            <a:endParaRPr lang="en-GB" altLang="en-US"/>
          </a:p>
        </p:txBody>
      </p:sp>
      <p:sp>
        <p:nvSpPr>
          <p:cNvPr id="41985"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1986" name="Rectangle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197920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4BAF4F3A-E5FC-431D-84F6-8FDC39B4DB40}" type="slidenum">
              <a:rPr lang="en-GB" altLang="en-US"/>
              <a:pPr/>
              <a:t>13</a:t>
            </a:fld>
            <a:endParaRPr lang="en-GB" altLang="en-US"/>
          </a:p>
        </p:txBody>
      </p:sp>
      <p:sp>
        <p:nvSpPr>
          <p:cNvPr id="43009" name="Rectangle 1"/>
          <p:cNvSpPr txBox="1">
            <a:spLocks noGrp="1" noRot="1" noChangeAspect="1" noChangeArrowheads="1"/>
          </p:cNvSpPr>
          <p:nvPr>
            <p:ph type="sldImg"/>
          </p:nvPr>
        </p:nvSpPr>
        <p:spPr bwMode="auto">
          <a:xfrm>
            <a:off x="1128713" y="690563"/>
            <a:ext cx="4600575" cy="34512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0" name="Rectangle 2"/>
          <p:cNvSpPr txBox="1">
            <a:spLocks noGrp="1" noChangeArrowheads="1"/>
          </p:cNvSpPr>
          <p:nvPr>
            <p:ph type="body" idx="1"/>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6438980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ADE7AB2A-8609-4218-BE48-CE34564A3FC0}" type="slidenum">
              <a:rPr lang="en-GB" altLang="en-US"/>
              <a:pPr/>
              <a:t>14</a:t>
            </a:fld>
            <a:endParaRPr lang="en-GB" altLang="en-US"/>
          </a:p>
        </p:txBody>
      </p:sp>
      <p:sp>
        <p:nvSpPr>
          <p:cNvPr id="44033"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4034" name="Rectangle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5925540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250C6F64-39D5-4FC6-90EC-4C9FC2637E2C}" type="slidenum">
              <a:rPr lang="en-GB" altLang="en-US"/>
              <a:pPr/>
              <a:t>15</a:t>
            </a:fld>
            <a:endParaRPr lang="en-GB" altLang="en-US"/>
          </a:p>
        </p:txBody>
      </p:sp>
      <p:sp>
        <p:nvSpPr>
          <p:cNvPr id="45057" name="Rectangle 1"/>
          <p:cNvSpPr txBox="1">
            <a:spLocks noGrp="1" noRot="1" noChangeAspect="1" noChangeArrowheads="1"/>
          </p:cNvSpPr>
          <p:nvPr>
            <p:ph type="sldImg"/>
          </p:nvPr>
        </p:nvSpPr>
        <p:spPr bwMode="auto">
          <a:xfrm>
            <a:off x="1128713" y="690563"/>
            <a:ext cx="4600575" cy="34512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58" name="Rectangle 2"/>
          <p:cNvSpPr txBox="1">
            <a:spLocks noGrp="1" noChangeArrowheads="1"/>
          </p:cNvSpPr>
          <p:nvPr>
            <p:ph type="body" idx="1"/>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076092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BFBEDAB1-FFEE-4B18-A96E-955058395B57}" type="slidenum">
              <a:rPr lang="en-GB" altLang="en-US"/>
              <a:pPr/>
              <a:t>16</a:t>
            </a:fld>
            <a:endParaRPr lang="en-GB" altLang="en-US"/>
          </a:p>
        </p:txBody>
      </p:sp>
      <p:sp>
        <p:nvSpPr>
          <p:cNvPr id="46081" name="Rectangle 1"/>
          <p:cNvSpPr txBox="1">
            <a:spLocks noGrp="1" noRot="1" noChangeAspect="1" noChangeArrowheads="1"/>
          </p:cNvSpPr>
          <p:nvPr>
            <p:ph type="sldImg"/>
          </p:nvPr>
        </p:nvSpPr>
        <p:spPr bwMode="auto">
          <a:xfrm>
            <a:off x="1128713" y="690563"/>
            <a:ext cx="4600575" cy="34512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082" name="Rectangle 2"/>
          <p:cNvSpPr txBox="1">
            <a:spLocks noGrp="1" noChangeArrowheads="1"/>
          </p:cNvSpPr>
          <p:nvPr>
            <p:ph type="body" idx="1"/>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9342256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2790D369-F653-4EF9-8DE8-7272B45C9530}" type="slidenum">
              <a:rPr lang="en-GB" altLang="en-US"/>
              <a:pPr/>
              <a:t>20</a:t>
            </a:fld>
            <a:endParaRPr lang="en-GB" altLang="en-US"/>
          </a:p>
        </p:txBody>
      </p:sp>
      <p:sp>
        <p:nvSpPr>
          <p:cNvPr id="38913"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914" name="Rectangle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416089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29A1C18C-73E0-4CE1-9BF0-C4E5805F4810}" type="slidenum">
              <a:rPr lang="en-GB" altLang="en-US"/>
              <a:pPr/>
              <a:t>21</a:t>
            </a:fld>
            <a:endParaRPr lang="en-GB" altLang="en-US"/>
          </a:p>
        </p:txBody>
      </p:sp>
      <p:sp>
        <p:nvSpPr>
          <p:cNvPr id="39937" name="Rectangle 1"/>
          <p:cNvSpPr txBox="1">
            <a:spLocks noGrp="1" noRot="1" noChangeAspect="1" noChangeArrowheads="1"/>
          </p:cNvSpPr>
          <p:nvPr>
            <p:ph type="sldImg"/>
          </p:nvPr>
        </p:nvSpPr>
        <p:spPr bwMode="auto">
          <a:xfrm>
            <a:off x="1128713" y="690563"/>
            <a:ext cx="4600575" cy="34512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38" name="Rectangle 2"/>
          <p:cNvSpPr txBox="1">
            <a:spLocks noGrp="1" noChangeArrowheads="1"/>
          </p:cNvSpPr>
          <p:nvPr>
            <p:ph type="body" idx="1"/>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6197545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a:ln/>
        </p:spPr>
        <p:txBody>
          <a:bodyPr/>
          <a:lstStyle/>
          <a:p>
            <a:r>
              <a:rPr lang="en-US" altLang="en-US"/>
              <a:t>Effect Size Overheads</a:t>
            </a:r>
          </a:p>
        </p:txBody>
      </p:sp>
      <p:sp>
        <p:nvSpPr>
          <p:cNvPr id="5" name="Rectangle 7"/>
          <p:cNvSpPr>
            <a:spLocks noGrp="1" noChangeArrowheads="1"/>
          </p:cNvSpPr>
          <p:nvPr>
            <p:ph type="sldNum" sz="quarter" idx="5"/>
          </p:nvPr>
        </p:nvSpPr>
        <p:spPr>
          <a:ln/>
        </p:spPr>
        <p:txBody>
          <a:bodyPr/>
          <a:lstStyle/>
          <a:p>
            <a:fld id="{F981342B-8BD5-43A7-82AD-1F0C82A85B3A}" type="slidenum">
              <a:rPr lang="en-US" altLang="en-US"/>
              <a:pPr/>
              <a:t>22</a:t>
            </a:fld>
            <a:endParaRPr lang="en-US" altLang="en-US"/>
          </a:p>
        </p:txBody>
      </p:sp>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2661443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AD82CAC4-93A0-4500-9D0D-20BCB58D5E05}" type="slidenum">
              <a:rPr lang="en-GB" altLang="en-US"/>
              <a:pPr/>
              <a:t>32</a:t>
            </a:fld>
            <a:endParaRPr lang="en-GB" altLang="en-US"/>
          </a:p>
        </p:txBody>
      </p:sp>
      <p:sp>
        <p:nvSpPr>
          <p:cNvPr id="47105"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106" name="Rectangle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1083810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DB56D4E6-59E4-487D-8A49-2EC050ECEF11}" type="slidenum">
              <a:rPr lang="en-GB" altLang="en-US"/>
              <a:pPr/>
              <a:t>33</a:t>
            </a:fld>
            <a:endParaRPr lang="en-GB" altLang="en-US"/>
          </a:p>
        </p:txBody>
      </p:sp>
      <p:sp>
        <p:nvSpPr>
          <p:cNvPr id="48129" name="Text Box 1"/>
          <p:cNvSpPr txBox="1">
            <a:spLocks noChangeArrowheads="1"/>
          </p:cNvSpPr>
          <p:nvPr/>
        </p:nvSpPr>
        <p:spPr bwMode="auto">
          <a:xfrm>
            <a:off x="1130300" y="690563"/>
            <a:ext cx="4597400" cy="3449637"/>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130" name="Rectangle 2"/>
          <p:cNvSpPr txBox="1">
            <a:spLocks noGrp="1" noChangeArrowheads="1"/>
          </p:cNvSpPr>
          <p:nvPr>
            <p:ph type="body"/>
          </p:nvPr>
        </p:nvSpPr>
        <p:spPr bwMode="auto">
          <a:xfrm>
            <a:off x="914400" y="4370388"/>
            <a:ext cx="5027613" cy="41386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4097413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noFill/>
        </p:spPr>
        <p:txBody>
          <a:bodyPr/>
          <a:lstStyle/>
          <a:p>
            <a:endParaRPr lang="en-US" altLang="en-US" dirty="0">
              <a:latin typeface="Arial" panose="020B0604020202020204" pitchFamily="34" charset="0"/>
              <a:cs typeface="Arial" panose="020B0604020202020204" pitchFamily="34" charset="0"/>
            </a:endParaRPr>
          </a:p>
        </p:txBody>
      </p:sp>
      <p:sp>
        <p:nvSpPr>
          <p:cNvPr id="8196" name="Slide Number Placeholder 3"/>
          <p:cNvSpPr>
            <a:spLocks noGrp="1"/>
          </p:cNvSpPr>
          <p:nvPr>
            <p:ph type="sldNum" sz="quarter" idx="5"/>
          </p:nvPr>
        </p:nvSpPr>
        <p:spPr>
          <a:noFill/>
        </p:spPr>
        <p:txBody>
          <a:bodyPr/>
          <a:lstStyle>
            <a:lvl1pPr defTabSz="920750">
              <a:defRPr>
                <a:solidFill>
                  <a:schemeClr val="tx1"/>
                </a:solidFill>
                <a:latin typeface="Arial" panose="020B0604020202020204" pitchFamily="34" charset="0"/>
              </a:defRPr>
            </a:lvl1pPr>
            <a:lvl2pPr marL="742950" indent="-285750" defTabSz="920750">
              <a:defRPr>
                <a:solidFill>
                  <a:schemeClr val="tx1"/>
                </a:solidFill>
                <a:latin typeface="Arial" panose="020B0604020202020204" pitchFamily="34" charset="0"/>
              </a:defRPr>
            </a:lvl2pPr>
            <a:lvl3pPr marL="1143000" indent="-228600" defTabSz="920750">
              <a:defRPr>
                <a:solidFill>
                  <a:schemeClr val="tx1"/>
                </a:solidFill>
                <a:latin typeface="Arial" panose="020B0604020202020204" pitchFamily="34" charset="0"/>
              </a:defRPr>
            </a:lvl3pPr>
            <a:lvl4pPr marL="1600200" indent="-228600" defTabSz="920750">
              <a:defRPr>
                <a:solidFill>
                  <a:schemeClr val="tx1"/>
                </a:solidFill>
                <a:latin typeface="Arial" panose="020B0604020202020204" pitchFamily="34" charset="0"/>
              </a:defRPr>
            </a:lvl4pPr>
            <a:lvl5pPr marL="2057400" indent="-228600" defTabSz="920750">
              <a:defRPr>
                <a:solidFill>
                  <a:schemeClr val="tx1"/>
                </a:solidFill>
                <a:latin typeface="Arial" panose="020B0604020202020204" pitchFamily="34" charset="0"/>
              </a:defRPr>
            </a:lvl5pPr>
            <a:lvl6pPr marL="2514600" indent="-228600" defTabSz="920750" eaLnBrk="0" fontAlgn="base" hangingPunct="0">
              <a:spcBef>
                <a:spcPct val="0"/>
              </a:spcBef>
              <a:spcAft>
                <a:spcPct val="0"/>
              </a:spcAft>
              <a:defRPr>
                <a:solidFill>
                  <a:schemeClr val="tx1"/>
                </a:solidFill>
                <a:latin typeface="Arial" panose="020B0604020202020204" pitchFamily="34" charset="0"/>
              </a:defRPr>
            </a:lvl6pPr>
            <a:lvl7pPr marL="2971800" indent="-228600" defTabSz="920750" eaLnBrk="0" fontAlgn="base" hangingPunct="0">
              <a:spcBef>
                <a:spcPct val="0"/>
              </a:spcBef>
              <a:spcAft>
                <a:spcPct val="0"/>
              </a:spcAft>
              <a:defRPr>
                <a:solidFill>
                  <a:schemeClr val="tx1"/>
                </a:solidFill>
                <a:latin typeface="Arial" panose="020B0604020202020204" pitchFamily="34" charset="0"/>
              </a:defRPr>
            </a:lvl7pPr>
            <a:lvl8pPr marL="3429000" indent="-228600" defTabSz="920750" eaLnBrk="0" fontAlgn="base" hangingPunct="0">
              <a:spcBef>
                <a:spcPct val="0"/>
              </a:spcBef>
              <a:spcAft>
                <a:spcPct val="0"/>
              </a:spcAft>
              <a:defRPr>
                <a:solidFill>
                  <a:schemeClr val="tx1"/>
                </a:solidFill>
                <a:latin typeface="Arial" panose="020B0604020202020204" pitchFamily="34" charset="0"/>
              </a:defRPr>
            </a:lvl8pPr>
            <a:lvl9pPr marL="3886200" indent="-228600" defTabSz="920750" eaLnBrk="0" fontAlgn="base" hangingPunct="0">
              <a:spcBef>
                <a:spcPct val="0"/>
              </a:spcBef>
              <a:spcAft>
                <a:spcPct val="0"/>
              </a:spcAft>
              <a:defRPr>
                <a:solidFill>
                  <a:schemeClr val="tx1"/>
                </a:solidFill>
                <a:latin typeface="Arial" panose="020B0604020202020204" pitchFamily="34" charset="0"/>
              </a:defRPr>
            </a:lvl9pPr>
          </a:lstStyle>
          <a:p>
            <a:fld id="{423850E8-07C1-4362-8FD1-63EEECDF9024}" type="slidenum">
              <a:rPr lang="en-US" altLang="en-US" smtClean="0"/>
              <a:pPr/>
              <a:t>34</a:t>
            </a:fld>
            <a:endParaRPr lang="en-US" altLang="en-US"/>
          </a:p>
        </p:txBody>
      </p:sp>
    </p:spTree>
    <p:extLst>
      <p:ext uri="{BB962C8B-B14F-4D97-AF65-F5344CB8AC3E}">
        <p14:creationId xmlns:p14="http://schemas.microsoft.com/office/powerpoint/2010/main" val="16996657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BA09947-3971-4AF1-958E-1C7DDF4DB47E}" type="slidenum">
              <a:rPr lang="en-US" altLang="en-US" smtClean="0"/>
              <a:pPr/>
              <a:t>35</a:t>
            </a:fld>
            <a:endParaRPr lang="en-US" altLang="en-US"/>
          </a:p>
        </p:txBody>
      </p:sp>
    </p:spTree>
    <p:extLst>
      <p:ext uri="{BB962C8B-B14F-4D97-AF65-F5344CB8AC3E}">
        <p14:creationId xmlns:p14="http://schemas.microsoft.com/office/powerpoint/2010/main" val="292641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lgn="ctr">
              <a:defRPr>
                <a:latin typeface="+mn-lt"/>
                <a:cs typeface="Arial"/>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524000"/>
          </a:xfrm>
        </p:spPr>
        <p:txBody>
          <a:bodyPr/>
          <a:lstStyle>
            <a:lvl1pPr marL="0" indent="0" algn="ctr">
              <a:buNone/>
              <a:defRPr>
                <a:solidFill>
                  <a:schemeClr val="tx1">
                    <a:lumMod val="95000"/>
                    <a:lumOff val="5000"/>
                  </a:schemeClr>
                </a:solidFill>
                <a:latin typeface="+mj-lt"/>
                <a:cs typeface="Times New Roman"/>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Slide Number Placeholder 5"/>
          <p:cNvSpPr>
            <a:spLocks noGrp="1"/>
          </p:cNvSpPr>
          <p:nvPr>
            <p:ph type="sldNum" sz="quarter" idx="10"/>
          </p:nvPr>
        </p:nvSpPr>
        <p:spPr/>
        <p:txBody>
          <a:bodyPr/>
          <a:lstStyle>
            <a:lvl1pPr>
              <a:defRPr/>
            </a:lvl1pPr>
          </a:lstStyle>
          <a:p>
            <a:fld id="{F9F4B14E-5C91-44AC-A93B-126C111DF38A}" type="slidenum">
              <a:rPr lang="en-US" altLang="en-US"/>
              <a:pPr/>
              <a:t>‹#›</a:t>
            </a:fld>
            <a:endParaRPr lang="en-US" altLang="en-US"/>
          </a:p>
        </p:txBody>
      </p:sp>
    </p:spTree>
    <p:extLst>
      <p:ext uri="{BB962C8B-B14F-4D97-AF65-F5344CB8AC3E}">
        <p14:creationId xmlns:p14="http://schemas.microsoft.com/office/powerpoint/2010/main" val="1056451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914400" y="1600201"/>
            <a:ext cx="7772400" cy="38099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p:cNvSpPr>
            <a:spLocks noGrp="1"/>
          </p:cNvSpPr>
          <p:nvPr>
            <p:ph type="sldNum" sz="quarter" idx="10"/>
          </p:nvPr>
        </p:nvSpPr>
        <p:spPr/>
        <p:txBody>
          <a:bodyPr/>
          <a:lstStyle>
            <a:lvl1pPr>
              <a:defRPr/>
            </a:lvl1pPr>
          </a:lstStyle>
          <a:p>
            <a:fld id="{403A19AC-3086-4F64-AD75-7503B564E922}" type="slidenum">
              <a:rPr lang="en-US" altLang="en-US"/>
              <a:pPr/>
              <a:t>‹#›</a:t>
            </a:fld>
            <a:endParaRPr lang="en-US" altLang="en-US"/>
          </a:p>
        </p:txBody>
      </p:sp>
    </p:spTree>
    <p:extLst>
      <p:ext uri="{BB962C8B-B14F-4D97-AF65-F5344CB8AC3E}">
        <p14:creationId xmlns:p14="http://schemas.microsoft.com/office/powerpoint/2010/main" val="2335247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4400" y="1600201"/>
            <a:ext cx="3581400" cy="38099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1"/>
            <a:ext cx="4038600" cy="38099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10"/>
          </p:nvPr>
        </p:nvSpPr>
        <p:spPr/>
        <p:txBody>
          <a:bodyPr/>
          <a:lstStyle>
            <a:lvl1pPr>
              <a:defRPr/>
            </a:lvl1pPr>
          </a:lstStyle>
          <a:p>
            <a:fld id="{7422C571-21D9-4CA6-9EE4-E342B0E90DB7}" type="slidenum">
              <a:rPr lang="en-US" altLang="en-US"/>
              <a:pPr/>
              <a:t>‹#›</a:t>
            </a:fld>
            <a:endParaRPr lang="en-US" altLang="en-US"/>
          </a:p>
        </p:txBody>
      </p:sp>
    </p:spTree>
    <p:extLst>
      <p:ext uri="{BB962C8B-B14F-4D97-AF65-F5344CB8AC3E}">
        <p14:creationId xmlns:p14="http://schemas.microsoft.com/office/powerpoint/2010/main" val="129330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14400" y="1535113"/>
            <a:ext cx="35829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914400" y="2174875"/>
            <a:ext cx="3582988" cy="3235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235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10"/>
          </p:nvPr>
        </p:nvSpPr>
        <p:spPr/>
        <p:txBody>
          <a:bodyPr/>
          <a:lstStyle>
            <a:lvl1pPr>
              <a:defRPr/>
            </a:lvl1pPr>
          </a:lstStyle>
          <a:p>
            <a:fld id="{7E254CA4-8290-4E84-98D6-974A26E6EE6A}" type="slidenum">
              <a:rPr lang="en-US" altLang="en-US"/>
              <a:pPr/>
              <a:t>‹#›</a:t>
            </a:fld>
            <a:endParaRPr lang="en-US" altLang="en-US"/>
          </a:p>
        </p:txBody>
      </p:sp>
    </p:spTree>
    <p:extLst>
      <p:ext uri="{BB962C8B-B14F-4D97-AF65-F5344CB8AC3E}">
        <p14:creationId xmlns:p14="http://schemas.microsoft.com/office/powerpoint/2010/main" val="692342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5"/>
          <p:cNvSpPr>
            <a:spLocks noGrp="1"/>
          </p:cNvSpPr>
          <p:nvPr>
            <p:ph type="sldNum" sz="quarter" idx="10"/>
          </p:nvPr>
        </p:nvSpPr>
        <p:spPr/>
        <p:txBody>
          <a:bodyPr/>
          <a:lstStyle>
            <a:lvl1pPr>
              <a:defRPr/>
            </a:lvl1pPr>
          </a:lstStyle>
          <a:p>
            <a:fld id="{873F2279-BD8C-4A31-B490-891A29B0FF34}" type="slidenum">
              <a:rPr lang="en-US" altLang="en-US"/>
              <a:pPr/>
              <a:t>‹#›</a:t>
            </a:fld>
            <a:endParaRPr lang="en-US" altLang="en-US"/>
          </a:p>
        </p:txBody>
      </p:sp>
    </p:spTree>
    <p:extLst>
      <p:ext uri="{BB962C8B-B14F-4D97-AF65-F5344CB8AC3E}">
        <p14:creationId xmlns:p14="http://schemas.microsoft.com/office/powerpoint/2010/main" val="95382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fld id="{7BCB22DA-7B80-477C-AB5D-6907EBE0F6E9}" type="slidenum">
              <a:rPr lang="en-US" altLang="en-US"/>
              <a:pPr/>
              <a:t>‹#›</a:t>
            </a:fld>
            <a:endParaRPr lang="en-US" altLang="en-US"/>
          </a:p>
        </p:txBody>
      </p:sp>
    </p:spTree>
    <p:extLst>
      <p:ext uri="{BB962C8B-B14F-4D97-AF65-F5344CB8AC3E}">
        <p14:creationId xmlns:p14="http://schemas.microsoft.com/office/powerpoint/2010/main" val="3939215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a:spLocks noChangeArrowheads="1"/>
          </p:cNvSpPr>
          <p:nvPr/>
        </p:nvSpPr>
        <p:spPr bwMode="auto">
          <a:xfrm>
            <a:off x="914400" y="685800"/>
            <a:ext cx="2551113" cy="4648200"/>
          </a:xfrm>
          <a:prstGeom prst="rect">
            <a:avLst/>
          </a:prstGeom>
          <a:solidFill>
            <a:srgbClr val="C1C1C1"/>
          </a:solidFill>
          <a:ln>
            <a:noFill/>
          </a:ln>
          <a:effectLst>
            <a:outerShdw blurRad="40000" dist="23000" dir="540000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atin typeface="Arial" charset="0"/>
              <a:ea typeface="ＭＳ Ｐゴシック" pitchFamily="-84" charset="-128"/>
            </a:endParaRPr>
          </a:p>
        </p:txBody>
      </p:sp>
      <p:sp>
        <p:nvSpPr>
          <p:cNvPr id="2" name="Title 1"/>
          <p:cNvSpPr>
            <a:spLocks noGrp="1"/>
          </p:cNvSpPr>
          <p:nvPr>
            <p:ph type="title"/>
          </p:nvPr>
        </p:nvSpPr>
        <p:spPr>
          <a:xfrm>
            <a:off x="914401" y="685800"/>
            <a:ext cx="2551112" cy="749300"/>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685801"/>
            <a:ext cx="5111750" cy="46481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4400" y="1435100"/>
            <a:ext cx="2551113" cy="3898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Slide Number Placeholder 6"/>
          <p:cNvSpPr>
            <a:spLocks noGrp="1"/>
          </p:cNvSpPr>
          <p:nvPr>
            <p:ph type="sldNum" sz="quarter" idx="10"/>
          </p:nvPr>
        </p:nvSpPr>
        <p:spPr/>
        <p:txBody>
          <a:bodyPr/>
          <a:lstStyle>
            <a:lvl1pPr>
              <a:defRPr/>
            </a:lvl1pPr>
          </a:lstStyle>
          <a:p>
            <a:fld id="{56EF4CA7-3511-41B6-8895-6CBB8C25C0F8}" type="slidenum">
              <a:rPr lang="en-US" altLang="en-US"/>
              <a:pPr/>
              <a:t>‹#›</a:t>
            </a:fld>
            <a:endParaRPr lang="en-US" altLang="en-US"/>
          </a:p>
        </p:txBody>
      </p:sp>
    </p:spTree>
    <p:extLst>
      <p:ext uri="{BB962C8B-B14F-4D97-AF65-F5344CB8AC3E}">
        <p14:creationId xmlns:p14="http://schemas.microsoft.com/office/powerpoint/2010/main" val="2543151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419600"/>
            <a:ext cx="54864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1792288" y="612775"/>
            <a:ext cx="5486400" cy="39592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029200"/>
            <a:ext cx="5486400" cy="3476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Slide Number Placeholder 5"/>
          <p:cNvSpPr>
            <a:spLocks noGrp="1"/>
          </p:cNvSpPr>
          <p:nvPr>
            <p:ph type="sldNum" sz="quarter" idx="10"/>
          </p:nvPr>
        </p:nvSpPr>
        <p:spPr/>
        <p:txBody>
          <a:bodyPr/>
          <a:lstStyle>
            <a:lvl1pPr>
              <a:defRPr/>
            </a:lvl1pPr>
          </a:lstStyle>
          <a:p>
            <a:fld id="{142C2C24-E557-4A60-90A5-5B22B1FBBF32}" type="slidenum">
              <a:rPr lang="en-US" altLang="en-US"/>
              <a:pPr/>
              <a:t>‹#›</a:t>
            </a:fld>
            <a:endParaRPr lang="en-US" altLang="en-US"/>
          </a:p>
        </p:txBody>
      </p:sp>
    </p:spTree>
    <p:extLst>
      <p:ext uri="{BB962C8B-B14F-4D97-AF65-F5344CB8AC3E}">
        <p14:creationId xmlns:p14="http://schemas.microsoft.com/office/powerpoint/2010/main" val="2809191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a:spLocks noChangeArrowheads="1"/>
          </p:cNvSpPr>
          <p:nvPr/>
        </p:nvSpPr>
        <p:spPr bwMode="auto">
          <a:xfrm>
            <a:off x="0" y="2667000"/>
            <a:ext cx="9144000" cy="2743200"/>
          </a:xfrm>
          <a:prstGeom prst="rect">
            <a:avLst/>
          </a:prstGeom>
          <a:solidFill>
            <a:srgbClr val="C1C1C1"/>
          </a:solidFill>
          <a:ln>
            <a:noFill/>
          </a:ln>
          <a:effectLst>
            <a:outerShdw blurRad="40000" dist="23000" dir="540000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atin typeface="Arial" charset="0"/>
              <a:ea typeface="ＭＳ Ｐゴシック" pitchFamily="-84" charset="-128"/>
            </a:endParaRPr>
          </a:p>
        </p:txBody>
      </p:sp>
      <p:sp>
        <p:nvSpPr>
          <p:cNvPr id="2" name="Title 1"/>
          <p:cNvSpPr>
            <a:spLocks noGrp="1"/>
          </p:cNvSpPr>
          <p:nvPr>
            <p:ph type="title"/>
          </p:nvPr>
        </p:nvSpPr>
        <p:spPr>
          <a:xfrm>
            <a:off x="722313" y="4038600"/>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667000"/>
            <a:ext cx="7772400" cy="1375780"/>
          </a:xfrm>
        </p:spPr>
        <p:txBody>
          <a:bodyPr anchor="b"/>
          <a:lstStyle>
            <a:lvl1pPr marL="0" indent="0">
              <a:buNone/>
              <a:defRPr sz="2000">
                <a:solidFill>
                  <a:schemeClr val="tx1"/>
                </a:solidFill>
                <a:latin typeface="Times New Roman"/>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Slide Number Placeholder 5"/>
          <p:cNvSpPr>
            <a:spLocks noGrp="1"/>
          </p:cNvSpPr>
          <p:nvPr>
            <p:ph type="sldNum" sz="quarter" idx="10"/>
          </p:nvPr>
        </p:nvSpPr>
        <p:spPr/>
        <p:txBody>
          <a:bodyPr/>
          <a:lstStyle>
            <a:lvl1pPr>
              <a:defRPr/>
            </a:lvl1pPr>
          </a:lstStyle>
          <a:p>
            <a:fld id="{C9F52871-5C2D-4FC1-BACA-3ED21F43C300}" type="slidenum">
              <a:rPr lang="en-US" altLang="en-US"/>
              <a:pPr/>
              <a:t>‹#›</a:t>
            </a:fld>
            <a:endParaRPr lang="en-US" altLang="en-US"/>
          </a:p>
        </p:txBody>
      </p:sp>
    </p:spTree>
    <p:extLst>
      <p:ext uri="{BB962C8B-B14F-4D97-AF65-F5344CB8AC3E}">
        <p14:creationId xmlns:p14="http://schemas.microsoft.com/office/powerpoint/2010/main" val="747693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2054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6425" cy="1136650"/>
          </a:xfrm>
        </p:spPr>
        <p:txBody>
          <a:bodyPr/>
          <a:lstStyle/>
          <a:p>
            <a:r>
              <a:rPr lang="en-US"/>
              <a:t>Click to edit Master title style</a:t>
            </a:r>
          </a:p>
        </p:txBody>
      </p:sp>
      <p:sp>
        <p:nvSpPr>
          <p:cNvPr id="3" name="Online Image Placeholder 2"/>
          <p:cNvSpPr>
            <a:spLocks noGrp="1"/>
          </p:cNvSpPr>
          <p:nvPr>
            <p:ph type="clipArt" sz="half" idx="1"/>
          </p:nvPr>
        </p:nvSpPr>
        <p:spPr>
          <a:xfrm>
            <a:off x="457200" y="1600200"/>
            <a:ext cx="4037013" cy="4527550"/>
          </a:xfrm>
        </p:spPr>
        <p:txBody>
          <a:bodyPr/>
          <a:lstStyle/>
          <a:p>
            <a:endParaRPr lang="en-US"/>
          </a:p>
        </p:txBody>
      </p:sp>
      <p:sp>
        <p:nvSpPr>
          <p:cNvPr id="4" name="Text Placeholder 3"/>
          <p:cNvSpPr>
            <a:spLocks noGrp="1"/>
          </p:cNvSpPr>
          <p:nvPr>
            <p:ph type="body" sz="half" idx="2"/>
          </p:nvPr>
        </p:nvSpPr>
        <p:spPr>
          <a:xfrm>
            <a:off x="4646613" y="1600200"/>
            <a:ext cx="4037012" cy="4527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idx="10"/>
          </p:nvPr>
        </p:nvSpPr>
        <p:spPr>
          <a:xfrm>
            <a:off x="457200" y="6243638"/>
            <a:ext cx="2130425" cy="454025"/>
          </a:xfrm>
          <a:prstGeom prst="rect">
            <a:avLst/>
          </a:prstGeom>
        </p:spPr>
        <p:txBody>
          <a:bodyPr/>
          <a:lstStyle>
            <a:lvl1pPr>
              <a:defRPr/>
            </a:lvl1pPr>
          </a:lstStyle>
          <a:p>
            <a:endParaRPr lang="en-GB" altLang="en-US"/>
          </a:p>
        </p:txBody>
      </p:sp>
      <p:sp>
        <p:nvSpPr>
          <p:cNvPr id="6" name="Footer Placeholder 5"/>
          <p:cNvSpPr>
            <a:spLocks noGrp="1"/>
          </p:cNvSpPr>
          <p:nvPr>
            <p:ph type="ftr" idx="11"/>
          </p:nvPr>
        </p:nvSpPr>
        <p:spPr>
          <a:xfrm>
            <a:off x="3124200" y="6248400"/>
            <a:ext cx="2892425" cy="454025"/>
          </a:xfrm>
          <a:prstGeom prst="rect">
            <a:avLst/>
          </a:prstGeom>
        </p:spPr>
        <p:txBody>
          <a:bodyPr/>
          <a:lstStyle>
            <a:lvl1pPr>
              <a:defRPr/>
            </a:lvl1pPr>
          </a:lstStyle>
          <a:p>
            <a:endParaRPr lang="en-GB" altLang="en-US"/>
          </a:p>
        </p:txBody>
      </p:sp>
      <p:sp>
        <p:nvSpPr>
          <p:cNvPr id="7" name="Slide Number Placeholder 6"/>
          <p:cNvSpPr>
            <a:spLocks noGrp="1"/>
          </p:cNvSpPr>
          <p:nvPr>
            <p:ph type="sldNum" idx="12"/>
          </p:nvPr>
        </p:nvSpPr>
        <p:spPr>
          <a:xfrm>
            <a:off x="6553200" y="6243638"/>
            <a:ext cx="2130425" cy="454025"/>
          </a:xfrm>
          <a:prstGeom prst="rect">
            <a:avLst/>
          </a:prstGeom>
        </p:spPr>
        <p:txBody>
          <a:bodyPr/>
          <a:lstStyle>
            <a:lvl1pPr>
              <a:defRPr/>
            </a:lvl1pPr>
          </a:lstStyle>
          <a:p>
            <a:fld id="{389614A9-480A-4B14-B576-A1EF4C28B06B}" type="slidenum">
              <a:rPr lang="en-GB" altLang="en-US"/>
              <a:pPr/>
              <a:t>‹#›</a:t>
            </a:fld>
            <a:endParaRPr lang="en-GB" altLang="en-US"/>
          </a:p>
        </p:txBody>
      </p:sp>
    </p:spTree>
    <p:extLst>
      <p:ext uri="{BB962C8B-B14F-4D97-AF65-F5344CB8AC3E}">
        <p14:creationId xmlns:p14="http://schemas.microsoft.com/office/powerpoint/2010/main" val="161745677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914400" y="1600200"/>
            <a:ext cx="7772400" cy="370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 name="Slide Number Placeholder 5"/>
          <p:cNvSpPr>
            <a:spLocks noGrp="1"/>
          </p:cNvSpPr>
          <p:nvPr>
            <p:ph type="sldNum" sz="quarter" idx="4"/>
          </p:nvPr>
        </p:nvSpPr>
        <p:spPr>
          <a:xfrm>
            <a:off x="4419600" y="5946775"/>
            <a:ext cx="457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latin typeface="Calibri" panose="020F0502020204030204" pitchFamily="34" charset="0"/>
              </a:defRPr>
            </a:lvl1pPr>
          </a:lstStyle>
          <a:p>
            <a:fld id="{2741FAE8-0791-472C-83C7-20314F68AB0B}"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6" r:id="rId7"/>
    <p:sldLayoutId id="2147483855" r:id="rId8"/>
    <p:sldLayoutId id="2147483857" r:id="rId9"/>
    <p:sldLayoutId id="2147483858" r:id="rId10"/>
    <p:sldLayoutId id="2147483860" r:id="rId11"/>
  </p:sldLayoutIdLst>
  <p:hf hdr="0" ftr="0"/>
  <p:txStyles>
    <p:titleStyle>
      <a:lvl1pPr algn="l" defTabSz="457200" rtl="0" eaLnBrk="1" fontAlgn="base" hangingPunct="1">
        <a:spcBef>
          <a:spcPct val="0"/>
        </a:spcBef>
        <a:spcAft>
          <a:spcPct val="0"/>
        </a:spcAft>
        <a:defRPr sz="4400" kern="1200">
          <a:solidFill>
            <a:schemeClr val="tx1"/>
          </a:solidFill>
          <a:latin typeface="+mn-lt"/>
          <a:ea typeface="ＭＳ Ｐゴシック" pitchFamily="-84" charset="-128"/>
          <a:cs typeface="Arial"/>
        </a:defRPr>
      </a:lvl1pPr>
      <a:lvl2pPr algn="l" defTabSz="457200" rtl="0" eaLnBrk="1" fontAlgn="base" hangingPunct="1">
        <a:spcBef>
          <a:spcPct val="0"/>
        </a:spcBef>
        <a:spcAft>
          <a:spcPct val="0"/>
        </a:spcAft>
        <a:defRPr sz="4400">
          <a:solidFill>
            <a:schemeClr val="tx1"/>
          </a:solidFill>
          <a:latin typeface="Cambria" charset="0"/>
          <a:ea typeface="ＭＳ Ｐゴシック" pitchFamily="-84" charset="-128"/>
          <a:cs typeface="Arial" charset="0"/>
        </a:defRPr>
      </a:lvl2pPr>
      <a:lvl3pPr algn="l" defTabSz="457200" rtl="0" eaLnBrk="1" fontAlgn="base" hangingPunct="1">
        <a:spcBef>
          <a:spcPct val="0"/>
        </a:spcBef>
        <a:spcAft>
          <a:spcPct val="0"/>
        </a:spcAft>
        <a:defRPr sz="4400">
          <a:solidFill>
            <a:schemeClr val="tx1"/>
          </a:solidFill>
          <a:latin typeface="Cambria" charset="0"/>
          <a:ea typeface="ＭＳ Ｐゴシック" pitchFamily="-84" charset="-128"/>
          <a:cs typeface="Arial" charset="0"/>
        </a:defRPr>
      </a:lvl3pPr>
      <a:lvl4pPr algn="l" defTabSz="457200" rtl="0" eaLnBrk="1" fontAlgn="base" hangingPunct="1">
        <a:spcBef>
          <a:spcPct val="0"/>
        </a:spcBef>
        <a:spcAft>
          <a:spcPct val="0"/>
        </a:spcAft>
        <a:defRPr sz="4400">
          <a:solidFill>
            <a:schemeClr val="tx1"/>
          </a:solidFill>
          <a:latin typeface="Cambria" charset="0"/>
          <a:ea typeface="ＭＳ Ｐゴシック" pitchFamily="-84" charset="-128"/>
          <a:cs typeface="Arial" charset="0"/>
        </a:defRPr>
      </a:lvl4pPr>
      <a:lvl5pPr algn="l" defTabSz="457200" rtl="0" eaLnBrk="1" fontAlgn="base" hangingPunct="1">
        <a:spcBef>
          <a:spcPct val="0"/>
        </a:spcBef>
        <a:spcAft>
          <a:spcPct val="0"/>
        </a:spcAft>
        <a:defRPr sz="4400">
          <a:solidFill>
            <a:schemeClr val="tx1"/>
          </a:solidFill>
          <a:latin typeface="Cambria" charset="0"/>
          <a:ea typeface="ＭＳ Ｐゴシック" pitchFamily="-84" charset="-128"/>
          <a:cs typeface="Arial" charset="0"/>
        </a:defRPr>
      </a:lvl5pPr>
      <a:lvl6pPr marL="457200" algn="ctr" defTabSz="457200" rtl="0" eaLnBrk="1" fontAlgn="base" hangingPunct="1">
        <a:spcBef>
          <a:spcPct val="0"/>
        </a:spcBef>
        <a:spcAft>
          <a:spcPct val="0"/>
        </a:spcAft>
        <a:defRPr sz="4400">
          <a:solidFill>
            <a:schemeClr val="tx1"/>
          </a:solidFill>
          <a:latin typeface="Arial" pitchFamily="-84" charset="0"/>
          <a:ea typeface="ＭＳ Ｐゴシック" pitchFamily="-84" charset="-128"/>
        </a:defRPr>
      </a:lvl6pPr>
      <a:lvl7pPr marL="914400" algn="ctr" defTabSz="457200" rtl="0" eaLnBrk="1" fontAlgn="base" hangingPunct="1">
        <a:spcBef>
          <a:spcPct val="0"/>
        </a:spcBef>
        <a:spcAft>
          <a:spcPct val="0"/>
        </a:spcAft>
        <a:defRPr sz="4400">
          <a:solidFill>
            <a:schemeClr val="tx1"/>
          </a:solidFill>
          <a:latin typeface="Arial" pitchFamily="-84" charset="0"/>
          <a:ea typeface="ＭＳ Ｐゴシック" pitchFamily="-84" charset="-128"/>
        </a:defRPr>
      </a:lvl7pPr>
      <a:lvl8pPr marL="1371600" algn="ctr" defTabSz="457200" rtl="0" eaLnBrk="1" fontAlgn="base" hangingPunct="1">
        <a:spcBef>
          <a:spcPct val="0"/>
        </a:spcBef>
        <a:spcAft>
          <a:spcPct val="0"/>
        </a:spcAft>
        <a:defRPr sz="4400">
          <a:solidFill>
            <a:schemeClr val="tx1"/>
          </a:solidFill>
          <a:latin typeface="Arial" pitchFamily="-84" charset="0"/>
          <a:ea typeface="ＭＳ Ｐゴシック" pitchFamily="-84" charset="-128"/>
        </a:defRPr>
      </a:lvl8pPr>
      <a:lvl9pPr marL="1828800" algn="ctr" defTabSz="457200" rtl="0" eaLnBrk="1" fontAlgn="base" hangingPunct="1">
        <a:spcBef>
          <a:spcPct val="0"/>
        </a:spcBef>
        <a:spcAft>
          <a:spcPct val="0"/>
        </a:spcAft>
        <a:defRPr sz="4400">
          <a:solidFill>
            <a:schemeClr val="tx1"/>
          </a:solidFill>
          <a:latin typeface="Arial" pitchFamily="-84" charset="0"/>
          <a:ea typeface="ＭＳ Ｐゴシック" pitchFamily="-84" charset="-128"/>
        </a:defRPr>
      </a:lvl9pPr>
    </p:titleStyle>
    <p:bodyStyle>
      <a:lvl1pPr marL="342900" indent="-342900" algn="l" defTabSz="457200" rtl="0" eaLnBrk="1" fontAlgn="base" hangingPunct="1">
        <a:spcBef>
          <a:spcPct val="20000"/>
        </a:spcBef>
        <a:spcAft>
          <a:spcPct val="0"/>
        </a:spcAft>
        <a:buClr>
          <a:srgbClr val="0A3E64"/>
        </a:buClr>
        <a:buFont typeface="Wingdings" panose="05000000000000000000" pitchFamily="2" charset="2"/>
        <a:buChar char="§"/>
        <a:defRPr sz="3200" kern="1200">
          <a:solidFill>
            <a:schemeClr val="tx1"/>
          </a:solidFill>
          <a:latin typeface="+mj-lt"/>
          <a:ea typeface="ＭＳ Ｐゴシック" pitchFamily="-84" charset="-128"/>
          <a:cs typeface="ＭＳ Ｐゴシック" pitchFamily="-84" charset="-128"/>
        </a:defRPr>
      </a:lvl1pPr>
      <a:lvl2pPr marL="742950" indent="-285750" algn="l" defTabSz="457200" rtl="0" eaLnBrk="1" fontAlgn="base" hangingPunct="1">
        <a:spcBef>
          <a:spcPct val="20000"/>
        </a:spcBef>
        <a:spcAft>
          <a:spcPct val="0"/>
        </a:spcAft>
        <a:buClr>
          <a:srgbClr val="CE783A"/>
        </a:buClr>
        <a:buFont typeface="Arial" panose="020B0604020202020204" pitchFamily="34" charset="0"/>
        <a:buChar char="–"/>
        <a:defRPr sz="2800" kern="1200">
          <a:solidFill>
            <a:schemeClr val="tx1"/>
          </a:solidFill>
          <a:latin typeface="+mj-lt"/>
          <a:ea typeface="ＭＳ Ｐゴシック" pitchFamily="-84" charset="-128"/>
          <a:cs typeface="+mn-cs"/>
        </a:defRPr>
      </a:lvl2pPr>
      <a:lvl3pPr marL="1143000" indent="-228600" algn="l" defTabSz="457200" rtl="0" eaLnBrk="1" fontAlgn="base" hangingPunct="1">
        <a:spcBef>
          <a:spcPct val="20000"/>
        </a:spcBef>
        <a:spcAft>
          <a:spcPct val="0"/>
        </a:spcAft>
        <a:buClr>
          <a:srgbClr val="F1D5A6"/>
        </a:buClr>
        <a:buFont typeface="Arial" panose="020B0604020202020204" pitchFamily="34" charset="0"/>
        <a:buChar char="•"/>
        <a:defRPr sz="2400" kern="1200">
          <a:solidFill>
            <a:schemeClr val="tx1"/>
          </a:solidFill>
          <a:latin typeface="+mj-lt"/>
          <a:ea typeface="ＭＳ Ｐゴシック" pitchFamily="-8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j-lt"/>
          <a:ea typeface="ＭＳ Ｐゴシック" pitchFamily="-8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j-lt"/>
          <a:ea typeface="ＭＳ Ｐゴシック" pitchFamily="-8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4" Type="http://schemas.openxmlformats.org/officeDocument/2006/relationships/oleObject" Target="../embeddings/oleObject1.bin"/><Relationship Id="rId5" Type="http://schemas.openxmlformats.org/officeDocument/2006/relationships/image" Target="../media/image2.emf"/><Relationship Id="rId1" Type="http://schemas.openxmlformats.org/officeDocument/2006/relationships/vmlDrawing" Target="../drawings/vmlDrawing1.vml"/><Relationship Id="rId2"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4" Type="http://schemas.openxmlformats.org/officeDocument/2006/relationships/oleObject" Target="../embeddings/oleObject2.bin"/><Relationship Id="rId5" Type="http://schemas.openxmlformats.org/officeDocument/2006/relationships/image" Target="../media/image3.emf"/><Relationship Id="rId1" Type="http://schemas.openxmlformats.org/officeDocument/2006/relationships/vmlDrawing" Target="../drawings/vmlDrawing2.vml"/><Relationship Id="rId2"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bin"/><Relationship Id="rId4" Type="http://schemas.openxmlformats.org/officeDocument/2006/relationships/image" Target="../media/image4.wmf"/><Relationship Id="rId5" Type="http://schemas.openxmlformats.org/officeDocument/2006/relationships/oleObject" Target="../embeddings/oleObject4.bin"/><Relationship Id="rId6" Type="http://schemas.openxmlformats.org/officeDocument/2006/relationships/image" Target="../media/image5.wmf"/><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bin"/><Relationship Id="rId4" Type="http://schemas.openxmlformats.org/officeDocument/2006/relationships/image" Target="../media/image6.wmf"/><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6.bin"/><Relationship Id="rId4" Type="http://schemas.openxmlformats.org/officeDocument/2006/relationships/image" Target="../media/image7.wmf"/><Relationship Id="rId5" Type="http://schemas.openxmlformats.org/officeDocument/2006/relationships/oleObject" Target="../embeddings/oleObject7.bin"/><Relationship Id="rId6" Type="http://schemas.openxmlformats.org/officeDocument/2006/relationships/image" Target="../media/image8.wmf"/><Relationship Id="rId1" Type="http://schemas.openxmlformats.org/officeDocument/2006/relationships/vmlDrawing" Target="../drawings/vmlDrawing5.vml"/><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8.bin"/><Relationship Id="rId4" Type="http://schemas.openxmlformats.org/officeDocument/2006/relationships/image" Target="../media/image9.wmf"/><Relationship Id="rId1" Type="http://schemas.openxmlformats.org/officeDocument/2006/relationships/vmlDrawing" Target="../drawings/vmlDrawing6.vml"/><Relationship Id="rId2"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ChangeArrowheads="1"/>
          </p:cNvSpPr>
          <p:nvPr/>
        </p:nvSpPr>
        <p:spPr bwMode="auto">
          <a:xfrm>
            <a:off x="0" y="1"/>
            <a:ext cx="9144000" cy="5562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lgn="ctr" eaLnBrk="0" hangingPunct="0">
              <a:spcBef>
                <a:spcPct val="20000"/>
              </a:spcBef>
              <a:buFont typeface="Wingdings" pitchFamily="2" charset="2"/>
              <a:buNone/>
            </a:pPr>
            <a:endParaRPr lang="en-US" altLang="en-US" sz="3200" b="1" dirty="0"/>
          </a:p>
          <a:p>
            <a:pPr algn="ctr" eaLnBrk="0" hangingPunct="0">
              <a:spcBef>
                <a:spcPct val="20000"/>
              </a:spcBef>
              <a:buFont typeface="Wingdings" pitchFamily="2" charset="2"/>
              <a:buNone/>
            </a:pPr>
            <a:endParaRPr lang="en-US" altLang="en-US" sz="3200" b="1" dirty="0"/>
          </a:p>
          <a:p>
            <a:pPr algn="ctr" eaLnBrk="0" hangingPunct="0">
              <a:spcBef>
                <a:spcPct val="20000"/>
              </a:spcBef>
              <a:buFont typeface="Wingdings" pitchFamily="2" charset="2"/>
              <a:buNone/>
            </a:pPr>
            <a:endParaRPr lang="en-US" altLang="en-US" sz="3200" b="1" dirty="0"/>
          </a:p>
          <a:p>
            <a:pPr algn="ctr" eaLnBrk="0" hangingPunct="0">
              <a:spcBef>
                <a:spcPct val="20000"/>
              </a:spcBef>
              <a:buFont typeface="Wingdings" pitchFamily="2" charset="2"/>
              <a:buNone/>
            </a:pPr>
            <a:r>
              <a:rPr lang="en-US" altLang="en-US" sz="4400" b="1" dirty="0"/>
              <a:t>Introduction to Meta-Analysis</a:t>
            </a:r>
            <a:endParaRPr lang="en-US" sz="4400" b="1" dirty="0">
              <a:latin typeface="Helvetica"/>
            </a:endParaRPr>
          </a:p>
          <a:p>
            <a:pPr algn="ctr"/>
            <a:endParaRPr lang="en-US" altLang="en-US" sz="2800" b="1" dirty="0">
              <a:solidFill>
                <a:srgbClr val="9D0817"/>
              </a:solidFill>
            </a:endParaRPr>
          </a:p>
          <a:p>
            <a:pPr algn="r"/>
            <a:endParaRPr lang="en-US" altLang="en-US" sz="2800" b="1" dirty="0">
              <a:solidFill>
                <a:srgbClr val="9D0817"/>
              </a:solidFill>
              <a:latin typeface="+mn-lt"/>
            </a:endParaRPr>
          </a:p>
          <a:p>
            <a:pPr algn="r"/>
            <a:r>
              <a:rPr lang="en-US" altLang="en-US" sz="3600" b="1" dirty="0">
                <a:solidFill>
                  <a:srgbClr val="C00000"/>
                </a:solidFill>
                <a:cs typeface="Arial" panose="020B0604020202020204" pitchFamily="34" charset="0"/>
              </a:rPr>
              <a:t>Sudeep Sharma</a:t>
            </a:r>
          </a:p>
          <a:p>
            <a:pPr algn="r"/>
            <a:r>
              <a:rPr lang="en-US" altLang="en-US" sz="2000" b="1" dirty="0">
                <a:solidFill>
                  <a:srgbClr val="C00000"/>
                </a:solidFill>
                <a:cs typeface="Arial" panose="020B0604020202020204" pitchFamily="34" charset="0"/>
              </a:rPr>
              <a:t>University of Illinois at Springfield</a:t>
            </a:r>
          </a:p>
          <a:p>
            <a:pPr algn="r"/>
            <a:r>
              <a:rPr lang="en-US" sz="3600" b="1" dirty="0" err="1">
                <a:solidFill>
                  <a:srgbClr val="C00000"/>
                </a:solidFill>
                <a:cs typeface="Arial" panose="020B0604020202020204" pitchFamily="34" charset="0"/>
              </a:rPr>
              <a:t>Hamed</a:t>
            </a:r>
            <a:r>
              <a:rPr lang="en-US" sz="3600" b="1" dirty="0">
                <a:solidFill>
                  <a:srgbClr val="C00000"/>
                </a:solidFill>
                <a:cs typeface="Arial" panose="020B0604020202020204" pitchFamily="34" charset="0"/>
              </a:rPr>
              <a:t> </a:t>
            </a:r>
            <a:r>
              <a:rPr lang="en-US" sz="3600" b="1" dirty="0" err="1">
                <a:solidFill>
                  <a:srgbClr val="C00000"/>
                </a:solidFill>
                <a:cs typeface="Arial" panose="020B0604020202020204" pitchFamily="34" charset="0"/>
              </a:rPr>
              <a:t>Qahri-Saremi</a:t>
            </a:r>
            <a:endParaRPr lang="en-US" sz="3600" b="1" dirty="0">
              <a:solidFill>
                <a:srgbClr val="C00000"/>
              </a:solidFill>
              <a:cs typeface="Arial" panose="020B0604020202020204" pitchFamily="34" charset="0"/>
            </a:endParaRPr>
          </a:p>
          <a:p>
            <a:pPr algn="r"/>
            <a:r>
              <a:rPr lang="en-US" altLang="en-US" sz="2000" b="1" dirty="0">
                <a:solidFill>
                  <a:srgbClr val="C00000"/>
                </a:solidFill>
                <a:cs typeface="Arial" panose="020B0604020202020204" pitchFamily="34" charset="0"/>
              </a:rPr>
              <a:t>DePaul University</a:t>
            </a:r>
          </a:p>
        </p:txBody>
      </p:sp>
    </p:spTree>
    <p:extLst>
      <p:ext uri="{BB962C8B-B14F-4D97-AF65-F5344CB8AC3E}">
        <p14:creationId xmlns:p14="http://schemas.microsoft.com/office/powerpoint/2010/main" val="64603563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Grp="1" noChangeArrowheads="1"/>
          </p:cNvSpPr>
          <p:nvPr>
            <p:ph type="title" idx="4294967295"/>
          </p:nvPr>
        </p:nvSpPr>
        <p:spPr>
          <a:xfrm>
            <a:off x="0" y="0"/>
            <a:ext cx="9144000" cy="11398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Overview of the Workshop</a:t>
            </a:r>
          </a:p>
        </p:txBody>
      </p:sp>
      <p:sp>
        <p:nvSpPr>
          <p:cNvPr id="5122" name="Rectangle 2"/>
          <p:cNvSpPr>
            <a:spLocks noGrp="1" noChangeArrowheads="1"/>
          </p:cNvSpPr>
          <p:nvPr>
            <p:ph type="body" idx="4294967295"/>
          </p:nvPr>
        </p:nvSpPr>
        <p:spPr>
          <a:xfrm>
            <a:off x="0" y="990600"/>
            <a:ext cx="9143999" cy="4648200"/>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800" dirty="0">
                <a:latin typeface="Arial" panose="020B0604020202020204" pitchFamily="34" charset="0"/>
                <a:cs typeface="Arial" panose="020B0604020202020204" pitchFamily="34" charset="0"/>
              </a:rPr>
              <a:t>Topics that we will address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600" dirty="0">
                <a:latin typeface="Arial" panose="020B0604020202020204" pitchFamily="34" charset="0"/>
                <a:cs typeface="Arial" panose="020B0604020202020204" pitchFamily="34" charset="0"/>
              </a:rPr>
              <a:t>Review of the basic procedural steps</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Problem definition</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Document Retrieval</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Coding</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Effect sizes and computation</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Analysis of effect sizes</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Publication Bias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600" dirty="0">
                <a:latin typeface="Arial" panose="020B0604020202020204" pitchFamily="34" charset="0"/>
                <a:cs typeface="Arial" panose="020B0604020202020204" pitchFamily="34" charset="0"/>
              </a:rPr>
              <a:t>Cutting edge issues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600" dirty="0">
                <a:latin typeface="Arial" panose="020B0604020202020204" pitchFamily="34" charset="0"/>
                <a:cs typeface="Arial" panose="020B0604020202020204" pitchFamily="34" charset="0"/>
              </a:rPr>
              <a:t>Interpretation of results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600" dirty="0">
                <a:latin typeface="Arial" panose="020B0604020202020204" pitchFamily="34" charset="0"/>
                <a:cs typeface="Arial" panose="020B0604020202020204" pitchFamily="34" charset="0"/>
              </a:rPr>
              <a:t>Evaluating the quality of a meta-analysis</a:t>
            </a:r>
          </a:p>
        </p:txBody>
      </p:sp>
    </p:spTree>
    <p:extLst>
      <p:ext uri="{BB962C8B-B14F-4D97-AF65-F5344CB8AC3E}">
        <p14:creationId xmlns:p14="http://schemas.microsoft.com/office/powerpoint/2010/main" val="134263428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p:cNvSpPr>
            <a:spLocks noGrp="1" noChangeArrowheads="1"/>
          </p:cNvSpPr>
          <p:nvPr>
            <p:ph type="title" idx="4294967295"/>
          </p:nvPr>
        </p:nvSpPr>
        <p:spPr>
          <a:xfrm>
            <a:off x="0" y="0"/>
            <a:ext cx="9144000" cy="1064347"/>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The Great Debate</a:t>
            </a:r>
          </a:p>
        </p:txBody>
      </p:sp>
      <p:sp>
        <p:nvSpPr>
          <p:cNvPr id="7170" name="Rectangle 2"/>
          <p:cNvSpPr>
            <a:spLocks noGrp="1" noChangeArrowheads="1"/>
          </p:cNvSpPr>
          <p:nvPr>
            <p:ph type="body" idx="4294967295"/>
          </p:nvPr>
        </p:nvSpPr>
        <p:spPr>
          <a:xfrm>
            <a:off x="0" y="1064347"/>
            <a:ext cx="9144000" cy="4530725"/>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n-US" sz="2400" dirty="0">
              <a:latin typeface="Arial" panose="020B0604020202020204" pitchFamily="34" charset="0"/>
              <a:cs typeface="Arial" panose="020B0604020202020204" pitchFamily="34" charset="0"/>
            </a:endParaRP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1952: Hans J. Eysenck concluded that there were no </a:t>
            </a:r>
            <a:r>
              <a:rPr lang="en-GB" altLang="en-US" sz="2400" dirty="0" err="1">
                <a:latin typeface="Arial" panose="020B0604020202020204" pitchFamily="34" charset="0"/>
                <a:cs typeface="Arial" panose="020B0604020202020204" pitchFamily="34" charset="0"/>
              </a:rPr>
              <a:t>favorable</a:t>
            </a:r>
            <a:r>
              <a:rPr lang="en-GB" altLang="en-US" sz="2400" dirty="0">
                <a:latin typeface="Arial" panose="020B0604020202020204" pitchFamily="34" charset="0"/>
                <a:cs typeface="Arial" panose="020B0604020202020204" pitchFamily="34" charset="0"/>
              </a:rPr>
              <a:t> effects of psychotherapy, starting a raging debate</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20 years of evaluation research and hundreds of studies failed to resolve the debate</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1978: To proved Eysenck wrong, Gene V. Glass statistically aggregate the findings of 375 psychotherapy outcome studies</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Glass (and colleague Smith) concluded that psychotherapy did indeed work</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Glass called his method “meta-analysis”</a:t>
            </a:r>
          </a:p>
        </p:txBody>
      </p:sp>
    </p:spTree>
    <p:extLst>
      <p:ext uri="{BB962C8B-B14F-4D97-AF65-F5344CB8AC3E}">
        <p14:creationId xmlns:p14="http://schemas.microsoft.com/office/powerpoint/2010/main" val="223902226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0" y="-13566"/>
            <a:ext cx="9144000" cy="11398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The Emergence of Meta-analysis</a:t>
            </a:r>
          </a:p>
        </p:txBody>
      </p:sp>
      <p:sp>
        <p:nvSpPr>
          <p:cNvPr id="8194" name="Rectangle 2"/>
          <p:cNvSpPr>
            <a:spLocks noGrp="1" noChangeArrowheads="1"/>
          </p:cNvSpPr>
          <p:nvPr>
            <p:ph type="body" idx="4294967295"/>
          </p:nvPr>
        </p:nvSpPr>
        <p:spPr>
          <a:xfrm>
            <a:off x="0" y="1126259"/>
            <a:ext cx="9144000" cy="4436341"/>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800" dirty="0">
                <a:latin typeface="Arial" panose="020B0604020202020204" pitchFamily="34" charset="0"/>
                <a:cs typeface="Arial" panose="020B0604020202020204" pitchFamily="34" charset="0"/>
              </a:rPr>
              <a:t>Ideas behind meta-analysis predate Glass’ work by several decades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b="1" dirty="0">
                <a:latin typeface="Arial" panose="020B0604020202020204" pitchFamily="34" charset="0"/>
                <a:cs typeface="Arial" panose="020B0604020202020204" pitchFamily="34" charset="0"/>
              </a:rPr>
              <a:t>Karl Pearson (1904)</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averaged correlations for studies of the effectiveness of inoculation for typhoid fever</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b="1" dirty="0">
                <a:latin typeface="Arial" panose="020B0604020202020204" pitchFamily="34" charset="0"/>
                <a:cs typeface="Arial" panose="020B0604020202020204" pitchFamily="34" charset="0"/>
              </a:rPr>
              <a:t>R. A. Fisher (1944)</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“When a number of quite independent tests of significance have been made, it sometimes happens that although few or none can be claimed individually as significant, yet the aggregate gives an impression that the probabilities are on the whole lower than would often have been obtained by chance” (p. 99).</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Source of the idea of cumulating probability values</a:t>
            </a:r>
          </a:p>
        </p:txBody>
      </p:sp>
    </p:spTree>
    <p:extLst>
      <p:ext uri="{BB962C8B-B14F-4D97-AF65-F5344CB8AC3E}">
        <p14:creationId xmlns:p14="http://schemas.microsoft.com/office/powerpoint/2010/main" val="24337350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p:cNvSpPr>
            <a:spLocks noGrp="1" noChangeArrowheads="1"/>
          </p:cNvSpPr>
          <p:nvPr>
            <p:ph type="title" idx="4294967295"/>
          </p:nvPr>
        </p:nvSpPr>
        <p:spPr>
          <a:xfrm>
            <a:off x="0" y="0"/>
            <a:ext cx="9144000" cy="11398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The Emergence of Meta-analysis</a:t>
            </a:r>
          </a:p>
        </p:txBody>
      </p:sp>
      <p:sp>
        <p:nvSpPr>
          <p:cNvPr id="9218" name="Rectangle 2"/>
          <p:cNvSpPr>
            <a:spLocks noGrp="1" noChangeArrowheads="1"/>
          </p:cNvSpPr>
          <p:nvPr>
            <p:ph type="body" idx="4294967295"/>
          </p:nvPr>
        </p:nvSpPr>
        <p:spPr>
          <a:xfrm>
            <a:off x="0" y="1278082"/>
            <a:ext cx="9144000" cy="4360717"/>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Ideas behind meta-analysis predate Glass’ work by several decades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W. G. Cochran (1953)</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Discusses a method of averaging means across independent studies</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Laid-out much of the statistical foundation that modern meta-analysis is built upon (e.g., Inverse variance weighting and homogeneity testing)</a:t>
            </a:r>
          </a:p>
          <a:p>
            <a:pPr marL="1019175" lvl="2" indent="-347663">
              <a:lnSpc>
                <a:spcPct val="100000"/>
              </a:lnSpc>
              <a:buClrTx/>
              <a:buSzPct val="65000"/>
              <a:buFontTx/>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n-US" dirty="0"/>
          </a:p>
        </p:txBody>
      </p:sp>
    </p:spTree>
    <p:extLst>
      <p:ext uri="{BB962C8B-B14F-4D97-AF65-F5344CB8AC3E}">
        <p14:creationId xmlns:p14="http://schemas.microsoft.com/office/powerpoint/2010/main" val="341542673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p:cNvSpPr>
            <a:spLocks noGrp="1" noChangeArrowheads="1"/>
          </p:cNvSpPr>
          <p:nvPr>
            <p:ph type="title" idx="4294967295"/>
          </p:nvPr>
        </p:nvSpPr>
        <p:spPr>
          <a:xfrm>
            <a:off x="0" y="0"/>
            <a:ext cx="9144000" cy="1107210"/>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The Logic of Meta-analysis</a:t>
            </a:r>
          </a:p>
        </p:txBody>
      </p:sp>
      <p:sp>
        <p:nvSpPr>
          <p:cNvPr id="10242" name="Rectangle 2"/>
          <p:cNvSpPr>
            <a:spLocks noGrp="1" noChangeArrowheads="1"/>
          </p:cNvSpPr>
          <p:nvPr>
            <p:ph type="body" idx="4294967295"/>
          </p:nvPr>
        </p:nvSpPr>
        <p:spPr>
          <a:xfrm>
            <a:off x="0" y="1039091"/>
            <a:ext cx="9144000" cy="4523509"/>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Traditional methods of review focus on statistical significance testing</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Significance testing is not well suited to this task</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Highly dependent on sample size</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Null finding does not carry the same “weight” as a significant finding</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1800" dirty="0">
                <a:latin typeface="Arial" panose="020B0604020202020204" pitchFamily="34" charset="0"/>
                <a:cs typeface="Arial" panose="020B0604020202020204" pitchFamily="34" charset="0"/>
              </a:rPr>
              <a:t>significant effect is a strong conclusion</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1800" dirty="0" err="1">
                <a:latin typeface="Arial" panose="020B0604020202020204" pitchFamily="34" charset="0"/>
                <a:cs typeface="Arial" panose="020B0604020202020204" pitchFamily="34" charset="0"/>
              </a:rPr>
              <a:t>nonsignificant</a:t>
            </a:r>
            <a:r>
              <a:rPr lang="en-GB" altLang="en-US" sz="1800" dirty="0">
                <a:latin typeface="Arial" panose="020B0604020202020204" pitchFamily="34" charset="0"/>
                <a:cs typeface="Arial" panose="020B0604020202020204" pitchFamily="34" charset="0"/>
              </a:rPr>
              <a:t> effect is a weak conclusion</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Meta-analysis focuses on the </a:t>
            </a:r>
            <a:r>
              <a:rPr lang="en-GB" altLang="en-US" sz="2400" b="1" i="1" dirty="0">
                <a:latin typeface="Arial" panose="020B0604020202020204" pitchFamily="34" charset="0"/>
                <a:cs typeface="Arial" panose="020B0604020202020204" pitchFamily="34" charset="0"/>
              </a:rPr>
              <a:t>direction</a:t>
            </a:r>
            <a:r>
              <a:rPr lang="en-GB" altLang="en-US" sz="2400" dirty="0">
                <a:latin typeface="Arial" panose="020B0604020202020204" pitchFamily="34" charset="0"/>
                <a:cs typeface="Arial" panose="020B0604020202020204" pitchFamily="34" charset="0"/>
              </a:rPr>
              <a:t> and </a:t>
            </a:r>
            <a:r>
              <a:rPr lang="en-GB" altLang="en-US" sz="2400" b="1" i="1" dirty="0">
                <a:latin typeface="Arial" panose="020B0604020202020204" pitchFamily="34" charset="0"/>
                <a:cs typeface="Arial" panose="020B0604020202020204" pitchFamily="34" charset="0"/>
              </a:rPr>
              <a:t>magnitude</a:t>
            </a:r>
            <a:r>
              <a:rPr lang="en-GB" altLang="en-US" sz="2400" dirty="0">
                <a:latin typeface="Arial" panose="020B0604020202020204" pitchFamily="34" charset="0"/>
                <a:cs typeface="Arial" panose="020B0604020202020204" pitchFamily="34" charset="0"/>
              </a:rPr>
              <a:t> of the effects across studies, not statistical significance</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Isn’t this what we are interested in anyway?</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Direction and magnitude are represented by the effect size</a:t>
            </a:r>
          </a:p>
        </p:txBody>
      </p:sp>
    </p:spTree>
    <p:extLst>
      <p:ext uri="{BB962C8B-B14F-4D97-AF65-F5344CB8AC3E}">
        <p14:creationId xmlns:p14="http://schemas.microsoft.com/office/powerpoint/2010/main" val="182795971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p:cNvSpPr>
            <a:spLocks noGrp="1" noChangeArrowheads="1"/>
          </p:cNvSpPr>
          <p:nvPr>
            <p:ph type="title" idx="4294967295"/>
          </p:nvPr>
        </p:nvSpPr>
        <p:spPr>
          <a:xfrm>
            <a:off x="0" y="0"/>
            <a:ext cx="9144000" cy="11398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Illustration</a:t>
            </a:r>
          </a:p>
        </p:txBody>
      </p:sp>
      <p:sp>
        <p:nvSpPr>
          <p:cNvPr id="11266" name="Rectangle 2"/>
          <p:cNvSpPr>
            <a:spLocks noGrp="1" noChangeArrowheads="1"/>
          </p:cNvSpPr>
          <p:nvPr>
            <p:ph type="body" idx="4294967295"/>
          </p:nvPr>
        </p:nvSpPr>
        <p:spPr>
          <a:xfrm>
            <a:off x="1" y="4867401"/>
            <a:ext cx="9144000" cy="695199"/>
          </a:xfrm>
          <a:ln/>
        </p:spPr>
        <p:txBody>
          <a:bodyPr/>
          <a:lstStyle/>
          <a:p>
            <a:pPr marL="339725" indent="-339725">
              <a:lnSpc>
                <a:spcPct val="80000"/>
              </a:lnSpc>
              <a:spcBef>
                <a:spcPts val="450"/>
              </a:spcBef>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1800" dirty="0">
                <a:latin typeface="Arial" panose="020B0604020202020204" pitchFamily="34" charset="0"/>
                <a:cs typeface="Arial" panose="020B0604020202020204" pitchFamily="34" charset="0"/>
              </a:rPr>
              <a:t>Simulated data from 21 validity studies.  Taken from: </a:t>
            </a:r>
            <a:r>
              <a:rPr lang="en-GB" altLang="en-US" sz="1800" dirty="0" err="1">
                <a:latin typeface="Arial" panose="020B0604020202020204" pitchFamily="34" charset="0"/>
                <a:cs typeface="Arial" panose="020B0604020202020204" pitchFamily="34" charset="0"/>
              </a:rPr>
              <a:t>Schimdt</a:t>
            </a:r>
            <a:r>
              <a:rPr lang="en-GB" altLang="en-US" sz="1800" dirty="0">
                <a:latin typeface="Arial" panose="020B0604020202020204" pitchFamily="34" charset="0"/>
                <a:cs typeface="Arial" panose="020B0604020202020204" pitchFamily="34" charset="0"/>
              </a:rPr>
              <a:t>, F. L. (1996). Statistical significance testing and cumulative knowledge in psychology: implications for training of researchers. </a:t>
            </a:r>
            <a:r>
              <a:rPr lang="en-GB" altLang="en-US" sz="1800" i="1" dirty="0">
                <a:latin typeface="Arial" panose="020B0604020202020204" pitchFamily="34" charset="0"/>
                <a:cs typeface="Arial" panose="020B0604020202020204" pitchFamily="34" charset="0"/>
              </a:rPr>
              <a:t>Psychological Methods, 1,</a:t>
            </a:r>
            <a:r>
              <a:rPr lang="en-GB" altLang="en-US" sz="1800" dirty="0">
                <a:latin typeface="Arial" panose="020B0604020202020204" pitchFamily="34" charset="0"/>
                <a:cs typeface="Arial" panose="020B0604020202020204" pitchFamily="34" charset="0"/>
              </a:rPr>
              <a:t> 115-129.</a:t>
            </a:r>
          </a:p>
        </p:txBody>
      </p:sp>
      <p:graphicFrame>
        <p:nvGraphicFramePr>
          <p:cNvPr id="11267" name="Object 3"/>
          <p:cNvGraphicFramePr>
            <a:graphicFrameLocks noChangeAspect="1"/>
          </p:cNvGraphicFramePr>
          <p:nvPr>
            <p:extLst>
              <p:ext uri="{D42A27DB-BD31-4B8C-83A1-F6EECF244321}">
                <p14:modId xmlns:p14="http://schemas.microsoft.com/office/powerpoint/2010/main" val="263917290"/>
              </p:ext>
            </p:extLst>
          </p:nvPr>
        </p:nvGraphicFramePr>
        <p:xfrm>
          <a:off x="2819401" y="1108869"/>
          <a:ext cx="2819400" cy="3607215"/>
        </p:xfrm>
        <a:graphic>
          <a:graphicData uri="http://schemas.openxmlformats.org/presentationml/2006/ole">
            <mc:AlternateContent xmlns:mc="http://schemas.openxmlformats.org/markup-compatibility/2006">
              <mc:Choice xmlns:v="urn:schemas-microsoft-com:vml" Requires="v">
                <p:oleObj spid="_x0000_s1154" r:id="rId4" imgW="2071440" imgH="4439880" progId="">
                  <p:embed/>
                </p:oleObj>
              </mc:Choice>
              <mc:Fallback>
                <p:oleObj r:id="rId4" imgW="2071440" imgH="4439880" progId="">
                  <p:embed/>
                  <p:pic>
                    <p:nvPicPr>
                      <p:cNvPr id="1126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1" y="1108869"/>
                        <a:ext cx="2819400" cy="3607215"/>
                      </a:xfrm>
                      <a:prstGeom prst="rect">
                        <a:avLst/>
                      </a:prstGeom>
                      <a:noFill/>
                      <a:effectLst/>
                    </p:spPr>
                  </p:pic>
                </p:oleObj>
              </mc:Fallback>
            </mc:AlternateContent>
          </a:graphicData>
        </a:graphic>
      </p:graphicFrame>
    </p:spTree>
    <p:extLst>
      <p:ext uri="{BB962C8B-B14F-4D97-AF65-F5344CB8AC3E}">
        <p14:creationId xmlns:p14="http://schemas.microsoft.com/office/powerpoint/2010/main" val="181493386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p:cNvSpPr>
            <a:spLocks noGrp="1" noChangeArrowheads="1"/>
          </p:cNvSpPr>
          <p:nvPr>
            <p:ph type="title" idx="4294967295"/>
          </p:nvPr>
        </p:nvSpPr>
        <p:spPr>
          <a:xfrm>
            <a:off x="0" y="0"/>
            <a:ext cx="9144000" cy="104356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Illustration (Continued)</a:t>
            </a:r>
          </a:p>
        </p:txBody>
      </p:sp>
      <p:graphicFrame>
        <p:nvGraphicFramePr>
          <p:cNvPr id="12290" name="Object 2"/>
          <p:cNvGraphicFramePr>
            <a:graphicFrameLocks noChangeAspect="1"/>
          </p:cNvGraphicFramePr>
          <p:nvPr>
            <p:extLst>
              <p:ext uri="{D42A27DB-BD31-4B8C-83A1-F6EECF244321}">
                <p14:modId xmlns:p14="http://schemas.microsoft.com/office/powerpoint/2010/main" val="2018020956"/>
              </p:ext>
            </p:extLst>
          </p:nvPr>
        </p:nvGraphicFramePr>
        <p:xfrm>
          <a:off x="2819400" y="1069154"/>
          <a:ext cx="3886200" cy="4490605"/>
        </p:xfrm>
        <a:graphic>
          <a:graphicData uri="http://schemas.openxmlformats.org/presentationml/2006/ole">
            <mc:AlternateContent xmlns:mc="http://schemas.openxmlformats.org/markup-compatibility/2006">
              <mc:Choice xmlns:v="urn:schemas-microsoft-com:vml" Requires="v">
                <p:oleObj spid="_x0000_s2178" r:id="rId4" imgW="3472200" imgH="4440240" progId="">
                  <p:embed/>
                </p:oleObj>
              </mc:Choice>
              <mc:Fallback>
                <p:oleObj r:id="rId4" imgW="3472200" imgH="4440240" progId="">
                  <p:embed/>
                  <p:pic>
                    <p:nvPicPr>
                      <p:cNvPr id="1229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1069154"/>
                        <a:ext cx="3886200" cy="4490605"/>
                      </a:xfrm>
                      <a:prstGeom prst="rect">
                        <a:avLst/>
                      </a:prstGeom>
                      <a:noFill/>
                      <a:effectLst/>
                      <a:extLst/>
                    </p:spPr>
                  </p:pic>
                </p:oleObj>
              </mc:Fallback>
            </mc:AlternateContent>
          </a:graphicData>
        </a:graphic>
      </p:graphicFrame>
    </p:spTree>
    <p:extLst>
      <p:ext uri="{BB962C8B-B14F-4D97-AF65-F5344CB8AC3E}">
        <p14:creationId xmlns:p14="http://schemas.microsoft.com/office/powerpoint/2010/main" val="426653773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p:cNvSpPr>
            <a:spLocks noGrp="1" noChangeArrowheads="1"/>
          </p:cNvSpPr>
          <p:nvPr>
            <p:ph type="title" idx="4294967295"/>
          </p:nvPr>
        </p:nvSpPr>
        <p:spPr>
          <a:xfrm>
            <a:off x="0" y="0"/>
            <a:ext cx="9144000" cy="11398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When Can You Do Meta-analysis?</a:t>
            </a:r>
          </a:p>
        </p:txBody>
      </p:sp>
      <p:sp>
        <p:nvSpPr>
          <p:cNvPr id="13314" name="Rectangle 2"/>
          <p:cNvSpPr>
            <a:spLocks noGrp="1" noChangeArrowheads="1"/>
          </p:cNvSpPr>
          <p:nvPr>
            <p:ph type="body" idx="4294967295"/>
          </p:nvPr>
        </p:nvSpPr>
        <p:spPr>
          <a:xfrm>
            <a:off x="0" y="990600"/>
            <a:ext cx="9144000" cy="4530725"/>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800" dirty="0">
                <a:latin typeface="Arial" panose="020B0604020202020204" pitchFamily="34" charset="0"/>
                <a:cs typeface="Arial" panose="020B0604020202020204" pitchFamily="34" charset="0"/>
              </a:rPr>
              <a:t>Meta-analysis is applicable to collections of research that</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Are empirical, rather than theoretical</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Produce quantitative results, rather than qualitative findings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Examine the same constructs and relationships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Have findings that can be configured in a comparable statistical form (e.g., as effect sizes, correlation coefficients, odds-ratios, proportions)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Are “comparable” given the question at hand</a:t>
            </a:r>
          </a:p>
          <a:p>
            <a:pPr marL="339725" indent="-339725">
              <a:lnSpc>
                <a:spcPct val="100000"/>
              </a:lnSpc>
              <a:buClrTx/>
              <a:buSzPct val="65000"/>
              <a:buFontTx/>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n-US" dirty="0"/>
          </a:p>
        </p:txBody>
      </p:sp>
    </p:spTree>
    <p:extLst>
      <p:ext uri="{BB962C8B-B14F-4D97-AF65-F5344CB8AC3E}">
        <p14:creationId xmlns:p14="http://schemas.microsoft.com/office/powerpoint/2010/main" val="172167247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Grp="1" noChangeArrowheads="1"/>
          </p:cNvSpPr>
          <p:nvPr>
            <p:ph type="title" idx="4294967295"/>
          </p:nvPr>
        </p:nvSpPr>
        <p:spPr>
          <a:xfrm>
            <a:off x="0" y="0"/>
            <a:ext cx="9144000" cy="11398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Forms of Research Findings Suitable to Meta-analysis</a:t>
            </a:r>
          </a:p>
        </p:txBody>
      </p:sp>
      <p:sp>
        <p:nvSpPr>
          <p:cNvPr id="14338" name="Rectangle 2"/>
          <p:cNvSpPr>
            <a:spLocks noGrp="1" noChangeArrowheads="1"/>
          </p:cNvSpPr>
          <p:nvPr>
            <p:ph type="body" idx="4294967295"/>
          </p:nvPr>
        </p:nvSpPr>
        <p:spPr>
          <a:xfrm>
            <a:off x="0" y="1246909"/>
            <a:ext cx="9144000" cy="4315691"/>
          </a:xfrm>
          <a:ln/>
        </p:spPr>
        <p:txBody>
          <a:bodyPr/>
          <a:lstStyle/>
          <a:p>
            <a:pPr marL="339725" indent="-339725">
              <a:lnSpc>
                <a:spcPct val="9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Central tendency research</a:t>
            </a:r>
          </a:p>
          <a:p>
            <a:pPr marL="666750" lvl="1" indent="-325438">
              <a:lnSpc>
                <a:spcPct val="9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Prevalence rates</a:t>
            </a:r>
          </a:p>
          <a:p>
            <a:pPr marL="339725" indent="-339725">
              <a:lnSpc>
                <a:spcPct val="9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Pre-post contrasts</a:t>
            </a:r>
          </a:p>
          <a:p>
            <a:pPr marL="666750" lvl="1" indent="-325438">
              <a:lnSpc>
                <a:spcPct val="9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Growth rates</a:t>
            </a:r>
          </a:p>
          <a:p>
            <a:pPr marL="339725" indent="-339725">
              <a:lnSpc>
                <a:spcPct val="9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Group contrasts</a:t>
            </a:r>
          </a:p>
          <a:p>
            <a:pPr marL="666750" lvl="1" indent="-325438">
              <a:lnSpc>
                <a:spcPct val="9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Experimentally created groups</a:t>
            </a:r>
          </a:p>
          <a:p>
            <a:pPr marL="1019175" lvl="2" indent="-347663">
              <a:lnSpc>
                <a:spcPct val="9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Comparison of outcomes between treatment and comparison groups</a:t>
            </a:r>
          </a:p>
          <a:p>
            <a:pPr marL="666750" lvl="1" indent="-325438">
              <a:lnSpc>
                <a:spcPct val="9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Naturally occurring groups</a:t>
            </a:r>
          </a:p>
          <a:p>
            <a:pPr marL="1019175" lvl="2" indent="-347663">
              <a:lnSpc>
                <a:spcPct val="9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Comparison of spatial abilities between boys and girls</a:t>
            </a:r>
          </a:p>
          <a:p>
            <a:pPr marL="1019175" lvl="2" indent="-347663">
              <a:lnSpc>
                <a:spcPct val="9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Rates of morbidity among high and low risk groups</a:t>
            </a:r>
          </a:p>
        </p:txBody>
      </p:sp>
    </p:spTree>
    <p:extLst>
      <p:ext uri="{BB962C8B-B14F-4D97-AF65-F5344CB8AC3E}">
        <p14:creationId xmlns:p14="http://schemas.microsoft.com/office/powerpoint/2010/main" val="182576731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idx="4294967295"/>
          </p:nvPr>
        </p:nvSpPr>
        <p:spPr>
          <a:xfrm>
            <a:off x="0" y="1"/>
            <a:ext cx="9144000" cy="1219199"/>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Forms of Research Findings Suitable to Meta-analysis</a:t>
            </a:r>
          </a:p>
        </p:txBody>
      </p:sp>
      <p:sp>
        <p:nvSpPr>
          <p:cNvPr id="15362" name="Rectangle 2"/>
          <p:cNvSpPr>
            <a:spLocks noGrp="1" noChangeArrowheads="1"/>
          </p:cNvSpPr>
          <p:nvPr>
            <p:ph type="body" idx="4294967295"/>
          </p:nvPr>
        </p:nvSpPr>
        <p:spPr>
          <a:xfrm>
            <a:off x="0" y="1417639"/>
            <a:ext cx="9144000" cy="4144961"/>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Association between variables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Measurement research</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Validity generalization</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Individual differences research</a:t>
            </a:r>
          </a:p>
          <a:p>
            <a:pPr marL="1019175" lvl="2" indent="-347663">
              <a:lnSpc>
                <a:spcPct val="100000"/>
              </a:lnSpc>
              <a:buClr>
                <a:srgbClr val="0A3E64"/>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Correlation between personality constructs</a:t>
            </a:r>
          </a:p>
          <a:p>
            <a:pPr marL="339725" indent="-339725">
              <a:lnSpc>
                <a:spcPct val="100000"/>
              </a:lnSpc>
              <a:buClrTx/>
              <a:buSzPct val="65000"/>
              <a:buFontTx/>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n-US" dirty="0"/>
          </a:p>
        </p:txBody>
      </p:sp>
    </p:spTree>
    <p:extLst>
      <p:ext uri="{BB962C8B-B14F-4D97-AF65-F5344CB8AC3E}">
        <p14:creationId xmlns:p14="http://schemas.microsoft.com/office/powerpoint/2010/main" val="146976327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9144000" cy="1143000"/>
          </a:xfrm>
        </p:spPr>
        <p:txBody>
          <a:bodyPr/>
          <a:lstStyle/>
          <a:p>
            <a:pPr algn="ctr"/>
            <a:r>
              <a:rPr lang="en-US" sz="3600" b="1" dirty="0">
                <a:latin typeface="Arial" panose="020B0604020202020204" pitchFamily="34" charset="0"/>
                <a:cs typeface="Arial" panose="020B0604020202020204" pitchFamily="34" charset="0"/>
              </a:rPr>
              <a:t>Basic Steps in a Meta-Analysis</a:t>
            </a:r>
          </a:p>
        </p:txBody>
      </p:sp>
      <p:sp>
        <p:nvSpPr>
          <p:cNvPr id="3" name="Content Placeholder 2"/>
          <p:cNvSpPr>
            <a:spLocks noGrp="1"/>
          </p:cNvSpPr>
          <p:nvPr>
            <p:ph idx="1"/>
          </p:nvPr>
        </p:nvSpPr>
        <p:spPr>
          <a:xfrm>
            <a:off x="0" y="1143000"/>
            <a:ext cx="9144000" cy="4419600"/>
          </a:xfrm>
        </p:spPr>
        <p:txBody>
          <a:bodyPr/>
          <a:lstStyle/>
          <a:p>
            <a:endParaRPr lang="en-US" dirty="0"/>
          </a:p>
          <a:p>
            <a:r>
              <a:rPr lang="en-US" dirty="0">
                <a:latin typeface="Arial" panose="020B0604020202020204" pitchFamily="34" charset="0"/>
                <a:cs typeface="Arial" panose="020B0604020202020204" pitchFamily="34" charset="0"/>
              </a:rPr>
              <a:t>Literature Search</a:t>
            </a:r>
          </a:p>
          <a:p>
            <a:r>
              <a:rPr lang="en-US" dirty="0">
                <a:latin typeface="Arial" panose="020B0604020202020204" pitchFamily="34" charset="0"/>
                <a:cs typeface="Arial" panose="020B0604020202020204" pitchFamily="34" charset="0"/>
              </a:rPr>
              <a:t>Coding the variable</a:t>
            </a:r>
          </a:p>
          <a:p>
            <a:r>
              <a:rPr lang="en-US" dirty="0">
                <a:latin typeface="Arial" panose="020B0604020202020204" pitchFamily="34" charset="0"/>
                <a:cs typeface="Arial" panose="020B0604020202020204" pitchFamily="34" charset="0"/>
              </a:rPr>
              <a:t>Data analysis-Main effects</a:t>
            </a:r>
          </a:p>
          <a:p>
            <a:r>
              <a:rPr lang="en-US" dirty="0">
                <a:latin typeface="Arial" panose="020B0604020202020204" pitchFamily="34" charset="0"/>
                <a:cs typeface="Arial" panose="020B0604020202020204" pitchFamily="34" charset="0"/>
              </a:rPr>
              <a:t>Data analysis-Moderating effects</a:t>
            </a:r>
          </a:p>
          <a:p>
            <a:r>
              <a:rPr lang="en-US" dirty="0">
                <a:latin typeface="Arial" panose="020B0604020202020204" pitchFamily="34" charset="0"/>
                <a:cs typeface="Arial" panose="020B0604020202020204" pitchFamily="34" charset="0"/>
              </a:rPr>
              <a:t>Presentation</a:t>
            </a:r>
          </a:p>
        </p:txBody>
      </p:sp>
      <p:sp>
        <p:nvSpPr>
          <p:cNvPr id="4" name="Slide Number Placeholder 3"/>
          <p:cNvSpPr>
            <a:spLocks noGrp="1"/>
          </p:cNvSpPr>
          <p:nvPr>
            <p:ph type="sldNum" sz="quarter" idx="10"/>
          </p:nvPr>
        </p:nvSpPr>
        <p:spPr/>
        <p:txBody>
          <a:bodyPr/>
          <a:lstStyle/>
          <a:p>
            <a:fld id="{403A19AC-3086-4F64-AD75-7503B564E922}" type="slidenum">
              <a:rPr lang="en-US" altLang="en-US" smtClean="0"/>
              <a:pPr/>
              <a:t>11</a:t>
            </a:fld>
            <a:endParaRPr lang="en-US" altLang="en-US"/>
          </a:p>
        </p:txBody>
      </p:sp>
    </p:spTree>
    <p:extLst>
      <p:ext uri="{BB962C8B-B14F-4D97-AF65-F5344CB8AC3E}">
        <p14:creationId xmlns:p14="http://schemas.microsoft.com/office/powerpoint/2010/main" val="3966493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Grp="1" noChangeArrowheads="1"/>
          </p:cNvSpPr>
          <p:nvPr>
            <p:ph type="title" idx="4294967295"/>
          </p:nvPr>
        </p:nvSpPr>
        <p:spPr>
          <a:xfrm>
            <a:off x="0" y="3175"/>
            <a:ext cx="9144000" cy="9112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Which Studies to Include?</a:t>
            </a:r>
          </a:p>
        </p:txBody>
      </p:sp>
      <p:sp>
        <p:nvSpPr>
          <p:cNvPr id="19458" name="Rectangle 2"/>
          <p:cNvSpPr>
            <a:spLocks noGrp="1" noChangeArrowheads="1"/>
          </p:cNvSpPr>
          <p:nvPr>
            <p:ph type="body" idx="4294967295"/>
          </p:nvPr>
        </p:nvSpPr>
        <p:spPr>
          <a:xfrm>
            <a:off x="0" y="914400"/>
            <a:ext cx="9144000" cy="4648200"/>
          </a:xfrm>
          <a:ln/>
        </p:spPr>
        <p:txBody>
          <a:bodyPr/>
          <a:lstStyle/>
          <a:p>
            <a:pPr marL="339725" indent="-339725">
              <a:lnSpc>
                <a:spcPct val="100000"/>
              </a:lnSpc>
              <a:buClr>
                <a:srgbClr val="CC9900"/>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It is critical to have an explicit inclusion and exclusion criteria</a:t>
            </a:r>
          </a:p>
          <a:p>
            <a:pPr marL="666750" lvl="1" indent="-325438">
              <a:lnSpc>
                <a:spcPct val="100000"/>
              </a:lnSpc>
              <a:buClr>
                <a:srgbClr val="3B812F"/>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The broader the research domain, the more detailed they tend to become</a:t>
            </a:r>
          </a:p>
          <a:p>
            <a:pPr marL="666750" lvl="1" indent="-325438">
              <a:lnSpc>
                <a:spcPct val="100000"/>
              </a:lnSpc>
              <a:buClr>
                <a:srgbClr val="3B812F"/>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Refine criteria as you interact with the literature</a:t>
            </a:r>
          </a:p>
          <a:p>
            <a:pPr marL="666750" lvl="1" indent="-325438">
              <a:lnSpc>
                <a:spcPct val="100000"/>
              </a:lnSpc>
              <a:buClr>
                <a:srgbClr val="3B812F"/>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Components of a detailed criteria</a:t>
            </a:r>
          </a:p>
          <a:p>
            <a:pPr marL="1019175" lvl="2" indent="-347663">
              <a:lnSpc>
                <a:spcPct val="100000"/>
              </a:lnSpc>
              <a:buClr>
                <a:srgbClr val="CC9900"/>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distinguishing features</a:t>
            </a:r>
          </a:p>
          <a:p>
            <a:pPr marL="1019175" lvl="2" indent="-347663">
              <a:lnSpc>
                <a:spcPct val="100000"/>
              </a:lnSpc>
              <a:buClr>
                <a:srgbClr val="CC9900"/>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research respondents</a:t>
            </a:r>
          </a:p>
          <a:p>
            <a:pPr marL="1019175" lvl="2" indent="-347663">
              <a:lnSpc>
                <a:spcPct val="100000"/>
              </a:lnSpc>
              <a:buClr>
                <a:srgbClr val="CC9900"/>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key variables</a:t>
            </a:r>
          </a:p>
          <a:p>
            <a:pPr marL="1019175" lvl="2" indent="-347663">
              <a:lnSpc>
                <a:spcPct val="100000"/>
              </a:lnSpc>
              <a:buClr>
                <a:srgbClr val="CC9900"/>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research methods</a:t>
            </a:r>
          </a:p>
          <a:p>
            <a:pPr marL="1019175" lvl="2" indent="-347663">
              <a:lnSpc>
                <a:spcPct val="100000"/>
              </a:lnSpc>
              <a:buClr>
                <a:srgbClr val="CC9900"/>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cultural and linguistic range</a:t>
            </a:r>
          </a:p>
          <a:p>
            <a:pPr marL="1019175" lvl="2" indent="-347663">
              <a:lnSpc>
                <a:spcPct val="100000"/>
              </a:lnSpc>
              <a:buClr>
                <a:srgbClr val="CC9900"/>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time frame</a:t>
            </a:r>
          </a:p>
          <a:p>
            <a:pPr marL="1019175" lvl="2" indent="-347663">
              <a:lnSpc>
                <a:spcPct val="100000"/>
              </a:lnSpc>
              <a:buClr>
                <a:srgbClr val="CC9900"/>
              </a:buClr>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latin typeface="Arial" panose="020B0604020202020204" pitchFamily="34" charset="0"/>
                <a:cs typeface="Arial" panose="020B0604020202020204" pitchFamily="34" charset="0"/>
              </a:rPr>
              <a:t>publication types</a:t>
            </a:r>
          </a:p>
        </p:txBody>
      </p:sp>
    </p:spTree>
    <p:extLst>
      <p:ext uri="{BB962C8B-B14F-4D97-AF65-F5344CB8AC3E}">
        <p14:creationId xmlns:p14="http://schemas.microsoft.com/office/powerpoint/2010/main" val="365288313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Grp="1" noChangeArrowheads="1"/>
          </p:cNvSpPr>
          <p:nvPr>
            <p:ph type="title" idx="4294967295"/>
          </p:nvPr>
        </p:nvSpPr>
        <p:spPr>
          <a:xfrm>
            <a:off x="0" y="0"/>
            <a:ext cx="9144000" cy="11398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Methodological Quality Dilemma</a:t>
            </a:r>
          </a:p>
        </p:txBody>
      </p:sp>
      <p:sp>
        <p:nvSpPr>
          <p:cNvPr id="20482" name="Rectangle 2"/>
          <p:cNvSpPr>
            <a:spLocks noGrp="1" noChangeArrowheads="1"/>
          </p:cNvSpPr>
          <p:nvPr>
            <p:ph type="body" idx="4294967295"/>
          </p:nvPr>
        </p:nvSpPr>
        <p:spPr>
          <a:xfrm>
            <a:off x="0" y="1139825"/>
            <a:ext cx="9144000" cy="4422775"/>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800" dirty="0">
                <a:latin typeface="Arial" panose="020B0604020202020204" pitchFamily="34" charset="0"/>
                <a:cs typeface="Arial" panose="020B0604020202020204" pitchFamily="34" charset="0"/>
              </a:rPr>
              <a:t>Include or exclude low quality studies?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The findings of all studies are potentially in error (methodological quality is a continuum, not a dichotomy)</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Being too restrictive may restrict ability to generalize</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Being too inclusive may weaken the confidence that can be placed in the findings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Methodological quality is often in the “eye-of-the-beholder”</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You must strike a balance that is appropriate to your research question</a:t>
            </a:r>
          </a:p>
          <a:p>
            <a:pPr marL="339725" indent="-339725">
              <a:lnSpc>
                <a:spcPct val="100000"/>
              </a:lnSpc>
              <a:buClrTx/>
              <a:buSzPct val="65000"/>
              <a:buFontTx/>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n-US" dirty="0"/>
          </a:p>
        </p:txBody>
      </p:sp>
    </p:spTree>
    <p:extLst>
      <p:ext uri="{BB962C8B-B14F-4D97-AF65-F5344CB8AC3E}">
        <p14:creationId xmlns:p14="http://schemas.microsoft.com/office/powerpoint/2010/main" val="102223779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Grp="1" noChangeArrowheads="1"/>
          </p:cNvSpPr>
          <p:nvPr>
            <p:ph type="title" idx="4294967295"/>
          </p:nvPr>
        </p:nvSpPr>
        <p:spPr>
          <a:xfrm>
            <a:off x="0" y="0"/>
            <a:ext cx="9144000" cy="11398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Searching Far and Wide</a:t>
            </a:r>
          </a:p>
        </p:txBody>
      </p:sp>
      <p:sp>
        <p:nvSpPr>
          <p:cNvPr id="21506" name="Rectangle 2"/>
          <p:cNvSpPr>
            <a:spLocks noGrp="1" noChangeArrowheads="1"/>
          </p:cNvSpPr>
          <p:nvPr>
            <p:ph type="body" idx="4294967295"/>
          </p:nvPr>
        </p:nvSpPr>
        <p:spPr>
          <a:xfrm>
            <a:off x="0" y="1139825"/>
            <a:ext cx="9144000" cy="4422775"/>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The “we only included published studies because they have been peer-reviewed” argument</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Significant findings are more likely to be published than </a:t>
            </a:r>
            <a:r>
              <a:rPr lang="en-GB" altLang="en-US" dirty="0" err="1">
                <a:latin typeface="Arial" panose="020B0604020202020204" pitchFamily="34" charset="0"/>
                <a:cs typeface="Arial" panose="020B0604020202020204" pitchFamily="34" charset="0"/>
              </a:rPr>
              <a:t>nonsignificant</a:t>
            </a:r>
            <a:r>
              <a:rPr lang="en-GB" altLang="en-US" dirty="0">
                <a:latin typeface="Arial" panose="020B0604020202020204" pitchFamily="34" charset="0"/>
                <a:cs typeface="Arial" panose="020B0604020202020204" pitchFamily="34" charset="0"/>
              </a:rPr>
              <a:t> findings</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Critical to try to identify and retrieve all studies that meet your eligibility criteria</a:t>
            </a:r>
          </a:p>
        </p:txBody>
      </p:sp>
    </p:spTree>
    <p:extLst>
      <p:ext uri="{BB962C8B-B14F-4D97-AF65-F5344CB8AC3E}">
        <p14:creationId xmlns:p14="http://schemas.microsoft.com/office/powerpoint/2010/main" val="70323354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ChangeArrowheads="1"/>
          </p:cNvSpPr>
          <p:nvPr>
            <p:ph type="title" idx="4294967295"/>
          </p:nvPr>
        </p:nvSpPr>
        <p:spPr>
          <a:xfrm>
            <a:off x="0" y="0"/>
            <a:ext cx="9144000" cy="11398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Searching Far and Wide (continued)</a:t>
            </a:r>
          </a:p>
        </p:txBody>
      </p:sp>
      <p:sp>
        <p:nvSpPr>
          <p:cNvPr id="22530" name="Rectangle 2"/>
          <p:cNvSpPr>
            <a:spLocks noGrp="1" noChangeArrowheads="1"/>
          </p:cNvSpPr>
          <p:nvPr>
            <p:ph type="body" idx="4294967295"/>
          </p:nvPr>
        </p:nvSpPr>
        <p:spPr>
          <a:xfrm>
            <a:off x="0" y="1139825"/>
            <a:ext cx="9144000" cy="4498975"/>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Potential sources for identification of documents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Computerized bibliographic databases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“Google” internet search engine</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Authors working in the research domain (email a relevant Listserv?)</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Conference programs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Dissertations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Review articles</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Hand searching relevant journal</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Government reports, bibliographies, clearinghouses</a:t>
            </a:r>
          </a:p>
          <a:p>
            <a:pPr marL="339725" indent="-339725">
              <a:lnSpc>
                <a:spcPct val="100000"/>
              </a:lnSpc>
              <a:buClrTx/>
              <a:buSzPct val="65000"/>
              <a:buFontTx/>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n-US" dirty="0"/>
          </a:p>
        </p:txBody>
      </p:sp>
    </p:spTree>
    <p:extLst>
      <p:ext uri="{BB962C8B-B14F-4D97-AF65-F5344CB8AC3E}">
        <p14:creationId xmlns:p14="http://schemas.microsoft.com/office/powerpoint/2010/main" val="331012393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Grp="1" noChangeArrowheads="1"/>
          </p:cNvSpPr>
          <p:nvPr>
            <p:ph type="title" idx="4294967295"/>
          </p:nvPr>
        </p:nvSpPr>
        <p:spPr>
          <a:xfrm>
            <a:off x="0" y="0"/>
            <a:ext cx="9144000" cy="11398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A Note About Computerized Bibliographies</a:t>
            </a:r>
          </a:p>
        </p:txBody>
      </p:sp>
      <p:sp>
        <p:nvSpPr>
          <p:cNvPr id="23554" name="Rectangle 2"/>
          <p:cNvSpPr>
            <a:spLocks noGrp="1" noChangeArrowheads="1"/>
          </p:cNvSpPr>
          <p:nvPr>
            <p:ph type="body" idx="4294967295"/>
          </p:nvPr>
        </p:nvSpPr>
        <p:spPr>
          <a:xfrm>
            <a:off x="0" y="1143237"/>
            <a:ext cx="9144000" cy="4419363"/>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n-US" sz="2800" dirty="0">
              <a:latin typeface="Arial" panose="020B0604020202020204" pitchFamily="34" charset="0"/>
              <a:cs typeface="Arial" panose="020B0604020202020204" pitchFamily="34" charset="0"/>
            </a:endParaRP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800" dirty="0">
                <a:latin typeface="Arial" panose="020B0604020202020204" pitchFamily="34" charset="0"/>
                <a:cs typeface="Arial" panose="020B0604020202020204" pitchFamily="34" charset="0"/>
              </a:rPr>
              <a:t>Rapidly changing area</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800" dirty="0">
                <a:latin typeface="Arial" panose="020B0604020202020204" pitchFamily="34" charset="0"/>
                <a:cs typeface="Arial" panose="020B0604020202020204" pitchFamily="34" charset="0"/>
              </a:rPr>
              <a:t>Get to know your local librarian!</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800" dirty="0">
                <a:latin typeface="Arial" panose="020B0604020202020204" pitchFamily="34" charset="0"/>
                <a:cs typeface="Arial" panose="020B0604020202020204" pitchFamily="34" charset="0"/>
              </a:rPr>
              <a:t>Searching one or two databases is generally inadequate</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800" dirty="0">
                <a:latin typeface="Arial" panose="020B0604020202020204" pitchFamily="34" charset="0"/>
                <a:cs typeface="Arial" panose="020B0604020202020204" pitchFamily="34" charset="0"/>
              </a:rPr>
              <a:t>Use “wild cards” (e.g., random? will find random, randomization, and randomize)</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800" dirty="0">
                <a:latin typeface="Arial" panose="020B0604020202020204" pitchFamily="34" charset="0"/>
                <a:cs typeface="Arial" panose="020B0604020202020204" pitchFamily="34" charset="0"/>
              </a:rPr>
              <a:t>Throw a wide net; filter down with a manual reading of the abstracts</a:t>
            </a:r>
          </a:p>
        </p:txBody>
      </p:sp>
    </p:spTree>
    <p:extLst>
      <p:ext uri="{BB962C8B-B14F-4D97-AF65-F5344CB8AC3E}">
        <p14:creationId xmlns:p14="http://schemas.microsoft.com/office/powerpoint/2010/main" val="399357766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lstStyle/>
          <a:p>
            <a:pPr algn="ctr"/>
            <a:r>
              <a:rPr lang="en-US" sz="3600" b="1" dirty="0">
                <a:latin typeface="Arial" panose="020B0604020202020204" pitchFamily="34" charset="0"/>
                <a:cs typeface="Arial" panose="020B0604020202020204" pitchFamily="34" charset="0"/>
              </a:rPr>
              <a:t>Coding Studies</a:t>
            </a:r>
          </a:p>
        </p:txBody>
      </p:sp>
      <p:sp>
        <p:nvSpPr>
          <p:cNvPr id="3" name="Content Placeholder 2"/>
          <p:cNvSpPr>
            <a:spLocks noGrp="1"/>
          </p:cNvSpPr>
          <p:nvPr>
            <p:ph idx="1"/>
          </p:nvPr>
        </p:nvSpPr>
        <p:spPr>
          <a:xfrm>
            <a:off x="0" y="1143000"/>
            <a:ext cx="9144000" cy="4419600"/>
          </a:xfrm>
        </p:spPr>
        <p:txBody>
          <a:bodyPr/>
          <a:lstStyle/>
          <a:p>
            <a:pPr marL="0" indent="0">
              <a:buNone/>
            </a:pPr>
            <a:r>
              <a:rPr lang="en-US" dirty="0">
                <a:latin typeface="Arial" panose="020B0604020202020204" pitchFamily="34" charset="0"/>
                <a:cs typeface="Arial" panose="020B0604020202020204" pitchFamily="34" charset="0"/>
              </a:rPr>
              <a:t>The steps of a good coding procedure are</a:t>
            </a:r>
          </a:p>
          <a:p>
            <a:r>
              <a:rPr lang="en-US" sz="2600" dirty="0">
                <a:latin typeface="Arial" panose="020B0604020202020204" pitchFamily="34" charset="0"/>
                <a:cs typeface="Arial" panose="020B0604020202020204" pitchFamily="34" charset="0"/>
              </a:rPr>
              <a:t>Decide which characteristics you want to code.</a:t>
            </a:r>
          </a:p>
          <a:p>
            <a:r>
              <a:rPr lang="en-US" sz="2600" dirty="0">
                <a:latin typeface="Arial" panose="020B0604020202020204" pitchFamily="34" charset="0"/>
                <a:cs typeface="Arial" panose="020B0604020202020204" pitchFamily="34" charset="0"/>
              </a:rPr>
              <a:t>Decide exactly how you will measure each characteristic. If you decide to use a continuous scale, specify the units. If you decide to use categories, specify what groups you will use.</a:t>
            </a:r>
          </a:p>
          <a:p>
            <a:r>
              <a:rPr lang="en-US" sz="2600" dirty="0">
                <a:latin typeface="Arial" panose="020B0604020202020204" pitchFamily="34" charset="0"/>
                <a:cs typeface="Arial" panose="020B0604020202020204" pitchFamily="34" charset="0"/>
              </a:rPr>
              <a:t>Write down the specifics of your coding scheme in a code book. The code book should contain explicit instructions on how to code each characteristic, including specific examples where necessary.</a:t>
            </a:r>
          </a:p>
          <a:p>
            <a:pPr marL="0" indent="0">
              <a:buNone/>
            </a:pPr>
            <a:endParaRPr lang="en-US" dirty="0"/>
          </a:p>
        </p:txBody>
      </p:sp>
    </p:spTree>
    <p:extLst>
      <p:ext uri="{BB962C8B-B14F-4D97-AF65-F5344CB8AC3E}">
        <p14:creationId xmlns:p14="http://schemas.microsoft.com/office/powerpoint/2010/main" val="899317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lstStyle/>
          <a:p>
            <a:pPr algn="ctr"/>
            <a:r>
              <a:rPr lang="en-US" sz="3600" b="1" dirty="0">
                <a:latin typeface="Arial" panose="020B0604020202020204" pitchFamily="34" charset="0"/>
                <a:cs typeface="Arial" panose="020B0604020202020204" pitchFamily="34" charset="0"/>
              </a:rPr>
              <a:t>Coding….Continue</a:t>
            </a:r>
          </a:p>
        </p:txBody>
      </p:sp>
      <p:sp>
        <p:nvSpPr>
          <p:cNvPr id="3" name="Content Placeholder 2"/>
          <p:cNvSpPr>
            <a:spLocks noGrp="1"/>
          </p:cNvSpPr>
          <p:nvPr>
            <p:ph idx="1"/>
          </p:nvPr>
        </p:nvSpPr>
        <p:spPr>
          <a:xfrm>
            <a:off x="0" y="1143000"/>
            <a:ext cx="9144000" cy="4419600"/>
          </a:xfrm>
        </p:spPr>
        <p:txBody>
          <a:bodyPr/>
          <a:lstStyle/>
          <a:p>
            <a:r>
              <a:rPr lang="en-US" sz="2800" dirty="0">
                <a:latin typeface="Arial" panose="020B0604020202020204" pitchFamily="34" charset="0"/>
                <a:cs typeface="Arial" panose="020B0604020202020204" pitchFamily="34" charset="0"/>
              </a:rPr>
              <a:t>Pilot the coding scheme and train the coders. You should probably code 2-4 studies between training sessions.</a:t>
            </a:r>
          </a:p>
          <a:p>
            <a:r>
              <a:rPr lang="en-US" sz="2800" dirty="0">
                <a:latin typeface="Arial" panose="020B0604020202020204" pitchFamily="34" charset="0"/>
                <a:cs typeface="Arial" panose="020B0604020202020204" pitchFamily="34" charset="0"/>
              </a:rPr>
              <a:t>Once you have a stable coding scheme you code the studies. The coders should work independently, with only occasional meetings to correct ambiguities in the scheme.</a:t>
            </a:r>
          </a:p>
          <a:p>
            <a:r>
              <a:rPr lang="en-US" sz="2800" dirty="0">
                <a:latin typeface="Arial" panose="020B0604020202020204" pitchFamily="34" charset="0"/>
                <a:cs typeface="Arial" panose="020B0604020202020204" pitchFamily="34" charset="0"/>
              </a:rPr>
              <a:t>Calculate the reliability of the coding for each item in your scheme. You should not include the studies you used for training in your calculation of reliability.</a:t>
            </a:r>
          </a:p>
          <a:p>
            <a:endParaRPr lang="en-US" dirty="0"/>
          </a:p>
        </p:txBody>
      </p:sp>
    </p:spTree>
    <p:extLst>
      <p:ext uri="{BB962C8B-B14F-4D97-AF65-F5344CB8AC3E}">
        <p14:creationId xmlns:p14="http://schemas.microsoft.com/office/powerpoint/2010/main" val="2092554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600201"/>
            <a:ext cx="9144000" cy="3962399"/>
          </a:xfrm>
        </p:spPr>
        <p:txBody>
          <a:bodyPr/>
          <a:lstStyle/>
          <a:p>
            <a:r>
              <a:rPr lang="en-US" sz="3800" dirty="0">
                <a:latin typeface="Arial" panose="020B0604020202020204" pitchFamily="34" charset="0"/>
                <a:cs typeface="Arial" panose="020B0604020202020204" pitchFamily="34" charset="0"/>
              </a:rPr>
              <a:t>What to code…….</a:t>
            </a:r>
          </a:p>
          <a:p>
            <a:r>
              <a:rPr lang="en-US" sz="3800" dirty="0">
                <a:latin typeface="Arial" panose="020B0604020202020204" pitchFamily="34" charset="0"/>
                <a:cs typeface="Arial" panose="020B0604020202020204" pitchFamily="34" charset="0"/>
              </a:rPr>
              <a:t>Selection of Moderators</a:t>
            </a:r>
          </a:p>
          <a:p>
            <a:pPr lvl="1">
              <a:buClr>
                <a:srgbClr val="0A3E64"/>
              </a:buClr>
            </a:pPr>
            <a:r>
              <a:rPr lang="en-US" sz="3600" i="1" dirty="0">
                <a:latin typeface="Arial" panose="020B0604020202020204" pitchFamily="34" charset="0"/>
                <a:cs typeface="Arial" panose="020B0604020202020204" pitchFamily="34" charset="0"/>
              </a:rPr>
              <a:t>Major methodological variations.</a:t>
            </a:r>
          </a:p>
          <a:p>
            <a:pPr lvl="1">
              <a:buClr>
                <a:srgbClr val="0A3E64"/>
              </a:buClr>
            </a:pPr>
            <a:r>
              <a:rPr lang="en-US" sz="3600" i="1" dirty="0">
                <a:latin typeface="Arial" panose="020B0604020202020204" pitchFamily="34" charset="0"/>
                <a:cs typeface="Arial" panose="020B0604020202020204" pitchFamily="34" charset="0"/>
              </a:rPr>
              <a:t>Theoretical constructs.</a:t>
            </a:r>
          </a:p>
          <a:p>
            <a:pPr lvl="1">
              <a:buClr>
                <a:srgbClr val="0A3E64"/>
              </a:buClr>
            </a:pPr>
            <a:r>
              <a:rPr lang="en-US" sz="3600" i="1" dirty="0">
                <a:latin typeface="Arial" panose="020B0604020202020204" pitchFamily="34" charset="0"/>
                <a:cs typeface="Arial" panose="020B0604020202020204" pitchFamily="34" charset="0"/>
              </a:rPr>
              <a:t>Basic study characteristics.</a:t>
            </a:r>
            <a:endParaRPr lang="en-US" sz="3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6913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animEffect transition="in" filter="fade">
                                      <p:cBhvr>
                                        <p:cTn id="9" dur="500"/>
                                        <p:tgtEl>
                                          <p:spTgt spid="3">
                                            <p:txEl>
                                              <p:pRg st="2" end="2"/>
                                            </p:txEl>
                                          </p:spTgt>
                                        </p:tgtEl>
                                      </p:cBhvr>
                                    </p:animEffect>
                                  </p:childTnLst>
                                </p:cTn>
                              </p:par>
                              <p:par>
                                <p:cTn id="10" presetID="10"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idx="4294967295"/>
          </p:nvPr>
        </p:nvSpPr>
        <p:spPr>
          <a:xfrm>
            <a:off x="0" y="0"/>
            <a:ext cx="9144000" cy="11398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Effect Size: The Key to Meta-analysis</a:t>
            </a:r>
          </a:p>
        </p:txBody>
      </p:sp>
      <p:sp>
        <p:nvSpPr>
          <p:cNvPr id="16386" name="Rectangle 2"/>
          <p:cNvSpPr>
            <a:spLocks noGrp="1" noChangeArrowheads="1"/>
          </p:cNvSpPr>
          <p:nvPr>
            <p:ph type="body" idx="4294967295"/>
          </p:nvPr>
        </p:nvSpPr>
        <p:spPr>
          <a:xfrm>
            <a:off x="0" y="1295401"/>
            <a:ext cx="9144000" cy="4267200"/>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The effect size makes meta-analysis possible</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It is the “dependent variable”</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latin typeface="Arial" panose="020B0604020202020204" pitchFamily="34" charset="0"/>
                <a:cs typeface="Arial" panose="020B0604020202020204" pitchFamily="34" charset="0"/>
              </a:rPr>
              <a:t>It standardizes findings across studies such that they can be directly compared</a:t>
            </a:r>
          </a:p>
        </p:txBody>
      </p:sp>
    </p:spTree>
    <p:extLst>
      <p:ext uri="{BB962C8B-B14F-4D97-AF65-F5344CB8AC3E}">
        <p14:creationId xmlns:p14="http://schemas.microsoft.com/office/powerpoint/2010/main" val="428969014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Grp="1" noChangeArrowheads="1"/>
          </p:cNvSpPr>
          <p:nvPr>
            <p:ph type="title" idx="4294967295"/>
          </p:nvPr>
        </p:nvSpPr>
        <p:spPr>
          <a:xfrm>
            <a:off x="0" y="0"/>
            <a:ext cx="9144000" cy="12922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Effect Size: The Key to Meta-analysis</a:t>
            </a:r>
          </a:p>
        </p:txBody>
      </p:sp>
      <p:sp>
        <p:nvSpPr>
          <p:cNvPr id="17410" name="Rectangle 2"/>
          <p:cNvSpPr>
            <a:spLocks noGrp="1" noChangeArrowheads="1"/>
          </p:cNvSpPr>
          <p:nvPr>
            <p:ph type="body" idx="4294967295"/>
          </p:nvPr>
        </p:nvSpPr>
        <p:spPr>
          <a:xfrm>
            <a:off x="0" y="1447801"/>
            <a:ext cx="9143999" cy="4114800"/>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Any standardized index can be an “effect size” (e.g., standardized mean difference, correlation coefficient, odds-ratio) as long as it meets the following</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Is comparable across studies (generally requires standardization)</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Represents the magnitude and direction of the relationship of interest</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Is independent of sample size</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latin typeface="Arial" panose="020B0604020202020204" pitchFamily="34" charset="0"/>
                <a:cs typeface="Arial" panose="020B0604020202020204" pitchFamily="34" charset="0"/>
              </a:rPr>
              <a:t>Different meta-analyses may use different effect size indices</a:t>
            </a:r>
          </a:p>
          <a:p>
            <a:pPr marL="339725" indent="-339725">
              <a:lnSpc>
                <a:spcPct val="100000"/>
              </a:lnSpc>
              <a:buClrTx/>
              <a:buSzPct val="65000"/>
              <a:buFontTx/>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altLang="en-US" dirty="0"/>
          </a:p>
        </p:txBody>
      </p:sp>
    </p:spTree>
    <p:extLst>
      <p:ext uri="{BB962C8B-B14F-4D97-AF65-F5344CB8AC3E}">
        <p14:creationId xmlns:p14="http://schemas.microsoft.com/office/powerpoint/2010/main" val="113946057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0" y="0"/>
            <a:ext cx="9144000" cy="1143000"/>
          </a:xfrm>
        </p:spPr>
        <p:txBody>
          <a:bodyPr/>
          <a:lstStyle/>
          <a:p>
            <a:pPr algn="ctr"/>
            <a:r>
              <a:rPr lang="en-US" altLang="en-US" sz="3600" b="1" dirty="0">
                <a:latin typeface="Arial" panose="020B0604020202020204" pitchFamily="34" charset="0"/>
                <a:cs typeface="Arial" panose="020B0604020202020204" pitchFamily="34" charset="0"/>
              </a:rPr>
              <a:t>The Effect Size</a:t>
            </a:r>
          </a:p>
        </p:txBody>
      </p:sp>
      <p:sp>
        <p:nvSpPr>
          <p:cNvPr id="2051" name="Rectangle 3"/>
          <p:cNvSpPr>
            <a:spLocks noGrp="1" noChangeArrowheads="1"/>
          </p:cNvSpPr>
          <p:nvPr>
            <p:ph type="body" idx="1"/>
          </p:nvPr>
        </p:nvSpPr>
        <p:spPr>
          <a:xfrm>
            <a:off x="0" y="1600201"/>
            <a:ext cx="9144000" cy="3962399"/>
          </a:xfrm>
        </p:spPr>
        <p:txBody>
          <a:bodyPr/>
          <a:lstStyle/>
          <a:p>
            <a:r>
              <a:rPr lang="en-US" altLang="en-US" sz="2800" dirty="0">
                <a:latin typeface="Arial" panose="020B0604020202020204" pitchFamily="34" charset="0"/>
                <a:cs typeface="Arial" panose="020B0604020202020204" pitchFamily="34" charset="0"/>
              </a:rPr>
              <a:t>The effect size (ES) makes meta-analysis possible</a:t>
            </a:r>
          </a:p>
          <a:p>
            <a:r>
              <a:rPr lang="en-US" altLang="en-US" sz="2800" dirty="0">
                <a:latin typeface="Arial" panose="020B0604020202020204" pitchFamily="34" charset="0"/>
                <a:cs typeface="Arial" panose="020B0604020202020204" pitchFamily="34" charset="0"/>
              </a:rPr>
              <a:t>The ES encodes the selected research findings on a numeric scale</a:t>
            </a:r>
          </a:p>
          <a:p>
            <a:r>
              <a:rPr lang="en-US" altLang="en-US" sz="2800" dirty="0">
                <a:latin typeface="Arial" panose="020B0604020202020204" pitchFamily="34" charset="0"/>
                <a:cs typeface="Arial" panose="020B0604020202020204" pitchFamily="34" charset="0"/>
              </a:rPr>
              <a:t>There are many different types of ES measures, each suited to different research situations</a:t>
            </a:r>
          </a:p>
          <a:p>
            <a:r>
              <a:rPr lang="en-US" altLang="en-US" sz="2800" dirty="0">
                <a:latin typeface="Arial" panose="020B0604020202020204" pitchFamily="34" charset="0"/>
                <a:cs typeface="Arial" panose="020B0604020202020204" pitchFamily="34" charset="0"/>
              </a:rPr>
              <a:t>Each ES type may also have multiple methods of computation</a:t>
            </a:r>
          </a:p>
        </p:txBody>
      </p:sp>
    </p:spTree>
    <p:extLst>
      <p:ext uri="{BB962C8B-B14F-4D97-AF65-F5344CB8AC3E}">
        <p14:creationId xmlns:p14="http://schemas.microsoft.com/office/powerpoint/2010/main" val="2756086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1066800"/>
          </a:xfrm>
        </p:spPr>
        <p:txBody>
          <a:bodyPr/>
          <a:lstStyle/>
          <a:p>
            <a:pPr algn="ctr"/>
            <a:r>
              <a:rPr lang="en-US" altLang="en-US" sz="3600" b="1" dirty="0">
                <a:latin typeface="Arial" panose="020B0604020202020204" pitchFamily="34" charset="0"/>
                <a:cs typeface="Arial" panose="020B0604020202020204" pitchFamily="34" charset="0"/>
              </a:rPr>
              <a:t>Examples of Different Types of Effect Sizes</a:t>
            </a:r>
          </a:p>
        </p:txBody>
      </p:sp>
      <p:sp>
        <p:nvSpPr>
          <p:cNvPr id="6147" name="Rectangle 3"/>
          <p:cNvSpPr>
            <a:spLocks noGrp="1" noChangeArrowheads="1"/>
          </p:cNvSpPr>
          <p:nvPr>
            <p:ph type="body" idx="1"/>
          </p:nvPr>
        </p:nvSpPr>
        <p:spPr>
          <a:xfrm>
            <a:off x="0" y="1143000"/>
            <a:ext cx="9144000" cy="4419600"/>
          </a:xfrm>
        </p:spPr>
        <p:txBody>
          <a:bodyPr/>
          <a:lstStyle/>
          <a:p>
            <a:r>
              <a:rPr lang="en-US" altLang="en-US" sz="2200" dirty="0">
                <a:latin typeface="Arial" panose="020B0604020202020204" pitchFamily="34" charset="0"/>
                <a:cs typeface="Arial" panose="020B0604020202020204" pitchFamily="34" charset="0"/>
              </a:rPr>
              <a:t>Standardized mean difference</a:t>
            </a:r>
            <a:endParaRPr lang="en-US" altLang="en-US" sz="2200" dirty="0">
              <a:solidFill>
                <a:srgbClr val="FF0000"/>
              </a:solidFill>
              <a:latin typeface="Arial" panose="020B0604020202020204" pitchFamily="34" charset="0"/>
              <a:cs typeface="Arial" panose="020B0604020202020204" pitchFamily="34" charset="0"/>
            </a:endParaRPr>
          </a:p>
          <a:p>
            <a:pPr lvl="1">
              <a:buClr>
                <a:srgbClr val="0A3E64"/>
              </a:buClr>
            </a:pPr>
            <a:r>
              <a:rPr lang="en-US" altLang="en-US" sz="2000" dirty="0">
                <a:latin typeface="Arial" panose="020B0604020202020204" pitchFamily="34" charset="0"/>
                <a:cs typeface="Arial" panose="020B0604020202020204" pitchFamily="34" charset="0"/>
              </a:rPr>
              <a:t>Group contrast research</a:t>
            </a:r>
          </a:p>
          <a:p>
            <a:pPr lvl="2">
              <a:buClr>
                <a:srgbClr val="0A3E64"/>
              </a:buClr>
            </a:pPr>
            <a:r>
              <a:rPr lang="en-US" altLang="en-US" sz="2000" dirty="0">
                <a:latin typeface="Arial" panose="020B0604020202020204" pitchFamily="34" charset="0"/>
                <a:cs typeface="Arial" panose="020B0604020202020204" pitchFamily="34" charset="0"/>
              </a:rPr>
              <a:t>Treatment groups</a:t>
            </a:r>
          </a:p>
          <a:p>
            <a:pPr lvl="2">
              <a:buClr>
                <a:srgbClr val="0A3E64"/>
              </a:buClr>
            </a:pPr>
            <a:r>
              <a:rPr lang="en-US" altLang="en-US" sz="2000" dirty="0">
                <a:latin typeface="Arial" panose="020B0604020202020204" pitchFamily="34" charset="0"/>
                <a:cs typeface="Arial" panose="020B0604020202020204" pitchFamily="34" charset="0"/>
              </a:rPr>
              <a:t>Naturally occurring groups</a:t>
            </a:r>
          </a:p>
          <a:p>
            <a:pPr lvl="1">
              <a:buClr>
                <a:srgbClr val="0A3E64"/>
              </a:buClr>
            </a:pPr>
            <a:r>
              <a:rPr lang="en-US" altLang="en-US" sz="2000" dirty="0">
                <a:latin typeface="Arial" panose="020B0604020202020204" pitchFamily="34" charset="0"/>
                <a:cs typeface="Arial" panose="020B0604020202020204" pitchFamily="34" charset="0"/>
              </a:rPr>
              <a:t>Inherently continuous construct</a:t>
            </a:r>
          </a:p>
          <a:p>
            <a:r>
              <a:rPr lang="en-US" altLang="en-US" sz="2200" dirty="0">
                <a:latin typeface="Arial" panose="020B0604020202020204" pitchFamily="34" charset="0"/>
                <a:cs typeface="Arial" panose="020B0604020202020204" pitchFamily="34" charset="0"/>
              </a:rPr>
              <a:t>Odds-ratio</a:t>
            </a:r>
            <a:endParaRPr lang="en-US" altLang="en-US" sz="2200" dirty="0">
              <a:solidFill>
                <a:srgbClr val="FF0000"/>
              </a:solidFill>
              <a:latin typeface="Arial" panose="020B0604020202020204" pitchFamily="34" charset="0"/>
              <a:cs typeface="Arial" panose="020B0604020202020204" pitchFamily="34" charset="0"/>
            </a:endParaRPr>
          </a:p>
          <a:p>
            <a:pPr lvl="1">
              <a:buClr>
                <a:srgbClr val="0A3E64"/>
              </a:buClr>
            </a:pPr>
            <a:r>
              <a:rPr lang="en-US" altLang="en-US" sz="2000" dirty="0">
                <a:latin typeface="Arial" panose="020B0604020202020204" pitchFamily="34" charset="0"/>
                <a:cs typeface="Arial" panose="020B0604020202020204" pitchFamily="34" charset="0"/>
              </a:rPr>
              <a:t>Group contrast research</a:t>
            </a:r>
          </a:p>
          <a:p>
            <a:pPr lvl="2">
              <a:buClr>
                <a:srgbClr val="0A3E64"/>
              </a:buClr>
            </a:pPr>
            <a:r>
              <a:rPr lang="en-US" altLang="en-US" sz="2000" dirty="0">
                <a:latin typeface="Arial" panose="020B0604020202020204" pitchFamily="34" charset="0"/>
                <a:cs typeface="Arial" panose="020B0604020202020204" pitchFamily="34" charset="0"/>
              </a:rPr>
              <a:t>Treatment groups</a:t>
            </a:r>
          </a:p>
          <a:p>
            <a:pPr lvl="2">
              <a:buClr>
                <a:srgbClr val="0A3E64"/>
              </a:buClr>
            </a:pPr>
            <a:r>
              <a:rPr lang="en-US" altLang="en-US" sz="2000" dirty="0">
                <a:latin typeface="Arial" panose="020B0604020202020204" pitchFamily="34" charset="0"/>
                <a:cs typeface="Arial" panose="020B0604020202020204" pitchFamily="34" charset="0"/>
              </a:rPr>
              <a:t>Naturally occurring groups</a:t>
            </a:r>
          </a:p>
          <a:p>
            <a:pPr lvl="1">
              <a:buClr>
                <a:srgbClr val="0A3E64"/>
              </a:buClr>
            </a:pPr>
            <a:r>
              <a:rPr lang="en-US" altLang="en-US" sz="2000" dirty="0">
                <a:latin typeface="Arial" panose="020B0604020202020204" pitchFamily="34" charset="0"/>
                <a:cs typeface="Arial" panose="020B0604020202020204" pitchFamily="34" charset="0"/>
              </a:rPr>
              <a:t>Inherently dichotomous construct</a:t>
            </a:r>
          </a:p>
          <a:p>
            <a:r>
              <a:rPr lang="en-US" altLang="en-US" sz="2200" dirty="0">
                <a:latin typeface="Arial" panose="020B0604020202020204" pitchFamily="34" charset="0"/>
                <a:cs typeface="Arial" panose="020B0604020202020204" pitchFamily="34" charset="0"/>
              </a:rPr>
              <a:t>Correlation coefficient</a:t>
            </a:r>
          </a:p>
          <a:p>
            <a:pPr lvl="1">
              <a:buClr>
                <a:srgbClr val="0A3E64"/>
              </a:buClr>
            </a:pPr>
            <a:r>
              <a:rPr lang="en-US" altLang="en-US" sz="2000" dirty="0">
                <a:latin typeface="Arial" panose="020B0604020202020204" pitchFamily="34" charset="0"/>
                <a:cs typeface="Arial" panose="020B0604020202020204" pitchFamily="34" charset="0"/>
              </a:rPr>
              <a:t>Association between variables research</a:t>
            </a:r>
          </a:p>
        </p:txBody>
      </p:sp>
    </p:spTree>
    <p:extLst>
      <p:ext uri="{BB962C8B-B14F-4D97-AF65-F5344CB8AC3E}">
        <p14:creationId xmlns:p14="http://schemas.microsoft.com/office/powerpoint/2010/main" val="3768713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6553200" y="6243638"/>
            <a:ext cx="2133600" cy="457200"/>
          </a:xfrm>
          <a:prstGeom prst="rect">
            <a:avLst/>
          </a:prstGeom>
        </p:spPr>
        <p:txBody>
          <a:bodyPr/>
          <a:lstStyle/>
          <a:p>
            <a:fld id="{CFE97179-CB69-4216-A6C1-B8DD554E7E4F}" type="slidenum">
              <a:rPr lang="en-US" altLang="en-US"/>
              <a:pPr/>
              <a:t>24</a:t>
            </a:fld>
            <a:endParaRPr lang="en-US" altLang="en-US"/>
          </a:p>
        </p:txBody>
      </p:sp>
      <p:sp>
        <p:nvSpPr>
          <p:cNvPr id="52227" name="Rectangle 3"/>
          <p:cNvSpPr>
            <a:spLocks noGrp="1" noChangeArrowheads="1"/>
          </p:cNvSpPr>
          <p:nvPr>
            <p:ph type="body" idx="1"/>
          </p:nvPr>
        </p:nvSpPr>
        <p:spPr>
          <a:xfrm>
            <a:off x="0" y="1371600"/>
            <a:ext cx="9144000" cy="4191000"/>
          </a:xfrm>
        </p:spPr>
        <p:txBody>
          <a:bodyPr/>
          <a:lstStyle/>
          <a:p>
            <a:r>
              <a:rPr lang="en-US" altLang="en-US" dirty="0">
                <a:latin typeface="Arial" panose="020B0604020202020204" pitchFamily="34" charset="0"/>
                <a:cs typeface="Arial" panose="020B0604020202020204" pitchFamily="34" charset="0"/>
              </a:rPr>
              <a:t>Risk ratio</a:t>
            </a:r>
          </a:p>
          <a:p>
            <a:pPr lvl="1">
              <a:buClr>
                <a:srgbClr val="0A3E64"/>
              </a:buClr>
            </a:pPr>
            <a:r>
              <a:rPr lang="en-US" altLang="en-US" dirty="0">
                <a:latin typeface="Arial" panose="020B0604020202020204" pitchFamily="34" charset="0"/>
                <a:cs typeface="Arial" panose="020B0604020202020204" pitchFamily="34" charset="0"/>
              </a:rPr>
              <a:t>Group differences research (naturally occurring groups)</a:t>
            </a:r>
          </a:p>
          <a:p>
            <a:pPr lvl="1">
              <a:buClr>
                <a:srgbClr val="0A3E64"/>
              </a:buClr>
            </a:pPr>
            <a:r>
              <a:rPr lang="en-US" altLang="en-US" dirty="0">
                <a:latin typeface="Arial" panose="020B0604020202020204" pitchFamily="34" charset="0"/>
                <a:cs typeface="Arial" panose="020B0604020202020204" pitchFamily="34" charset="0"/>
              </a:rPr>
              <a:t>Commonly used by epidemiologist and medical meta-analyses</a:t>
            </a:r>
          </a:p>
          <a:p>
            <a:pPr lvl="1">
              <a:buClr>
                <a:srgbClr val="0A3E64"/>
              </a:buClr>
            </a:pPr>
            <a:r>
              <a:rPr lang="en-US" altLang="en-US" dirty="0">
                <a:latin typeface="Arial" panose="020B0604020202020204" pitchFamily="34" charset="0"/>
                <a:cs typeface="Arial" panose="020B0604020202020204" pitchFamily="34" charset="0"/>
              </a:rPr>
              <a:t>Inherently dichotomous construct</a:t>
            </a:r>
          </a:p>
          <a:p>
            <a:pPr lvl="1">
              <a:buClr>
                <a:srgbClr val="0A3E64"/>
              </a:buClr>
            </a:pPr>
            <a:r>
              <a:rPr lang="en-US" altLang="en-US" dirty="0">
                <a:latin typeface="Arial" panose="020B0604020202020204" pitchFamily="34" charset="0"/>
                <a:cs typeface="Arial" panose="020B0604020202020204" pitchFamily="34" charset="0"/>
              </a:rPr>
              <a:t>Easier to interpret than the odds-ratio</a:t>
            </a:r>
          </a:p>
        </p:txBody>
      </p:sp>
      <p:sp>
        <p:nvSpPr>
          <p:cNvPr id="6" name="Rectangle 2"/>
          <p:cNvSpPr txBox="1">
            <a:spLocks noChangeArrowheads="1"/>
          </p:cNvSpPr>
          <p:nvPr/>
        </p:nvSpPr>
        <p:spPr bwMode="auto">
          <a:xfrm>
            <a:off x="0" y="0"/>
            <a:ext cx="9144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4400" kern="1200">
                <a:solidFill>
                  <a:schemeClr val="tx1"/>
                </a:solidFill>
                <a:latin typeface="+mn-lt"/>
                <a:ea typeface="ＭＳ Ｐゴシック" pitchFamily="-84" charset="-128"/>
                <a:cs typeface="Arial"/>
              </a:defRPr>
            </a:lvl1pPr>
            <a:lvl2pPr algn="l" defTabSz="457200" rtl="0" eaLnBrk="1" fontAlgn="base" hangingPunct="1">
              <a:spcBef>
                <a:spcPct val="0"/>
              </a:spcBef>
              <a:spcAft>
                <a:spcPct val="0"/>
              </a:spcAft>
              <a:defRPr sz="4400">
                <a:solidFill>
                  <a:schemeClr val="tx1"/>
                </a:solidFill>
                <a:latin typeface="Cambria" charset="0"/>
                <a:ea typeface="ＭＳ Ｐゴシック" pitchFamily="-84" charset="-128"/>
                <a:cs typeface="Arial" charset="0"/>
              </a:defRPr>
            </a:lvl2pPr>
            <a:lvl3pPr algn="l" defTabSz="457200" rtl="0" eaLnBrk="1" fontAlgn="base" hangingPunct="1">
              <a:spcBef>
                <a:spcPct val="0"/>
              </a:spcBef>
              <a:spcAft>
                <a:spcPct val="0"/>
              </a:spcAft>
              <a:defRPr sz="4400">
                <a:solidFill>
                  <a:schemeClr val="tx1"/>
                </a:solidFill>
                <a:latin typeface="Cambria" charset="0"/>
                <a:ea typeface="ＭＳ Ｐゴシック" pitchFamily="-84" charset="-128"/>
                <a:cs typeface="Arial" charset="0"/>
              </a:defRPr>
            </a:lvl3pPr>
            <a:lvl4pPr algn="l" defTabSz="457200" rtl="0" eaLnBrk="1" fontAlgn="base" hangingPunct="1">
              <a:spcBef>
                <a:spcPct val="0"/>
              </a:spcBef>
              <a:spcAft>
                <a:spcPct val="0"/>
              </a:spcAft>
              <a:defRPr sz="4400">
                <a:solidFill>
                  <a:schemeClr val="tx1"/>
                </a:solidFill>
                <a:latin typeface="Cambria" charset="0"/>
                <a:ea typeface="ＭＳ Ｐゴシック" pitchFamily="-84" charset="-128"/>
                <a:cs typeface="Arial" charset="0"/>
              </a:defRPr>
            </a:lvl4pPr>
            <a:lvl5pPr algn="l" defTabSz="457200" rtl="0" eaLnBrk="1" fontAlgn="base" hangingPunct="1">
              <a:spcBef>
                <a:spcPct val="0"/>
              </a:spcBef>
              <a:spcAft>
                <a:spcPct val="0"/>
              </a:spcAft>
              <a:defRPr sz="4400">
                <a:solidFill>
                  <a:schemeClr val="tx1"/>
                </a:solidFill>
                <a:latin typeface="Cambria" charset="0"/>
                <a:ea typeface="ＭＳ Ｐゴシック" pitchFamily="-84" charset="-128"/>
                <a:cs typeface="Arial" charset="0"/>
              </a:defRPr>
            </a:lvl5pPr>
            <a:lvl6pPr marL="457200" algn="ctr" defTabSz="457200" rtl="0" eaLnBrk="1" fontAlgn="base" hangingPunct="1">
              <a:spcBef>
                <a:spcPct val="0"/>
              </a:spcBef>
              <a:spcAft>
                <a:spcPct val="0"/>
              </a:spcAft>
              <a:defRPr sz="4400">
                <a:solidFill>
                  <a:schemeClr val="tx1"/>
                </a:solidFill>
                <a:latin typeface="Arial" pitchFamily="-84" charset="0"/>
                <a:ea typeface="ＭＳ Ｐゴシック" pitchFamily="-84" charset="-128"/>
              </a:defRPr>
            </a:lvl6pPr>
            <a:lvl7pPr marL="914400" algn="ctr" defTabSz="457200" rtl="0" eaLnBrk="1" fontAlgn="base" hangingPunct="1">
              <a:spcBef>
                <a:spcPct val="0"/>
              </a:spcBef>
              <a:spcAft>
                <a:spcPct val="0"/>
              </a:spcAft>
              <a:defRPr sz="4400">
                <a:solidFill>
                  <a:schemeClr val="tx1"/>
                </a:solidFill>
                <a:latin typeface="Arial" pitchFamily="-84" charset="0"/>
                <a:ea typeface="ＭＳ Ｐゴシック" pitchFamily="-84" charset="-128"/>
              </a:defRPr>
            </a:lvl7pPr>
            <a:lvl8pPr marL="1371600" algn="ctr" defTabSz="457200" rtl="0" eaLnBrk="1" fontAlgn="base" hangingPunct="1">
              <a:spcBef>
                <a:spcPct val="0"/>
              </a:spcBef>
              <a:spcAft>
                <a:spcPct val="0"/>
              </a:spcAft>
              <a:defRPr sz="4400">
                <a:solidFill>
                  <a:schemeClr val="tx1"/>
                </a:solidFill>
                <a:latin typeface="Arial" pitchFamily="-84" charset="0"/>
                <a:ea typeface="ＭＳ Ｐゴシック" pitchFamily="-84" charset="-128"/>
              </a:defRPr>
            </a:lvl8pPr>
            <a:lvl9pPr marL="1828800" algn="ctr" defTabSz="457200" rtl="0" eaLnBrk="1" fontAlgn="base" hangingPunct="1">
              <a:spcBef>
                <a:spcPct val="0"/>
              </a:spcBef>
              <a:spcAft>
                <a:spcPct val="0"/>
              </a:spcAft>
              <a:defRPr sz="4400">
                <a:solidFill>
                  <a:schemeClr val="tx1"/>
                </a:solidFill>
                <a:latin typeface="Arial" pitchFamily="-84" charset="0"/>
                <a:ea typeface="ＭＳ Ｐゴシック" pitchFamily="-84" charset="-128"/>
              </a:defRPr>
            </a:lvl9pPr>
          </a:lstStyle>
          <a:p>
            <a:pPr algn="ctr"/>
            <a:r>
              <a:rPr lang="en-US" altLang="en-US" sz="3600" b="1" dirty="0">
                <a:latin typeface="Arial" panose="020B0604020202020204" pitchFamily="34" charset="0"/>
                <a:cs typeface="Arial" panose="020B0604020202020204" pitchFamily="34" charset="0"/>
              </a:rPr>
              <a:t>Examples of Different Types of Effect Sizes</a:t>
            </a:r>
          </a:p>
        </p:txBody>
      </p:sp>
    </p:spTree>
    <p:extLst>
      <p:ext uri="{BB962C8B-B14F-4D97-AF65-F5344CB8AC3E}">
        <p14:creationId xmlns:p14="http://schemas.microsoft.com/office/powerpoint/2010/main" val="3869390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6553200" y="6243638"/>
            <a:ext cx="2133600" cy="457200"/>
          </a:xfrm>
          <a:prstGeom prst="rect">
            <a:avLst/>
          </a:prstGeom>
        </p:spPr>
        <p:txBody>
          <a:bodyPr/>
          <a:lstStyle/>
          <a:p>
            <a:fld id="{EFA393AD-87C0-4FF2-985B-9B24D6393F07}" type="slidenum">
              <a:rPr lang="en-US" altLang="en-US"/>
              <a:pPr/>
              <a:t>25</a:t>
            </a:fld>
            <a:endParaRPr lang="en-US" altLang="en-US"/>
          </a:p>
        </p:txBody>
      </p:sp>
      <p:sp>
        <p:nvSpPr>
          <p:cNvPr id="19458" name="Rectangle 2"/>
          <p:cNvSpPr>
            <a:spLocks noGrp="1" noChangeArrowheads="1"/>
          </p:cNvSpPr>
          <p:nvPr>
            <p:ph type="title"/>
          </p:nvPr>
        </p:nvSpPr>
        <p:spPr>
          <a:xfrm>
            <a:off x="0" y="0"/>
            <a:ext cx="9144000" cy="1066800"/>
          </a:xfrm>
        </p:spPr>
        <p:txBody>
          <a:bodyPr/>
          <a:lstStyle/>
          <a:p>
            <a:pPr algn="ctr"/>
            <a:r>
              <a:rPr lang="en-US" altLang="en-US" sz="3600" b="1" dirty="0">
                <a:latin typeface="Arial" panose="020B0604020202020204" pitchFamily="34" charset="0"/>
                <a:cs typeface="Arial" panose="020B0604020202020204" pitchFamily="34" charset="0"/>
              </a:rPr>
              <a:t>What Makes Something an Effect Size</a:t>
            </a:r>
            <a:br>
              <a:rPr lang="en-US" altLang="en-US" sz="3600" b="1" dirty="0">
                <a:latin typeface="Arial" panose="020B0604020202020204" pitchFamily="34" charset="0"/>
                <a:cs typeface="Arial" panose="020B0604020202020204" pitchFamily="34" charset="0"/>
              </a:rPr>
            </a:br>
            <a:r>
              <a:rPr lang="en-US" altLang="en-US" sz="3600" b="1" dirty="0">
                <a:latin typeface="Arial" panose="020B0604020202020204" pitchFamily="34" charset="0"/>
                <a:cs typeface="Arial" panose="020B0604020202020204" pitchFamily="34" charset="0"/>
              </a:rPr>
              <a:t>for Meta-analytic Purposes</a:t>
            </a:r>
          </a:p>
        </p:txBody>
      </p:sp>
      <p:sp>
        <p:nvSpPr>
          <p:cNvPr id="19459" name="Rectangle 3"/>
          <p:cNvSpPr>
            <a:spLocks noGrp="1" noChangeArrowheads="1"/>
          </p:cNvSpPr>
          <p:nvPr>
            <p:ph type="body" idx="1"/>
          </p:nvPr>
        </p:nvSpPr>
        <p:spPr>
          <a:xfrm>
            <a:off x="11373" y="1219200"/>
            <a:ext cx="9144000" cy="4343400"/>
          </a:xfrm>
        </p:spPr>
        <p:txBody>
          <a:bodyPr/>
          <a:lstStyle/>
          <a:p>
            <a:r>
              <a:rPr lang="en-US" altLang="en-US" sz="2800" dirty="0">
                <a:latin typeface="Arial" panose="020B0604020202020204" pitchFamily="34" charset="0"/>
                <a:cs typeface="Arial" panose="020B0604020202020204" pitchFamily="34" charset="0"/>
              </a:rPr>
              <a:t>The type of ES must be comparable across the collection of studies of interest</a:t>
            </a:r>
          </a:p>
          <a:p>
            <a:r>
              <a:rPr lang="en-US" altLang="en-US" sz="2800" dirty="0">
                <a:latin typeface="Arial" panose="020B0604020202020204" pitchFamily="34" charset="0"/>
                <a:cs typeface="Arial" panose="020B0604020202020204" pitchFamily="34" charset="0"/>
              </a:rPr>
              <a:t>This is generally accomplished through standardization</a:t>
            </a:r>
          </a:p>
          <a:p>
            <a:r>
              <a:rPr lang="en-US" altLang="en-US" sz="2800" dirty="0">
                <a:latin typeface="Arial" panose="020B0604020202020204" pitchFamily="34" charset="0"/>
                <a:cs typeface="Arial" panose="020B0604020202020204" pitchFamily="34" charset="0"/>
              </a:rPr>
              <a:t>Must be able to calculate a standard error for that type of ES</a:t>
            </a:r>
          </a:p>
          <a:p>
            <a:pPr lvl="1"/>
            <a:r>
              <a:rPr lang="en-US" altLang="en-US" sz="2400" dirty="0"/>
              <a:t>The standard error is needed to calculate the ES weights, called inverse variance weights (more on this latter)</a:t>
            </a:r>
          </a:p>
          <a:p>
            <a:pPr lvl="1"/>
            <a:r>
              <a:rPr lang="en-US" altLang="en-US" sz="2400" dirty="0"/>
              <a:t>All meta-analytic analyses are weighted</a:t>
            </a:r>
          </a:p>
        </p:txBody>
      </p:sp>
    </p:spTree>
    <p:extLst>
      <p:ext uri="{BB962C8B-B14F-4D97-AF65-F5344CB8AC3E}">
        <p14:creationId xmlns:p14="http://schemas.microsoft.com/office/powerpoint/2010/main" val="2383922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1845" y="2962"/>
            <a:ext cx="9144000" cy="1143000"/>
          </a:xfrm>
        </p:spPr>
        <p:txBody>
          <a:bodyPr/>
          <a:lstStyle/>
          <a:p>
            <a:pPr algn="ctr"/>
            <a:r>
              <a:rPr lang="en-US" altLang="en-US" sz="3600" b="1" dirty="0">
                <a:latin typeface="Arial" panose="020B0604020202020204" pitchFamily="34" charset="0"/>
                <a:cs typeface="Arial" panose="020B0604020202020204" pitchFamily="34" charset="0"/>
              </a:rPr>
              <a:t>The Standardized Mean Difference</a:t>
            </a:r>
          </a:p>
        </p:txBody>
      </p:sp>
      <p:sp>
        <p:nvSpPr>
          <p:cNvPr id="7171" name="Rectangle 3"/>
          <p:cNvSpPr>
            <a:spLocks noGrp="1" noChangeArrowheads="1"/>
          </p:cNvSpPr>
          <p:nvPr>
            <p:ph type="body" idx="1"/>
          </p:nvPr>
        </p:nvSpPr>
        <p:spPr>
          <a:xfrm>
            <a:off x="0" y="2943225"/>
            <a:ext cx="9144000" cy="2619375"/>
          </a:xfrm>
        </p:spPr>
        <p:txBody>
          <a:bodyPr/>
          <a:lstStyle/>
          <a:p>
            <a:r>
              <a:rPr lang="en-US" altLang="en-US" sz="2800" dirty="0">
                <a:latin typeface="Arial" panose="020B0604020202020204" pitchFamily="34" charset="0"/>
                <a:cs typeface="Arial" panose="020B0604020202020204" pitchFamily="34" charset="0"/>
              </a:rPr>
              <a:t>Represents a standardized group contrast on an </a:t>
            </a:r>
            <a:r>
              <a:rPr lang="en-US" altLang="en-US" sz="2800" i="1" dirty="0">
                <a:latin typeface="Arial" panose="020B0604020202020204" pitchFamily="34" charset="0"/>
                <a:cs typeface="Arial" panose="020B0604020202020204" pitchFamily="34" charset="0"/>
              </a:rPr>
              <a:t>inherently continuous</a:t>
            </a:r>
            <a:r>
              <a:rPr lang="en-US" altLang="en-US" sz="2800" dirty="0">
                <a:latin typeface="Arial" panose="020B0604020202020204" pitchFamily="34" charset="0"/>
                <a:cs typeface="Arial" panose="020B0604020202020204" pitchFamily="34" charset="0"/>
              </a:rPr>
              <a:t> measure</a:t>
            </a:r>
          </a:p>
          <a:p>
            <a:r>
              <a:rPr lang="en-US" altLang="en-US" sz="2800" dirty="0">
                <a:latin typeface="Arial" panose="020B0604020202020204" pitchFamily="34" charset="0"/>
                <a:cs typeface="Arial" panose="020B0604020202020204" pitchFamily="34" charset="0"/>
              </a:rPr>
              <a:t>Uses the pooled standard deviation (some situations use control group standard deviation)</a:t>
            </a:r>
          </a:p>
          <a:p>
            <a:r>
              <a:rPr lang="en-US" altLang="en-US" sz="2800" dirty="0">
                <a:latin typeface="Arial" panose="020B0604020202020204" pitchFamily="34" charset="0"/>
                <a:cs typeface="Arial" panose="020B0604020202020204" pitchFamily="34" charset="0"/>
              </a:rPr>
              <a:t>Commonly called “d” or occasionally “g”</a:t>
            </a:r>
          </a:p>
        </p:txBody>
      </p:sp>
      <p:graphicFrame>
        <p:nvGraphicFramePr>
          <p:cNvPr id="7172" name="Object 4"/>
          <p:cNvGraphicFramePr>
            <a:graphicFrameLocks noChangeAspect="1"/>
          </p:cNvGraphicFramePr>
          <p:nvPr/>
        </p:nvGraphicFramePr>
        <p:xfrm>
          <a:off x="990600" y="1981200"/>
          <a:ext cx="2071688" cy="909638"/>
        </p:xfrm>
        <a:graphic>
          <a:graphicData uri="http://schemas.openxmlformats.org/presentationml/2006/ole">
            <mc:AlternateContent xmlns:mc="http://schemas.openxmlformats.org/markup-compatibility/2006">
              <mc:Choice xmlns:v="urn:schemas-microsoft-com:vml" Requires="v">
                <p:oleObj spid="_x0000_s3329" name="Equation" r:id="rId3" imgW="1041120" imgH="457200" progId="Equation.3">
                  <p:embed/>
                </p:oleObj>
              </mc:Choice>
              <mc:Fallback>
                <p:oleObj name="Equation" r:id="rId3" imgW="1041120" imgH="457200" progId="Equation.3">
                  <p:embed/>
                  <p:pic>
                    <p:nvPicPr>
                      <p:cNvPr id="717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981200"/>
                        <a:ext cx="2071688" cy="909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3" name="Object 5"/>
          <p:cNvGraphicFramePr>
            <a:graphicFrameLocks noChangeAspect="1"/>
          </p:cNvGraphicFramePr>
          <p:nvPr/>
        </p:nvGraphicFramePr>
        <p:xfrm>
          <a:off x="3852863" y="1905000"/>
          <a:ext cx="3767137" cy="981075"/>
        </p:xfrm>
        <a:graphic>
          <a:graphicData uri="http://schemas.openxmlformats.org/presentationml/2006/ole">
            <mc:AlternateContent xmlns:mc="http://schemas.openxmlformats.org/markup-compatibility/2006">
              <mc:Choice xmlns:v="urn:schemas-microsoft-com:vml" Requires="v">
                <p:oleObj spid="_x0000_s3330" name="Equation" r:id="rId5" imgW="1892160" imgH="495000" progId="Equation.3">
                  <p:embed/>
                </p:oleObj>
              </mc:Choice>
              <mc:Fallback>
                <p:oleObj name="Equation" r:id="rId5" imgW="1892160" imgH="495000" progId="Equation.3">
                  <p:embed/>
                  <p:pic>
                    <p:nvPicPr>
                      <p:cNvPr id="717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2863" y="1905000"/>
                        <a:ext cx="3767137" cy="98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4" name="Rectangle 6"/>
          <p:cNvSpPr>
            <a:spLocks noChangeArrowheads="1"/>
          </p:cNvSpPr>
          <p:nvPr/>
        </p:nvSpPr>
        <p:spPr bwMode="auto">
          <a:xfrm>
            <a:off x="914400" y="2057400"/>
            <a:ext cx="533400" cy="152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855304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294967295"/>
          </p:nvPr>
        </p:nvSpPr>
        <p:spPr>
          <a:xfrm>
            <a:off x="6553200" y="6243638"/>
            <a:ext cx="2133600" cy="457200"/>
          </a:xfrm>
          <a:prstGeom prst="rect">
            <a:avLst/>
          </a:prstGeom>
        </p:spPr>
        <p:txBody>
          <a:bodyPr/>
          <a:lstStyle/>
          <a:p>
            <a:fld id="{16AF2BF2-77AD-4978-BB10-A15B635ECE51}" type="slidenum">
              <a:rPr lang="en-US" altLang="en-US"/>
              <a:pPr/>
              <a:t>27</a:t>
            </a:fld>
            <a:endParaRPr lang="en-US" altLang="en-US"/>
          </a:p>
        </p:txBody>
      </p:sp>
      <p:sp>
        <p:nvSpPr>
          <p:cNvPr id="8194" name="Rectangle 2"/>
          <p:cNvSpPr>
            <a:spLocks noGrp="1" noChangeArrowheads="1"/>
          </p:cNvSpPr>
          <p:nvPr>
            <p:ph type="title"/>
          </p:nvPr>
        </p:nvSpPr>
        <p:spPr>
          <a:xfrm>
            <a:off x="-22746" y="0"/>
            <a:ext cx="9144000" cy="1143000"/>
          </a:xfrm>
        </p:spPr>
        <p:txBody>
          <a:bodyPr/>
          <a:lstStyle/>
          <a:p>
            <a:pPr algn="ctr"/>
            <a:r>
              <a:rPr lang="en-US" altLang="en-US" sz="3600" b="1" dirty="0">
                <a:latin typeface="Arial" panose="020B0604020202020204" pitchFamily="34" charset="0"/>
                <a:cs typeface="Arial" panose="020B0604020202020204" pitchFamily="34" charset="0"/>
              </a:rPr>
              <a:t>The Correlation Coefficient</a:t>
            </a:r>
          </a:p>
        </p:txBody>
      </p:sp>
      <p:sp>
        <p:nvSpPr>
          <p:cNvPr id="8195" name="Rectangle 3"/>
          <p:cNvSpPr>
            <a:spLocks noGrp="1" noChangeArrowheads="1"/>
          </p:cNvSpPr>
          <p:nvPr>
            <p:ph type="body" idx="1"/>
          </p:nvPr>
        </p:nvSpPr>
        <p:spPr>
          <a:xfrm>
            <a:off x="15922" y="2198284"/>
            <a:ext cx="9128078" cy="3364315"/>
          </a:xfrm>
        </p:spPr>
        <p:txBody>
          <a:bodyPr/>
          <a:lstStyle/>
          <a:p>
            <a:r>
              <a:rPr lang="en-US" altLang="en-US" dirty="0">
                <a:latin typeface="Arial" panose="020B0604020202020204" pitchFamily="34" charset="0"/>
                <a:cs typeface="Arial" panose="020B0604020202020204" pitchFamily="34" charset="0"/>
              </a:rPr>
              <a:t>Represents the strength of association between two </a:t>
            </a:r>
            <a:r>
              <a:rPr lang="en-US" altLang="en-US" i="1" dirty="0">
                <a:latin typeface="Arial" panose="020B0604020202020204" pitchFamily="34" charset="0"/>
                <a:cs typeface="Arial" panose="020B0604020202020204" pitchFamily="34" charset="0"/>
              </a:rPr>
              <a:t>inherently continuous</a:t>
            </a:r>
            <a:r>
              <a:rPr lang="en-US" altLang="en-US" dirty="0">
                <a:latin typeface="Arial" panose="020B0604020202020204" pitchFamily="34" charset="0"/>
                <a:cs typeface="Arial" panose="020B0604020202020204" pitchFamily="34" charset="0"/>
              </a:rPr>
              <a:t> measures</a:t>
            </a:r>
          </a:p>
          <a:p>
            <a:r>
              <a:rPr lang="en-US" altLang="en-US" dirty="0">
                <a:latin typeface="Arial" panose="020B0604020202020204" pitchFamily="34" charset="0"/>
                <a:cs typeface="Arial" panose="020B0604020202020204" pitchFamily="34" charset="0"/>
              </a:rPr>
              <a:t>Generally reported directly as “r” (the Pearson product moment coefficient)</a:t>
            </a:r>
          </a:p>
        </p:txBody>
      </p:sp>
      <p:graphicFrame>
        <p:nvGraphicFramePr>
          <p:cNvPr id="8196" name="Object 4"/>
          <p:cNvGraphicFramePr>
            <a:graphicFrameLocks noChangeAspect="1"/>
          </p:cNvGraphicFramePr>
          <p:nvPr>
            <p:extLst>
              <p:ext uri="{D42A27DB-BD31-4B8C-83A1-F6EECF244321}">
                <p14:modId xmlns:p14="http://schemas.microsoft.com/office/powerpoint/2010/main" val="344446477"/>
              </p:ext>
            </p:extLst>
          </p:nvPr>
        </p:nvGraphicFramePr>
        <p:xfrm>
          <a:off x="3851275" y="1449387"/>
          <a:ext cx="908050" cy="350838"/>
        </p:xfrm>
        <a:graphic>
          <a:graphicData uri="http://schemas.openxmlformats.org/presentationml/2006/ole">
            <mc:AlternateContent xmlns:mc="http://schemas.openxmlformats.org/markup-compatibility/2006">
              <mc:Choice xmlns:v="urn:schemas-microsoft-com:vml" Requires="v">
                <p:oleObj spid="_x0000_s4226" name="Equation" r:id="rId3" imgW="457200" imgH="177480" progId="Equation.3">
                  <p:embed/>
                </p:oleObj>
              </mc:Choice>
              <mc:Fallback>
                <p:oleObj name="Equation" r:id="rId3" imgW="457200" imgH="177480" progId="Equation.3">
                  <p:embed/>
                  <p:pic>
                    <p:nvPicPr>
                      <p:cNvPr id="819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275" y="1449387"/>
                        <a:ext cx="908050"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7" name="Rectangle 5"/>
          <p:cNvSpPr>
            <a:spLocks noChangeArrowheads="1"/>
          </p:cNvSpPr>
          <p:nvPr/>
        </p:nvSpPr>
        <p:spPr bwMode="auto">
          <a:xfrm>
            <a:off x="4038600" y="2133600"/>
            <a:ext cx="533400" cy="152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036713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4294967295"/>
          </p:nvPr>
        </p:nvSpPr>
        <p:spPr>
          <a:xfrm>
            <a:off x="6553200" y="6243638"/>
            <a:ext cx="2133600" cy="457200"/>
          </a:xfrm>
          <a:prstGeom prst="rect">
            <a:avLst/>
          </a:prstGeom>
        </p:spPr>
        <p:txBody>
          <a:bodyPr/>
          <a:lstStyle/>
          <a:p>
            <a:fld id="{C18FBA42-20A2-4448-92CC-8369B0AE18F2}" type="slidenum">
              <a:rPr lang="en-US" altLang="en-US"/>
              <a:pPr/>
              <a:t>28</a:t>
            </a:fld>
            <a:endParaRPr lang="en-US" altLang="en-US" dirty="0"/>
          </a:p>
        </p:txBody>
      </p:sp>
      <p:sp>
        <p:nvSpPr>
          <p:cNvPr id="25602" name="Rectangle 2"/>
          <p:cNvSpPr>
            <a:spLocks noGrp="1" noChangeArrowheads="1"/>
          </p:cNvSpPr>
          <p:nvPr>
            <p:ph type="title"/>
          </p:nvPr>
        </p:nvSpPr>
        <p:spPr>
          <a:xfrm>
            <a:off x="0" y="0"/>
            <a:ext cx="9144000" cy="1143000"/>
          </a:xfrm>
        </p:spPr>
        <p:txBody>
          <a:bodyPr/>
          <a:lstStyle/>
          <a:p>
            <a:pPr algn="ctr"/>
            <a:r>
              <a:rPr lang="en-US" altLang="en-US" sz="3600" b="1" dirty="0">
                <a:latin typeface="Arial" panose="020B0604020202020204" pitchFamily="34" charset="0"/>
                <a:cs typeface="Arial" panose="020B0604020202020204" pitchFamily="34" charset="0"/>
              </a:rPr>
              <a:t>The Odds-Ratio</a:t>
            </a:r>
          </a:p>
        </p:txBody>
      </p:sp>
      <p:sp>
        <p:nvSpPr>
          <p:cNvPr id="25603" name="Rectangle 3"/>
          <p:cNvSpPr>
            <a:spLocks noGrp="1" noChangeArrowheads="1"/>
          </p:cNvSpPr>
          <p:nvPr>
            <p:ph type="body" idx="1"/>
          </p:nvPr>
        </p:nvSpPr>
        <p:spPr>
          <a:xfrm>
            <a:off x="0" y="1540491"/>
            <a:ext cx="9144000" cy="838200"/>
          </a:xfrm>
        </p:spPr>
        <p:txBody>
          <a:bodyPr/>
          <a:lstStyle/>
          <a:p>
            <a:r>
              <a:rPr lang="en-US" altLang="en-US" dirty="0">
                <a:latin typeface="Arial" panose="020B0604020202020204" pitchFamily="34" charset="0"/>
                <a:cs typeface="Arial" panose="020B0604020202020204" pitchFamily="34" charset="0"/>
              </a:rPr>
              <a:t>The odds-ratio is based on a 2 by 2 contingency table, such as the one below </a:t>
            </a:r>
          </a:p>
        </p:txBody>
      </p:sp>
      <p:graphicFrame>
        <p:nvGraphicFramePr>
          <p:cNvPr id="25605" name="Object 5"/>
          <p:cNvGraphicFramePr>
            <a:graphicFrameLocks noChangeAspect="1"/>
          </p:cNvGraphicFramePr>
          <p:nvPr/>
        </p:nvGraphicFramePr>
        <p:xfrm>
          <a:off x="838200" y="2819400"/>
          <a:ext cx="4652963" cy="1538288"/>
        </p:xfrm>
        <a:graphic>
          <a:graphicData uri="http://schemas.openxmlformats.org/presentationml/2006/ole">
            <mc:AlternateContent xmlns:mc="http://schemas.openxmlformats.org/markup-compatibility/2006">
              <mc:Choice xmlns:v="urn:schemas-microsoft-com:vml" Requires="v">
                <p:oleObj spid="_x0000_s5377" name="Document" r:id="rId3" imgW="3724200" imgH="1285920" progId="WP8Doc">
                  <p:embed/>
                </p:oleObj>
              </mc:Choice>
              <mc:Fallback>
                <p:oleObj name="Document" r:id="rId3" imgW="3724200" imgH="1285920" progId="WP8Doc">
                  <p:embed/>
                  <p:pic>
                    <p:nvPicPr>
                      <p:cNvPr id="2560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819400"/>
                        <a:ext cx="4652963" cy="1538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6" name="Object 6"/>
          <p:cNvGraphicFramePr>
            <a:graphicFrameLocks noChangeAspect="1"/>
          </p:cNvGraphicFramePr>
          <p:nvPr/>
        </p:nvGraphicFramePr>
        <p:xfrm>
          <a:off x="6324600" y="3200400"/>
          <a:ext cx="1157288" cy="781050"/>
        </p:xfrm>
        <a:graphic>
          <a:graphicData uri="http://schemas.openxmlformats.org/presentationml/2006/ole">
            <mc:AlternateContent xmlns:mc="http://schemas.openxmlformats.org/markup-compatibility/2006">
              <mc:Choice xmlns:v="urn:schemas-microsoft-com:vml" Requires="v">
                <p:oleObj spid="_x0000_s5378" name="Equation" r:id="rId5" imgW="583920" imgH="393480" progId="Equation.3">
                  <p:embed/>
                </p:oleObj>
              </mc:Choice>
              <mc:Fallback>
                <p:oleObj name="Equation" r:id="rId5" imgW="583920" imgH="393480" progId="Equation.3">
                  <p:embed/>
                  <p:pic>
                    <p:nvPicPr>
                      <p:cNvPr id="2560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4600" y="3200400"/>
                        <a:ext cx="1157288"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7" name="Rectangle 7"/>
          <p:cNvSpPr>
            <a:spLocks noChangeArrowheads="1"/>
          </p:cNvSpPr>
          <p:nvPr/>
        </p:nvSpPr>
        <p:spPr bwMode="auto">
          <a:xfrm>
            <a:off x="13648" y="4455497"/>
            <a:ext cx="9130352" cy="1107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defRPr>
            </a:lvl1pPr>
            <a:lvl2pPr marL="669925" indent="-325438">
              <a:spcBef>
                <a:spcPct val="20000"/>
              </a:spcBef>
              <a:buClr>
                <a:schemeClr val="accent2"/>
              </a:buClr>
              <a:buSzPct val="60000"/>
              <a:buFont typeface="Wingdings" panose="05000000000000000000" pitchFamily="2" charset="2"/>
              <a:buChar char="q"/>
              <a:defRPr sz="2000">
                <a:solidFill>
                  <a:schemeClr val="tx1"/>
                </a:solidFill>
                <a:latin typeface="Arial" panose="020B0604020202020204" pitchFamily="34" charset="0"/>
              </a:defRPr>
            </a:lvl2pPr>
            <a:lvl3pPr marL="1022350" indent="-350838">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1383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5955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0527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5099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marL="0" indent="0">
              <a:buNone/>
            </a:pPr>
            <a:r>
              <a:rPr lang="en-US" altLang="en-US" dirty="0">
                <a:cs typeface="Arial" panose="020B0604020202020204" pitchFamily="34" charset="0"/>
              </a:rPr>
              <a:t>The Odds-Ratio is the odds of success in the treatment group relative to the odds of success in the control group.</a:t>
            </a:r>
          </a:p>
        </p:txBody>
      </p:sp>
      <p:sp>
        <p:nvSpPr>
          <p:cNvPr id="25608" name="Rectangle 8"/>
          <p:cNvSpPr>
            <a:spLocks noChangeArrowheads="1"/>
          </p:cNvSpPr>
          <p:nvPr/>
        </p:nvSpPr>
        <p:spPr bwMode="auto">
          <a:xfrm>
            <a:off x="6248400" y="3276600"/>
            <a:ext cx="533400" cy="152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2031179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4294967295"/>
          </p:nvPr>
        </p:nvSpPr>
        <p:spPr>
          <a:xfrm>
            <a:off x="6553200" y="6243638"/>
            <a:ext cx="2133600" cy="457200"/>
          </a:xfrm>
          <a:prstGeom prst="rect">
            <a:avLst/>
          </a:prstGeom>
        </p:spPr>
        <p:txBody>
          <a:bodyPr/>
          <a:lstStyle/>
          <a:p>
            <a:fld id="{C6965CE9-E27E-45D8-A934-62EAF1EEE54D}" type="slidenum">
              <a:rPr lang="en-US" altLang="en-US"/>
              <a:pPr/>
              <a:t>29</a:t>
            </a:fld>
            <a:endParaRPr lang="en-US" altLang="en-US"/>
          </a:p>
        </p:txBody>
      </p:sp>
      <p:sp>
        <p:nvSpPr>
          <p:cNvPr id="53250" name="Rectangle 2"/>
          <p:cNvSpPr>
            <a:spLocks noGrp="1" noChangeArrowheads="1"/>
          </p:cNvSpPr>
          <p:nvPr>
            <p:ph type="title"/>
          </p:nvPr>
        </p:nvSpPr>
        <p:spPr>
          <a:xfrm>
            <a:off x="0" y="0"/>
            <a:ext cx="9144000" cy="1143000"/>
          </a:xfrm>
        </p:spPr>
        <p:txBody>
          <a:bodyPr/>
          <a:lstStyle/>
          <a:p>
            <a:pPr algn="ctr"/>
            <a:r>
              <a:rPr lang="en-US" altLang="en-US" sz="3600" b="1" dirty="0">
                <a:latin typeface="Arial" panose="020B0604020202020204" pitchFamily="34" charset="0"/>
                <a:cs typeface="Arial" panose="020B0604020202020204" pitchFamily="34" charset="0"/>
              </a:rPr>
              <a:t>The Risk Ratio</a:t>
            </a:r>
          </a:p>
        </p:txBody>
      </p:sp>
      <p:sp>
        <p:nvSpPr>
          <p:cNvPr id="53251" name="Rectangle 3"/>
          <p:cNvSpPr>
            <a:spLocks noGrp="1" noChangeArrowheads="1"/>
          </p:cNvSpPr>
          <p:nvPr>
            <p:ph type="body" idx="1"/>
          </p:nvPr>
        </p:nvSpPr>
        <p:spPr>
          <a:xfrm>
            <a:off x="0" y="1371601"/>
            <a:ext cx="9144000" cy="4191000"/>
          </a:xfrm>
        </p:spPr>
        <p:txBody>
          <a:bodyPr/>
          <a:lstStyle/>
          <a:p>
            <a:r>
              <a:rPr lang="en-US" altLang="en-US" dirty="0">
                <a:latin typeface="Arial" panose="020B0604020202020204" pitchFamily="34" charset="0"/>
                <a:cs typeface="Arial" panose="020B0604020202020204" pitchFamily="34" charset="0"/>
              </a:rPr>
              <a:t>The risk ratio is also based on data from a 2 by 2 contingency table, and is the ratio of the probability of success (or failure) for each group</a:t>
            </a:r>
          </a:p>
        </p:txBody>
      </p:sp>
      <p:graphicFrame>
        <p:nvGraphicFramePr>
          <p:cNvPr id="53252" name="Object 4"/>
          <p:cNvGraphicFramePr>
            <a:graphicFrameLocks noChangeAspect="1"/>
          </p:cNvGraphicFramePr>
          <p:nvPr/>
        </p:nvGraphicFramePr>
        <p:xfrm>
          <a:off x="3810000" y="3581400"/>
          <a:ext cx="2057400" cy="838200"/>
        </p:xfrm>
        <a:graphic>
          <a:graphicData uri="http://schemas.openxmlformats.org/presentationml/2006/ole">
            <mc:AlternateContent xmlns:mc="http://schemas.openxmlformats.org/markup-compatibility/2006">
              <mc:Choice xmlns:v="urn:schemas-microsoft-com:vml" Requires="v">
                <p:oleObj spid="_x0000_s6274" name="Equation" r:id="rId3" imgW="1028520" imgH="419040" progId="Equation.COEE2">
                  <p:embed/>
                </p:oleObj>
              </mc:Choice>
              <mc:Fallback>
                <p:oleObj name="Equation" r:id="rId3" imgW="1028520" imgH="419040" progId="Equation.COEE2">
                  <p:embed/>
                  <p:pic>
                    <p:nvPicPr>
                      <p:cNvPr id="5325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3581400"/>
                        <a:ext cx="2057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7468787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6553200" y="6243638"/>
            <a:ext cx="2133600" cy="457200"/>
          </a:xfrm>
          <a:prstGeom prst="rect">
            <a:avLst/>
          </a:prstGeom>
        </p:spPr>
        <p:txBody>
          <a:bodyPr/>
          <a:lstStyle/>
          <a:p>
            <a:fld id="{69BE6BEC-B825-4BD2-BBF6-01A7543CF095}" type="slidenum">
              <a:rPr lang="en-US" altLang="en-US"/>
              <a:pPr/>
              <a:t>30</a:t>
            </a:fld>
            <a:endParaRPr lang="en-US" altLang="en-US"/>
          </a:p>
        </p:txBody>
      </p:sp>
      <p:sp>
        <p:nvSpPr>
          <p:cNvPr id="29698" name="Rectangle 2"/>
          <p:cNvSpPr>
            <a:spLocks noGrp="1" noChangeArrowheads="1"/>
          </p:cNvSpPr>
          <p:nvPr>
            <p:ph type="title"/>
          </p:nvPr>
        </p:nvSpPr>
        <p:spPr>
          <a:xfrm>
            <a:off x="0" y="0"/>
            <a:ext cx="9144000" cy="1143000"/>
          </a:xfrm>
        </p:spPr>
        <p:txBody>
          <a:bodyPr/>
          <a:lstStyle/>
          <a:p>
            <a:pPr algn="ctr"/>
            <a:r>
              <a:rPr lang="en-US" altLang="en-US" sz="3600" b="1" dirty="0">
                <a:latin typeface="Arial" panose="020B0604020202020204" pitchFamily="34" charset="0"/>
                <a:cs typeface="Arial" panose="020B0604020202020204" pitchFamily="34" charset="0"/>
              </a:rPr>
              <a:t>Formulas for the Correlation Coefficient</a:t>
            </a:r>
          </a:p>
        </p:txBody>
      </p:sp>
      <p:sp>
        <p:nvSpPr>
          <p:cNvPr id="29699" name="Rectangle 3"/>
          <p:cNvSpPr>
            <a:spLocks noGrp="1" noChangeArrowheads="1"/>
          </p:cNvSpPr>
          <p:nvPr>
            <p:ph type="body" idx="1"/>
          </p:nvPr>
        </p:nvSpPr>
        <p:spPr>
          <a:xfrm>
            <a:off x="0" y="1600201"/>
            <a:ext cx="9144000" cy="3962399"/>
          </a:xfrm>
        </p:spPr>
        <p:txBody>
          <a:bodyPr/>
          <a:lstStyle/>
          <a:p>
            <a:r>
              <a:rPr lang="en-US" altLang="en-US" dirty="0">
                <a:latin typeface="Arial" panose="020B0604020202020204" pitchFamily="34" charset="0"/>
                <a:cs typeface="Arial" panose="020B0604020202020204" pitchFamily="34" charset="0"/>
              </a:rPr>
              <a:t>Results typically reported directly as a correlation</a:t>
            </a:r>
          </a:p>
          <a:p>
            <a:r>
              <a:rPr lang="en-US" altLang="en-US" dirty="0">
                <a:latin typeface="Arial" panose="020B0604020202020204" pitchFamily="34" charset="0"/>
                <a:cs typeface="Arial" panose="020B0604020202020204" pitchFamily="34" charset="0"/>
              </a:rPr>
              <a:t>Any data for which you can calculate a standardized mean difference effect size, you can also calculate a correlation type effect size</a:t>
            </a:r>
          </a:p>
          <a:p>
            <a:r>
              <a:rPr lang="en-US" altLang="en-US" dirty="0">
                <a:latin typeface="Arial" panose="020B0604020202020204" pitchFamily="34" charset="0"/>
                <a:cs typeface="Arial" panose="020B0604020202020204" pitchFamily="34" charset="0"/>
              </a:rPr>
              <a:t>See Rosenthal (1991) book/paper for formulas</a:t>
            </a:r>
          </a:p>
        </p:txBody>
      </p:sp>
    </p:spTree>
    <p:extLst>
      <p:ext uri="{BB962C8B-B14F-4D97-AF65-F5344CB8AC3E}">
        <p14:creationId xmlns:p14="http://schemas.microsoft.com/office/powerpoint/2010/main" val="5092705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6553200" y="6243638"/>
            <a:ext cx="2133600" cy="457200"/>
          </a:xfrm>
          <a:prstGeom prst="rect">
            <a:avLst/>
          </a:prstGeom>
        </p:spPr>
        <p:txBody>
          <a:bodyPr/>
          <a:lstStyle/>
          <a:p>
            <a:fld id="{22519394-F6C1-42C2-AB42-AA2258F83C22}" type="slidenum">
              <a:rPr lang="en-US" altLang="en-US"/>
              <a:pPr/>
              <a:t>31</a:t>
            </a:fld>
            <a:endParaRPr lang="en-US" altLang="en-US"/>
          </a:p>
        </p:txBody>
      </p:sp>
      <p:sp>
        <p:nvSpPr>
          <p:cNvPr id="47106" name="Rectangle 2"/>
          <p:cNvSpPr>
            <a:spLocks noGrp="1" noChangeArrowheads="1"/>
          </p:cNvSpPr>
          <p:nvPr>
            <p:ph type="title"/>
          </p:nvPr>
        </p:nvSpPr>
        <p:spPr>
          <a:xfrm>
            <a:off x="0" y="0"/>
            <a:ext cx="9144000" cy="1417638"/>
          </a:xfrm>
        </p:spPr>
        <p:txBody>
          <a:bodyPr/>
          <a:lstStyle/>
          <a:p>
            <a:pPr algn="ctr"/>
            <a:r>
              <a:rPr lang="en-US" altLang="en-US" b="1" dirty="0"/>
              <a:t>Issues in Coding Effect Sizes</a:t>
            </a:r>
          </a:p>
        </p:txBody>
      </p:sp>
      <p:sp>
        <p:nvSpPr>
          <p:cNvPr id="47107" name="Rectangle 3"/>
          <p:cNvSpPr>
            <a:spLocks noGrp="1" noChangeArrowheads="1"/>
          </p:cNvSpPr>
          <p:nvPr>
            <p:ph type="body" idx="1"/>
          </p:nvPr>
        </p:nvSpPr>
        <p:spPr>
          <a:xfrm>
            <a:off x="0" y="1600201"/>
            <a:ext cx="9144000" cy="3962399"/>
          </a:xfrm>
        </p:spPr>
        <p:txBody>
          <a:bodyPr/>
          <a:lstStyle/>
          <a:p>
            <a:r>
              <a:rPr lang="en-US" altLang="en-US" sz="2800" dirty="0">
                <a:latin typeface="Arial" panose="020B0604020202020204" pitchFamily="34" charset="0"/>
                <a:cs typeface="Arial" panose="020B0604020202020204" pitchFamily="34" charset="0"/>
              </a:rPr>
              <a:t>Which formula to use when data are available for multiple formulas</a:t>
            </a:r>
          </a:p>
          <a:p>
            <a:r>
              <a:rPr lang="en-US" altLang="en-US" sz="2800" dirty="0">
                <a:latin typeface="Arial" panose="020B0604020202020204" pitchFamily="34" charset="0"/>
                <a:cs typeface="Arial" panose="020B0604020202020204" pitchFamily="34" charset="0"/>
              </a:rPr>
              <a:t>Multiple documents/publications reporting the same data (not always in agreement)</a:t>
            </a:r>
          </a:p>
          <a:p>
            <a:r>
              <a:rPr lang="en-US" altLang="en-US" sz="2800" dirty="0">
                <a:latin typeface="Arial" panose="020B0604020202020204" pitchFamily="34" charset="0"/>
                <a:cs typeface="Arial" panose="020B0604020202020204" pitchFamily="34" charset="0"/>
              </a:rPr>
              <a:t>How much guessing should be allowed</a:t>
            </a:r>
          </a:p>
          <a:p>
            <a:pPr lvl="1">
              <a:buClr>
                <a:srgbClr val="0A3E64"/>
              </a:buClr>
            </a:pPr>
            <a:r>
              <a:rPr lang="en-US" altLang="en-US" sz="2400" dirty="0">
                <a:latin typeface="Arial" panose="020B0604020202020204" pitchFamily="34" charset="0"/>
                <a:cs typeface="Arial" panose="020B0604020202020204" pitchFamily="34" charset="0"/>
              </a:rPr>
              <a:t>sample size is important but may not be presented for both groups</a:t>
            </a:r>
          </a:p>
          <a:p>
            <a:pPr lvl="1">
              <a:buClr>
                <a:srgbClr val="0A3E64"/>
              </a:buClr>
            </a:pPr>
            <a:r>
              <a:rPr lang="en-US" altLang="en-US" sz="2400" dirty="0">
                <a:latin typeface="Arial" panose="020B0604020202020204" pitchFamily="34" charset="0"/>
                <a:cs typeface="Arial" panose="020B0604020202020204" pitchFamily="34" charset="0"/>
              </a:rPr>
              <a:t>some numbers matter more than others</a:t>
            </a:r>
          </a:p>
        </p:txBody>
      </p:sp>
    </p:spTree>
    <p:extLst>
      <p:ext uri="{BB962C8B-B14F-4D97-AF65-F5344CB8AC3E}">
        <p14:creationId xmlns:p14="http://schemas.microsoft.com/office/powerpoint/2010/main" val="29336583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p:cNvSpPr>
            <a:spLocks noGrp="1" noChangeArrowheads="1"/>
          </p:cNvSpPr>
          <p:nvPr>
            <p:ph type="title" idx="4294967295"/>
          </p:nvPr>
        </p:nvSpPr>
        <p:spPr>
          <a:xfrm>
            <a:off x="0" y="0"/>
            <a:ext cx="9144000" cy="11398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Strengths of Meta-analysis</a:t>
            </a:r>
          </a:p>
        </p:txBody>
      </p:sp>
      <p:sp>
        <p:nvSpPr>
          <p:cNvPr id="24578" name="Rectangle 2"/>
          <p:cNvSpPr>
            <a:spLocks noGrp="1" noChangeArrowheads="1"/>
          </p:cNvSpPr>
          <p:nvPr>
            <p:ph type="body" idx="4294967295"/>
          </p:nvPr>
        </p:nvSpPr>
        <p:spPr>
          <a:xfrm>
            <a:off x="0" y="1139825"/>
            <a:ext cx="9144000" cy="4422775"/>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600" dirty="0">
                <a:latin typeface="Arial" panose="020B0604020202020204" pitchFamily="34" charset="0"/>
                <a:cs typeface="Arial" panose="020B0604020202020204" pitchFamily="34" charset="0"/>
              </a:rPr>
              <a:t>Imposes a discipline on the process of summing up research findings</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600" dirty="0">
                <a:latin typeface="Arial" panose="020B0604020202020204" pitchFamily="34" charset="0"/>
                <a:cs typeface="Arial" panose="020B0604020202020204" pitchFamily="34" charset="0"/>
              </a:rPr>
              <a:t>Represents findings in a more differentiated and sophisticated manner than conventional reviews</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600" dirty="0">
                <a:latin typeface="Arial" panose="020B0604020202020204" pitchFamily="34" charset="0"/>
                <a:cs typeface="Arial" panose="020B0604020202020204" pitchFamily="34" charset="0"/>
              </a:rPr>
              <a:t>Capable of finding relationships across studies that are obscured in other approaches</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600" dirty="0">
                <a:latin typeface="Arial" panose="020B0604020202020204" pitchFamily="34" charset="0"/>
                <a:cs typeface="Arial" panose="020B0604020202020204" pitchFamily="34" charset="0"/>
              </a:rPr>
              <a:t>Protects against over-interpreting differences across studies</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600" dirty="0">
                <a:latin typeface="Arial" panose="020B0604020202020204" pitchFamily="34" charset="0"/>
                <a:cs typeface="Arial" panose="020B0604020202020204" pitchFamily="34" charset="0"/>
              </a:rPr>
              <a:t>Can handle a large numbers of studies (this would overwhelm traditional approaches to review)</a:t>
            </a:r>
          </a:p>
        </p:txBody>
      </p:sp>
    </p:spTree>
    <p:extLst>
      <p:ext uri="{BB962C8B-B14F-4D97-AF65-F5344CB8AC3E}">
        <p14:creationId xmlns:p14="http://schemas.microsoft.com/office/powerpoint/2010/main" val="189793395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
          <p:cNvSpPr>
            <a:spLocks noGrp="1" noChangeArrowheads="1"/>
          </p:cNvSpPr>
          <p:nvPr>
            <p:ph type="title" idx="4294967295"/>
          </p:nvPr>
        </p:nvSpPr>
        <p:spPr>
          <a:xfrm>
            <a:off x="0" y="0"/>
            <a:ext cx="9144000" cy="1139825"/>
          </a:xfrm>
          <a:ln/>
        </p:spPr>
        <p:txBody>
          <a:bodyP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600" b="1" dirty="0">
                <a:latin typeface="Arial" panose="020B0604020202020204" pitchFamily="34" charset="0"/>
                <a:cs typeface="Arial" panose="020B0604020202020204" pitchFamily="34" charset="0"/>
              </a:rPr>
              <a:t>Weaknesses of Meta-analysis</a:t>
            </a:r>
          </a:p>
        </p:txBody>
      </p:sp>
      <p:sp>
        <p:nvSpPr>
          <p:cNvPr id="25602" name="Rectangle 2"/>
          <p:cNvSpPr>
            <a:spLocks noGrp="1" noChangeArrowheads="1"/>
          </p:cNvSpPr>
          <p:nvPr>
            <p:ph type="body" idx="4294967295"/>
          </p:nvPr>
        </p:nvSpPr>
        <p:spPr>
          <a:xfrm>
            <a:off x="0" y="1139825"/>
            <a:ext cx="9144000" cy="4422775"/>
          </a:xfrm>
          <a:ln/>
        </p:spPr>
        <p:txBody>
          <a:bodyPr/>
          <a:lstStyle/>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200" dirty="0">
                <a:latin typeface="Arial" panose="020B0604020202020204" pitchFamily="34" charset="0"/>
                <a:cs typeface="Arial" panose="020B0604020202020204" pitchFamily="34" charset="0"/>
              </a:rPr>
              <a:t>Requires a good deal of effort</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200" dirty="0">
                <a:latin typeface="Arial" panose="020B0604020202020204" pitchFamily="34" charset="0"/>
                <a:cs typeface="Arial" panose="020B0604020202020204" pitchFamily="34" charset="0"/>
              </a:rPr>
              <a:t>Mechanical aspects don’t lend themselves to capturing more qualitative distinctions between studies</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200" dirty="0">
                <a:latin typeface="Arial" panose="020B0604020202020204" pitchFamily="34" charset="0"/>
                <a:cs typeface="Arial" panose="020B0604020202020204" pitchFamily="34" charset="0"/>
              </a:rPr>
              <a:t>“Apples and oranges” criticism</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200" dirty="0">
                <a:latin typeface="Arial" panose="020B0604020202020204" pitchFamily="34" charset="0"/>
                <a:cs typeface="Arial" panose="020B0604020202020204" pitchFamily="34" charset="0"/>
              </a:rPr>
              <a:t>Most meta-analyses include “blemished” studies to one degree or another (e.g., a randomized design with attrition)</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200" dirty="0">
                <a:latin typeface="Arial" panose="020B0604020202020204" pitchFamily="34" charset="0"/>
                <a:cs typeface="Arial" panose="020B0604020202020204" pitchFamily="34" charset="0"/>
              </a:rPr>
              <a:t>Selection bias posses a continual threat</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200" dirty="0">
                <a:latin typeface="Arial" panose="020B0604020202020204" pitchFamily="34" charset="0"/>
                <a:cs typeface="Arial" panose="020B0604020202020204" pitchFamily="34" charset="0"/>
              </a:rPr>
              <a:t>Negative and null finding studies that you were unable to find</a:t>
            </a:r>
          </a:p>
          <a:p>
            <a:pPr marL="666750" lvl="1" indent="-325438">
              <a:lnSpc>
                <a:spcPct val="100000"/>
              </a:lnSpc>
              <a:buClr>
                <a:srgbClr val="0A3E64"/>
              </a:buClr>
              <a:buSzPct val="60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200" dirty="0">
                <a:latin typeface="Arial" panose="020B0604020202020204" pitchFamily="34" charset="0"/>
                <a:cs typeface="Arial" panose="020B0604020202020204" pitchFamily="34" charset="0"/>
              </a:rPr>
              <a:t>Outcomes for which there were negative or null findings that were not reported</a:t>
            </a:r>
          </a:p>
          <a:p>
            <a:pPr marL="339725" indent="-339725">
              <a:lnSpc>
                <a:spcPct val="100000"/>
              </a:lnSpc>
              <a:buSzPct val="65000"/>
              <a:buFont typeface="Wingdings" panose="05000000000000000000"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200" dirty="0">
                <a:latin typeface="Arial" panose="020B0604020202020204" pitchFamily="34" charset="0"/>
                <a:cs typeface="Arial" panose="020B0604020202020204" pitchFamily="34" charset="0"/>
              </a:rPr>
              <a:t>Analysis of between study differences is fundamentally correlational</a:t>
            </a:r>
          </a:p>
        </p:txBody>
      </p:sp>
    </p:spTree>
    <p:extLst>
      <p:ext uri="{BB962C8B-B14F-4D97-AF65-F5344CB8AC3E}">
        <p14:creationId xmlns:p14="http://schemas.microsoft.com/office/powerpoint/2010/main" val="404958061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1"/>
            <a:ext cx="9144000" cy="1018525"/>
          </a:xfrm>
        </p:spPr>
        <p:txBody>
          <a:bodyPr/>
          <a:lstStyle/>
          <a:p>
            <a:pPr algn="ctr"/>
            <a:r>
              <a:rPr lang="en-US" altLang="en-US" sz="3600" b="1" dirty="0">
                <a:latin typeface="Arial" panose="020B0604020202020204" pitchFamily="34" charset="0"/>
                <a:cs typeface="Arial" panose="020B0604020202020204" pitchFamily="34" charset="0"/>
              </a:rPr>
              <a:t>Major Reviews</a:t>
            </a:r>
          </a:p>
        </p:txBody>
      </p:sp>
      <p:sp>
        <p:nvSpPr>
          <p:cNvPr id="7171" name="Content Placeholder 2"/>
          <p:cNvSpPr>
            <a:spLocks noGrp="1"/>
          </p:cNvSpPr>
          <p:nvPr>
            <p:ph idx="1"/>
          </p:nvPr>
        </p:nvSpPr>
        <p:spPr>
          <a:xfrm>
            <a:off x="1" y="838200"/>
            <a:ext cx="9143999" cy="4724401"/>
          </a:xfrm>
        </p:spPr>
        <p:txBody>
          <a:bodyPr/>
          <a:lstStyle/>
          <a:p>
            <a:pPr lvl="1">
              <a:buClr>
                <a:schemeClr val="tx2"/>
              </a:buClr>
              <a:buFont typeface="Wingdings" panose="05000000000000000000" pitchFamily="2" charset="2"/>
              <a:buChar char="v"/>
            </a:pPr>
            <a:endParaRPr lang="en-US" altLang="en-US" sz="2800" dirty="0"/>
          </a:p>
          <a:p>
            <a:pPr lvl="1">
              <a:buClr>
                <a:schemeClr val="tx2"/>
              </a:buClr>
              <a:buFont typeface="Wingdings" panose="05000000000000000000" pitchFamily="2" charset="2"/>
              <a:buChar char="§"/>
            </a:pPr>
            <a:r>
              <a:rPr lang="en-US" altLang="en-US" sz="2800" dirty="0">
                <a:latin typeface="Arial" panose="020B0604020202020204" pitchFamily="34" charset="0"/>
                <a:cs typeface="Arial" panose="020B0604020202020204" pitchFamily="34" charset="0"/>
              </a:rPr>
              <a:t>Thompson’s (1990) assessment that ‘‘personality and individual differences appear to play a minimal role in determining bargaining behavior’’ (p. 515).</a:t>
            </a:r>
          </a:p>
          <a:p>
            <a:pPr lvl="1">
              <a:buClr>
                <a:schemeClr val="tx2"/>
              </a:buClr>
              <a:buFont typeface="Wingdings" panose="05000000000000000000" pitchFamily="2" charset="2"/>
              <a:buChar char="§"/>
            </a:pPr>
            <a:r>
              <a:rPr lang="en-US" altLang="en-US" sz="2800" dirty="0" err="1">
                <a:latin typeface="Arial" panose="020B0604020202020204" pitchFamily="34" charset="0"/>
                <a:cs typeface="Arial" panose="020B0604020202020204" pitchFamily="34" charset="0"/>
              </a:rPr>
              <a:t>Bazerman</a:t>
            </a:r>
            <a:r>
              <a:rPr lang="en-US" altLang="en-US" sz="2800" dirty="0">
                <a:latin typeface="Arial" panose="020B0604020202020204" pitchFamily="34" charset="0"/>
                <a:cs typeface="Arial" panose="020B0604020202020204" pitchFamily="34" charset="0"/>
              </a:rPr>
              <a:t>, </a:t>
            </a:r>
            <a:r>
              <a:rPr lang="en-US" altLang="en-US" sz="2800" dirty="0" err="1">
                <a:latin typeface="Arial" panose="020B0604020202020204" pitchFamily="34" charset="0"/>
                <a:cs typeface="Arial" panose="020B0604020202020204" pitchFamily="34" charset="0"/>
              </a:rPr>
              <a:t>Curhan</a:t>
            </a:r>
            <a:r>
              <a:rPr lang="en-US" altLang="en-US" sz="2800" dirty="0">
                <a:latin typeface="Arial" panose="020B0604020202020204" pitchFamily="34" charset="0"/>
                <a:cs typeface="Arial" panose="020B0604020202020204" pitchFamily="34" charset="0"/>
              </a:rPr>
              <a:t>, Moore, and Valley’s (2000) claim that ‘‘simple individual differences offer limited potential for predicting negotiation outcomes’’ (p. 281).</a:t>
            </a:r>
          </a:p>
          <a:p>
            <a:pPr lvl="1">
              <a:buClr>
                <a:schemeClr val="tx2"/>
              </a:buClr>
              <a:buFont typeface="Wingdings" panose="05000000000000000000" pitchFamily="2" charset="2"/>
              <a:buChar char="§"/>
            </a:pPr>
            <a:r>
              <a:rPr lang="en-US" dirty="0">
                <a:latin typeface="Arial" panose="020B0604020202020204" pitchFamily="34" charset="0"/>
                <a:cs typeface="Arial" panose="020B0604020202020204" pitchFamily="34" charset="0"/>
              </a:rPr>
              <a:t>Unduly influenced by one major qualitative review (Rubin &amp; Brown, 1975)- “Irrelevance Consensus” </a:t>
            </a:r>
          </a:p>
          <a:p>
            <a:pPr lvl="1">
              <a:buFont typeface="Wingdings" panose="05000000000000000000" pitchFamily="2" charset="2"/>
              <a:buChar char="v"/>
            </a:pPr>
            <a:endParaRPr lang="en-US" altLang="en-US" sz="2800" dirty="0"/>
          </a:p>
          <a:p>
            <a:endParaRPr lang="en-US" altLang="en-US" dirty="0"/>
          </a:p>
        </p:txBody>
      </p:sp>
    </p:spTree>
    <p:extLst>
      <p:ext uri="{BB962C8B-B14F-4D97-AF65-F5344CB8AC3E}">
        <p14:creationId xmlns:p14="http://schemas.microsoft.com/office/powerpoint/2010/main" val="42531226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0"/>
            <a:ext cx="9144000" cy="4800600"/>
          </a:xfrm>
        </p:spPr>
        <p:txBody>
          <a:bodyPr/>
          <a:lstStyle/>
          <a:p>
            <a:r>
              <a:rPr lang="en-US" dirty="0">
                <a:latin typeface="Arial" panose="020B0604020202020204" pitchFamily="34" charset="0"/>
                <a:cs typeface="Arial" panose="020B0604020202020204" pitchFamily="34" charset="0"/>
              </a:rPr>
              <a:t>Straightforward benefits for intelligence</a:t>
            </a:r>
          </a:p>
          <a:p>
            <a:pPr lvl="1">
              <a:buClr>
                <a:schemeClr val="tx2"/>
              </a:buClr>
            </a:pPr>
            <a:r>
              <a:rPr lang="en-US" sz="2500" dirty="0">
                <a:latin typeface="Arial" panose="020B0604020202020204" pitchFamily="34" charset="0"/>
                <a:cs typeface="Arial" panose="020B0604020202020204" pitchFamily="34" charset="0"/>
              </a:rPr>
              <a:t>Cognitive intelligence facilitates individual and joint economic gain</a:t>
            </a:r>
          </a:p>
          <a:p>
            <a:pPr lvl="1">
              <a:buClr>
                <a:schemeClr val="tx2"/>
              </a:buClr>
            </a:pPr>
            <a:r>
              <a:rPr lang="en-US" sz="2500" dirty="0">
                <a:latin typeface="Arial" panose="020B0604020202020204" pitchFamily="34" charset="0"/>
                <a:cs typeface="Arial" panose="020B0604020202020204" pitchFamily="34" charset="0"/>
              </a:rPr>
              <a:t>Emotional intelligence facilitates relationship building</a:t>
            </a:r>
          </a:p>
          <a:p>
            <a:r>
              <a:rPr lang="en-US" dirty="0">
                <a:latin typeface="Arial" panose="020B0604020202020204" pitchFamily="34" charset="0"/>
                <a:cs typeface="Arial" panose="020B0604020202020204" pitchFamily="34" charset="0"/>
              </a:rPr>
              <a:t>More complex effects for personality traits</a:t>
            </a:r>
          </a:p>
          <a:p>
            <a:pPr lvl="1">
              <a:buClr>
                <a:schemeClr val="tx2"/>
              </a:buClr>
            </a:pPr>
            <a:r>
              <a:rPr lang="en-US" sz="2500" dirty="0">
                <a:latin typeface="Arial" panose="020B0604020202020204" pitchFamily="34" charset="0"/>
                <a:cs typeface="Arial" panose="020B0604020202020204" pitchFamily="34" charset="0"/>
              </a:rPr>
              <a:t>Modest, scatter, and inconsistent findings</a:t>
            </a:r>
          </a:p>
          <a:p>
            <a:pPr lvl="1">
              <a:buClr>
                <a:schemeClr val="tx2"/>
              </a:buClr>
            </a:pPr>
            <a:r>
              <a:rPr lang="en-US" sz="2500" dirty="0">
                <a:latin typeface="Arial" panose="020B0604020202020204" pitchFamily="34" charset="0"/>
                <a:cs typeface="Arial" panose="020B0604020202020204" pitchFamily="34" charset="0"/>
              </a:rPr>
              <a:t>Limited number of studies</a:t>
            </a:r>
          </a:p>
          <a:p>
            <a:r>
              <a:rPr lang="en-US" dirty="0">
                <a:latin typeface="Arial" panose="020B0604020202020204" pitchFamily="34" charset="0"/>
                <a:cs typeface="Arial" panose="020B0604020202020204" pitchFamily="34" charset="0"/>
              </a:rPr>
              <a:t>Misinterpretations of Rubin &amp; Brown(1975) qualitative analysis hindered data gathering – impeded the field</a:t>
            </a:r>
          </a:p>
          <a:p>
            <a:pPr marL="0" indent="0" algn="ctr">
              <a:buNone/>
            </a:pPr>
            <a:r>
              <a:rPr lang="en-US" dirty="0"/>
              <a:t>	</a:t>
            </a:r>
          </a:p>
          <a:p>
            <a:endParaRPr lang="en-US" dirty="0"/>
          </a:p>
        </p:txBody>
      </p:sp>
      <p:sp>
        <p:nvSpPr>
          <p:cNvPr id="5" name="Title 1"/>
          <p:cNvSpPr>
            <a:spLocks noGrp="1"/>
          </p:cNvSpPr>
          <p:nvPr>
            <p:ph type="title"/>
          </p:nvPr>
        </p:nvSpPr>
        <p:spPr>
          <a:xfrm>
            <a:off x="0" y="0"/>
            <a:ext cx="9144000" cy="876301"/>
          </a:xfrm>
        </p:spPr>
        <p:txBody>
          <a:bodyPr/>
          <a:lstStyle/>
          <a:p>
            <a:pPr algn="ctr"/>
            <a:r>
              <a:rPr lang="en-US" altLang="en-US" sz="3600" b="1" dirty="0">
                <a:latin typeface="Arial" panose="020B0604020202020204" pitchFamily="34" charset="0"/>
                <a:cs typeface="Arial" panose="020B0604020202020204" pitchFamily="34" charset="0"/>
              </a:rPr>
              <a:t>Comprehensive Meta-Analysis  </a:t>
            </a:r>
            <a:r>
              <a:rPr lang="en-US" altLang="en-US" sz="3200" b="1" dirty="0"/>
              <a:t/>
            </a:r>
            <a:br>
              <a:rPr lang="en-US" altLang="en-US" sz="3200" b="1" dirty="0"/>
            </a:br>
            <a:r>
              <a:rPr lang="en-US" altLang="en-US" sz="2400" dirty="0">
                <a:latin typeface="Arial" panose="020B0604020202020204" pitchFamily="34" charset="0"/>
                <a:cs typeface="Arial" panose="020B0604020202020204" pitchFamily="34" charset="0"/>
              </a:rPr>
              <a:t>(Sharma, Bottom, &amp; </a:t>
            </a:r>
            <a:r>
              <a:rPr lang="en-US" altLang="en-US" sz="2400" dirty="0" err="1">
                <a:latin typeface="Arial" panose="020B0604020202020204" pitchFamily="34" charset="0"/>
                <a:cs typeface="Arial" panose="020B0604020202020204" pitchFamily="34" charset="0"/>
              </a:rPr>
              <a:t>Elfenbein</a:t>
            </a:r>
            <a:r>
              <a:rPr lang="en-US" altLang="en-US" sz="2400" dirty="0">
                <a:latin typeface="Arial" panose="020B0604020202020204" pitchFamily="34" charset="0"/>
                <a:cs typeface="Arial" panose="020B0604020202020204" pitchFamily="34" charset="0"/>
              </a:rPr>
              <a:t>, 2013)</a:t>
            </a:r>
          </a:p>
        </p:txBody>
      </p:sp>
    </p:spTree>
    <p:extLst>
      <p:ext uri="{BB962C8B-B14F-4D97-AF65-F5344CB8AC3E}">
        <p14:creationId xmlns:p14="http://schemas.microsoft.com/office/powerpoint/2010/main" val="1530204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84" y="990601"/>
            <a:ext cx="9129215" cy="4572000"/>
          </a:xfrm>
        </p:spPr>
        <p:txBody>
          <a:bodyPr/>
          <a:lstStyle/>
          <a:p>
            <a:pPr marL="0" indent="0">
              <a:buNone/>
            </a:pPr>
            <a:endParaRPr lang="en-US" sz="5400" dirty="0">
              <a:latin typeface="+mj-lt"/>
            </a:endParaRPr>
          </a:p>
          <a:p>
            <a:pPr marL="0" indent="0" algn="ctr">
              <a:buNone/>
            </a:pPr>
            <a:r>
              <a:rPr lang="en-US" sz="3200" dirty="0">
                <a:latin typeface="+mj-lt"/>
              </a:rPr>
              <a:t>		 		 </a:t>
            </a:r>
          </a:p>
          <a:p>
            <a:pPr marL="0" indent="0" algn="ctr">
              <a:buNone/>
            </a:pPr>
            <a:r>
              <a:rPr lang="en-US" sz="6600" b="1" dirty="0">
                <a:solidFill>
                  <a:srgbClr val="FF0000"/>
                </a:solidFill>
                <a:latin typeface="+mj-lt"/>
              </a:rPr>
              <a:t>Thank you!</a:t>
            </a:r>
          </a:p>
          <a:p>
            <a:pPr marL="0" indent="0" algn="ctr">
              <a:buNone/>
            </a:pPr>
            <a:endParaRPr lang="en-US" sz="3200" dirty="0"/>
          </a:p>
          <a:p>
            <a:pPr marL="0" indent="0" algn="ctr">
              <a:buNone/>
            </a:pPr>
            <a:endParaRPr lang="en-US" sz="5400" dirty="0">
              <a:latin typeface="+mj-lt"/>
            </a:endParaRPr>
          </a:p>
          <a:p>
            <a:pPr marL="0" indent="0">
              <a:buNone/>
            </a:pPr>
            <a:endParaRPr lang="en-US" sz="5400" dirty="0">
              <a:latin typeface="+mj-lt"/>
            </a:endParaRPr>
          </a:p>
          <a:p>
            <a:pPr marL="0" indent="0">
              <a:buNone/>
            </a:pPr>
            <a:r>
              <a:rPr lang="en-US" sz="5400" dirty="0">
                <a:latin typeface="+mj-lt"/>
              </a:rPr>
              <a:t>				</a:t>
            </a:r>
            <a:endParaRPr lang="en-US" sz="5400" dirty="0">
              <a:solidFill>
                <a:srgbClr val="C00000"/>
              </a:solidFill>
              <a:latin typeface="+mj-lt"/>
            </a:endParaRPr>
          </a:p>
        </p:txBody>
      </p:sp>
    </p:spTree>
    <p:extLst>
      <p:ext uri="{BB962C8B-B14F-4D97-AF65-F5344CB8AC3E}">
        <p14:creationId xmlns:p14="http://schemas.microsoft.com/office/powerpoint/2010/main" val="216678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UIS-PPT-Template-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IS-PPT-1 [Compatibility Mode]" id="{DCA36203-CE21-41FA-8B97-0BDD0BA8D2F0}" vid="{52309D83-0051-4700-BE0D-9A2321105A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UIS-PPT-Template-3</Template>
  <TotalTime>8933</TotalTime>
  <Words>1873</Words>
  <Application>Microsoft Macintosh PowerPoint</Application>
  <PresentationFormat>On-screen Show (4:3)</PresentationFormat>
  <Paragraphs>270</Paragraphs>
  <Slides>37</Slides>
  <Notes>23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37</vt:i4>
      </vt:variant>
    </vt:vector>
  </HeadingPairs>
  <TitlesOfParts>
    <vt:vector size="48" baseType="lpstr">
      <vt:lpstr>Cambria</vt:lpstr>
      <vt:lpstr>Helvetica</vt:lpstr>
      <vt:lpstr>ＭＳ Ｐゴシック</vt:lpstr>
      <vt:lpstr>SimSun</vt:lpstr>
      <vt:lpstr>Wingdings</vt:lpstr>
      <vt:lpstr>Arial</vt:lpstr>
      <vt:lpstr>Calibri</vt:lpstr>
      <vt:lpstr>Times New Roman</vt:lpstr>
      <vt:lpstr>UIS-PPT-Template-3</vt:lpstr>
      <vt:lpstr>Equation</vt:lpstr>
      <vt:lpstr>Document</vt:lpstr>
      <vt:lpstr>PowerPoint Presentation</vt:lpstr>
      <vt:lpstr>Overview of the Workshop</vt:lpstr>
      <vt:lpstr>The Great Debate</vt:lpstr>
      <vt:lpstr>The Emergence of Meta-analysis</vt:lpstr>
      <vt:lpstr>The Emergence of Meta-analysis</vt:lpstr>
      <vt:lpstr>The Logic of Meta-analysis</vt:lpstr>
      <vt:lpstr>Illustration</vt:lpstr>
      <vt:lpstr>Illustration (Continued)</vt:lpstr>
      <vt:lpstr>When Can You Do Meta-analysis?</vt:lpstr>
      <vt:lpstr>Forms of Research Findings Suitable to Meta-analysis</vt:lpstr>
      <vt:lpstr>Forms of Research Findings Suitable to Meta-analysis</vt:lpstr>
      <vt:lpstr>Basic Steps in a Meta-Analysis</vt:lpstr>
      <vt:lpstr>Which Studies to Include?</vt:lpstr>
      <vt:lpstr>Methodological Quality Dilemma</vt:lpstr>
      <vt:lpstr>Searching Far and Wide</vt:lpstr>
      <vt:lpstr>Searching Far and Wide (continued)</vt:lpstr>
      <vt:lpstr>A Note About Computerized Bibliographies</vt:lpstr>
      <vt:lpstr>Coding Studies</vt:lpstr>
      <vt:lpstr>Coding….Continue</vt:lpstr>
      <vt:lpstr>PowerPoint Presentation</vt:lpstr>
      <vt:lpstr>Effect Size: The Key to Meta-analysis</vt:lpstr>
      <vt:lpstr>Effect Size: The Key to Meta-analysis</vt:lpstr>
      <vt:lpstr>The Effect Size</vt:lpstr>
      <vt:lpstr>Examples of Different Types of Effect Sizes</vt:lpstr>
      <vt:lpstr>PowerPoint Presentation</vt:lpstr>
      <vt:lpstr>What Makes Something an Effect Size for Meta-analytic Purposes</vt:lpstr>
      <vt:lpstr>The Standardized Mean Difference</vt:lpstr>
      <vt:lpstr>The Correlation Coefficient</vt:lpstr>
      <vt:lpstr>The Odds-Ratio</vt:lpstr>
      <vt:lpstr>The Risk Ratio</vt:lpstr>
      <vt:lpstr>Formulas for the Correlation Coefficient</vt:lpstr>
      <vt:lpstr>Issues in Coding Effect Sizes</vt:lpstr>
      <vt:lpstr>Strengths of Meta-analysis</vt:lpstr>
      <vt:lpstr>Weaknesses of Meta-analysis</vt:lpstr>
      <vt:lpstr>Major Reviews</vt:lpstr>
      <vt:lpstr>Comprehensive Meta-Analysis   (Sharma, Bottom, &amp; Elfenbein, 2013)</vt:lpstr>
      <vt:lpstr>PowerPoint Presentation</vt:lpstr>
    </vt:vector>
  </TitlesOfParts>
  <Company>University of Illinois Springfield</Company>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sudeep sharma</dc:creator>
  <cp:lastModifiedBy>Hamed Qahri Saremi</cp:lastModifiedBy>
  <cp:revision>220</cp:revision>
  <cp:lastPrinted>2015-04-30T16:22:30Z</cp:lastPrinted>
  <dcterms:created xsi:type="dcterms:W3CDTF">2016-08-03T19:11:42Z</dcterms:created>
  <dcterms:modified xsi:type="dcterms:W3CDTF">2017-08-02T18:24:41Z</dcterms:modified>
</cp:coreProperties>
</file>