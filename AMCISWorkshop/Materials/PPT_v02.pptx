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2.xml" ContentType="application/vnd.openxmlformats-officedocument.presentationml.notesSlide+xml"/>
  <Override PartName="/ppt/charts/chart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90" r:id="rId2"/>
    <p:sldId id="304" r:id="rId3"/>
    <p:sldId id="256" r:id="rId4"/>
    <p:sldId id="264" r:id="rId5"/>
    <p:sldId id="268" r:id="rId6"/>
    <p:sldId id="270" r:id="rId7"/>
    <p:sldId id="272" r:id="rId8"/>
    <p:sldId id="271" r:id="rId9"/>
    <p:sldId id="273" r:id="rId10"/>
    <p:sldId id="274" r:id="rId11"/>
    <p:sldId id="315" r:id="rId12"/>
    <p:sldId id="279" r:id="rId13"/>
    <p:sldId id="280" r:id="rId14"/>
    <p:sldId id="307" r:id="rId15"/>
    <p:sldId id="278" r:id="rId16"/>
    <p:sldId id="281" r:id="rId17"/>
    <p:sldId id="282" r:id="rId18"/>
    <p:sldId id="263" r:id="rId19"/>
    <p:sldId id="262" r:id="rId20"/>
    <p:sldId id="283" r:id="rId21"/>
    <p:sldId id="308" r:id="rId22"/>
    <p:sldId id="284" r:id="rId23"/>
    <p:sldId id="309" r:id="rId24"/>
    <p:sldId id="285" r:id="rId25"/>
    <p:sldId id="286" r:id="rId26"/>
    <p:sldId id="287" r:id="rId27"/>
    <p:sldId id="292" r:id="rId28"/>
    <p:sldId id="293" r:id="rId29"/>
    <p:sldId id="294" r:id="rId30"/>
    <p:sldId id="295" r:id="rId31"/>
    <p:sldId id="296" r:id="rId32"/>
    <p:sldId id="297" r:id="rId33"/>
    <p:sldId id="298" r:id="rId34"/>
    <p:sldId id="299" r:id="rId35"/>
    <p:sldId id="305" r:id="rId36"/>
    <p:sldId id="300" r:id="rId37"/>
    <p:sldId id="301" r:id="rId38"/>
    <p:sldId id="302" r:id="rId39"/>
    <p:sldId id="303" r:id="rId40"/>
    <p:sldId id="311" r:id="rId41"/>
    <p:sldId id="313" r:id="rId42"/>
    <p:sldId id="314" r:id="rId43"/>
    <p:sldId id="310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3" autoAdjust="0"/>
    <p:restoredTop sz="99270" autoAdjust="0"/>
  </p:normalViewPr>
  <p:slideViewPr>
    <p:cSldViewPr snapToGrid="0" snapToObjects="1">
      <p:cViewPr varScale="1">
        <p:scale>
          <a:sx n="97" d="100"/>
          <a:sy n="97" d="100"/>
        </p:scale>
        <p:origin x="-148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46" Type="http://schemas.openxmlformats.org/officeDocument/2006/relationships/handoutMaster" Target="handoutMasters/handoutMaster1.xml"/><Relationship Id="rId47" Type="http://schemas.openxmlformats.org/officeDocument/2006/relationships/printerSettings" Target="printerSettings/printerSettings1.bin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0" Type="http://schemas.openxmlformats.org/officeDocument/2006/relationships/theme" Target="theme/theme1.xml"/><Relationship Id="rId5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qahr2:Documents:Research:Ofir:Ambivalence:Data:2015-10-21%20Results_BarCharts.xlsx" TargetMode="External"/><Relationship Id="rId2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qahr2:Documents:Research:Ofir:Ambivalence:Data:2015-10-21%20Results_BarCharts.xlsx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qahr2:Documents:Research:Ofir:Ambivalence:Data:2015-10-21%20Results_BarCharts.xlsx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qahr2:Documents:Research:Ofir:Ambivalence:Data:2015-10-21%20Results_BarCharts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hqahr2:Documents:Research:Ofir:Ambivalence:Data:2015-10-21%20Results_BarChart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'Before Replication (Standard)'!$I$3</c:f>
              <c:strCache>
                <c:ptCount val="1"/>
                <c:pt idx="0">
                  <c:v>Intention to 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(Standard)'!$J$13:$N$13</c:f>
                <c:numCache>
                  <c:formatCode>General</c:formatCode>
                  <c:ptCount val="5"/>
                  <c:pt idx="0">
                    <c:v>0.077</c:v>
                  </c:pt>
                  <c:pt idx="1">
                    <c:v>0.126</c:v>
                  </c:pt>
                  <c:pt idx="2">
                    <c:v>0.08</c:v>
                  </c:pt>
                  <c:pt idx="3">
                    <c:v>0.102</c:v>
                  </c:pt>
                  <c:pt idx="4">
                    <c:v>0.299</c:v>
                  </c:pt>
                </c:numCache>
              </c:numRef>
            </c:plus>
            <c:minus>
              <c:numRef>
                <c:f>'Before Replication (Standard)'!$J$13:$N$13</c:f>
                <c:numCache>
                  <c:formatCode>General</c:formatCode>
                  <c:ptCount val="5"/>
                  <c:pt idx="0">
                    <c:v>0.077</c:v>
                  </c:pt>
                  <c:pt idx="1">
                    <c:v>0.126</c:v>
                  </c:pt>
                  <c:pt idx="2">
                    <c:v>0.08</c:v>
                  </c:pt>
                  <c:pt idx="3">
                    <c:v>0.102</c:v>
                  </c:pt>
                  <c:pt idx="4">
                    <c:v>0.299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(Standard)'!$J$3:$N$3</c:f>
              <c:numCache>
                <c:formatCode>0.000</c:formatCode>
                <c:ptCount val="5"/>
                <c:pt idx="0">
                  <c:v>0.299</c:v>
                </c:pt>
                <c:pt idx="1">
                  <c:v>-0.619</c:v>
                </c:pt>
                <c:pt idx="2">
                  <c:v>0.037</c:v>
                </c:pt>
                <c:pt idx="3">
                  <c:v>-0.055</c:v>
                </c:pt>
                <c:pt idx="4">
                  <c:v>-0.349</c:v>
                </c:pt>
              </c:numCache>
            </c:numRef>
          </c:val>
        </c:ser>
        <c:ser>
          <c:idx val="4"/>
          <c:order val="1"/>
          <c:tx>
            <c:strRef>
              <c:f>'Before Replication (Standard)'!$I$4</c:f>
              <c:strCache>
                <c:ptCount val="1"/>
                <c:pt idx="0">
                  <c:v>Intention to Discontinue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(Standard)'!$J$16:$N$16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0.308</c:v>
                  </c:pt>
                </c:numCache>
              </c:numRef>
            </c:plus>
            <c:minus>
              <c:numRef>
                <c:f>'Before Replication (Standard)'!$J$16:$N$16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0.308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(Standard)'!$J$4:$N$4</c:f>
              <c:numCache>
                <c:formatCode>0.000</c:formatCode>
                <c:ptCount val="5"/>
                <c:pt idx="0">
                  <c:v>-0.255</c:v>
                </c:pt>
                <c:pt idx="1">
                  <c:v>0.623</c:v>
                </c:pt>
                <c:pt idx="2">
                  <c:v>-0.13</c:v>
                </c:pt>
                <c:pt idx="3">
                  <c:v>0.086</c:v>
                </c:pt>
                <c:pt idx="4">
                  <c:v>0.888</c:v>
                </c:pt>
              </c:numCache>
            </c:numRef>
          </c:val>
        </c:ser>
        <c:ser>
          <c:idx val="5"/>
          <c:order val="2"/>
          <c:tx>
            <c:strRef>
              <c:f>'Before Replication (Standard)'!$I$7</c:f>
              <c:strCache>
                <c:ptCount val="1"/>
                <c:pt idx="0">
                  <c:v>Ambivalence Salience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(Standard)'!$J$16:$N$16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0.308</c:v>
                  </c:pt>
                </c:numCache>
              </c:numRef>
            </c:plus>
            <c:minus>
              <c:numRef>
                <c:f>'Before Replication (Standard)'!$J$16:$N$16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0.308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(Standard)'!$J$7:$N$7</c:f>
              <c:numCache>
                <c:formatCode>0.000</c:formatCode>
                <c:ptCount val="5"/>
                <c:pt idx="0">
                  <c:v>0.042</c:v>
                </c:pt>
                <c:pt idx="1">
                  <c:v>0.249</c:v>
                </c:pt>
                <c:pt idx="2">
                  <c:v>-0.237</c:v>
                </c:pt>
                <c:pt idx="3">
                  <c:v>0.026</c:v>
                </c:pt>
                <c:pt idx="4">
                  <c:v>0.529</c:v>
                </c:pt>
              </c:numCache>
            </c:numRef>
          </c:val>
        </c:ser>
        <c:ser>
          <c:idx val="3"/>
          <c:order val="3"/>
          <c:tx>
            <c:strRef>
              <c:f>'Before Replication (Standard)'!$I$5</c:f>
              <c:strCache>
                <c:ptCount val="1"/>
                <c:pt idx="0">
                  <c:v>Number of Reduced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(Standard)'!$J$14:$N$14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0.295</c:v>
                  </c:pt>
                </c:numCache>
              </c:numRef>
            </c:plus>
            <c:minus>
              <c:numRef>
                <c:f>'Before Replication (Standard)'!$J$14:$N$14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0.295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(Standard)'!$J$5:$N$5</c:f>
              <c:numCache>
                <c:formatCode>0.000</c:formatCode>
                <c:ptCount val="5"/>
                <c:pt idx="0">
                  <c:v>-0.087</c:v>
                </c:pt>
                <c:pt idx="1">
                  <c:v>-0.13</c:v>
                </c:pt>
                <c:pt idx="2">
                  <c:v>-0.171</c:v>
                </c:pt>
                <c:pt idx="3">
                  <c:v>0.238</c:v>
                </c:pt>
                <c:pt idx="4">
                  <c:v>-0.219</c:v>
                </c:pt>
              </c:numCache>
            </c:numRef>
          </c:val>
        </c:ser>
        <c:ser>
          <c:idx val="0"/>
          <c:order val="4"/>
          <c:tx>
            <c:strRef>
              <c:f>'Before Replication (Standard)'!$I$6</c:f>
              <c:strCache>
                <c:ptCount val="1"/>
                <c:pt idx="0">
                  <c:v>Number of Stop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(Standard)'!$J$11:$N$11</c:f>
                <c:numCache>
                  <c:formatCode>General</c:formatCode>
                  <c:ptCount val="5"/>
                  <c:pt idx="0">
                    <c:v>0.082</c:v>
                  </c:pt>
                  <c:pt idx="1">
                    <c:v>0.133</c:v>
                  </c:pt>
                  <c:pt idx="2">
                    <c:v>0.084</c:v>
                  </c:pt>
                  <c:pt idx="3">
                    <c:v>0.107</c:v>
                  </c:pt>
                  <c:pt idx="4">
                    <c:v>0.315</c:v>
                  </c:pt>
                </c:numCache>
              </c:numRef>
            </c:plus>
            <c:minus>
              <c:numRef>
                <c:f>'Before Replication (Standard)'!$J$11:$N$11</c:f>
                <c:numCache>
                  <c:formatCode>General</c:formatCode>
                  <c:ptCount val="5"/>
                  <c:pt idx="0">
                    <c:v>0.082</c:v>
                  </c:pt>
                  <c:pt idx="1">
                    <c:v>0.133</c:v>
                  </c:pt>
                  <c:pt idx="2">
                    <c:v>0.084</c:v>
                  </c:pt>
                  <c:pt idx="3">
                    <c:v>0.107</c:v>
                  </c:pt>
                  <c:pt idx="4">
                    <c:v>0.315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(Standard)'!$J$6:$N$6</c:f>
              <c:numCache>
                <c:formatCode>0.000</c:formatCode>
                <c:ptCount val="5"/>
                <c:pt idx="0">
                  <c:v>-0.0064976</c:v>
                </c:pt>
                <c:pt idx="1">
                  <c:v>0.0286081</c:v>
                </c:pt>
                <c:pt idx="2">
                  <c:v>-0.1870735</c:v>
                </c:pt>
                <c:pt idx="3">
                  <c:v>0.2839573</c:v>
                </c:pt>
                <c:pt idx="4">
                  <c:v>0.1323133</c:v>
                </c:pt>
              </c:numCache>
            </c:numRef>
          </c:val>
        </c:ser>
        <c:ser>
          <c:idx val="1"/>
          <c:order val="5"/>
          <c:tx>
            <c:strRef>
              <c:f>'Before Replication (Standard)'!$I$2</c:f>
              <c:strCache>
                <c:ptCount val="1"/>
                <c:pt idx="0">
                  <c:v>Holistic Adaptation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'Before Replication (Standard)'!$J$12:$N$12</c:f>
                <c:numCache>
                  <c:formatCode>General</c:formatCode>
                  <c:ptCount val="5"/>
                  <c:pt idx="0">
                    <c:v>0.077</c:v>
                  </c:pt>
                  <c:pt idx="1">
                    <c:v>0.126</c:v>
                  </c:pt>
                  <c:pt idx="2">
                    <c:v>0.079</c:v>
                  </c:pt>
                  <c:pt idx="3">
                    <c:v>0.102</c:v>
                  </c:pt>
                  <c:pt idx="4">
                    <c:v>0.298</c:v>
                  </c:pt>
                </c:numCache>
              </c:numRef>
            </c:plus>
            <c:minus>
              <c:numRef>
                <c:f>'Before Replication (Standard)'!$J$12:$N$12</c:f>
                <c:numCache>
                  <c:formatCode>General</c:formatCode>
                  <c:ptCount val="5"/>
                  <c:pt idx="0">
                    <c:v>0.077</c:v>
                  </c:pt>
                  <c:pt idx="1">
                    <c:v>0.126</c:v>
                  </c:pt>
                  <c:pt idx="2">
                    <c:v>0.079</c:v>
                  </c:pt>
                  <c:pt idx="3">
                    <c:v>0.102</c:v>
                  </c:pt>
                  <c:pt idx="4">
                    <c:v>0.298</c:v>
                  </c:pt>
                </c:numCache>
              </c:numRef>
            </c:minus>
          </c:errBars>
          <c:cat>
            <c:strRef>
              <c:f>'Before Replication (Standard)'!$J$1:$N$1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'Before Replication (Standard)'!$J$2:$N$2</c:f>
              <c:numCache>
                <c:formatCode>0.000</c:formatCode>
                <c:ptCount val="5"/>
                <c:pt idx="0">
                  <c:v>-0.129</c:v>
                </c:pt>
                <c:pt idx="1">
                  <c:v>0.041</c:v>
                </c:pt>
                <c:pt idx="2">
                  <c:v>-0.018</c:v>
                </c:pt>
                <c:pt idx="3">
                  <c:v>0.171</c:v>
                </c:pt>
                <c:pt idx="4">
                  <c:v>0.481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0244904"/>
        <c:axId val="2141493048"/>
      </c:barChart>
      <c:catAx>
        <c:axId val="2140244904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sz="900" b="1"/>
            </a:pPr>
            <a:endParaRPr lang="en-US"/>
          </a:p>
        </c:txPr>
        <c:crossAx val="2141493048"/>
        <c:crossesAt val="-1.0"/>
        <c:auto val="1"/>
        <c:lblAlgn val="ctr"/>
        <c:lblOffset val="100"/>
        <c:noMultiLvlLbl val="0"/>
      </c:catAx>
      <c:valAx>
        <c:axId val="2141493048"/>
        <c:scaling>
          <c:orientation val="minMax"/>
          <c:max val="1.5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 sz="1000"/>
                </a:pPr>
                <a:r>
                  <a:rPr lang="en-US" sz="1000"/>
                  <a:t>Standardized Values</a:t>
                </a:r>
              </a:p>
            </c:rich>
          </c:tx>
          <c:layout/>
          <c:overlay val="0"/>
        </c:title>
        <c:numFmt formatCode="0.000" sourceLinked="1"/>
        <c:majorTickMark val="out"/>
        <c:minorTickMark val="none"/>
        <c:tickLblPos val="nextTo"/>
        <c:crossAx val="2140244904"/>
        <c:crosses val="autoZero"/>
        <c:crossBetween val="between"/>
        <c:majorUnit val="0.2"/>
      </c:valAx>
    </c:plotArea>
    <c:legend>
      <c:legendPos val="t"/>
      <c:layout>
        <c:manualLayout>
          <c:xMode val="edge"/>
          <c:yMode val="edge"/>
          <c:x val="0.157834583654539"/>
          <c:y val="0.0213170853501688"/>
          <c:w val="0.738983236965485"/>
          <c:h val="0.0898800494321389"/>
        </c:manualLayout>
      </c:layout>
      <c:overlay val="0"/>
      <c:txPr>
        <a:bodyPr/>
        <a:lstStyle/>
        <a:p>
          <a:pPr algn="ctr">
            <a:defRPr sz="900" b="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>
          <a:latin typeface="Times New Roman"/>
          <a:cs typeface="Times New Roman"/>
        </a:defRPr>
      </a:pPr>
      <a:endParaRPr lang="en-US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'After Replication (Standard)'!$F$4</c:f>
              <c:strCache>
                <c:ptCount val="1"/>
                <c:pt idx="0">
                  <c:v>Intention to 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plus>
            <c:min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(Standard)'!$G$4:$K$4</c:f>
              <c:numCache>
                <c:formatCode>0.000</c:formatCode>
                <c:ptCount val="5"/>
                <c:pt idx="0">
                  <c:v>0.36</c:v>
                </c:pt>
                <c:pt idx="1">
                  <c:v>-0.597</c:v>
                </c:pt>
                <c:pt idx="2">
                  <c:v>0.087</c:v>
                </c:pt>
                <c:pt idx="3">
                  <c:v>-0.009</c:v>
                </c:pt>
                <c:pt idx="4">
                  <c:v>-0.317</c:v>
                </c:pt>
              </c:numCache>
            </c:numRef>
          </c:val>
        </c:ser>
        <c:ser>
          <c:idx val="4"/>
          <c:order val="1"/>
          <c:tx>
            <c:strRef>
              <c:f>'After Replication (Standard)'!$F$5</c:f>
              <c:strCache>
                <c:ptCount val="1"/>
                <c:pt idx="0">
                  <c:v>Intention to Discontinue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(Standard)'!$G$5:$K$5</c:f>
              <c:numCache>
                <c:formatCode>0.000</c:formatCode>
                <c:ptCount val="5"/>
                <c:pt idx="0">
                  <c:v>-0.342</c:v>
                </c:pt>
                <c:pt idx="1">
                  <c:v>0.417</c:v>
                </c:pt>
                <c:pt idx="2">
                  <c:v>-0.234</c:v>
                </c:pt>
                <c:pt idx="3">
                  <c:v>-0.048</c:v>
                </c:pt>
                <c:pt idx="4">
                  <c:v>0.647</c:v>
                </c:pt>
              </c:numCache>
            </c:numRef>
          </c:val>
        </c:ser>
        <c:ser>
          <c:idx val="5"/>
          <c:order val="2"/>
          <c:tx>
            <c:strRef>
              <c:f>'After Replication (Standard)'!$F$8</c:f>
              <c:strCache>
                <c:ptCount val="1"/>
                <c:pt idx="0">
                  <c:v>Ambivalence Salience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(Standard)'!$G$8:$K$8</c:f>
              <c:numCache>
                <c:formatCode>0.000</c:formatCode>
                <c:ptCount val="5"/>
                <c:pt idx="0">
                  <c:v>-0.035</c:v>
                </c:pt>
                <c:pt idx="1">
                  <c:v>0.166</c:v>
                </c:pt>
                <c:pt idx="2">
                  <c:v>-0.308</c:v>
                </c:pt>
                <c:pt idx="3">
                  <c:v>-0.051</c:v>
                </c:pt>
                <c:pt idx="4">
                  <c:v>0.437</c:v>
                </c:pt>
              </c:numCache>
            </c:numRef>
          </c:val>
        </c:ser>
        <c:ser>
          <c:idx val="3"/>
          <c:order val="3"/>
          <c:tx>
            <c:strRef>
              <c:f>'After Replication (Standard)'!$F$6</c:f>
              <c:strCache>
                <c:ptCount val="1"/>
                <c:pt idx="0">
                  <c:v>Number of Reduced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plus>
            <c:min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(Standard)'!$G$6:$K$6</c:f>
              <c:numCache>
                <c:formatCode>0.000</c:formatCode>
                <c:ptCount val="5"/>
                <c:pt idx="0">
                  <c:v>-0.001</c:v>
                </c:pt>
                <c:pt idx="1">
                  <c:v>-0.047</c:v>
                </c:pt>
                <c:pt idx="2">
                  <c:v>-0.094</c:v>
                </c:pt>
                <c:pt idx="3">
                  <c:v>0.358</c:v>
                </c:pt>
                <c:pt idx="4">
                  <c:v>-0.149</c:v>
                </c:pt>
              </c:numCache>
            </c:numRef>
          </c:val>
        </c:ser>
        <c:ser>
          <c:idx val="0"/>
          <c:order val="4"/>
          <c:tx>
            <c:strRef>
              <c:f>'After Replication (Standard)'!$F$7</c:f>
              <c:strCache>
                <c:ptCount val="1"/>
                <c:pt idx="0">
                  <c:v>Number of Stop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plus>
            <c:min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(Standard)'!$G$7:$K$7</c:f>
              <c:numCache>
                <c:formatCode>0.000</c:formatCode>
                <c:ptCount val="5"/>
                <c:pt idx="0">
                  <c:v>-0.029</c:v>
                </c:pt>
                <c:pt idx="1">
                  <c:v>0.006</c:v>
                </c:pt>
                <c:pt idx="2">
                  <c:v>-0.207</c:v>
                </c:pt>
                <c:pt idx="3">
                  <c:v>0.259</c:v>
                </c:pt>
                <c:pt idx="4">
                  <c:v>0.109</c:v>
                </c:pt>
              </c:numCache>
            </c:numRef>
          </c:val>
        </c:ser>
        <c:ser>
          <c:idx val="1"/>
          <c:order val="5"/>
          <c:tx>
            <c:strRef>
              <c:f>'After Replication (Standard)'!$F$3</c:f>
              <c:strCache>
                <c:ptCount val="1"/>
                <c:pt idx="0">
                  <c:v>Holistic Adaptation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plus>
            <c:min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(Standard)'!$G$3:$K$3</c:f>
              <c:numCache>
                <c:formatCode>0.000</c:formatCode>
                <c:ptCount val="5"/>
                <c:pt idx="0">
                  <c:v>-0.211</c:v>
                </c:pt>
                <c:pt idx="1">
                  <c:v>-0.043</c:v>
                </c:pt>
                <c:pt idx="2">
                  <c:v>-0.101</c:v>
                </c:pt>
                <c:pt idx="3">
                  <c:v>0.087</c:v>
                </c:pt>
                <c:pt idx="4">
                  <c:v>0.407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0214280"/>
        <c:axId val="2140211320"/>
      </c:barChart>
      <c:catAx>
        <c:axId val="2140214280"/>
        <c:scaling>
          <c:orientation val="minMax"/>
        </c:scaling>
        <c:delete val="0"/>
        <c:axPos val="b"/>
        <c:majorTickMark val="out"/>
        <c:minorTickMark val="none"/>
        <c:tickLblPos val="low"/>
        <c:txPr>
          <a:bodyPr/>
          <a:lstStyle/>
          <a:p>
            <a:pPr>
              <a:defRPr b="1"/>
            </a:pPr>
            <a:endParaRPr lang="en-US"/>
          </a:p>
        </c:txPr>
        <c:crossAx val="2140211320"/>
        <c:crossesAt val="-1.0"/>
        <c:auto val="1"/>
        <c:lblAlgn val="ctr"/>
        <c:lblOffset val="100"/>
        <c:noMultiLvlLbl val="0"/>
      </c:catAx>
      <c:valAx>
        <c:axId val="214021132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Standardized Values</a:t>
                </a:r>
              </a:p>
            </c:rich>
          </c:tx>
          <c:layout/>
          <c:overlay val="0"/>
        </c:title>
        <c:numFmt formatCode="0.000" sourceLinked="1"/>
        <c:majorTickMark val="out"/>
        <c:minorTickMark val="none"/>
        <c:tickLblPos val="nextTo"/>
        <c:crossAx val="2140214280"/>
        <c:crosses val="autoZero"/>
        <c:crossBetween val="between"/>
      </c:valAx>
    </c:plotArea>
    <c:legend>
      <c:legendPos val="t"/>
      <c:layout>
        <c:manualLayout>
          <c:xMode val="edge"/>
          <c:yMode val="edge"/>
          <c:x val="0.155388504159578"/>
          <c:y val="0.0224104464443268"/>
          <c:w val="0.780383475819178"/>
          <c:h val="0.0944900299982354"/>
        </c:manualLayout>
      </c:layout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0"/>
  </c:chart>
  <c:spPr>
    <a:effectLst/>
  </c:spPr>
  <c:txPr>
    <a:bodyPr/>
    <a:lstStyle/>
    <a:p>
      <a:pPr>
        <a:defRPr sz="900">
          <a:latin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'After Replication (Standard)'!$F$4</c:f>
              <c:strCache>
                <c:ptCount val="1"/>
                <c:pt idx="0">
                  <c:v>Intention to 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plus>
            <c:min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(Standard)'!$G$4:$K$4</c:f>
              <c:numCache>
                <c:formatCode>0.000</c:formatCode>
                <c:ptCount val="5"/>
                <c:pt idx="0">
                  <c:v>0.36</c:v>
                </c:pt>
                <c:pt idx="1">
                  <c:v>-0.597</c:v>
                </c:pt>
                <c:pt idx="2">
                  <c:v>0.087</c:v>
                </c:pt>
                <c:pt idx="3">
                  <c:v>-0.009</c:v>
                </c:pt>
                <c:pt idx="4">
                  <c:v>-0.317</c:v>
                </c:pt>
              </c:numCache>
            </c:numRef>
          </c:val>
        </c:ser>
        <c:ser>
          <c:idx val="4"/>
          <c:order val="1"/>
          <c:tx>
            <c:strRef>
              <c:f>'After Replication (Standard)'!$F$5</c:f>
              <c:strCache>
                <c:ptCount val="1"/>
                <c:pt idx="0">
                  <c:v>Intention to Discontinue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(Standard)'!$G$5:$K$5</c:f>
              <c:numCache>
                <c:formatCode>0.000</c:formatCode>
                <c:ptCount val="5"/>
                <c:pt idx="0">
                  <c:v>-0.342</c:v>
                </c:pt>
                <c:pt idx="1">
                  <c:v>0.417</c:v>
                </c:pt>
                <c:pt idx="2">
                  <c:v>-0.234</c:v>
                </c:pt>
                <c:pt idx="3">
                  <c:v>-0.048</c:v>
                </c:pt>
                <c:pt idx="4">
                  <c:v>0.647</c:v>
                </c:pt>
              </c:numCache>
            </c:numRef>
          </c:val>
        </c:ser>
        <c:ser>
          <c:idx val="5"/>
          <c:order val="2"/>
          <c:tx>
            <c:strRef>
              <c:f>'After Replication (Standard)'!$F$8</c:f>
              <c:strCache>
                <c:ptCount val="1"/>
                <c:pt idx="0">
                  <c:v>Ambivalence Salience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(Standard)'!$G$8:$K$8</c:f>
              <c:numCache>
                <c:formatCode>0.000</c:formatCode>
                <c:ptCount val="5"/>
                <c:pt idx="0">
                  <c:v>-0.035</c:v>
                </c:pt>
                <c:pt idx="1">
                  <c:v>0.166</c:v>
                </c:pt>
                <c:pt idx="2">
                  <c:v>-0.308</c:v>
                </c:pt>
                <c:pt idx="3">
                  <c:v>-0.051</c:v>
                </c:pt>
                <c:pt idx="4">
                  <c:v>0.437</c:v>
                </c:pt>
              </c:numCache>
            </c:numRef>
          </c:val>
        </c:ser>
        <c:ser>
          <c:idx val="3"/>
          <c:order val="3"/>
          <c:tx>
            <c:strRef>
              <c:f>'After Replication (Standard)'!$F$6</c:f>
              <c:strCache>
                <c:ptCount val="1"/>
                <c:pt idx="0">
                  <c:v>Number of Reduced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plus>
            <c:min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(Standard)'!$G$6:$K$6</c:f>
              <c:numCache>
                <c:formatCode>0.000</c:formatCode>
                <c:ptCount val="5"/>
                <c:pt idx="0">
                  <c:v>-0.001</c:v>
                </c:pt>
                <c:pt idx="1">
                  <c:v>-0.047</c:v>
                </c:pt>
                <c:pt idx="2">
                  <c:v>-0.094</c:v>
                </c:pt>
                <c:pt idx="3">
                  <c:v>0.358</c:v>
                </c:pt>
                <c:pt idx="4">
                  <c:v>-0.149</c:v>
                </c:pt>
              </c:numCache>
            </c:numRef>
          </c:val>
        </c:ser>
        <c:ser>
          <c:idx val="0"/>
          <c:order val="4"/>
          <c:tx>
            <c:strRef>
              <c:f>'After Replication (Standard)'!$F$7</c:f>
              <c:strCache>
                <c:ptCount val="1"/>
                <c:pt idx="0">
                  <c:v>Number of Stop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plus>
            <c:min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(Standard)'!$G$7:$K$7</c:f>
              <c:numCache>
                <c:formatCode>0.000</c:formatCode>
                <c:ptCount val="5"/>
                <c:pt idx="0">
                  <c:v>-0.029</c:v>
                </c:pt>
                <c:pt idx="1">
                  <c:v>0.006</c:v>
                </c:pt>
                <c:pt idx="2">
                  <c:v>-0.207</c:v>
                </c:pt>
                <c:pt idx="3">
                  <c:v>0.259</c:v>
                </c:pt>
                <c:pt idx="4">
                  <c:v>0.109</c:v>
                </c:pt>
              </c:numCache>
            </c:numRef>
          </c:val>
        </c:ser>
        <c:ser>
          <c:idx val="1"/>
          <c:order val="5"/>
          <c:tx>
            <c:strRef>
              <c:f>'After Replication (Standard)'!$F$3</c:f>
              <c:strCache>
                <c:ptCount val="1"/>
                <c:pt idx="0">
                  <c:v>Holistic Adaptation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plus>
            <c:min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(Standard)'!$G$3:$K$3</c:f>
              <c:numCache>
                <c:formatCode>0.000</c:formatCode>
                <c:ptCount val="5"/>
                <c:pt idx="0">
                  <c:v>-0.211</c:v>
                </c:pt>
                <c:pt idx="1">
                  <c:v>-0.043</c:v>
                </c:pt>
                <c:pt idx="2">
                  <c:v>-0.101</c:v>
                </c:pt>
                <c:pt idx="3">
                  <c:v>0.087</c:v>
                </c:pt>
                <c:pt idx="4">
                  <c:v>0.407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38089000"/>
        <c:axId val="-2138086088"/>
      </c:barChart>
      <c:catAx>
        <c:axId val="-2138089000"/>
        <c:scaling>
          <c:orientation val="minMax"/>
        </c:scaling>
        <c:delete val="0"/>
        <c:axPos val="b"/>
        <c:majorTickMark val="out"/>
        <c:minorTickMark val="none"/>
        <c:tickLblPos val="low"/>
        <c:crossAx val="-2138086088"/>
        <c:crossesAt val="-1.0"/>
        <c:auto val="1"/>
        <c:lblAlgn val="ctr"/>
        <c:lblOffset val="100"/>
        <c:noMultiLvlLbl val="0"/>
      </c:catAx>
      <c:valAx>
        <c:axId val="-2138086088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Standardized Values</a:t>
                </a:r>
              </a:p>
            </c:rich>
          </c:tx>
          <c:layout/>
          <c:overlay val="0"/>
        </c:title>
        <c:numFmt formatCode="0.000" sourceLinked="1"/>
        <c:majorTickMark val="out"/>
        <c:minorTickMark val="none"/>
        <c:tickLblPos val="nextTo"/>
        <c:crossAx val="-2138089000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effectLst/>
  </c:spPr>
  <c:txPr>
    <a:bodyPr/>
    <a:lstStyle/>
    <a:p>
      <a:pPr>
        <a:defRPr sz="800">
          <a:latin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'After Replication (Standard)'!$F$4</c:f>
              <c:strCache>
                <c:ptCount val="1"/>
                <c:pt idx="0">
                  <c:v>Intention to 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plus>
            <c:min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(Standard)'!$G$4:$K$4</c:f>
              <c:numCache>
                <c:formatCode>0.000</c:formatCode>
                <c:ptCount val="5"/>
                <c:pt idx="0">
                  <c:v>0.36</c:v>
                </c:pt>
                <c:pt idx="1">
                  <c:v>-0.597</c:v>
                </c:pt>
                <c:pt idx="2">
                  <c:v>0.087</c:v>
                </c:pt>
                <c:pt idx="3">
                  <c:v>-0.009</c:v>
                </c:pt>
                <c:pt idx="4">
                  <c:v>-0.317</c:v>
                </c:pt>
              </c:numCache>
            </c:numRef>
          </c:val>
        </c:ser>
        <c:ser>
          <c:idx val="4"/>
          <c:order val="1"/>
          <c:tx>
            <c:strRef>
              <c:f>'After Replication (Standard)'!$F$5</c:f>
              <c:strCache>
                <c:ptCount val="1"/>
                <c:pt idx="0">
                  <c:v>Intention to Discontinue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(Standard)'!$G$5:$K$5</c:f>
              <c:numCache>
                <c:formatCode>0.000</c:formatCode>
                <c:ptCount val="5"/>
                <c:pt idx="0">
                  <c:v>-0.342</c:v>
                </c:pt>
                <c:pt idx="1">
                  <c:v>0.417</c:v>
                </c:pt>
                <c:pt idx="2">
                  <c:v>-0.234</c:v>
                </c:pt>
                <c:pt idx="3">
                  <c:v>-0.048</c:v>
                </c:pt>
                <c:pt idx="4">
                  <c:v>0.647</c:v>
                </c:pt>
              </c:numCache>
            </c:numRef>
          </c:val>
        </c:ser>
        <c:ser>
          <c:idx val="5"/>
          <c:order val="2"/>
          <c:tx>
            <c:strRef>
              <c:f>'After Replication (Standard)'!$F$8</c:f>
              <c:strCache>
                <c:ptCount val="1"/>
                <c:pt idx="0">
                  <c:v>Ambivalence Salience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(Standard)'!$G$8:$K$8</c:f>
              <c:numCache>
                <c:formatCode>0.000</c:formatCode>
                <c:ptCount val="5"/>
                <c:pt idx="0">
                  <c:v>-0.035</c:v>
                </c:pt>
                <c:pt idx="1">
                  <c:v>0.166</c:v>
                </c:pt>
                <c:pt idx="2">
                  <c:v>-0.308</c:v>
                </c:pt>
                <c:pt idx="3">
                  <c:v>-0.051</c:v>
                </c:pt>
                <c:pt idx="4">
                  <c:v>0.437</c:v>
                </c:pt>
              </c:numCache>
            </c:numRef>
          </c:val>
        </c:ser>
        <c:ser>
          <c:idx val="3"/>
          <c:order val="3"/>
          <c:tx>
            <c:strRef>
              <c:f>'After Replication (Standard)'!$F$6</c:f>
              <c:strCache>
                <c:ptCount val="1"/>
                <c:pt idx="0">
                  <c:v>Number of Reduced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plus>
            <c:min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(Standard)'!$G$6:$K$6</c:f>
              <c:numCache>
                <c:formatCode>0.000</c:formatCode>
                <c:ptCount val="5"/>
                <c:pt idx="0">
                  <c:v>-0.001</c:v>
                </c:pt>
                <c:pt idx="1">
                  <c:v>-0.047</c:v>
                </c:pt>
                <c:pt idx="2">
                  <c:v>-0.094</c:v>
                </c:pt>
                <c:pt idx="3">
                  <c:v>0.358</c:v>
                </c:pt>
                <c:pt idx="4">
                  <c:v>-0.149</c:v>
                </c:pt>
              </c:numCache>
            </c:numRef>
          </c:val>
        </c:ser>
        <c:ser>
          <c:idx val="0"/>
          <c:order val="4"/>
          <c:tx>
            <c:strRef>
              <c:f>'After Replication (Standard)'!$F$7</c:f>
              <c:strCache>
                <c:ptCount val="1"/>
                <c:pt idx="0">
                  <c:v>Number of Stop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plus>
            <c:min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(Standard)'!$G$7:$K$7</c:f>
              <c:numCache>
                <c:formatCode>0.000</c:formatCode>
                <c:ptCount val="5"/>
                <c:pt idx="0">
                  <c:v>-0.029</c:v>
                </c:pt>
                <c:pt idx="1">
                  <c:v>0.006</c:v>
                </c:pt>
                <c:pt idx="2">
                  <c:v>-0.207</c:v>
                </c:pt>
                <c:pt idx="3">
                  <c:v>0.259</c:v>
                </c:pt>
                <c:pt idx="4">
                  <c:v>0.109</c:v>
                </c:pt>
              </c:numCache>
            </c:numRef>
          </c:val>
        </c:ser>
        <c:ser>
          <c:idx val="1"/>
          <c:order val="5"/>
          <c:tx>
            <c:strRef>
              <c:f>'After Replication (Standard)'!$F$3</c:f>
              <c:strCache>
                <c:ptCount val="1"/>
                <c:pt idx="0">
                  <c:v>Holistic Adaptation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plus>
            <c:min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(Standard)'!$G$3:$K$3</c:f>
              <c:numCache>
                <c:formatCode>0.000</c:formatCode>
                <c:ptCount val="5"/>
                <c:pt idx="0">
                  <c:v>-0.211</c:v>
                </c:pt>
                <c:pt idx="1">
                  <c:v>-0.043</c:v>
                </c:pt>
                <c:pt idx="2">
                  <c:v>-0.101</c:v>
                </c:pt>
                <c:pt idx="3">
                  <c:v>0.087</c:v>
                </c:pt>
                <c:pt idx="4">
                  <c:v>0.407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136451064"/>
        <c:axId val="-2136448152"/>
      </c:barChart>
      <c:catAx>
        <c:axId val="-2136451064"/>
        <c:scaling>
          <c:orientation val="minMax"/>
        </c:scaling>
        <c:delete val="0"/>
        <c:axPos val="b"/>
        <c:majorTickMark val="out"/>
        <c:minorTickMark val="none"/>
        <c:tickLblPos val="low"/>
        <c:crossAx val="-2136448152"/>
        <c:crossesAt val="-1.0"/>
        <c:auto val="1"/>
        <c:lblAlgn val="ctr"/>
        <c:lblOffset val="100"/>
        <c:noMultiLvlLbl val="0"/>
      </c:catAx>
      <c:valAx>
        <c:axId val="-2136448152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Standardized Values</a:t>
                </a:r>
              </a:p>
            </c:rich>
          </c:tx>
          <c:layout/>
          <c:overlay val="0"/>
        </c:title>
        <c:numFmt formatCode="0.000" sourceLinked="1"/>
        <c:majorTickMark val="out"/>
        <c:minorTickMark val="none"/>
        <c:tickLblPos val="nextTo"/>
        <c:crossAx val="-2136451064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effectLst/>
  </c:spPr>
  <c:txPr>
    <a:bodyPr/>
    <a:lstStyle/>
    <a:p>
      <a:pPr>
        <a:defRPr sz="800">
          <a:latin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0"/>
    <c:plotArea>
      <c:layout/>
      <c:barChart>
        <c:barDir val="col"/>
        <c:grouping val="clustered"/>
        <c:varyColors val="0"/>
        <c:ser>
          <c:idx val="2"/>
          <c:order val="0"/>
          <c:tx>
            <c:strRef>
              <c:f>'After Replication (Standard)'!$F$4</c:f>
              <c:strCache>
                <c:ptCount val="1"/>
                <c:pt idx="0">
                  <c:v>Intention to 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plus>
            <c:minus>
              <c:numRef>
                <c:f>'After Replication (Standard)'!$G$13:$K$13</c:f>
                <c:numCache>
                  <c:formatCode>General</c:formatCode>
                  <c:ptCount val="5"/>
                  <c:pt idx="0">
                    <c:v>0.076</c:v>
                  </c:pt>
                  <c:pt idx="1">
                    <c:v>0.124</c:v>
                  </c:pt>
                  <c:pt idx="2">
                    <c:v>0.078</c:v>
                  </c:pt>
                  <c:pt idx="3">
                    <c:v>0.1</c:v>
                  </c:pt>
                  <c:pt idx="4">
                    <c:v>0.093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(Standard)'!$G$4:$K$4</c:f>
              <c:numCache>
                <c:formatCode>0.000</c:formatCode>
                <c:ptCount val="5"/>
                <c:pt idx="0">
                  <c:v>0.36</c:v>
                </c:pt>
                <c:pt idx="1">
                  <c:v>-0.597</c:v>
                </c:pt>
                <c:pt idx="2">
                  <c:v>0.087</c:v>
                </c:pt>
                <c:pt idx="3">
                  <c:v>-0.009</c:v>
                </c:pt>
                <c:pt idx="4">
                  <c:v>-0.317</c:v>
                </c:pt>
              </c:numCache>
            </c:numRef>
          </c:val>
        </c:ser>
        <c:ser>
          <c:idx val="4"/>
          <c:order val="1"/>
          <c:tx>
            <c:strRef>
              <c:f>'After Replication (Standard)'!$F$5</c:f>
              <c:strCache>
                <c:ptCount val="1"/>
                <c:pt idx="0">
                  <c:v>Intention to Discontinue Using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(Standard)'!$G$5:$K$5</c:f>
              <c:numCache>
                <c:formatCode>0.000</c:formatCode>
                <c:ptCount val="5"/>
                <c:pt idx="0">
                  <c:v>-0.342</c:v>
                </c:pt>
                <c:pt idx="1">
                  <c:v>0.417</c:v>
                </c:pt>
                <c:pt idx="2">
                  <c:v>-0.234</c:v>
                </c:pt>
                <c:pt idx="3">
                  <c:v>-0.048</c:v>
                </c:pt>
                <c:pt idx="4">
                  <c:v>0.647</c:v>
                </c:pt>
              </c:numCache>
            </c:numRef>
          </c:val>
        </c:ser>
        <c:ser>
          <c:idx val="5"/>
          <c:order val="2"/>
          <c:tx>
            <c:strRef>
              <c:f>'After Replication (Standard)'!$F$8</c:f>
              <c:strCache>
                <c:ptCount val="1"/>
                <c:pt idx="0">
                  <c:v>Ambivalence Salience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plus>
            <c:minus>
              <c:numRef>
                <c:f>'After Replication (Standard)'!$G$16:$K$16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0.097</c:v>
                  </c:pt>
                  <c:pt idx="2">
                    <c:v>0.082</c:v>
                  </c:pt>
                  <c:pt idx="3">
                    <c:v>0.105</c:v>
                  </c:pt>
                  <c:pt idx="4">
                    <c:v>0.13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(Standard)'!$G$8:$K$8</c:f>
              <c:numCache>
                <c:formatCode>0.000</c:formatCode>
                <c:ptCount val="5"/>
                <c:pt idx="0">
                  <c:v>-0.035</c:v>
                </c:pt>
                <c:pt idx="1">
                  <c:v>0.166</c:v>
                </c:pt>
                <c:pt idx="2">
                  <c:v>-0.308</c:v>
                </c:pt>
                <c:pt idx="3">
                  <c:v>-0.051</c:v>
                </c:pt>
                <c:pt idx="4">
                  <c:v>0.437</c:v>
                </c:pt>
              </c:numCache>
            </c:numRef>
          </c:val>
        </c:ser>
        <c:ser>
          <c:idx val="3"/>
          <c:order val="3"/>
          <c:tx>
            <c:strRef>
              <c:f>'After Replication (Standard)'!$F$6</c:f>
              <c:strCache>
                <c:ptCount val="1"/>
                <c:pt idx="0">
                  <c:v>Number of Reduced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plus>
            <c:minus>
              <c:numRef>
                <c:f>'After Replication (Standard)'!$G$14:$K$14</c:f>
                <c:numCache>
                  <c:formatCode>General</c:formatCode>
                  <c:ptCount val="5"/>
                  <c:pt idx="0">
                    <c:v>0.081</c:v>
                  </c:pt>
                  <c:pt idx="1">
                    <c:v>0.132</c:v>
                  </c:pt>
                  <c:pt idx="2">
                    <c:v>0.083</c:v>
                  </c:pt>
                  <c:pt idx="3">
                    <c:v>0.107</c:v>
                  </c:pt>
                  <c:pt idx="4">
                    <c:v>0.099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(Standard)'!$G$6:$K$6</c:f>
              <c:numCache>
                <c:formatCode>0.000</c:formatCode>
                <c:ptCount val="5"/>
                <c:pt idx="0">
                  <c:v>-0.001</c:v>
                </c:pt>
                <c:pt idx="1">
                  <c:v>-0.047</c:v>
                </c:pt>
                <c:pt idx="2">
                  <c:v>-0.094</c:v>
                </c:pt>
                <c:pt idx="3">
                  <c:v>0.358</c:v>
                </c:pt>
                <c:pt idx="4">
                  <c:v>-0.149</c:v>
                </c:pt>
              </c:numCache>
            </c:numRef>
          </c:val>
        </c:ser>
        <c:ser>
          <c:idx val="0"/>
          <c:order val="4"/>
          <c:tx>
            <c:strRef>
              <c:f>'After Replication (Standard)'!$F$7</c:f>
              <c:strCache>
                <c:ptCount val="1"/>
                <c:pt idx="0">
                  <c:v>Number of Stop Attempts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plus>
            <c:minus>
              <c:numRef>
                <c:f>'After Replication (Standard)'!$G$11:$K$11</c:f>
                <c:numCache>
                  <c:formatCode>General</c:formatCode>
                  <c:ptCount val="5"/>
                  <c:pt idx="0">
                    <c:v>0.08</c:v>
                  </c:pt>
                  <c:pt idx="1">
                    <c:v>0.131</c:v>
                  </c:pt>
                  <c:pt idx="2">
                    <c:v>0.082</c:v>
                  </c:pt>
                  <c:pt idx="3">
                    <c:v>0.106</c:v>
                  </c:pt>
                  <c:pt idx="4">
                    <c:v>0.098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(Standard)'!$G$7:$K$7</c:f>
              <c:numCache>
                <c:formatCode>0.000</c:formatCode>
                <c:ptCount val="5"/>
                <c:pt idx="0">
                  <c:v>-0.029</c:v>
                </c:pt>
                <c:pt idx="1">
                  <c:v>0.006</c:v>
                </c:pt>
                <c:pt idx="2">
                  <c:v>-0.207</c:v>
                </c:pt>
                <c:pt idx="3">
                  <c:v>0.259</c:v>
                </c:pt>
                <c:pt idx="4">
                  <c:v>0.109</c:v>
                </c:pt>
              </c:numCache>
            </c:numRef>
          </c:val>
        </c:ser>
        <c:ser>
          <c:idx val="1"/>
          <c:order val="5"/>
          <c:tx>
            <c:strRef>
              <c:f>'After Replication (Standard)'!$F$3</c:f>
              <c:strCache>
                <c:ptCount val="1"/>
                <c:pt idx="0">
                  <c:v>Holistic Adaptation</c:v>
                </c:pt>
              </c:strCache>
            </c:strRef>
          </c:tx>
          <c:invertIfNegative val="0"/>
          <c:errBars>
            <c:errBarType val="both"/>
            <c:errValType val="cust"/>
            <c:noEndCap val="0"/>
            <c:pl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plus>
            <c:minus>
              <c:numRef>
                <c:f>'After Replication (Standard)'!$G$12:$K$12</c:f>
                <c:numCache>
                  <c:formatCode>General</c:formatCode>
                  <c:ptCount val="5"/>
                  <c:pt idx="0">
                    <c:v>0.078</c:v>
                  </c:pt>
                  <c:pt idx="1">
                    <c:v>0.128</c:v>
                  </c:pt>
                  <c:pt idx="2">
                    <c:v>0.08</c:v>
                  </c:pt>
                  <c:pt idx="3">
                    <c:v>0.103</c:v>
                  </c:pt>
                  <c:pt idx="4">
                    <c:v>0.096</c:v>
                  </c:pt>
                </c:numCache>
              </c:numRef>
            </c:minus>
          </c:errBars>
          <c:cat>
            <c:strRef>
              <c:f>'After Replication (Standard)'!$G$2:$K$2</c:f>
              <c:strCache>
                <c:ptCount val="5"/>
                <c:pt idx="0">
                  <c:v>L-H (Positive Domination)</c:v>
                </c:pt>
                <c:pt idx="1">
                  <c:v>H-L (Negative Domination)</c:v>
                </c:pt>
                <c:pt idx="2">
                  <c:v>L-L (Ambivalence Avoidance)</c:v>
                </c:pt>
                <c:pt idx="3">
                  <c:v>M-M (Compromise)</c:v>
                </c:pt>
                <c:pt idx="4">
                  <c:v>H-H (Holism)</c:v>
                </c:pt>
              </c:strCache>
            </c:strRef>
          </c:cat>
          <c:val>
            <c:numRef>
              <c:f>'After Replication (Standard)'!$G$3:$K$3</c:f>
              <c:numCache>
                <c:formatCode>0.000</c:formatCode>
                <c:ptCount val="5"/>
                <c:pt idx="0">
                  <c:v>-0.211</c:v>
                </c:pt>
                <c:pt idx="1">
                  <c:v>-0.043</c:v>
                </c:pt>
                <c:pt idx="2">
                  <c:v>-0.101</c:v>
                </c:pt>
                <c:pt idx="3">
                  <c:v>0.087</c:v>
                </c:pt>
                <c:pt idx="4">
                  <c:v>0.407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46880008"/>
        <c:axId val="2146877080"/>
      </c:barChart>
      <c:catAx>
        <c:axId val="2146880008"/>
        <c:scaling>
          <c:orientation val="minMax"/>
        </c:scaling>
        <c:delete val="0"/>
        <c:axPos val="b"/>
        <c:majorTickMark val="out"/>
        <c:minorTickMark val="none"/>
        <c:tickLblPos val="low"/>
        <c:crossAx val="2146877080"/>
        <c:crossesAt val="-1.0"/>
        <c:auto val="1"/>
        <c:lblAlgn val="ctr"/>
        <c:lblOffset val="100"/>
        <c:noMultiLvlLbl val="0"/>
      </c:catAx>
      <c:valAx>
        <c:axId val="214687708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75000"/>
                </a:schemeClr>
              </a:solidFill>
            </a:ln>
          </c:spPr>
        </c:majorGridlines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/>
                  <a:t>Standardized Values</a:t>
                </a:r>
              </a:p>
            </c:rich>
          </c:tx>
          <c:layout/>
          <c:overlay val="0"/>
        </c:title>
        <c:numFmt formatCode="0.000" sourceLinked="1"/>
        <c:majorTickMark val="out"/>
        <c:minorTickMark val="none"/>
        <c:tickLblPos val="nextTo"/>
        <c:crossAx val="2146880008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spPr>
    <a:effectLst/>
  </c:spPr>
  <c:txPr>
    <a:bodyPr/>
    <a:lstStyle/>
    <a:p>
      <a:pPr>
        <a:defRPr sz="800">
          <a:latin typeface="Times New Roman"/>
          <a:cs typeface="Times New Roman"/>
        </a:defRPr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0.54244</cdr:x>
      <cdr:y>0.18624</cdr:y>
    </cdr:from>
    <cdr:to>
      <cdr:x>0.7716</cdr:x>
      <cdr:y>0.28571</cdr:y>
    </cdr:to>
    <cdr:sp macro="" textlink="">
      <cdr:nvSpPr>
        <cdr:cNvPr id="2" name="Rectangle 1"/>
        <cdr:cNvSpPr/>
      </cdr:nvSpPr>
      <cdr:spPr>
        <a:xfrm xmlns:a="http://schemas.openxmlformats.org/drawingml/2006/main">
          <a:off x="2976033" y="745066"/>
          <a:ext cx="1257300" cy="397933"/>
        </a:xfrm>
        <a:prstGeom xmlns:a="http://schemas.openxmlformats.org/drawingml/2006/main" prst="rect">
          <a:avLst/>
        </a:prstGeom>
        <a:solidFill xmlns:a="http://schemas.openxmlformats.org/drawingml/2006/main">
          <a:schemeClr val="bg1">
            <a:lumMod val="95000"/>
          </a:schemeClr>
        </a:solidFill>
        <a:ln xmlns:a="http://schemas.openxmlformats.org/drawingml/2006/main" w="28575" cmpd="sng">
          <a:solidFill>
            <a:schemeClr val="tx1"/>
          </a:solidFill>
        </a:ln>
        <a:effectLst xmlns:a="http://schemas.openxmlformats.org/drawingml/2006/main"/>
      </cdr:spPr>
      <cdr:style>
        <a:lnRef xmlns:a="http://schemas.openxmlformats.org/drawingml/2006/main" idx="1">
          <a:schemeClr val="accent1"/>
        </a:lnRef>
        <a:fillRef xmlns:a="http://schemas.openxmlformats.org/drawingml/2006/main" idx="3">
          <a:schemeClr val="accent1"/>
        </a:fillRef>
        <a:effectRef xmlns:a="http://schemas.openxmlformats.org/drawingml/2006/main" idx="2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 anchor="ctr" anchorCtr="0"/>
        <a:lstStyle xmlns:a="http://schemas.openxmlformats.org/drawingml/2006/main"/>
        <a:p xmlns:a="http://schemas.openxmlformats.org/drawingml/2006/main">
          <a:r>
            <a:rPr lang="en-US" sz="900" b="1" i="1" dirty="0">
              <a:solidFill>
                <a:schemeClr val="tx1"/>
              </a:solidFill>
              <a:latin typeface="Times New Roman"/>
              <a:cs typeface="Times New Roman"/>
            </a:rPr>
            <a:t>Larger</a:t>
          </a:r>
          <a:r>
            <a:rPr lang="en-US" sz="900" b="1" i="1" baseline="0" dirty="0">
              <a:solidFill>
                <a:schemeClr val="tx1"/>
              </a:solidFill>
              <a:latin typeface="Times New Roman"/>
              <a:cs typeface="Times New Roman"/>
            </a:rPr>
            <a:t> Standard Errors in </a:t>
          </a:r>
          <a:endParaRPr lang="en-US" sz="900" b="1" i="1" baseline="0" dirty="0" smtClean="0">
            <a:solidFill>
              <a:schemeClr val="tx1"/>
            </a:solidFill>
            <a:latin typeface="Times New Roman"/>
            <a:cs typeface="Times New Roman"/>
          </a:endParaRPr>
        </a:p>
        <a:p xmlns:a="http://schemas.openxmlformats.org/drawingml/2006/main">
          <a:r>
            <a:rPr lang="en-US" sz="900" b="1" i="1" baseline="0" dirty="0" smtClean="0">
              <a:solidFill>
                <a:schemeClr val="tx1"/>
              </a:solidFill>
              <a:latin typeface="Times New Roman"/>
              <a:cs typeface="Times New Roman"/>
            </a:rPr>
            <a:t>H</a:t>
          </a:r>
          <a:r>
            <a:rPr lang="en-US" sz="900" b="1" i="1" baseline="0" dirty="0">
              <a:solidFill>
                <a:schemeClr val="tx1"/>
              </a:solidFill>
              <a:latin typeface="Times New Roman"/>
              <a:cs typeface="Times New Roman"/>
            </a:rPr>
            <a:t>-H Class</a:t>
          </a:r>
          <a:endParaRPr lang="en-US" sz="900" b="1" i="1" dirty="0">
            <a:solidFill>
              <a:schemeClr val="tx1"/>
            </a:solidFill>
            <a:latin typeface="Times New Roman"/>
            <a:cs typeface="Times New Roman"/>
          </a:endParaRPr>
        </a:p>
      </cdr:txBody>
    </cdr:sp>
  </cdr:relSizeAnchor>
  <cdr:relSizeAnchor xmlns:cdr="http://schemas.openxmlformats.org/drawingml/2006/chartDrawing">
    <cdr:from>
      <cdr:x>0.7716</cdr:x>
      <cdr:y>0.23598</cdr:y>
    </cdr:from>
    <cdr:to>
      <cdr:x>0.83333</cdr:x>
      <cdr:y>0.30053</cdr:y>
    </cdr:to>
    <cdr:cxnSp macro="">
      <cdr:nvCxnSpPr>
        <cdr:cNvPr id="3" name="Straight Arrow Connector 2"/>
        <cdr:cNvCxnSpPr>
          <a:stCxn xmlns:a="http://schemas.openxmlformats.org/drawingml/2006/main" id="2" idx="3"/>
        </cdr:cNvCxnSpPr>
      </cdr:nvCxnSpPr>
      <cdr:spPr>
        <a:xfrm xmlns:a="http://schemas.openxmlformats.org/drawingml/2006/main">
          <a:off x="4233333" y="944033"/>
          <a:ext cx="338667" cy="258234"/>
        </a:xfrm>
        <a:prstGeom xmlns:a="http://schemas.openxmlformats.org/drawingml/2006/main" prst="straightConnector1">
          <a:avLst/>
        </a:prstGeom>
        <a:ln xmlns:a="http://schemas.openxmlformats.org/drawingml/2006/main" w="28575" cmpd="sng">
          <a:solidFill>
            <a:schemeClr val="tx1"/>
          </a:solidFill>
          <a:headEnd type="none"/>
          <a:tailEnd type="stealth" w="lg" len="lg"/>
        </a:ln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04A3CD-A3A5-B346-8CA0-C29EACE95187}" type="datetime1">
              <a:rPr lang="en-US" smtClean="0"/>
              <a:t>4/14/16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37B04E-9D11-7E4F-8B0D-F4AEDBDA84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431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B67E80-74C8-A146-9534-B39C72A3951C}" type="datetime1">
              <a:rPr lang="en-US" smtClean="0"/>
              <a:t>4/14/16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5B667B-CFC3-844D-9F99-34C86AC659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16125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05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5B667B-CFC3-844D-9F99-34C86AC659B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725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884FE-3A7C-4B40-8CA3-1DDE6F81E85E}" type="datetime1">
              <a:rPr lang="en-US" smtClean="0"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8DED1-C867-6144-9039-FA6A8C8AF564}" type="datetime1">
              <a:rPr lang="en-US" smtClean="0"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67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E1A329-D636-CF4C-AA72-8DFBB490D474}" type="datetime1">
              <a:rPr lang="en-US" smtClean="0"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16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CCBD6-628B-F54A-9BC3-F1F73844D8D0}" type="datetime1">
              <a:rPr lang="en-US" smtClean="0"/>
              <a:t>4/14/16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087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593EC-B3E3-8C40-9D1B-B6C32961FACB}" type="datetime1">
              <a:rPr lang="en-US" smtClean="0"/>
              <a:t>4/14/16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28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0B3EF-C5D4-1749-BF9A-232D7AA5067C}" type="datetime1">
              <a:rPr lang="en-US" smtClean="0"/>
              <a:t>4/14/16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28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BA093-4BA3-AD4D-8E7C-F3F6A3A56F0F}" type="datetime1">
              <a:rPr lang="en-US" smtClean="0"/>
              <a:t>4/14/16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835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76C73-AA04-8740-9E18-7DF789012B8D}" type="datetime1">
              <a:rPr lang="en-US" smtClean="0"/>
              <a:t>4/14/16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3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65DA0-7F1E-264C-8627-E27FBF892239}" type="datetime1">
              <a:rPr lang="en-US" smtClean="0"/>
              <a:t>4/14/16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8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8F230-72B3-AC42-9A32-3D5CC67E085D}" type="datetime1">
              <a:rPr lang="en-US" smtClean="0"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09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DD832-B04F-9A41-B5D5-BE14F27DD837}" type="datetime1">
              <a:rPr lang="en-US" smtClean="0"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95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7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454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184E9F43-C68C-0447-B711-C030DC905EE9}" type="datetime1">
              <a:rPr lang="en-US" smtClean="0"/>
              <a:pPr/>
              <a:t>4/14/16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Times New Roman"/>
                <a:cs typeface="Times New Roman"/>
              </a:defRPr>
            </a:lvl1pPr>
          </a:lstStyle>
          <a:p>
            <a:fld id="{9E0F272A-0FC0-1943-B826-E8D4777EEB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45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rgbClr val="FF6600"/>
          </a:solidFill>
          <a:latin typeface="Times New Roman"/>
          <a:ea typeface="+mj-ea"/>
          <a:cs typeface="Times New Roman"/>
        </a:defRPr>
      </a:lvl1pPr>
    </p:titleStyle>
    <p:bodyStyle>
      <a:lvl1pPr marL="342900" indent="-3429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/>
          <a:ea typeface="+mn-ea"/>
          <a:cs typeface="Times New Roman"/>
        </a:defRPr>
      </a:lvl1pPr>
      <a:lvl2pPr marL="742950" indent="-28575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2000" kern="1200">
          <a:solidFill>
            <a:srgbClr val="0000FF"/>
          </a:solidFill>
          <a:latin typeface="Times New Roman"/>
          <a:ea typeface="+mn-ea"/>
          <a:cs typeface="Times New Roman"/>
        </a:defRPr>
      </a:lvl2pPr>
      <a:lvl3pPr marL="11430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•"/>
        <a:defRPr sz="1800" kern="1200">
          <a:solidFill>
            <a:srgbClr val="000090"/>
          </a:solidFill>
          <a:latin typeface="Times New Roman"/>
          <a:ea typeface="+mn-ea"/>
          <a:cs typeface="Times New Roman"/>
        </a:defRPr>
      </a:lvl3pPr>
      <a:lvl4pPr marL="16002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–"/>
        <a:defRPr sz="1600" kern="1200">
          <a:solidFill>
            <a:srgbClr val="800000"/>
          </a:solidFill>
          <a:latin typeface="Times New Roman"/>
          <a:ea typeface="+mn-ea"/>
          <a:cs typeface="Times New Roman"/>
        </a:defRPr>
      </a:lvl4pPr>
      <a:lvl5pPr marL="2057400" indent="-228600" algn="l" defTabSz="457200" rtl="0" eaLnBrk="1" latinLnBrk="0" hangingPunct="1">
        <a:lnSpc>
          <a:spcPct val="110000"/>
        </a:lnSpc>
        <a:spcBef>
          <a:spcPct val="20000"/>
        </a:spcBef>
        <a:buFont typeface="Arial"/>
        <a:buChar char="»"/>
        <a:defRPr sz="1600" kern="1200">
          <a:solidFill>
            <a:schemeClr val="accent6">
              <a:lumMod val="50000"/>
            </a:schemeClr>
          </a:solidFill>
          <a:latin typeface="Times New Roman"/>
          <a:ea typeface="+mn-ea"/>
          <a:cs typeface="Times New Roman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32786"/>
            <a:ext cx="8229600" cy="847117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A </a:t>
            </a:r>
            <a:r>
              <a:rPr lang="en-US" dirty="0"/>
              <a:t>little </a:t>
            </a:r>
            <a:r>
              <a:rPr lang="en-US" dirty="0" smtClean="0"/>
              <a:t>about myself…</a:t>
            </a:r>
            <a:br>
              <a:rPr lang="en-US" dirty="0" smtClean="0"/>
            </a:br>
            <a:r>
              <a:rPr lang="en-US" sz="2700" dirty="0" smtClean="0"/>
              <a:t>Hamed Qahri-Saremi</a:t>
            </a:r>
            <a:endParaRPr lang="en-US" sz="27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763" y="1260567"/>
            <a:ext cx="5387038" cy="5214324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Assistant Professor of Management Information Systems (MIS), College of Business &amp; Management, University of Illinois (Springfield Campus).</a:t>
            </a:r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 smtClean="0"/>
          </a:p>
          <a:p>
            <a:pPr marL="0" indent="0" algn="just">
              <a:buNone/>
            </a:pPr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algn="just"/>
            <a:r>
              <a:rPr lang="en-US" sz="1800" dirty="0" smtClean="0"/>
              <a:t>Ph.D. in Business Administration with concentration on Information Systems from </a:t>
            </a:r>
            <a:r>
              <a:rPr lang="en-US" sz="1800" dirty="0" err="1" smtClean="0"/>
              <a:t>DeGroote</a:t>
            </a:r>
            <a:r>
              <a:rPr lang="en-US" sz="1800" dirty="0" smtClean="0"/>
              <a:t> School of Business, McMaster University, Canada.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 descr="UIScampu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9840" y="1322043"/>
            <a:ext cx="3298793" cy="1541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McMaster U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6662" y="4068177"/>
            <a:ext cx="3301971" cy="1702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0343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469"/>
            <a:ext cx="8229600" cy="691848"/>
          </a:xfrm>
        </p:spPr>
        <p:txBody>
          <a:bodyPr>
            <a:normAutofit fontScale="90000"/>
          </a:bodyPr>
          <a:lstStyle/>
          <a:p>
            <a:r>
              <a:rPr lang="en-US" dirty="0"/>
              <a:t>A </a:t>
            </a:r>
            <a:r>
              <a:rPr lang="en-US" dirty="0" smtClean="0"/>
              <a:t>little </a:t>
            </a:r>
            <a:r>
              <a:rPr lang="en-US" dirty="0"/>
              <a:t>about myself…</a:t>
            </a:r>
            <a:br>
              <a:rPr lang="en-US" dirty="0"/>
            </a:br>
            <a:r>
              <a:rPr lang="en-US" sz="2200" dirty="0" smtClean="0"/>
              <a:t>Research Interests &amp; Examples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9" y="897861"/>
            <a:ext cx="8856319" cy="5622406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Information </a:t>
            </a:r>
            <a:r>
              <a:rPr lang="en-US" sz="1800" dirty="0"/>
              <a:t>Systems Use (</a:t>
            </a:r>
            <a:r>
              <a:rPr lang="en-US" sz="1800" dirty="0" smtClean="0"/>
              <a:t>Patterns of Use, </a:t>
            </a:r>
            <a:r>
              <a:rPr lang="en-US" sz="1800" dirty="0"/>
              <a:t>Antecedents, and Consequences</a:t>
            </a:r>
            <a:r>
              <a:rPr lang="en-US" sz="1800" dirty="0" smtClean="0"/>
              <a:t>)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dirty="0"/>
              <a:t>Turel, O. &amp; </a:t>
            </a:r>
            <a:r>
              <a:rPr lang="en-US" sz="1200" b="1" dirty="0"/>
              <a:t>Qahri-Saremi, H.</a:t>
            </a:r>
            <a:r>
              <a:rPr lang="en-US" sz="1200" dirty="0"/>
              <a:t> (equal contributions) “Ambivalence and its Responses in Information System Use: An Integrative Framework and Empirical Examination”, </a:t>
            </a:r>
            <a:r>
              <a:rPr lang="en-US" sz="1200" i="1" dirty="0" smtClean="0"/>
              <a:t>Invited to Revise &amp; Resubmit for 2</a:t>
            </a:r>
            <a:r>
              <a:rPr lang="en-US" sz="1200" i="1" baseline="30000" dirty="0" smtClean="0"/>
              <a:t>nd</a:t>
            </a:r>
            <a:r>
              <a:rPr lang="en-US" sz="1200" i="1" dirty="0" smtClean="0"/>
              <a:t> Round of Review at </a:t>
            </a:r>
            <a:r>
              <a:rPr lang="en-US" sz="1200" i="1" u="sng" dirty="0" smtClean="0"/>
              <a:t>Management Science</a:t>
            </a:r>
            <a:r>
              <a:rPr lang="en-US" sz="1200" dirty="0" smtClean="0"/>
              <a:t>.</a:t>
            </a:r>
            <a:endParaRPr lang="en-US" sz="1200" dirty="0"/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dirty="0" smtClean="0"/>
              <a:t>Turel</a:t>
            </a:r>
            <a:r>
              <a:rPr lang="en-US" sz="1200" dirty="0"/>
              <a:t>, O. &amp; </a:t>
            </a:r>
            <a:r>
              <a:rPr lang="en-US" sz="1200" b="1" dirty="0"/>
              <a:t>Qahri-Saremi, H.</a:t>
            </a:r>
            <a:r>
              <a:rPr lang="en-US" sz="1200" dirty="0"/>
              <a:t> (equal contributions) “Dual-System Etiology and Consequences of Compulsive Use of Information Systems: An Examination of Social Networking Site Users”. </a:t>
            </a:r>
            <a:r>
              <a:rPr lang="en-US" sz="1200" i="1" dirty="0"/>
              <a:t>Under Review </a:t>
            </a:r>
            <a:r>
              <a:rPr lang="en-US" sz="1200" i="1" dirty="0" smtClean="0"/>
              <a:t>at </a:t>
            </a:r>
            <a:r>
              <a:rPr lang="en-US" sz="1200" i="1" u="sng" dirty="0" smtClean="0"/>
              <a:t>Information Systems Research</a:t>
            </a:r>
            <a:r>
              <a:rPr lang="en-US" sz="1200" dirty="0" smtClean="0"/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b="1" dirty="0" smtClean="0"/>
              <a:t>Qahri</a:t>
            </a:r>
            <a:r>
              <a:rPr lang="en-US" sz="1200" b="1" dirty="0"/>
              <a:t>-Saremi, H.</a:t>
            </a:r>
            <a:r>
              <a:rPr lang="en-US" sz="1200" dirty="0"/>
              <a:t> </a:t>
            </a:r>
            <a:r>
              <a:rPr lang="en-US" sz="1200" dirty="0" smtClean="0"/>
              <a:t>&amp; </a:t>
            </a:r>
            <a:r>
              <a:rPr lang="en-US" sz="1200" dirty="0" err="1" smtClean="0"/>
              <a:t>Turel</a:t>
            </a:r>
            <a:r>
              <a:rPr lang="en-US" sz="1200" dirty="0"/>
              <a:t>, O. </a:t>
            </a:r>
            <a:r>
              <a:rPr lang="en-US" sz="1200" dirty="0" smtClean="0"/>
              <a:t>(</a:t>
            </a:r>
            <a:r>
              <a:rPr lang="en-US" sz="1200" dirty="0"/>
              <a:t>equal contributions) </a:t>
            </a:r>
            <a:r>
              <a:rPr lang="en-US" sz="1200" dirty="0" smtClean="0"/>
              <a:t>“School Engagement </a:t>
            </a:r>
            <a:r>
              <a:rPr lang="en-US" sz="1200" dirty="0"/>
              <a:t>on IT use and School </a:t>
            </a:r>
            <a:r>
              <a:rPr lang="en-US" sz="1200" dirty="0" smtClean="0"/>
              <a:t>Performance”. </a:t>
            </a:r>
            <a:r>
              <a:rPr lang="en-US" sz="1200" i="1" dirty="0"/>
              <a:t>Under Review </a:t>
            </a:r>
            <a:r>
              <a:rPr lang="en-US" sz="1200" i="1" dirty="0" smtClean="0"/>
              <a:t>at </a:t>
            </a:r>
            <a:r>
              <a:rPr lang="en-US" sz="1200" i="1" u="sng" dirty="0" smtClean="0"/>
              <a:t>Computers &amp; Education</a:t>
            </a:r>
            <a:r>
              <a:rPr lang="en-US" sz="1200" dirty="0" smtClean="0"/>
              <a:t>.</a:t>
            </a:r>
            <a:endParaRPr lang="en-US" sz="1200" dirty="0"/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dirty="0" err="1" smtClean="0"/>
              <a:t>Montazemi</a:t>
            </a:r>
            <a:r>
              <a:rPr lang="en-US" sz="1200" dirty="0"/>
              <a:t>, A.R., </a:t>
            </a:r>
            <a:r>
              <a:rPr lang="en-US" sz="1200" dirty="0" smtClean="0"/>
              <a:t>&amp; </a:t>
            </a:r>
            <a:r>
              <a:rPr lang="en-US" sz="1200" b="1" dirty="0"/>
              <a:t>Qahri-Saremi, H.</a:t>
            </a:r>
            <a:r>
              <a:rPr lang="en-US" sz="1200" dirty="0"/>
              <a:t> 2015. (equal contributions) "Factors Affecting Adoption of Online Banking: A Meta-Analytic Structural Equation Modeling Study," </a:t>
            </a:r>
            <a:r>
              <a:rPr lang="en-US" sz="1200" i="1" u="sng" dirty="0"/>
              <a:t>Information &amp; Management</a:t>
            </a:r>
            <a:r>
              <a:rPr lang="en-US" sz="1200" dirty="0"/>
              <a:t> (52:2), pp. 210-226</a:t>
            </a:r>
            <a:r>
              <a:rPr lang="en-US" sz="1200" dirty="0" smtClean="0"/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dirty="0" err="1"/>
              <a:t>Montazemi</a:t>
            </a:r>
            <a:r>
              <a:rPr lang="en-US" sz="1200" dirty="0"/>
              <a:t>, A.R., </a:t>
            </a:r>
            <a:r>
              <a:rPr lang="en-US" sz="1200" dirty="0" err="1"/>
              <a:t>Pittaway</a:t>
            </a:r>
            <a:r>
              <a:rPr lang="en-US" sz="1200" dirty="0"/>
              <a:t>, J.J., </a:t>
            </a:r>
            <a:r>
              <a:rPr lang="en-US" sz="1200" b="1" dirty="0"/>
              <a:t>Qahri Saremi, H.</a:t>
            </a:r>
            <a:r>
              <a:rPr lang="en-US" sz="1200" dirty="0"/>
              <a:t>, and Wei, Y. 2012. (equal contributions) "Factors of Stickiness in Transfers of Know-How between </a:t>
            </a:r>
            <a:r>
              <a:rPr lang="en-US" sz="1200" dirty="0" smtClean="0"/>
              <a:t>MNC </a:t>
            </a:r>
            <a:r>
              <a:rPr lang="en-US" sz="1200" dirty="0"/>
              <a:t>Units," </a:t>
            </a:r>
            <a:r>
              <a:rPr lang="en-US" sz="1200" i="1" u="sng" dirty="0"/>
              <a:t>The Journal of Strategic Information Systems</a:t>
            </a:r>
            <a:r>
              <a:rPr lang="en-US" sz="1200" dirty="0"/>
              <a:t> </a:t>
            </a:r>
            <a:r>
              <a:rPr lang="en-US" sz="1200" dirty="0" smtClean="0"/>
              <a:t>(</a:t>
            </a:r>
            <a:r>
              <a:rPr lang="en-US" sz="1200" dirty="0"/>
              <a:t>21), pp. 31-57. </a:t>
            </a:r>
            <a:endParaRPr lang="en-US" sz="1200" dirty="0" smtClean="0"/>
          </a:p>
          <a:p>
            <a:pPr marL="800100" lvl="1" indent="-342900" algn="just">
              <a:buFont typeface="+mj-lt"/>
              <a:buAutoNum type="arabicPeriod"/>
            </a:pPr>
            <a:endParaRPr lang="en-US" sz="1200" b="1" dirty="0"/>
          </a:p>
          <a:p>
            <a:pPr algn="just"/>
            <a:r>
              <a:rPr lang="en-US" sz="1800" dirty="0" smtClean="0"/>
              <a:t>Electronic </a:t>
            </a:r>
            <a:r>
              <a:rPr lang="en-US" sz="1800" dirty="0"/>
              <a:t>Word of Mouth and Online </a:t>
            </a:r>
            <a:r>
              <a:rPr lang="en-US" sz="1800" dirty="0" smtClean="0"/>
              <a:t>Social Networks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b="1" dirty="0"/>
              <a:t>Qahri-Saremi, H.</a:t>
            </a:r>
            <a:r>
              <a:rPr lang="en-US" sz="1200" dirty="0"/>
              <a:t>, </a:t>
            </a:r>
            <a:r>
              <a:rPr lang="en-US" sz="1200" dirty="0" err="1"/>
              <a:t>Pittaway</a:t>
            </a:r>
            <a:r>
              <a:rPr lang="en-US" sz="1200" dirty="0"/>
              <a:t> J. J., &amp; </a:t>
            </a:r>
            <a:r>
              <a:rPr lang="en-US" sz="1200" dirty="0" err="1"/>
              <a:t>Montazemi</a:t>
            </a:r>
            <a:r>
              <a:rPr lang="en-US" sz="1200" dirty="0"/>
              <a:t>, A. R. (equal contributions) “The effectiveness of electronic word-of-mouth on the formation of consumers’ perception of products/services adoption process: a mixed-method literature synthesis”. </a:t>
            </a:r>
            <a:r>
              <a:rPr lang="en-US" sz="1200" i="1" dirty="0"/>
              <a:t>To be submitted to </a:t>
            </a:r>
            <a:r>
              <a:rPr lang="en-US" sz="1200" i="1" u="sng" dirty="0"/>
              <a:t>MIS Quarterly</a:t>
            </a:r>
            <a:r>
              <a:rPr lang="en-US" sz="1200" dirty="0"/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b="1" dirty="0"/>
              <a:t>Qahri Saremi, H. </a:t>
            </a:r>
            <a:r>
              <a:rPr lang="en-US" sz="1200" dirty="0"/>
              <a:t>&amp; </a:t>
            </a:r>
            <a:r>
              <a:rPr lang="en-US" sz="1200" dirty="0" err="1"/>
              <a:t>Montazemi</a:t>
            </a:r>
            <a:r>
              <a:rPr lang="en-US" sz="1200" dirty="0"/>
              <a:t>, A. R. (equal contributions) “Factors affecting the impacts of electronic word-of-mouth on consumers’ perceptions of using products/services: the role of consumers’ prior knowledge and innovativeness”. </a:t>
            </a:r>
            <a:r>
              <a:rPr lang="en-US" sz="1200" i="1" dirty="0"/>
              <a:t>To be submitted to </a:t>
            </a:r>
            <a:r>
              <a:rPr lang="en-US" sz="1200" i="1" u="sng" dirty="0"/>
              <a:t>MIS Quarterly</a:t>
            </a:r>
            <a:r>
              <a:rPr lang="en-US" sz="1200" dirty="0"/>
              <a:t>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sz="1200" b="1" dirty="0"/>
              <a:t>Qahri-Saremi, H.</a:t>
            </a:r>
            <a:r>
              <a:rPr lang="en-US" sz="1200" dirty="0"/>
              <a:t>, </a:t>
            </a:r>
            <a:r>
              <a:rPr lang="en-US" sz="1200" dirty="0" err="1" smtClean="0"/>
              <a:t>Ebrahimi</a:t>
            </a:r>
            <a:r>
              <a:rPr lang="en-US" sz="1200" dirty="0"/>
              <a:t>, S., </a:t>
            </a:r>
            <a:r>
              <a:rPr lang="en-US" sz="1200" dirty="0" err="1"/>
              <a:t>Pittaway</a:t>
            </a:r>
            <a:r>
              <a:rPr lang="en-US" sz="1200" dirty="0"/>
              <a:t> J. J., &amp; </a:t>
            </a:r>
            <a:r>
              <a:rPr lang="en-US" sz="1200" dirty="0" err="1"/>
              <a:t>Montazemi</a:t>
            </a:r>
            <a:r>
              <a:rPr lang="en-US" sz="1200" dirty="0"/>
              <a:t>, A. R. (equal contributions) (2015) “Factors Affecting Firms’ Crises on Online Social Media and the Effectiveness of the Remedial Actions: A Mixed-Methods Research Program”, </a:t>
            </a:r>
            <a:r>
              <a:rPr lang="en-US" sz="1200" i="1" dirty="0"/>
              <a:t>P</a:t>
            </a:r>
            <a:r>
              <a:rPr lang="en-US" sz="1200" i="1" dirty="0" smtClean="0"/>
              <a:t>resented </a:t>
            </a:r>
            <a:r>
              <a:rPr lang="en-US" sz="1200" i="1" dirty="0"/>
              <a:t>at the </a:t>
            </a:r>
            <a:r>
              <a:rPr lang="en-US" sz="1200" i="1" u="sng" dirty="0"/>
              <a:t>Conference on Digital Experimentation (CODE) @ MI</a:t>
            </a:r>
            <a:r>
              <a:rPr lang="en-US" sz="1200" i="1" dirty="0"/>
              <a:t>T, October 16-17</a:t>
            </a:r>
            <a:r>
              <a:rPr lang="en-US" sz="1200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70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2969" y="786173"/>
            <a:ext cx="8371534" cy="1336739"/>
          </a:xfr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>
            <a:noAutofit/>
          </a:bodyPr>
          <a:lstStyle/>
          <a:p>
            <a:r>
              <a:rPr lang="en-US" sz="2400" dirty="0" smtClean="0"/>
              <a:t>Ambivalence and Its Responses in Information System Use: </a:t>
            </a:r>
            <a:br>
              <a:rPr lang="en-US" sz="2400" dirty="0" smtClean="0"/>
            </a:br>
            <a:r>
              <a:rPr lang="en-US" sz="2400" dirty="0" smtClean="0"/>
              <a:t>An Integrative Framework And Empirical Examination 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09900"/>
            <a:ext cx="6400800" cy="1245351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Hamed Qahri-Saremi, Ph.D.</a:t>
            </a:r>
          </a:p>
          <a:p>
            <a:pPr>
              <a:lnSpc>
                <a:spcPct val="10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Management Information Systems (MIS) Department, </a:t>
            </a:r>
          </a:p>
          <a:p>
            <a:pPr>
              <a:lnSpc>
                <a:spcPct val="100000"/>
              </a:lnSpc>
            </a:pPr>
            <a:r>
              <a:rPr lang="en-US" sz="1600" dirty="0" smtClean="0">
                <a:solidFill>
                  <a:schemeClr val="tx1"/>
                </a:solidFill>
              </a:rPr>
              <a:t>College of Business &amp; Management, University of Illinois at Springfield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771891" y="5001550"/>
            <a:ext cx="7703686" cy="89925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1pPr>
            <a:lvl2pPr marL="4572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2pPr>
            <a:lvl3pPr marL="9144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3pPr>
            <a:lvl4pPr marL="13716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4pPr>
            <a:lvl5pPr marL="1828800" indent="0" algn="ctr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1200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Citation:</a:t>
            </a:r>
          </a:p>
          <a:p>
            <a:pPr algn="just"/>
            <a:r>
              <a:rPr lang="en-US" sz="1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Turel, O. &amp; Qahri-Saremi, H. (equal contributions) “Ambivalence and its Responses in Information System Use: An Integrative Framework and Empirical Examination”, Invited to Revise and Resubmit for 2</a:t>
            </a:r>
            <a:r>
              <a:rPr lang="en-US" sz="1200" b="1" i="1" baseline="30000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nd</a:t>
            </a:r>
            <a:r>
              <a:rPr lang="en-US" sz="1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Round </a:t>
            </a:r>
            <a:r>
              <a:rPr lang="en-US" sz="1200" b="1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of Review at Management </a:t>
            </a:r>
            <a:r>
              <a:rPr lang="en-US" sz="1200" b="1" i="1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Science.</a:t>
            </a:r>
          </a:p>
        </p:txBody>
      </p:sp>
    </p:spTree>
    <p:extLst>
      <p:ext uri="{BB962C8B-B14F-4D97-AF65-F5344CB8AC3E}">
        <p14:creationId xmlns:p14="http://schemas.microsoft.com/office/powerpoint/2010/main" val="8863889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 smtClean="0"/>
              <a:t>Conceptualization of Users’ Orientations toward Information Systems (IS</a:t>
            </a:r>
            <a:r>
              <a:rPr lang="en-US" sz="2400" dirty="0"/>
              <a:t>) as </a:t>
            </a:r>
            <a:r>
              <a:rPr lang="en-US" sz="2400" dirty="0" smtClean="0"/>
              <a:t>a </a:t>
            </a:r>
            <a:r>
              <a:rPr lang="en-US" sz="2400" dirty="0" err="1" smtClean="0"/>
              <a:t>Unidimensional</a:t>
            </a:r>
            <a:r>
              <a:rPr lang="en-US" sz="2400" dirty="0" smtClean="0"/>
              <a:t> Bipolar Continuum</a:t>
            </a:r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195590" y="2904675"/>
            <a:ext cx="2678831" cy="0"/>
          </a:xfrm>
          <a:prstGeom prst="line">
            <a:avLst/>
          </a:prstGeom>
          <a:ln w="76200" cmpd="sng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901731" y="2465550"/>
            <a:ext cx="13016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10235" y="2451895"/>
            <a:ext cx="14654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Users’ </a:t>
            </a:r>
            <a:r>
              <a:rPr lang="en-US" sz="1600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sz="1600" b="1" dirty="0" smtClean="0">
                <a:latin typeface="Times New Roman"/>
                <a:cs typeface="Times New Roman"/>
              </a:rPr>
              <a:t> Orientation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896721" y="4042362"/>
            <a:ext cx="1327842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676686" y="4042362"/>
            <a:ext cx="1526320" cy="584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smtClean="0">
                <a:latin typeface="Times New Roman"/>
                <a:cs typeface="Times New Roman"/>
              </a:rPr>
              <a:t>Discontinued Use of IS</a:t>
            </a:r>
            <a:endParaRPr lang="en-US" sz="1600" b="1" dirty="0">
              <a:latin typeface="Times New Roman"/>
              <a:cs typeface="Times New Roman"/>
            </a:endParaRPr>
          </a:p>
        </p:txBody>
      </p:sp>
      <p:sp>
        <p:nvSpPr>
          <p:cNvPr id="13" name="Down Arrow 12"/>
          <p:cNvSpPr/>
          <p:nvPr/>
        </p:nvSpPr>
        <p:spPr>
          <a:xfrm>
            <a:off x="2230193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8" name="Cloud Callout 27"/>
          <p:cNvSpPr/>
          <p:nvPr/>
        </p:nvSpPr>
        <p:spPr>
          <a:xfrm>
            <a:off x="7062560" y="1690659"/>
            <a:ext cx="1624240" cy="803439"/>
          </a:xfrm>
          <a:prstGeom prst="cloudCallout">
            <a:avLst>
              <a:gd name="adj1" fmla="val -39431"/>
              <a:gd name="adj2" fmla="val 67919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Usefulness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29" name="Cloud Callout 28"/>
          <p:cNvSpPr/>
          <p:nvPr/>
        </p:nvSpPr>
        <p:spPr>
          <a:xfrm>
            <a:off x="261902" y="1690659"/>
            <a:ext cx="1624240" cy="803439"/>
          </a:xfrm>
          <a:prstGeom prst="cloudCallout">
            <a:avLst>
              <a:gd name="adj1" fmla="val 37597"/>
              <a:gd name="adj2" fmla="val 64381"/>
            </a:avLst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chemeClr val="tx1"/>
                </a:solidFill>
                <a:latin typeface="Times New Roman"/>
                <a:cs typeface="Times New Roman"/>
              </a:rPr>
              <a:t>e.g., Perceived Threat</a:t>
            </a:r>
            <a:endParaRPr lang="en-US" sz="12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04564" y="5088898"/>
            <a:ext cx="243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 smtClean="0">
                <a:latin typeface="Times New Roman"/>
                <a:cs typeface="Times New Roman"/>
              </a:rPr>
              <a:t>(e.g</a:t>
            </a:r>
            <a:r>
              <a:rPr lang="en-US" sz="1200" dirty="0">
                <a:latin typeface="Times New Roman"/>
                <a:cs typeface="Times New Roman"/>
              </a:rPr>
              <a:t>.</a:t>
            </a:r>
            <a:r>
              <a:rPr lang="en-US" sz="1200" dirty="0" smtClean="0">
                <a:latin typeface="Times New Roman"/>
                <a:cs typeface="Times New Roman"/>
              </a:rPr>
              <a:t>, Davis 1993; Davis et al. 1992;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2008; </a:t>
            </a:r>
            <a:r>
              <a:rPr lang="en-US" sz="1200" dirty="0" err="1" smtClean="0">
                <a:latin typeface="Times New Roman"/>
                <a:cs typeface="Times New Roman"/>
              </a:rPr>
              <a:t>Venkatesh</a:t>
            </a:r>
            <a:r>
              <a:rPr lang="en-US" sz="1200" dirty="0" smtClean="0">
                <a:latin typeface="Times New Roman"/>
                <a:cs typeface="Times New Roman"/>
              </a:rPr>
              <a:t> et al. 2003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498165" y="5088898"/>
            <a:ext cx="25704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Cenfetelli</a:t>
            </a:r>
            <a:r>
              <a:rPr lang="en-US" sz="1200" dirty="0" smtClean="0">
                <a:latin typeface="Times New Roman"/>
                <a:cs typeface="Times New Roman"/>
              </a:rPr>
              <a:t> and Schwarz 2011; Maier et al. 2015</a:t>
            </a:r>
            <a:r>
              <a:rPr lang="en-US" sz="1200" dirty="0">
                <a:latin typeface="Times New Roman"/>
                <a:cs typeface="Times New Roman"/>
              </a:rPr>
              <a:t>; </a:t>
            </a:r>
            <a:r>
              <a:rPr lang="en-US" sz="1200" dirty="0" err="1">
                <a:latin typeface="Times New Roman"/>
                <a:cs typeface="Times New Roman"/>
              </a:rPr>
              <a:t>Bhattacherjee</a:t>
            </a:r>
            <a:r>
              <a:rPr lang="en-US" sz="1200" dirty="0">
                <a:latin typeface="Times New Roman"/>
                <a:cs typeface="Times New Roman"/>
              </a:rPr>
              <a:t> and </a:t>
            </a:r>
            <a:r>
              <a:rPr lang="en-US" sz="1200" dirty="0" err="1">
                <a:latin typeface="Times New Roman"/>
                <a:cs typeface="Times New Roman"/>
              </a:rPr>
              <a:t>Hikmet</a:t>
            </a:r>
            <a:r>
              <a:rPr lang="en-US" sz="1200" dirty="0">
                <a:latin typeface="Times New Roman"/>
                <a:cs typeface="Times New Roman"/>
              </a:rPr>
              <a:t>, 2007; Liang and </a:t>
            </a:r>
            <a:r>
              <a:rPr lang="en-US" sz="1200" dirty="0" err="1">
                <a:latin typeface="Times New Roman"/>
                <a:cs typeface="Times New Roman"/>
              </a:rPr>
              <a:t>Xue</a:t>
            </a:r>
            <a:r>
              <a:rPr lang="en-US" sz="1200" dirty="0">
                <a:latin typeface="Times New Roman"/>
                <a:cs typeface="Times New Roman"/>
              </a:rPr>
              <a:t>, 2009)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6359241" y="3457829"/>
            <a:ext cx="387917" cy="42044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9735535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“Ambivalence”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Individuals may simultaneously experience different levels of both </a:t>
            </a:r>
            <a:r>
              <a:rPr lang="en-US" dirty="0" smtClean="0">
                <a:solidFill>
                  <a:srgbClr val="FF0000"/>
                </a:solidFill>
              </a:rPr>
              <a:t>negative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008000"/>
                </a:solidFill>
              </a:rPr>
              <a:t>positive</a:t>
            </a:r>
            <a:r>
              <a:rPr lang="en-US" dirty="0" smtClean="0"/>
              <a:t> orientations toward objects and behaviors, such as using an IS.</a:t>
            </a:r>
          </a:p>
          <a:p>
            <a:pPr lvl="1" algn="just"/>
            <a:r>
              <a:rPr lang="en-US" dirty="0"/>
              <a:t>“</a:t>
            </a:r>
            <a:r>
              <a:rPr lang="en-US" dirty="0" smtClean="0"/>
              <a:t>Ambivalence” occurs when opposing cognitions, emotions, or cognitions and emotions clash.</a:t>
            </a:r>
          </a:p>
          <a:p>
            <a:pPr lvl="2" algn="just"/>
            <a:r>
              <a:rPr lang="en-US" dirty="0" smtClean="0"/>
              <a:t>Having “mixed feelings”.</a:t>
            </a:r>
          </a:p>
          <a:p>
            <a:pPr lvl="2" algn="just"/>
            <a:r>
              <a:rPr lang="en-US" dirty="0" smtClean="0"/>
              <a:t>“Love &amp; Hate relationship”.</a:t>
            </a:r>
          </a:p>
          <a:p>
            <a:pPr lvl="2" algn="just"/>
            <a:r>
              <a:rPr lang="en-US" dirty="0" smtClean="0"/>
              <a:t>“Feeling torn” between conflicting ideas/emotions toward an object and</a:t>
            </a:r>
            <a:r>
              <a:rPr lang="en-US" dirty="0"/>
              <a:t>/</a:t>
            </a:r>
            <a:r>
              <a:rPr lang="en-US" dirty="0" smtClean="0"/>
              <a:t>or a behavior</a:t>
            </a:r>
            <a:r>
              <a:rPr lang="en-US" dirty="0"/>
              <a:t>.</a:t>
            </a:r>
            <a:endParaRPr lang="en-US" dirty="0" smtClean="0"/>
          </a:p>
        </p:txBody>
      </p:sp>
      <p:grpSp>
        <p:nvGrpSpPr>
          <p:cNvPr id="8" name="Group 7"/>
          <p:cNvGrpSpPr/>
          <p:nvPr/>
        </p:nvGrpSpPr>
        <p:grpSpPr>
          <a:xfrm>
            <a:off x="3646278" y="5250416"/>
            <a:ext cx="1869978" cy="1164881"/>
            <a:chOff x="4082271" y="5390374"/>
            <a:chExt cx="1727806" cy="1022722"/>
          </a:xfrm>
        </p:grpSpPr>
        <p:pic>
          <p:nvPicPr>
            <p:cNvPr id="6" name="Picture 5" descr="avoid-criticism-533x360-640x360 copy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271" y="5392575"/>
              <a:ext cx="864174" cy="1020521"/>
            </a:xfrm>
            <a:prstGeom prst="rect">
              <a:avLst/>
            </a:prstGeom>
          </p:spPr>
        </p:pic>
        <p:pic>
          <p:nvPicPr>
            <p:cNvPr id="7" name="Picture 6" descr="avoid-criticism-533x360-640x360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46445" y="5390374"/>
              <a:ext cx="863632" cy="1022722"/>
            </a:xfrm>
            <a:prstGeom prst="rect">
              <a:avLst/>
            </a:prstGeom>
          </p:spPr>
        </p:pic>
      </p:grp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944255" y="4506564"/>
            <a:ext cx="75953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(e.g.</a:t>
            </a:r>
            <a:r>
              <a:rPr lang="en-US" sz="1200" dirty="0" smtClean="0">
                <a:latin typeface="Times New Roman"/>
                <a:cs typeface="Times New Roman"/>
              </a:rPr>
              <a:t>, </a:t>
            </a:r>
            <a:r>
              <a:rPr lang="en-US" sz="1200" dirty="0" err="1" smtClean="0">
                <a:latin typeface="Times New Roman"/>
                <a:cs typeface="Times New Roman"/>
              </a:rPr>
              <a:t>Ashforth</a:t>
            </a:r>
            <a:r>
              <a:rPr lang="en-US" sz="1200" dirty="0" smtClean="0">
                <a:latin typeface="Times New Roman"/>
                <a:cs typeface="Times New Roman"/>
              </a:rPr>
              <a:t> et al. 2014; Conner et al. 2002; Horney 1946; Hirschman 1970; Pratt and </a:t>
            </a:r>
            <a:r>
              <a:rPr lang="en-US" sz="1200" dirty="0" err="1" smtClean="0">
                <a:latin typeface="Times New Roman"/>
                <a:cs typeface="Times New Roman"/>
              </a:rPr>
              <a:t>Doucet</a:t>
            </a:r>
            <a:r>
              <a:rPr lang="en-US" sz="1200" dirty="0" smtClean="0">
                <a:latin typeface="Times New Roman"/>
                <a:cs typeface="Times New Roman"/>
              </a:rPr>
              <a:t> 2000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515947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9874"/>
            <a:ext cx="8229600" cy="4856289"/>
          </a:xfrm>
        </p:spPr>
        <p:txBody>
          <a:bodyPr>
            <a:normAutofit/>
          </a:bodyPr>
          <a:lstStyle/>
          <a:p>
            <a:pPr algn="just"/>
            <a:r>
              <a:rPr lang="en-US" sz="1800" dirty="0" smtClean="0"/>
              <a:t>The experience of ambivalence, even very small levels of it, feels wrong, unpleasant, and can result in disorientation. </a:t>
            </a:r>
          </a:p>
          <a:p>
            <a:pPr algn="just"/>
            <a:endParaRPr lang="en-US" sz="1800" dirty="0" smtClean="0"/>
          </a:p>
          <a:p>
            <a:pPr algn="just"/>
            <a:endParaRPr lang="en-US" sz="1800" dirty="0"/>
          </a:p>
          <a:p>
            <a:pPr algn="just"/>
            <a:endParaRPr lang="en-US" sz="1800" dirty="0" smtClean="0"/>
          </a:p>
          <a:p>
            <a:pPr marL="0" indent="0" algn="just">
              <a:buNone/>
            </a:pPr>
            <a:endParaRPr lang="en-US" sz="1800" dirty="0" smtClean="0"/>
          </a:p>
          <a:p>
            <a:pPr algn="just"/>
            <a:r>
              <a:rPr lang="en-US" sz="1800" dirty="0" smtClean="0"/>
              <a:t>Users engage in </a:t>
            </a:r>
            <a:r>
              <a:rPr lang="en-US" sz="1800" u="sng" dirty="0" smtClean="0"/>
              <a:t>conscious or subconscious attempts</a:t>
            </a:r>
            <a:r>
              <a:rPr lang="en-US" sz="1800" dirty="0" smtClean="0"/>
              <a:t> to reduce or resolve the discomfort of ambivalence, which are called “</a:t>
            </a:r>
            <a:r>
              <a:rPr lang="en-US" sz="1800" u="sng" dirty="0" smtClean="0"/>
              <a:t>responses to ambivalence</a:t>
            </a:r>
            <a:r>
              <a:rPr lang="en-US" sz="1800" dirty="0" smtClean="0"/>
              <a:t>”.</a:t>
            </a:r>
          </a:p>
          <a:p>
            <a:pPr lvl="1" algn="just"/>
            <a:r>
              <a:rPr lang="en-US" sz="1600" dirty="0" smtClean="0"/>
              <a:t>Responses to ambivalence can involve modification and</a:t>
            </a:r>
            <a:r>
              <a:rPr lang="en-US" sz="1600" dirty="0"/>
              <a:t>/</a:t>
            </a:r>
            <a:r>
              <a:rPr lang="en-US" sz="1600" dirty="0" smtClean="0"/>
              <a:t>or formation of cognitions, affects, and</a:t>
            </a:r>
            <a:r>
              <a:rPr lang="en-US" sz="1600" dirty="0"/>
              <a:t>/</a:t>
            </a:r>
            <a:r>
              <a:rPr lang="en-US" sz="1600" dirty="0" smtClean="0"/>
              <a:t>or behavioral choices.</a:t>
            </a:r>
            <a:endParaRPr lang="en-US" sz="1600" dirty="0"/>
          </a:p>
          <a:p>
            <a:pPr algn="just"/>
            <a:endParaRPr lang="en-US" sz="2000" dirty="0"/>
          </a:p>
        </p:txBody>
      </p:sp>
      <p:pic>
        <p:nvPicPr>
          <p:cNvPr id="5" name="Picture 4" descr="ID-1008704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441" y="1827628"/>
            <a:ext cx="1178753" cy="11787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Responses to Ambivalence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58343" y="5200259"/>
            <a:ext cx="76024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/>
                <a:cs typeface="Times New Roman"/>
              </a:rPr>
              <a:t>(e.g., </a:t>
            </a:r>
            <a:r>
              <a:rPr lang="en-US" sz="1200" dirty="0" err="1" smtClean="0">
                <a:latin typeface="Times New Roman"/>
                <a:cs typeface="Times New Roman"/>
              </a:rPr>
              <a:t>Ashforth</a:t>
            </a:r>
            <a:r>
              <a:rPr lang="en-US" sz="1200" dirty="0" smtClean="0">
                <a:latin typeface="Times New Roman"/>
                <a:cs typeface="Times New Roman"/>
              </a:rPr>
              <a:t> et al. 2014; </a:t>
            </a:r>
            <a:r>
              <a:rPr lang="en-US" sz="1200" dirty="0" err="1" smtClean="0">
                <a:latin typeface="Times New Roman"/>
                <a:cs typeface="Times New Roman"/>
              </a:rPr>
              <a:t>Harrist</a:t>
            </a:r>
            <a:r>
              <a:rPr lang="en-US" sz="1200" dirty="0" smtClean="0">
                <a:latin typeface="Times New Roman"/>
                <a:cs typeface="Times New Roman"/>
              </a:rPr>
              <a:t> 2006; </a:t>
            </a:r>
            <a:r>
              <a:rPr lang="en-US" sz="1200" dirty="0" err="1" smtClean="0">
                <a:latin typeface="Times New Roman"/>
                <a:cs typeface="Times New Roman"/>
              </a:rPr>
              <a:t>Plambeck</a:t>
            </a:r>
            <a:r>
              <a:rPr lang="en-US" sz="1200" dirty="0" smtClean="0">
                <a:latin typeface="Times New Roman"/>
                <a:cs typeface="Times New Roman"/>
              </a:rPr>
              <a:t> and Weber 2009; Pratt and </a:t>
            </a:r>
            <a:r>
              <a:rPr lang="en-US" sz="1200" dirty="0" err="1" smtClean="0">
                <a:latin typeface="Times New Roman"/>
                <a:cs typeface="Times New Roman"/>
              </a:rPr>
              <a:t>Doucet</a:t>
            </a:r>
            <a:r>
              <a:rPr lang="en-US" sz="1200" dirty="0" smtClean="0">
                <a:latin typeface="Times New Roman"/>
                <a:cs typeface="Times New Roman"/>
              </a:rPr>
              <a:t> 2000; Pratt and </a:t>
            </a:r>
            <a:r>
              <a:rPr lang="en-US" sz="1200" dirty="0" err="1" smtClean="0">
                <a:latin typeface="Times New Roman"/>
                <a:cs typeface="Times New Roman"/>
              </a:rPr>
              <a:t>Pradies</a:t>
            </a:r>
            <a:r>
              <a:rPr lang="en-US" sz="1200" dirty="0" smtClean="0">
                <a:latin typeface="Times New Roman"/>
                <a:cs typeface="Times New Roman"/>
              </a:rPr>
              <a:t> 2012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84801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Ambivalence: </a:t>
            </a:r>
            <a:br>
              <a:rPr lang="en-US" dirty="0" smtClean="0"/>
            </a:br>
            <a:r>
              <a:rPr lang="en-US" sz="2700" dirty="0"/>
              <a:t>A Bi-</a:t>
            </a:r>
            <a:r>
              <a:rPr lang="en-US" sz="2700" dirty="0" smtClean="0"/>
              <a:t>dimensional View Of Users’ Orientations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7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515603" y="5728381"/>
            <a:ext cx="23146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/>
                <a:cs typeface="Times New Roman"/>
              </a:rPr>
              <a:t>Users’ </a:t>
            </a:r>
            <a:r>
              <a:rPr lang="en-US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b="1" dirty="0" smtClean="0">
                <a:latin typeface="Times New Roman"/>
                <a:cs typeface="Times New Roman"/>
              </a:rPr>
              <a:t> Orientation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 rot="16200000">
            <a:off x="1593588" y="4140627"/>
            <a:ext cx="23720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/>
                <a:cs typeface="Times New Roman"/>
              </a:rPr>
              <a:t>Users’ </a:t>
            </a:r>
            <a:r>
              <a:rPr lang="en-US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b="1" dirty="0" smtClean="0">
                <a:latin typeface="Times New Roman"/>
                <a:cs typeface="Times New Roman"/>
              </a:rPr>
              <a:t> Orientation</a:t>
            </a:r>
            <a:endParaRPr lang="en-US" b="1" dirty="0">
              <a:latin typeface="Times New Roman"/>
              <a:cs typeface="Times New Roman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3219594" y="5648472"/>
            <a:ext cx="2685483" cy="0"/>
          </a:xfrm>
          <a:prstGeom prst="line">
            <a:avLst/>
          </a:prstGeom>
          <a:ln w="57150" cmpd="sng">
            <a:solidFill>
              <a:schemeClr val="tx1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3219594" y="3277776"/>
            <a:ext cx="0" cy="2370697"/>
          </a:xfrm>
          <a:prstGeom prst="line">
            <a:avLst/>
          </a:prstGeom>
          <a:ln w="57150" cmpd="sng">
            <a:solidFill>
              <a:schemeClr val="tx1"/>
            </a:solidFill>
            <a:headEnd type="none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3222900" y="1825979"/>
            <a:ext cx="2170985" cy="0"/>
          </a:xfrm>
          <a:prstGeom prst="line">
            <a:avLst/>
          </a:prstGeom>
          <a:ln w="76200" cmpd="sng">
            <a:solidFill>
              <a:schemeClr val="tx1"/>
            </a:solidFill>
            <a:headEnd type="stealth" w="lg" len="lg"/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93893" y="1556094"/>
            <a:ext cx="1716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/>
                <a:cs typeface="Times New Roman"/>
              </a:rPr>
              <a:t>Users’ </a:t>
            </a:r>
            <a:r>
              <a:rPr lang="en-US" b="1" dirty="0" smtClean="0">
                <a:solidFill>
                  <a:srgbClr val="008000"/>
                </a:solidFill>
                <a:latin typeface="Times New Roman"/>
                <a:cs typeface="Times New Roman"/>
              </a:rPr>
              <a:t>Positive</a:t>
            </a:r>
            <a:r>
              <a:rPr lang="en-US" b="1" dirty="0" smtClean="0">
                <a:latin typeface="Times New Roman"/>
                <a:cs typeface="Times New Roman"/>
              </a:rPr>
              <a:t> Orientation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1128" y="1564369"/>
            <a:ext cx="1755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/>
                <a:cs typeface="Times New Roman"/>
              </a:rPr>
              <a:t>Users’ </a:t>
            </a:r>
            <a:r>
              <a:rPr lang="en-US" b="1" dirty="0" smtClean="0">
                <a:solidFill>
                  <a:srgbClr val="FF0000"/>
                </a:solidFill>
                <a:latin typeface="Times New Roman"/>
                <a:cs typeface="Times New Roman"/>
              </a:rPr>
              <a:t>Negative</a:t>
            </a:r>
            <a:r>
              <a:rPr lang="en-US" b="1" dirty="0" smtClean="0">
                <a:latin typeface="Times New Roman"/>
                <a:cs typeface="Times New Roman"/>
              </a:rPr>
              <a:t> Orientation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3649618" y="2421164"/>
            <a:ext cx="1430502" cy="565506"/>
          </a:xfrm>
          <a:prstGeom prst="downArrow">
            <a:avLst/>
          </a:prstGeom>
          <a:solidFill>
            <a:schemeClr val="accent6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069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 and the Scope of the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958" y="2398573"/>
            <a:ext cx="5373726" cy="4071744"/>
          </a:xfrm>
        </p:spPr>
        <p:txBody>
          <a:bodyPr>
            <a:normAutofit fontScale="92500"/>
          </a:bodyPr>
          <a:lstStyle/>
          <a:p>
            <a:pPr marL="514350" indent="-457200" algn="just">
              <a:buFont typeface="+mj-lt"/>
              <a:buAutoNum type="arabicParenR"/>
            </a:pPr>
            <a:r>
              <a:rPr lang="en-US" sz="2000" dirty="0" smtClean="0">
                <a:solidFill>
                  <a:srgbClr val="0000FF"/>
                </a:solidFill>
              </a:rPr>
              <a:t>A bi</a:t>
            </a:r>
            <a:r>
              <a:rPr lang="en-US" sz="2000" dirty="0">
                <a:solidFill>
                  <a:srgbClr val="0000FF"/>
                </a:solidFill>
              </a:rPr>
              <a:t>-</a:t>
            </a:r>
            <a:r>
              <a:rPr lang="en-US" sz="2000" dirty="0" smtClean="0">
                <a:solidFill>
                  <a:srgbClr val="0000FF"/>
                </a:solidFill>
              </a:rPr>
              <a:t>dimensional </a:t>
            </a:r>
            <a:r>
              <a:rPr lang="en-US" sz="2000" dirty="0">
                <a:solidFill>
                  <a:srgbClr val="0000FF"/>
                </a:solidFill>
              </a:rPr>
              <a:t>(</a:t>
            </a:r>
            <a:r>
              <a:rPr lang="en-US" sz="2000" dirty="0" smtClean="0">
                <a:solidFill>
                  <a:srgbClr val="0000FF"/>
                </a:solidFill>
              </a:rPr>
              <a:t>positive and negative) framework of users’ orientations toward using an IS, based on the ambivalence concept</a:t>
            </a:r>
          </a:p>
          <a:p>
            <a:pPr marL="914400" lvl="1" indent="-457200" algn="just"/>
            <a:r>
              <a:rPr lang="en-US" sz="1900" dirty="0" smtClean="0">
                <a:solidFill>
                  <a:srgbClr val="800000"/>
                </a:solidFill>
              </a:rPr>
              <a:t>Typical combinations of positive and negative orientations (states of ambivalence) toward using an IS that users may experience.</a:t>
            </a:r>
          </a:p>
          <a:p>
            <a:pPr marL="914400" lvl="1" indent="-457200" algn="just"/>
            <a:endParaRPr lang="en-US" sz="1300" dirty="0" smtClean="0">
              <a:solidFill>
                <a:srgbClr val="800000"/>
              </a:solidFill>
            </a:endParaRPr>
          </a:p>
          <a:p>
            <a:pPr marL="514350" indent="-457200" algn="just">
              <a:buFont typeface="+mj-lt"/>
              <a:buAutoNum type="arabicParenR"/>
            </a:pPr>
            <a:r>
              <a:rPr lang="en-US" sz="2000" dirty="0" smtClean="0">
                <a:solidFill>
                  <a:srgbClr val="0000FF"/>
                </a:solidFill>
              </a:rPr>
              <a:t>Plausible users’ responses to the typical combinations of positive and negative orientations (states of ambivalence).</a:t>
            </a:r>
          </a:p>
          <a:p>
            <a:pPr marL="914400" lvl="1" indent="-457200" algn="just"/>
            <a:r>
              <a:rPr lang="en-US" sz="1900" dirty="0" smtClean="0">
                <a:solidFill>
                  <a:srgbClr val="800000"/>
                </a:solidFill>
              </a:rPr>
              <a:t>Users’ plausible responses to the different states of ambivalence.</a:t>
            </a:r>
            <a:endParaRPr lang="en-US" sz="1900" dirty="0">
              <a:solidFill>
                <a:srgbClr val="8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7200" y="965312"/>
            <a:ext cx="837784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Times New Roman"/>
                <a:cs typeface="Times New Roman"/>
              </a:rPr>
              <a:t>This study draws on “ambivalence” theories to conceptualize and empirically validate:</a:t>
            </a:r>
          </a:p>
        </p:txBody>
      </p:sp>
      <p:sp>
        <p:nvSpPr>
          <p:cNvPr id="6" name="Rectangle 5"/>
          <p:cNvSpPr/>
          <p:nvPr/>
        </p:nvSpPr>
        <p:spPr>
          <a:xfrm>
            <a:off x="6268914" y="1604923"/>
            <a:ext cx="1911846" cy="59345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/>
                <a:cs typeface="Times New Roman"/>
              </a:rPr>
              <a:t>Triggers of Ambivalence</a:t>
            </a:r>
            <a:endParaRPr lang="en-US" sz="1400" dirty="0">
              <a:solidFill>
                <a:schemeClr val="tx1">
                  <a:lumMod val="50000"/>
                  <a:lumOff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991724" y="2774936"/>
            <a:ext cx="2466225" cy="1034677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States of Ambivalence </a:t>
            </a:r>
          </a:p>
          <a:p>
            <a:pPr algn="ctr"/>
            <a:r>
              <a:rPr lang="en-US" sz="1400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(Typical combinations of positive and negative orientations)</a:t>
            </a:r>
            <a:endParaRPr lang="en-US" sz="1400" dirty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991724" y="4779520"/>
            <a:ext cx="2466225" cy="1023665"/>
          </a:xfrm>
          <a:prstGeom prst="rect">
            <a:avLst/>
          </a:prstGeom>
          <a:noFill/>
          <a:ln w="28575" cmpd="sng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Resulted Behavior </a:t>
            </a:r>
          </a:p>
          <a:p>
            <a:pPr algn="ctr"/>
            <a:r>
              <a:rPr lang="en-US" sz="14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(e.g., Patterns of IS Use)</a:t>
            </a:r>
          </a:p>
        </p:txBody>
      </p:sp>
      <p:cxnSp>
        <p:nvCxnSpPr>
          <p:cNvPr id="9" name="Straight Arrow Connector 8"/>
          <p:cNvCxnSpPr>
            <a:stCxn id="6" idx="2"/>
            <a:endCxn id="7" idx="0"/>
          </p:cNvCxnSpPr>
          <p:nvPr/>
        </p:nvCxnSpPr>
        <p:spPr>
          <a:xfrm>
            <a:off x="7224837" y="2198382"/>
            <a:ext cx="0" cy="576554"/>
          </a:xfrm>
          <a:prstGeom prst="straightConnector1">
            <a:avLst/>
          </a:prstGeom>
          <a:ln w="12700" cmpd="sng">
            <a:solidFill>
              <a:schemeClr val="bg1">
                <a:lumMod val="50000"/>
              </a:schemeClr>
            </a:solidFill>
            <a:prstDash val="sysDash"/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2"/>
            <a:endCxn id="8" idx="0"/>
          </p:cNvCxnSpPr>
          <p:nvPr/>
        </p:nvCxnSpPr>
        <p:spPr>
          <a:xfrm>
            <a:off x="7224837" y="3809613"/>
            <a:ext cx="0" cy="969907"/>
          </a:xfrm>
          <a:prstGeom prst="straightConnector1">
            <a:avLst/>
          </a:prstGeom>
          <a:ln w="38100" cmpd="sng">
            <a:solidFill>
              <a:schemeClr val="tx1"/>
            </a:solidFill>
            <a:tailEnd type="stealth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41385" y="2398573"/>
            <a:ext cx="8520972" cy="3957777"/>
          </a:xfrm>
          <a:prstGeom prst="rect">
            <a:avLst/>
          </a:prstGeom>
          <a:noFill/>
          <a:ln w="19050" cmpd="sng">
            <a:solidFill>
              <a:schemeClr val="tx1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9488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Context of the Study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this study, we investigate users’ ambivalence toward using an online social networking site (SNS), </a:t>
            </a:r>
            <a:r>
              <a:rPr lang="en-US" dirty="0" smtClean="0">
                <a:solidFill>
                  <a:srgbClr val="0000FF"/>
                </a:solidFill>
              </a:rPr>
              <a:t>Facebook</a:t>
            </a:r>
            <a:r>
              <a:rPr lang="en-US" dirty="0" smtClean="0"/>
              <a:t> in particular, as an example of IS use at the individual level.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 descr="image-techz-143209334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344" y="2996677"/>
            <a:ext cx="3584094" cy="24066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Rectangle 5"/>
          <p:cNvSpPr/>
          <p:nvPr/>
        </p:nvSpPr>
        <p:spPr>
          <a:xfrm>
            <a:off x="3445685" y="5652462"/>
            <a:ext cx="20440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1200" dirty="0" smtClean="0">
                <a:latin typeface="Times New Roman"/>
                <a:cs typeface="Times New Roman"/>
              </a:rPr>
              <a:t>(e.g., Davis 2012; Turel 2015</a:t>
            </a:r>
            <a:r>
              <a:rPr lang="en-US" sz="12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47838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083" y="59116"/>
            <a:ext cx="8386551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Hypothesis 1: </a:t>
            </a:r>
          </a:p>
          <a:p>
            <a:pPr algn="ctr"/>
            <a:r>
              <a:rPr lang="en-US" sz="17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Users experience one of five unique states of ambivalence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, based on the combinations of their different degrees of negative and positive orientations toward using the SNS. </a:t>
            </a:r>
          </a:p>
          <a:p>
            <a:pPr algn="ctr"/>
            <a:r>
              <a:rPr lang="en-US" sz="1400" i="1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Adapted from </a:t>
            </a:r>
            <a:r>
              <a:rPr lang="en-US" sz="1400" i="1" dirty="0" err="1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Ashforth</a:t>
            </a:r>
            <a:r>
              <a:rPr lang="en-US" sz="1400" i="1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 et al. (</a:t>
            </a:r>
            <a:r>
              <a:rPr lang="en-US" sz="1400" i="1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2014</a:t>
            </a:r>
            <a:r>
              <a:rPr lang="en-US" sz="1400" i="1" dirty="0" smtClean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rPr>
              <a:t>)</a:t>
            </a:r>
            <a:endParaRPr lang="en-US" sz="1400" i="1" dirty="0">
              <a:solidFill>
                <a:schemeClr val="accent6">
                  <a:lumMod val="50000"/>
                </a:schemeClr>
              </a:solidFill>
              <a:latin typeface="Times New Roman"/>
              <a:cs typeface="Times New Roman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253979" y="1392623"/>
            <a:ext cx="6576228" cy="5313230"/>
            <a:chOff x="1135437" y="1186650"/>
            <a:chExt cx="6679433" cy="5439397"/>
          </a:xfrm>
        </p:grpSpPr>
        <p:grpSp>
          <p:nvGrpSpPr>
            <p:cNvPr id="21" name="Group 20"/>
            <p:cNvGrpSpPr/>
            <p:nvPr/>
          </p:nvGrpSpPr>
          <p:grpSpPr>
            <a:xfrm>
              <a:off x="1135437" y="1186650"/>
              <a:ext cx="6679433" cy="5439397"/>
              <a:chOff x="1152786" y="704089"/>
              <a:chExt cx="7378627" cy="5902238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74442" y="704089"/>
                <a:ext cx="6156971" cy="5025286"/>
              </a:xfrm>
              <a:prstGeom prst="rect">
                <a:avLst/>
              </a:prstGeom>
              <a:solidFill>
                <a:srgbClr val="FFFFFF"/>
              </a:solidFill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80170" y="5717324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05617" y="5703826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High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05516" y="431424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  <a:endParaRPr lang="en-US" sz="1400" b="1" dirty="0">
                  <a:solidFill>
                    <a:srgbClr val="984807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605516" y="158071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High</a:t>
                </a:r>
                <a:endParaRPr lang="en-US" sz="1400" b="1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374442" y="704089"/>
                <a:ext cx="3133662" cy="2490525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 Negative – High Positive     (L-H)</a:t>
                </a: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08105" y="704090"/>
                <a:ext cx="3023298" cy="249052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High Negative – High Positive (</a:t>
                </a: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H-H)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08104" y="3194614"/>
                <a:ext cx="3023299" cy="253847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High Negative – Low Positive  (</a:t>
                </a: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H-L)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374443" y="3194614"/>
                <a:ext cx="3133662" cy="2538473"/>
              </a:xfrm>
              <a:prstGeom prst="rect">
                <a:avLst/>
              </a:prstGeom>
              <a:noFill/>
              <a:ln w="31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 Negative – Low Positive      (</a:t>
                </a: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L-L)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19507" y="6025104"/>
                <a:ext cx="5094439" cy="5812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Negative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 rot="16200000">
                <a:off x="-514579" y="2918161"/>
                <a:ext cx="3921791" cy="587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Positive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3838406" y="2219043"/>
              <a:ext cx="2479282" cy="2417470"/>
            </a:xfrm>
            <a:prstGeom prst="ellipse">
              <a:avLst/>
            </a:prstGeom>
            <a:solidFill>
              <a:schemeClr val="bg1"/>
            </a:solidFill>
            <a:ln w="3175" cmpd="sng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State of ambivalence: </a:t>
              </a:r>
              <a:endParaRPr lang="en-US" sz="14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984807"/>
                  </a:solidFill>
                  <a:latin typeface="Times New Roman"/>
                  <a:cs typeface="Times New Roman"/>
                </a:rPr>
                <a:t>Medium Negative – Medium Positive   (</a:t>
              </a:r>
              <a:r>
                <a:rPr lang="en-US" sz="1300" b="1" dirty="0">
                  <a:solidFill>
                    <a:srgbClr val="984807"/>
                  </a:solidFill>
                  <a:latin typeface="Times New Roman"/>
                  <a:cs typeface="Times New Roman"/>
                </a:rPr>
                <a:t>M-M)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600491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29738" y="66860"/>
            <a:ext cx="8687242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Hypotheses 2 &amp; (3): </a:t>
            </a:r>
          </a:p>
          <a:p>
            <a:pPr algn="ctr"/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Users in L-H state (</a:t>
            </a:r>
            <a:r>
              <a:rPr lang="en-US" sz="1700" b="1" dirty="0">
                <a:solidFill>
                  <a:srgbClr val="FF6600"/>
                </a:solidFill>
                <a:latin typeface="Times New Roman"/>
                <a:cs typeface="Times New Roman"/>
              </a:rPr>
              <a:t>H-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L state) of ambivalence have </a:t>
            </a:r>
            <a:r>
              <a:rPr lang="en-US" sz="17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significantly higher intention to continue (discontinue) using the SNS 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than users experiencing other states of ambivalence.</a:t>
            </a:r>
            <a:endParaRPr lang="en-US" sz="1700" b="1" dirty="0">
              <a:solidFill>
                <a:srgbClr val="FF6600"/>
              </a:solidFill>
              <a:latin typeface="Times New Roman"/>
              <a:cs typeface="Times New Roman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231747" y="1284259"/>
            <a:ext cx="6759257" cy="5426972"/>
            <a:chOff x="1139542" y="1186650"/>
            <a:chExt cx="6759257" cy="5426972"/>
          </a:xfrm>
        </p:grpSpPr>
        <p:grpSp>
          <p:nvGrpSpPr>
            <p:cNvPr id="21" name="Group 20"/>
            <p:cNvGrpSpPr/>
            <p:nvPr/>
          </p:nvGrpSpPr>
          <p:grpSpPr>
            <a:xfrm>
              <a:off x="1139542" y="1186650"/>
              <a:ext cx="6759257" cy="5426972"/>
              <a:chOff x="1157321" y="704089"/>
              <a:chExt cx="7466807" cy="5888756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74442" y="704089"/>
                <a:ext cx="6249686" cy="5025287"/>
              </a:xfrm>
              <a:prstGeom prst="rect">
                <a:avLst/>
              </a:prstGeom>
              <a:solidFill>
                <a:srgbClr val="FFFFFF"/>
              </a:solidFill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80170" y="5717324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05617" y="5703826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High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05516" y="431424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  <a:endParaRPr lang="en-US" sz="1400" b="1" dirty="0">
                  <a:solidFill>
                    <a:srgbClr val="984807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605516" y="158071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High</a:t>
                </a:r>
                <a:endParaRPr lang="en-US" sz="1400" b="1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08103" y="704090"/>
                <a:ext cx="3116023" cy="249052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High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H-H)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rgbClr val="7F7F7F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08104" y="3194614"/>
                <a:ext cx="3116024" cy="2538474"/>
              </a:xfrm>
              <a:prstGeom prst="rect">
                <a:avLst/>
              </a:prstGeom>
              <a:noFill/>
              <a:ln w="3175" cmpd="sng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r"/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High Negative – Low Positive (</a:t>
                </a:r>
                <a:r>
                  <a:rPr lang="en-US" sz="13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H-L)</a:t>
                </a:r>
              </a:p>
              <a:p>
                <a:pPr algn="r">
                  <a:tabLst>
                    <a:tab pos="455613" algn="l"/>
                  </a:tabLst>
                </a:pPr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Proposed response (</a:t>
                </a:r>
                <a:r>
                  <a:rPr lang="en-US" sz="13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H3)</a:t>
                </a:r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:  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Significantly higher intention to discontinue using the SNS</a:t>
                </a:r>
                <a:r>
                  <a:rPr lang="en-US" sz="1300" b="1" dirty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.</a:t>
                </a:r>
              </a:p>
              <a:p>
                <a:pPr algn="r">
                  <a:tabLst>
                    <a:tab pos="455613" algn="l"/>
                  </a:tabLst>
                </a:pPr>
                <a:r>
                  <a:rPr lang="en-US" sz="1300" dirty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(</a:t>
                </a:r>
                <a:r>
                  <a:rPr lang="en-US" sz="13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Negative Domination</a:t>
                </a:r>
                <a:r>
                  <a:rPr lang="en-US" sz="1300" dirty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)</a:t>
                </a:r>
                <a:endParaRPr lang="en-US" sz="900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374443" y="3194614"/>
                <a:ext cx="3133662" cy="2538473"/>
              </a:xfrm>
              <a:prstGeom prst="rect">
                <a:avLst/>
              </a:prstGeom>
              <a:noFill/>
              <a:ln w="31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bg1">
                      <a:lumMod val="50000"/>
                    </a:schemeClr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300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chemeClr val="bg1">
                      <a:lumMod val="65000"/>
                    </a:schemeClr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Low Negative – Low Positive (</a:t>
                </a:r>
                <a:r>
                  <a:rPr lang="en-US" sz="1300" b="1" dirty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L-L)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19508" y="6025104"/>
                <a:ext cx="5094439" cy="567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Negative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 rot="16200000">
                <a:off x="-514580" y="2922696"/>
                <a:ext cx="3921791" cy="577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Positive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374442" y="704089"/>
                <a:ext cx="3133662" cy="2490525"/>
              </a:xfrm>
              <a:prstGeom prst="rect">
                <a:avLst/>
              </a:prstGeom>
              <a:noFill/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 Negative – High Positive (L-H)</a:t>
                </a:r>
              </a:p>
              <a:p>
                <a:pPr>
                  <a:tabLst>
                    <a:tab pos="455613" algn="l"/>
                  </a:tabLst>
                </a:pPr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Proposed response (H2):  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Significantly higher intention to continue using the SNS. </a:t>
                </a:r>
                <a:endParaRPr lang="en-US" sz="1300" b="1" dirty="0">
                  <a:solidFill>
                    <a:srgbClr val="0000FF"/>
                  </a:solidFill>
                  <a:latin typeface="Times New Roman"/>
                  <a:cs typeface="Times New Roman"/>
                </a:endParaRPr>
              </a:p>
              <a:p>
                <a:pPr>
                  <a:tabLst>
                    <a:tab pos="455613" algn="l"/>
                  </a:tabLst>
                </a:pPr>
                <a:r>
                  <a:rPr lang="en-US" sz="13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(Positive Domination)</a:t>
                </a:r>
              </a:p>
              <a:p>
                <a:pPr>
                  <a:tabLst>
                    <a:tab pos="455613" algn="l"/>
                  </a:tabLst>
                </a:pP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>
                  <a:tabLst>
                    <a:tab pos="455613" algn="l"/>
                  </a:tabLst>
                </a:pPr>
                <a:endParaRPr lang="en-US" sz="12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2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2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3924575" y="2351254"/>
              <a:ext cx="2306944" cy="2245758"/>
            </a:xfrm>
            <a:prstGeom prst="ellipse">
              <a:avLst/>
            </a:prstGeom>
            <a:solidFill>
              <a:schemeClr val="bg1"/>
            </a:solidFill>
            <a:ln w="3175" cmpd="sng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 smtClean="0">
                  <a:solidFill>
                    <a:srgbClr val="A6A6A6"/>
                  </a:solidFill>
                  <a:latin typeface="Times New Roman"/>
                  <a:cs typeface="Times New Roman"/>
                </a:rPr>
                <a:t>State of ambivalence: </a:t>
              </a:r>
              <a:endParaRPr lang="en-US" sz="1300" dirty="0">
                <a:solidFill>
                  <a:srgbClr val="A6A6A6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A6A6A6"/>
                  </a:solidFill>
                  <a:latin typeface="Times New Roman"/>
                  <a:cs typeface="Times New Roman"/>
                </a:rPr>
                <a:t>Medium Negative – Medium Positive    (</a:t>
              </a:r>
              <a:r>
                <a:rPr lang="en-US" sz="1300" b="1" dirty="0">
                  <a:solidFill>
                    <a:srgbClr val="A6A6A6"/>
                  </a:solidFill>
                  <a:latin typeface="Times New Roman"/>
                  <a:cs typeface="Times New Roman"/>
                </a:rPr>
                <a:t>M-M)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11</a:t>
            </a:fld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243154" y="5996700"/>
            <a:ext cx="20903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latin typeface="Times New Roman"/>
                <a:cs typeface="Times New Roman"/>
              </a:rPr>
              <a:t>(e.g., </a:t>
            </a:r>
            <a:r>
              <a:rPr lang="en-US" sz="1100" dirty="0" err="1" smtClean="0">
                <a:latin typeface="Times New Roman"/>
                <a:cs typeface="Times New Roman"/>
              </a:rPr>
              <a:t>Ashforth</a:t>
            </a:r>
            <a:r>
              <a:rPr lang="en-US" sz="1100" dirty="0" smtClean="0">
                <a:latin typeface="Times New Roman"/>
                <a:cs typeface="Times New Roman"/>
              </a:rPr>
              <a:t> et al. 2014; </a:t>
            </a:r>
          </a:p>
          <a:p>
            <a:r>
              <a:rPr lang="en-US" sz="1100" dirty="0" smtClean="0">
                <a:latin typeface="Times New Roman"/>
                <a:cs typeface="Times New Roman"/>
              </a:rPr>
              <a:t>Pratt and </a:t>
            </a:r>
            <a:r>
              <a:rPr lang="en-US" sz="1100" dirty="0" err="1" smtClean="0">
                <a:latin typeface="Times New Roman"/>
                <a:cs typeface="Times New Roman"/>
              </a:rPr>
              <a:t>Pradies</a:t>
            </a:r>
            <a:r>
              <a:rPr lang="en-US" sz="1100" dirty="0" smtClean="0">
                <a:latin typeface="Times New Roman"/>
                <a:cs typeface="Times New Roman"/>
              </a:rPr>
              <a:t> 2012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3571070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083" y="76634"/>
            <a:ext cx="8386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Hypothesis 4: 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Users in L-L state of ambivalence have </a:t>
            </a:r>
            <a:r>
              <a:rPr lang="en-US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significantly lower ambivalence salience</a:t>
            </a:r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 than users experiencing other states of ambivalence</a:t>
            </a:r>
            <a:r>
              <a:rPr lang="en-US" b="1" dirty="0">
                <a:solidFill>
                  <a:srgbClr val="FF6600"/>
                </a:solidFill>
                <a:latin typeface="Times New Roman"/>
                <a:cs typeface="Times New Roman"/>
              </a:rPr>
              <a:t>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231747" y="1266741"/>
            <a:ext cx="6749987" cy="5426972"/>
            <a:chOff x="1139542" y="1186650"/>
            <a:chExt cx="6749987" cy="5426972"/>
          </a:xfrm>
        </p:grpSpPr>
        <p:grpSp>
          <p:nvGrpSpPr>
            <p:cNvPr id="21" name="Group 20"/>
            <p:cNvGrpSpPr/>
            <p:nvPr/>
          </p:nvGrpSpPr>
          <p:grpSpPr>
            <a:xfrm>
              <a:off x="1139542" y="1186650"/>
              <a:ext cx="6749987" cy="5426972"/>
              <a:chOff x="1157321" y="704089"/>
              <a:chExt cx="7456566" cy="5888756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74441" y="704089"/>
                <a:ext cx="6239446" cy="5025287"/>
              </a:xfrm>
              <a:prstGeom prst="rect">
                <a:avLst/>
              </a:prstGeom>
              <a:solidFill>
                <a:srgbClr val="FFFFFF"/>
              </a:solidFill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80170" y="5717324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05617" y="5703826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05516" y="431424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</a:t>
                </a:r>
                <a:endParaRPr lang="en-US" sz="1400" b="1" dirty="0">
                  <a:solidFill>
                    <a:srgbClr val="984807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605516" y="158071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  <a:endParaRPr lang="en-US" sz="1400" b="1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374442" y="704089"/>
                <a:ext cx="3133662" cy="2490525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 Negative – High Positive (L-H)</a:t>
                </a: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08104" y="704090"/>
                <a:ext cx="3105783" cy="249052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High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H-H)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08104" y="3194614"/>
                <a:ext cx="3105783" cy="253847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300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chemeClr val="bg1">
                      <a:lumMod val="65000"/>
                    </a:schemeClr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High Negative – Low Positive (</a:t>
                </a:r>
                <a:r>
                  <a:rPr lang="en-US" sz="1300" b="1" dirty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rPr>
                  <a:t>H-L)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374443" y="3194614"/>
                <a:ext cx="3133662" cy="2538473"/>
              </a:xfrm>
              <a:prstGeom prst="rect">
                <a:avLst/>
              </a:prstGeom>
              <a:noFill/>
              <a:ln w="3175" cmpd="sng">
                <a:solidFill>
                  <a:srgbClr val="0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Low Negative – Low Positive (</a:t>
                </a:r>
                <a:r>
                  <a:rPr lang="en-US" sz="1300" b="1" dirty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L-L</a:t>
                </a:r>
                <a:r>
                  <a:rPr lang="en-US" sz="1300" b="1" dirty="0" smtClean="0">
                    <a:solidFill>
                      <a:srgbClr val="984807"/>
                    </a:solidFill>
                    <a:latin typeface="Times New Roman"/>
                    <a:cs typeface="Times New Roman"/>
                  </a:rPr>
                  <a:t>)</a:t>
                </a:r>
              </a:p>
              <a:p>
                <a:pPr>
                  <a:tabLst>
                    <a:tab pos="455613" algn="l"/>
                  </a:tabLst>
                </a:pPr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Proposed response (</a:t>
                </a:r>
                <a:r>
                  <a:rPr lang="en-US" sz="1300" dirty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H4)</a:t>
                </a:r>
                <a:r>
                  <a:rPr lang="en-US" sz="1300" dirty="0" smtClean="0">
                    <a:solidFill>
                      <a:schemeClr val="tx1"/>
                    </a:solidFill>
                    <a:latin typeface="Times New Roman"/>
                    <a:cs typeface="Times New Roman"/>
                  </a:rPr>
                  <a:t>:   </a:t>
                </a:r>
                <a:endParaRPr lang="en-US" sz="13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0000FF"/>
                    </a:solidFill>
                    <a:latin typeface="Times New Roman"/>
                    <a:cs typeface="Times New Roman"/>
                  </a:rPr>
                  <a:t>Significantly lower ambivalence salience. </a:t>
                </a:r>
                <a:endParaRPr lang="en-US" sz="1300" b="1" dirty="0">
                  <a:solidFill>
                    <a:srgbClr val="0000FF"/>
                  </a:solidFill>
                  <a:latin typeface="Times New Roman"/>
                  <a:cs typeface="Times New Roman"/>
                </a:endParaRPr>
              </a:p>
              <a:p>
                <a:pPr>
                  <a:tabLst>
                    <a:tab pos="455613" algn="l"/>
                  </a:tabLst>
                </a:pPr>
                <a:r>
                  <a:rPr lang="en-US" sz="1300" dirty="0" smtClean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rPr>
                  <a:t>(Avoidance)</a:t>
                </a:r>
                <a:endParaRPr lang="en-US" sz="1300" dirty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19508" y="6025104"/>
                <a:ext cx="5094439" cy="567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Negative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 rot="16200000">
                <a:off x="-514580" y="2922696"/>
                <a:ext cx="3921791" cy="577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Positive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3838406" y="2219043"/>
              <a:ext cx="2479282" cy="2417470"/>
            </a:xfrm>
            <a:prstGeom prst="ellipse">
              <a:avLst/>
            </a:prstGeom>
            <a:solidFill>
              <a:schemeClr val="bg1"/>
            </a:solidFill>
            <a:ln w="3175" cmpd="sng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 smtClean="0">
                  <a:solidFill>
                    <a:srgbClr val="A6A6A6"/>
                  </a:solidFill>
                  <a:latin typeface="Times New Roman"/>
                  <a:cs typeface="Times New Roman"/>
                </a:rPr>
                <a:t>State of ambivalence: </a:t>
              </a:r>
              <a:endParaRPr lang="en-US" sz="1300" dirty="0">
                <a:solidFill>
                  <a:srgbClr val="A6A6A6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A6A6A6"/>
                  </a:solidFill>
                  <a:latin typeface="Times New Roman"/>
                  <a:cs typeface="Times New Roman"/>
                </a:rPr>
                <a:t>Medium Negative – Medium Positive   (</a:t>
              </a:r>
              <a:r>
                <a:rPr lang="en-US" sz="1300" b="1" dirty="0">
                  <a:solidFill>
                    <a:srgbClr val="A6A6A6"/>
                  </a:solidFill>
                  <a:latin typeface="Times New Roman"/>
                  <a:cs typeface="Times New Roman"/>
                </a:rPr>
                <a:t>M-M)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12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43154" y="5996700"/>
            <a:ext cx="20903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latin typeface="Times New Roman"/>
                <a:cs typeface="Times New Roman"/>
              </a:rPr>
              <a:t>(e.g., </a:t>
            </a:r>
            <a:r>
              <a:rPr lang="en-US" sz="1100" dirty="0" err="1" smtClean="0">
                <a:latin typeface="Times New Roman"/>
                <a:cs typeface="Times New Roman"/>
              </a:rPr>
              <a:t>Ashforth</a:t>
            </a:r>
            <a:r>
              <a:rPr lang="en-US" sz="1100" dirty="0" smtClean="0">
                <a:latin typeface="Times New Roman"/>
                <a:cs typeface="Times New Roman"/>
              </a:rPr>
              <a:t> et al. 2014; </a:t>
            </a:r>
          </a:p>
          <a:p>
            <a:r>
              <a:rPr lang="en-US" sz="1100" dirty="0" smtClean="0">
                <a:latin typeface="Times New Roman"/>
                <a:cs typeface="Times New Roman"/>
              </a:rPr>
              <a:t>Pratt and </a:t>
            </a:r>
            <a:r>
              <a:rPr lang="en-US" sz="1100" dirty="0" err="1" smtClean="0">
                <a:latin typeface="Times New Roman"/>
                <a:cs typeface="Times New Roman"/>
              </a:rPr>
              <a:t>Pradies</a:t>
            </a:r>
            <a:r>
              <a:rPr lang="en-US" sz="1100" dirty="0" smtClean="0">
                <a:latin typeface="Times New Roman"/>
                <a:cs typeface="Times New Roman"/>
              </a:rPr>
              <a:t> 2012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928025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083" y="76634"/>
            <a:ext cx="8386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Hypothesis 5: 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Users in M-M state of ambivalence have made </a:t>
            </a:r>
            <a:r>
              <a:rPr lang="en-US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significantly more attempts to reduce using the SNS </a:t>
            </a:r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than users experiencing other states of ambivalence</a:t>
            </a:r>
            <a:r>
              <a:rPr lang="en-US" b="1" dirty="0">
                <a:solidFill>
                  <a:srgbClr val="FF6600"/>
                </a:solidFill>
                <a:latin typeface="Times New Roman"/>
                <a:cs typeface="Times New Roman"/>
              </a:rPr>
              <a:t>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231747" y="1266741"/>
            <a:ext cx="6749987" cy="5426972"/>
            <a:chOff x="1139542" y="1186650"/>
            <a:chExt cx="6749987" cy="5426972"/>
          </a:xfrm>
        </p:grpSpPr>
        <p:grpSp>
          <p:nvGrpSpPr>
            <p:cNvPr id="21" name="Group 20"/>
            <p:cNvGrpSpPr/>
            <p:nvPr/>
          </p:nvGrpSpPr>
          <p:grpSpPr>
            <a:xfrm>
              <a:off x="1139542" y="1186650"/>
              <a:ext cx="6749987" cy="5426972"/>
              <a:chOff x="1157321" y="704089"/>
              <a:chExt cx="7456566" cy="5888756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74441" y="704089"/>
                <a:ext cx="6239446" cy="5025287"/>
              </a:xfrm>
              <a:prstGeom prst="rect">
                <a:avLst/>
              </a:prstGeom>
              <a:solidFill>
                <a:srgbClr val="FFFFFF"/>
              </a:solidFill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80170" y="5717324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05617" y="5703826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05516" y="431424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</a:t>
                </a:r>
                <a:endParaRPr lang="en-US" sz="1400" b="1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605516" y="158071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  <a:endParaRPr lang="en-US" sz="1400" b="1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374442" y="704089"/>
                <a:ext cx="3133662" cy="2490525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 Negative – High Positive (L-H)</a:t>
                </a: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08104" y="704090"/>
                <a:ext cx="3105783" cy="249052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High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H-H)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08104" y="3194614"/>
                <a:ext cx="3105783" cy="253847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Low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H-L)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374443" y="3194614"/>
                <a:ext cx="3133662" cy="2538473"/>
              </a:xfrm>
              <a:prstGeom prst="rect">
                <a:avLst/>
              </a:prstGeom>
              <a:noFill/>
              <a:ln w="31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 Negative – Low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L-L</a:t>
                </a: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19508" y="6025104"/>
                <a:ext cx="5094439" cy="567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Negative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 rot="16200000">
                <a:off x="-514580" y="2922696"/>
                <a:ext cx="3921791" cy="577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Positive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3766920" y="2153357"/>
              <a:ext cx="2622254" cy="2548842"/>
            </a:xfrm>
            <a:prstGeom prst="ellipse">
              <a:avLst/>
            </a:prstGeom>
            <a:solidFill>
              <a:schemeClr val="bg1"/>
            </a:solidFill>
            <a:ln w="3175" cmpd="sng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State of ambivalence: </a:t>
              </a:r>
              <a:endParaRPr lang="en-US" sz="13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984807"/>
                  </a:solidFill>
                  <a:latin typeface="Times New Roman"/>
                  <a:cs typeface="Times New Roman"/>
                </a:rPr>
                <a:t>Medium Negative – Medium Positive      (</a:t>
              </a:r>
              <a:r>
                <a:rPr lang="en-US" sz="1300" b="1" dirty="0">
                  <a:solidFill>
                    <a:srgbClr val="984807"/>
                  </a:solidFill>
                  <a:latin typeface="Times New Roman"/>
                  <a:cs typeface="Times New Roman"/>
                </a:rPr>
                <a:t>M-M</a:t>
              </a:r>
              <a:r>
                <a:rPr lang="en-US" sz="1300" b="1" dirty="0" smtClean="0">
                  <a:solidFill>
                    <a:srgbClr val="984807"/>
                  </a:solidFill>
                  <a:latin typeface="Times New Roman"/>
                  <a:cs typeface="Times New Roman"/>
                </a:rPr>
                <a:t>)</a:t>
              </a:r>
            </a:p>
            <a:p>
              <a:pPr algn="ctr">
                <a:tabLst>
                  <a:tab pos="455613" algn="l"/>
                </a:tabLst>
              </a:pPr>
              <a:r>
                <a:rPr lang="en-US" sz="13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Proposed response (</a:t>
              </a:r>
              <a:r>
                <a:rPr lang="en-US" sz="1300" dirty="0">
                  <a:solidFill>
                    <a:schemeClr val="tx1"/>
                  </a:solidFill>
                  <a:latin typeface="Times New Roman"/>
                  <a:cs typeface="Times New Roman"/>
                </a:rPr>
                <a:t>H5)</a:t>
              </a:r>
              <a:r>
                <a:rPr lang="en-US" sz="13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:   </a:t>
              </a:r>
              <a:endParaRPr lang="en-US" sz="13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0000FF"/>
                  </a:solidFill>
                  <a:latin typeface="Times New Roman"/>
                  <a:cs typeface="Times New Roman"/>
                </a:rPr>
                <a:t>Significantly more attempts to reduce using the SNS.</a:t>
              </a:r>
              <a:endParaRPr lang="en-US" sz="1300" b="1" dirty="0">
                <a:solidFill>
                  <a:srgbClr val="0000FF"/>
                </a:solidFill>
                <a:latin typeface="Times New Roman"/>
                <a:cs typeface="Times New Roman"/>
              </a:endParaRPr>
            </a:p>
            <a:p>
              <a:pPr algn="ctr">
                <a:tabLst>
                  <a:tab pos="455613" algn="l"/>
                </a:tabLst>
              </a:pPr>
              <a:r>
                <a:rPr lang="en-US" sz="1300" dirty="0" smtClean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rPr>
                <a:t>(Gray Compromises)</a:t>
              </a:r>
              <a:endParaRPr lang="en-US" sz="13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13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43154" y="5996700"/>
            <a:ext cx="20903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latin typeface="Times New Roman"/>
                <a:cs typeface="Times New Roman"/>
              </a:rPr>
              <a:t>(e.g., </a:t>
            </a:r>
            <a:r>
              <a:rPr lang="en-US" sz="1100" dirty="0" err="1" smtClean="0">
                <a:latin typeface="Times New Roman"/>
                <a:cs typeface="Times New Roman"/>
              </a:rPr>
              <a:t>Ashforth</a:t>
            </a:r>
            <a:r>
              <a:rPr lang="en-US" sz="1100" dirty="0" smtClean="0">
                <a:latin typeface="Times New Roman"/>
                <a:cs typeface="Times New Roman"/>
              </a:rPr>
              <a:t> et al. 2014; </a:t>
            </a:r>
          </a:p>
          <a:p>
            <a:r>
              <a:rPr lang="en-US" sz="1100" dirty="0" smtClean="0">
                <a:latin typeface="Times New Roman"/>
                <a:cs typeface="Times New Roman"/>
              </a:rPr>
              <a:t>Pratt and </a:t>
            </a:r>
            <a:r>
              <a:rPr lang="en-US" sz="1100" dirty="0" err="1" smtClean="0">
                <a:latin typeface="Times New Roman"/>
                <a:cs typeface="Times New Roman"/>
              </a:rPr>
              <a:t>Pradies</a:t>
            </a:r>
            <a:r>
              <a:rPr lang="en-US" sz="1100" dirty="0" smtClean="0">
                <a:latin typeface="Times New Roman"/>
                <a:cs typeface="Times New Roman"/>
              </a:rPr>
              <a:t> 2012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11449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083" y="76634"/>
            <a:ext cx="83865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Hypothesis 6: 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Users in M-M state of ambivalence have made </a:t>
            </a:r>
            <a:r>
              <a:rPr lang="en-US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significantly more attempts to stop using the SNS </a:t>
            </a:r>
            <a:r>
              <a:rPr lang="en-US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than users experiencing other states of ambivalence</a:t>
            </a:r>
            <a:r>
              <a:rPr lang="en-US" b="1" dirty="0">
                <a:solidFill>
                  <a:srgbClr val="FF6600"/>
                </a:solidFill>
                <a:latin typeface="Times New Roman"/>
                <a:cs typeface="Times New Roman"/>
              </a:rPr>
              <a:t>.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1231747" y="1266741"/>
            <a:ext cx="6749987" cy="5426972"/>
            <a:chOff x="1139542" y="1186650"/>
            <a:chExt cx="6749987" cy="5426972"/>
          </a:xfrm>
        </p:grpSpPr>
        <p:grpSp>
          <p:nvGrpSpPr>
            <p:cNvPr id="21" name="Group 20"/>
            <p:cNvGrpSpPr/>
            <p:nvPr/>
          </p:nvGrpSpPr>
          <p:grpSpPr>
            <a:xfrm>
              <a:off x="1139542" y="1186650"/>
              <a:ext cx="6749987" cy="5426972"/>
              <a:chOff x="1157321" y="704089"/>
              <a:chExt cx="7456566" cy="5888756"/>
            </a:xfrm>
          </p:grpSpPr>
          <p:sp>
            <p:nvSpPr>
              <p:cNvPr id="4" name="Rectangle 3"/>
              <p:cNvSpPr/>
              <p:nvPr/>
            </p:nvSpPr>
            <p:spPr>
              <a:xfrm>
                <a:off x="2374441" y="704089"/>
                <a:ext cx="6239446" cy="5025287"/>
              </a:xfrm>
              <a:prstGeom prst="rect">
                <a:avLst/>
              </a:prstGeom>
              <a:solidFill>
                <a:srgbClr val="FFFFFF"/>
              </a:solidFill>
              <a:ln w="3175" cmpd="sng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285750" indent="-285750">
                  <a:buFont typeface="Arial"/>
                  <a:buChar char="•"/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3480170" y="5717324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</a:t>
                </a:r>
              </a:p>
            </p:txBody>
          </p:sp>
          <p:sp>
            <p:nvSpPr>
              <p:cNvPr id="7" name="TextBox 6"/>
              <p:cNvSpPr txBox="1"/>
              <p:nvPr/>
            </p:nvSpPr>
            <p:spPr>
              <a:xfrm>
                <a:off x="6605617" y="5703826"/>
                <a:ext cx="938847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spcAft>
                    <a:spcPts val="600"/>
                  </a:spcAft>
                </a:pPr>
                <a:r>
                  <a: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1605516" y="431424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</a:t>
                </a:r>
                <a:endParaRPr lang="en-US" sz="1400" b="1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605516" y="1580714"/>
                <a:ext cx="938848" cy="333966"/>
              </a:xfrm>
              <a:prstGeom prst="rect">
                <a:avLst/>
              </a:prstGeom>
              <a:noFill/>
              <a:ln w="3175" cmpd="sng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</a:t>
                </a:r>
                <a:endParaRPr lang="en-US" sz="1400" b="1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2374442" y="704089"/>
                <a:ext cx="3133662" cy="2490525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 anchorCtr="0"/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 Negative – High Positive (L-H)</a:t>
                </a: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  <a:tabLst>
                    <a:tab pos="455613" algn="l"/>
                  </a:tabLs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5508104" y="704090"/>
                <a:ext cx="3105783" cy="249052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High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H-H)</a:t>
                </a: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5508104" y="3194614"/>
                <a:ext cx="3105783" cy="2538474"/>
              </a:xfrm>
              <a:prstGeom prst="rect">
                <a:avLst/>
              </a:prstGeom>
              <a:noFill/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High Negative – Low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H-L)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2374443" y="3194614"/>
                <a:ext cx="3133662" cy="2538473"/>
              </a:xfrm>
              <a:prstGeom prst="rect">
                <a:avLst/>
              </a:prstGeom>
              <a:noFill/>
              <a:ln w="3175" cmpd="sng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sz="1400" dirty="0" smtClean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chemeClr val="tx1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 smtClean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pPr algn="ctr"/>
                <a:endParaRPr lang="en-US" sz="1400" dirty="0">
                  <a:solidFill>
                    <a:srgbClr val="FF6600"/>
                  </a:solidFill>
                  <a:latin typeface="Times New Roman"/>
                  <a:cs typeface="Times New Roman"/>
                </a:endParaRPr>
              </a:p>
              <a:p>
                <a:r>
                  <a:rPr lang="en-US" sz="13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3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Low Negative – Low Positive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L-L</a:t>
                </a: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)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2919508" y="6025104"/>
                <a:ext cx="5094439" cy="567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FF0000"/>
                    </a:solidFill>
                    <a:latin typeface="Times New Roman"/>
                    <a:cs typeface="Times New Roman"/>
                  </a:rPr>
                  <a:t>Negative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 rot="16200000">
                <a:off x="-514580" y="2922696"/>
                <a:ext cx="3921791" cy="577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 smtClean="0">
                    <a:solidFill>
                      <a:srgbClr val="008000"/>
                    </a:solidFill>
                    <a:latin typeface="Times New Roman"/>
                    <a:cs typeface="Times New Roman"/>
                  </a:rPr>
                  <a:t>Positive</a:t>
                </a:r>
                <a:r>
                  <a:rPr lang="en-US" sz="1400" dirty="0" smtClean="0">
                    <a:latin typeface="Times New Roman"/>
                    <a:cs typeface="Times New Roman"/>
                  </a:rPr>
                  <a:t> Orientation Toward Continuing to Use the SNS (Facebook)</a:t>
                </a:r>
                <a:endParaRPr lang="en-US" sz="140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2" name="Oval 1"/>
            <p:cNvSpPr/>
            <p:nvPr/>
          </p:nvSpPr>
          <p:spPr>
            <a:xfrm>
              <a:off x="3766920" y="2153357"/>
              <a:ext cx="2622254" cy="2548842"/>
            </a:xfrm>
            <a:prstGeom prst="ellipse">
              <a:avLst/>
            </a:prstGeom>
            <a:solidFill>
              <a:schemeClr val="bg1"/>
            </a:solidFill>
            <a:ln w="3175" cmpd="sng">
              <a:solidFill>
                <a:srgbClr val="7F7F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State of ambivalence: </a:t>
              </a:r>
              <a:endParaRPr lang="en-US" sz="13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984807"/>
                  </a:solidFill>
                  <a:latin typeface="Times New Roman"/>
                  <a:cs typeface="Times New Roman"/>
                </a:rPr>
                <a:t>Medium Negative – Medium Positive      (</a:t>
              </a:r>
              <a:r>
                <a:rPr lang="en-US" sz="1300" b="1" dirty="0">
                  <a:solidFill>
                    <a:srgbClr val="984807"/>
                  </a:solidFill>
                  <a:latin typeface="Times New Roman"/>
                  <a:cs typeface="Times New Roman"/>
                </a:rPr>
                <a:t>M-M</a:t>
              </a:r>
              <a:r>
                <a:rPr lang="en-US" sz="1300" b="1" dirty="0" smtClean="0">
                  <a:solidFill>
                    <a:srgbClr val="984807"/>
                  </a:solidFill>
                  <a:latin typeface="Times New Roman"/>
                  <a:cs typeface="Times New Roman"/>
                </a:rPr>
                <a:t>)</a:t>
              </a:r>
            </a:p>
            <a:p>
              <a:pPr algn="ctr">
                <a:tabLst>
                  <a:tab pos="455613" algn="l"/>
                </a:tabLst>
              </a:pPr>
              <a:r>
                <a:rPr lang="en-US" sz="1300" dirty="0" smtClean="0">
                  <a:solidFill>
                    <a:schemeClr val="tx1"/>
                  </a:solidFill>
                  <a:latin typeface="Times New Roman"/>
                  <a:cs typeface="Times New Roman"/>
                </a:rPr>
                <a:t>Proposed response (H6):   </a:t>
              </a:r>
              <a:endParaRPr lang="en-US" sz="1300" dirty="0">
                <a:solidFill>
                  <a:schemeClr val="tx1"/>
                </a:solidFill>
                <a:latin typeface="Times New Roman"/>
                <a:cs typeface="Times New Roman"/>
              </a:endParaRPr>
            </a:p>
            <a:p>
              <a:pPr algn="ctr">
                <a:spcAft>
                  <a:spcPts val="600"/>
                </a:spcAft>
              </a:pPr>
              <a:r>
                <a:rPr lang="en-US" sz="1300" b="1" dirty="0" smtClean="0">
                  <a:solidFill>
                    <a:srgbClr val="0000FF"/>
                  </a:solidFill>
                  <a:latin typeface="Times New Roman"/>
                  <a:cs typeface="Times New Roman"/>
                </a:rPr>
                <a:t>Significantly more attempts to stop using the SNS.</a:t>
              </a:r>
              <a:endParaRPr lang="en-US" sz="1300" b="1" dirty="0">
                <a:solidFill>
                  <a:srgbClr val="0000FF"/>
                </a:solidFill>
                <a:latin typeface="Times New Roman"/>
                <a:cs typeface="Times New Roman"/>
              </a:endParaRPr>
            </a:p>
            <a:p>
              <a:pPr algn="ctr">
                <a:tabLst>
                  <a:tab pos="455613" algn="l"/>
                </a:tabLst>
              </a:pPr>
              <a:r>
                <a:rPr lang="en-US" sz="1300" dirty="0" smtClean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rPr>
                <a:t>(Black and White Compromises)</a:t>
              </a:r>
              <a:endParaRPr lang="en-US" sz="13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14</a:t>
            </a:fld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43154" y="5996700"/>
            <a:ext cx="20903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latin typeface="Times New Roman"/>
                <a:cs typeface="Times New Roman"/>
              </a:rPr>
              <a:t>(e.g., </a:t>
            </a:r>
            <a:r>
              <a:rPr lang="en-US" sz="1100" dirty="0" err="1" smtClean="0">
                <a:latin typeface="Times New Roman"/>
                <a:cs typeface="Times New Roman"/>
              </a:rPr>
              <a:t>Ashforth</a:t>
            </a:r>
            <a:r>
              <a:rPr lang="en-US" sz="1100" dirty="0" smtClean="0">
                <a:latin typeface="Times New Roman"/>
                <a:cs typeface="Times New Roman"/>
              </a:rPr>
              <a:t> et al. 2014; </a:t>
            </a:r>
          </a:p>
          <a:p>
            <a:r>
              <a:rPr lang="en-US" sz="1100" dirty="0" smtClean="0">
                <a:latin typeface="Times New Roman"/>
                <a:cs typeface="Times New Roman"/>
              </a:rPr>
              <a:t>Pratt and </a:t>
            </a:r>
            <a:r>
              <a:rPr lang="en-US" sz="1100" dirty="0" err="1" smtClean="0">
                <a:latin typeface="Times New Roman"/>
                <a:cs typeface="Times New Roman"/>
              </a:rPr>
              <a:t>Pradies</a:t>
            </a:r>
            <a:r>
              <a:rPr lang="en-US" sz="1100" dirty="0" smtClean="0">
                <a:latin typeface="Times New Roman"/>
                <a:cs typeface="Times New Roman"/>
              </a:rPr>
              <a:t> 2012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960541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80083" y="39550"/>
            <a:ext cx="838655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Hypotheses 7 &amp; 8: </a:t>
            </a:r>
            <a:endParaRPr lang="en-US" sz="2400" b="1" dirty="0">
              <a:solidFill>
                <a:srgbClr val="FF6600"/>
              </a:solidFill>
              <a:latin typeface="Times New Roman"/>
              <a:cs typeface="Times New Roman"/>
            </a:endParaRPr>
          </a:p>
          <a:p>
            <a:pPr algn="ctr"/>
            <a:r>
              <a:rPr lang="en-US" sz="17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The holistic adaptations of the SNS is significantly more likely 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&amp;</a:t>
            </a:r>
            <a:r>
              <a:rPr lang="en-US" sz="17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 ambivalence salience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lang="en-US" sz="1700" b="1" dirty="0" smtClean="0">
                <a:solidFill>
                  <a:srgbClr val="0000FF"/>
                </a:solidFill>
                <a:latin typeface="Times New Roman"/>
                <a:cs typeface="Times New Roman"/>
              </a:rPr>
              <a:t>is significantly higher </a:t>
            </a:r>
            <a:r>
              <a:rPr lang="en-US" sz="1700" b="1" dirty="0" smtClean="0">
                <a:solidFill>
                  <a:srgbClr val="FF6600"/>
                </a:solidFill>
                <a:latin typeface="Times New Roman"/>
                <a:cs typeface="Times New Roman"/>
              </a:rPr>
              <a:t>among the users in H-H state of ambivalence than users experiencing other states of ambivalence</a:t>
            </a:r>
            <a:r>
              <a:rPr lang="en-US" sz="1700" b="1" dirty="0">
                <a:solidFill>
                  <a:srgbClr val="FF6600"/>
                </a:solidFill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15</a:t>
            </a:fld>
            <a:endParaRPr 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1231747" y="1303825"/>
            <a:ext cx="6749987" cy="5426972"/>
            <a:chOff x="1231747" y="1266741"/>
            <a:chExt cx="6749987" cy="5426972"/>
          </a:xfrm>
        </p:grpSpPr>
        <p:grpSp>
          <p:nvGrpSpPr>
            <p:cNvPr id="15" name="Group 14"/>
            <p:cNvGrpSpPr/>
            <p:nvPr/>
          </p:nvGrpSpPr>
          <p:grpSpPr>
            <a:xfrm>
              <a:off x="1231747" y="1266741"/>
              <a:ext cx="6749987" cy="5426972"/>
              <a:chOff x="1139542" y="1186650"/>
              <a:chExt cx="6749987" cy="5426972"/>
            </a:xfrm>
          </p:grpSpPr>
          <p:grpSp>
            <p:nvGrpSpPr>
              <p:cNvPr id="21" name="Group 20"/>
              <p:cNvGrpSpPr/>
              <p:nvPr/>
            </p:nvGrpSpPr>
            <p:grpSpPr>
              <a:xfrm>
                <a:off x="1139542" y="1186650"/>
                <a:ext cx="6749987" cy="5426972"/>
                <a:chOff x="1157321" y="704089"/>
                <a:chExt cx="7456566" cy="5888756"/>
              </a:xfrm>
            </p:grpSpPr>
            <p:sp>
              <p:nvSpPr>
                <p:cNvPr id="4" name="Rectangle 3"/>
                <p:cNvSpPr/>
                <p:nvPr/>
              </p:nvSpPr>
              <p:spPr>
                <a:xfrm>
                  <a:off x="2374441" y="704089"/>
                  <a:ext cx="6239446" cy="5025287"/>
                </a:xfrm>
                <a:prstGeom prst="rect">
                  <a:avLst/>
                </a:prstGeom>
                <a:solidFill>
                  <a:srgbClr val="FFFFFF"/>
                </a:solidFill>
                <a:ln w="3175" cmpd="sng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285750" indent="-285750">
                    <a:buFont typeface="Arial"/>
                    <a:buChar char="•"/>
                  </a:pPr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6" name="TextBox 5"/>
                <p:cNvSpPr txBox="1"/>
                <p:nvPr/>
              </p:nvSpPr>
              <p:spPr>
                <a:xfrm>
                  <a:off x="3480170" y="5717324"/>
                  <a:ext cx="938847" cy="333966"/>
                </a:xfrm>
                <a:prstGeom prst="rect">
                  <a:avLst/>
                </a:prstGeom>
                <a:noFill/>
                <a:ln w="3175"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Low</a:t>
                  </a:r>
                </a:p>
              </p:txBody>
            </p:sp>
            <p:sp>
              <p:nvSpPr>
                <p:cNvPr id="7" name="TextBox 6"/>
                <p:cNvSpPr txBox="1"/>
                <p:nvPr/>
              </p:nvSpPr>
              <p:spPr>
                <a:xfrm>
                  <a:off x="6605617" y="5703826"/>
                  <a:ext cx="938847" cy="333966"/>
                </a:xfrm>
                <a:prstGeom prst="rect">
                  <a:avLst/>
                </a:prstGeom>
                <a:noFill/>
                <a:ln w="3175"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>
                    <a:spcAft>
                      <a:spcPts val="600"/>
                    </a:spcAft>
                  </a:pPr>
                  <a:r>
                    <a:rPr lang="en-US" sz="1400" b="1" dirty="0">
                      <a:solidFill>
                        <a:srgbClr val="984807"/>
                      </a:solidFill>
                      <a:latin typeface="Times New Roman"/>
                      <a:cs typeface="Times New Roman"/>
                    </a:rPr>
                    <a:t>High</a:t>
                  </a:r>
                </a:p>
              </p:txBody>
            </p:sp>
            <p:sp>
              <p:nvSpPr>
                <p:cNvPr id="8" name="TextBox 7"/>
                <p:cNvSpPr txBox="1"/>
                <p:nvPr/>
              </p:nvSpPr>
              <p:spPr>
                <a:xfrm>
                  <a:off x="1605516" y="4314244"/>
                  <a:ext cx="938848" cy="333966"/>
                </a:xfrm>
                <a:prstGeom prst="rect">
                  <a:avLst/>
                </a:prstGeom>
                <a:noFill/>
                <a:ln w="3175"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Low</a:t>
                  </a:r>
                  <a:endParaRPr lang="en-US" sz="1400" b="1" dirty="0">
                    <a:solidFill>
                      <a:srgbClr val="A6A6A6"/>
                    </a:solidFill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9" name="TextBox 8"/>
                <p:cNvSpPr txBox="1"/>
                <p:nvPr/>
              </p:nvSpPr>
              <p:spPr>
                <a:xfrm>
                  <a:off x="1605516" y="1580714"/>
                  <a:ext cx="938848" cy="333966"/>
                </a:xfrm>
                <a:prstGeom prst="rect">
                  <a:avLst/>
                </a:prstGeom>
                <a:noFill/>
                <a:ln w="3175" cmpd="sng">
                  <a:noFill/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chemeClr val="accent6">
                          <a:lumMod val="50000"/>
                        </a:schemeClr>
                      </a:solidFill>
                      <a:latin typeface="Times New Roman"/>
                      <a:cs typeface="Times New Roman"/>
                    </a:rPr>
                    <a:t>High</a:t>
                  </a:r>
                  <a:endParaRPr lang="en-US" sz="1400" b="1" dirty="0">
                    <a:solidFill>
                      <a:schemeClr val="accent6">
                        <a:lumMod val="50000"/>
                      </a:schemeClr>
                    </a:solidFill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2374442" y="704089"/>
                  <a:ext cx="3133662" cy="2490525"/>
                </a:xfrm>
                <a:prstGeom prst="rect">
                  <a:avLst/>
                </a:prstGeom>
                <a:noFill/>
                <a:ln w="3175" cmpd="sng">
                  <a:solidFill>
                    <a:srgbClr val="7F7F7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 anchorCtr="0"/>
                <a:lstStyle/>
                <a:p>
                  <a:pPr algn="ctr"/>
                  <a:r>
                    <a:rPr lang="en-US" sz="1300" dirty="0" smtClean="0">
                      <a:solidFill>
                        <a:schemeClr val="bg1">
                          <a:lumMod val="65000"/>
                        </a:schemeClr>
                      </a:solidFill>
                      <a:latin typeface="Times New Roman"/>
                      <a:cs typeface="Times New Roman"/>
                    </a:rPr>
                    <a:t>State of ambivalence: </a:t>
                  </a:r>
                  <a:endParaRPr lang="en-US" sz="1300" dirty="0">
                    <a:solidFill>
                      <a:schemeClr val="bg1">
                        <a:lumMod val="65000"/>
                      </a:schemeClr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r>
                    <a:rPr lang="en-US" sz="1300" b="1" dirty="0" smtClean="0">
                      <a:solidFill>
                        <a:schemeClr val="bg1">
                          <a:lumMod val="65000"/>
                        </a:schemeClr>
                      </a:solidFill>
                      <a:latin typeface="Times New Roman"/>
                      <a:cs typeface="Times New Roman"/>
                    </a:rPr>
                    <a:t>Low Negative – High Positive (L-H)</a:t>
                  </a:r>
                </a:p>
                <a:p>
                  <a:pPr algn="ctr">
                    <a:spcAft>
                      <a:spcPts val="600"/>
                    </a:spcAft>
                    <a:tabLst>
                      <a:tab pos="455613" algn="l"/>
                    </a:tabLst>
                  </a:pPr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  <a:tabLst>
                      <a:tab pos="455613" algn="l"/>
                    </a:tabLst>
                  </a:pPr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  <a:tabLst>
                      <a:tab pos="455613" algn="l"/>
                    </a:tabLst>
                  </a:pPr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  <a:tabLst>
                      <a:tab pos="455613" algn="l"/>
                    </a:tabLst>
                  </a:pPr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12" name="Rectangle 11"/>
                <p:cNvSpPr/>
                <p:nvPr/>
              </p:nvSpPr>
              <p:spPr>
                <a:xfrm>
                  <a:off x="5508104" y="3194614"/>
                  <a:ext cx="3105783" cy="2538474"/>
                </a:xfrm>
                <a:prstGeom prst="rect">
                  <a:avLst/>
                </a:prstGeom>
                <a:noFill/>
                <a:ln w="3175" cmpd="sng">
                  <a:solidFill>
                    <a:srgbClr val="7F7F7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 smtClean="0">
                    <a:solidFill>
                      <a:srgbClr val="FF6600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>
                    <a:solidFill>
                      <a:srgbClr val="FF6600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r>
                    <a:rPr lang="en-US" sz="1300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State of ambivalence: </a:t>
                  </a:r>
                  <a:endParaRPr lang="en-US" sz="1300" dirty="0">
                    <a:solidFill>
                      <a:srgbClr val="A6A6A6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r>
                    <a:rPr lang="en-US" sz="1300" b="1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High Negative – Low Positive (</a:t>
                  </a:r>
                  <a:r>
                    <a:rPr lang="en-US" sz="1300" b="1" dirty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H-L)</a:t>
                  </a:r>
                </a:p>
              </p:txBody>
            </p:sp>
            <p:sp>
              <p:nvSpPr>
                <p:cNvPr id="13" name="Rectangle 12"/>
                <p:cNvSpPr/>
                <p:nvPr/>
              </p:nvSpPr>
              <p:spPr>
                <a:xfrm>
                  <a:off x="2374443" y="3194614"/>
                  <a:ext cx="3133662" cy="2538473"/>
                </a:xfrm>
                <a:prstGeom prst="rect">
                  <a:avLst/>
                </a:prstGeom>
                <a:noFill/>
                <a:ln w="3175" cmpd="sng">
                  <a:solidFill>
                    <a:schemeClr val="bg1">
                      <a:lumMod val="50000"/>
                    </a:schemeClr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 smtClean="0">
                    <a:solidFill>
                      <a:srgbClr val="FF6600"/>
                    </a:solidFill>
                    <a:latin typeface="Times New Roman"/>
                    <a:cs typeface="Times New Roman"/>
                  </a:endParaRPr>
                </a:p>
                <a:p>
                  <a:pPr algn="ctr"/>
                  <a:endParaRPr lang="en-US" sz="1400" dirty="0">
                    <a:solidFill>
                      <a:srgbClr val="FF6600"/>
                    </a:solidFill>
                    <a:latin typeface="Times New Roman"/>
                    <a:cs typeface="Times New Roman"/>
                  </a:endParaRPr>
                </a:p>
                <a:p>
                  <a:r>
                    <a:rPr lang="en-US" sz="1300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State of ambivalence: </a:t>
                  </a:r>
                  <a:endParaRPr lang="en-US" sz="1300" dirty="0">
                    <a:solidFill>
                      <a:srgbClr val="A6A6A6"/>
                    </a:solidFill>
                    <a:latin typeface="Times New Roman"/>
                    <a:cs typeface="Times New Roman"/>
                  </a:endParaRPr>
                </a:p>
                <a:p>
                  <a:pPr>
                    <a:spcAft>
                      <a:spcPts val="600"/>
                    </a:spcAft>
                  </a:pPr>
                  <a:r>
                    <a:rPr lang="en-US" sz="1300" b="1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Low Negative – Low Positive (</a:t>
                  </a:r>
                  <a:r>
                    <a:rPr lang="en-US" sz="1300" b="1" dirty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L-L</a:t>
                  </a:r>
                  <a:r>
                    <a:rPr lang="en-US" sz="1300" b="1" dirty="0" smtClean="0">
                      <a:solidFill>
                        <a:srgbClr val="A6A6A6"/>
                      </a:solidFill>
                      <a:latin typeface="Times New Roman"/>
                      <a:cs typeface="Times New Roman"/>
                    </a:rPr>
                    <a:t>)</a:t>
                  </a: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2919508" y="6025104"/>
                  <a:ext cx="5094439" cy="5677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rgbClr val="FF0000"/>
                      </a:solidFill>
                      <a:latin typeface="Times New Roman"/>
                      <a:cs typeface="Times New Roman"/>
                    </a:rPr>
                    <a:t>Negative</a:t>
                  </a:r>
                  <a:r>
                    <a:rPr lang="en-US" sz="1400" dirty="0" smtClean="0">
                      <a:latin typeface="Times New Roman"/>
                      <a:cs typeface="Times New Roman"/>
                    </a:rPr>
                    <a:t> Orientation Toward Continuing to Use the SNS (Facebook)</a:t>
                  </a:r>
                  <a:endParaRPr lang="en-US" sz="1400"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20" name="TextBox 19"/>
                <p:cNvSpPr txBox="1"/>
                <p:nvPr/>
              </p:nvSpPr>
              <p:spPr>
                <a:xfrm rot="16200000">
                  <a:off x="-514580" y="2922696"/>
                  <a:ext cx="3921791" cy="57799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400" b="1" dirty="0" smtClean="0">
                      <a:solidFill>
                        <a:srgbClr val="008000"/>
                      </a:solidFill>
                      <a:latin typeface="Times New Roman"/>
                      <a:cs typeface="Times New Roman"/>
                    </a:rPr>
                    <a:t>Positive</a:t>
                  </a:r>
                  <a:r>
                    <a:rPr lang="en-US" sz="1400" dirty="0" smtClean="0">
                      <a:latin typeface="Times New Roman"/>
                      <a:cs typeface="Times New Roman"/>
                    </a:rPr>
                    <a:t> Orientation Toward Continuing to Use the SNS (Facebook)</a:t>
                  </a:r>
                  <a:endParaRPr lang="en-US" sz="1400" dirty="0">
                    <a:latin typeface="Times New Roman"/>
                    <a:cs typeface="Times New Roman"/>
                  </a:endParaRP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5508104" y="704090"/>
                  <a:ext cx="3105783" cy="2490524"/>
                </a:xfrm>
                <a:prstGeom prst="rect">
                  <a:avLst/>
                </a:prstGeom>
                <a:noFill/>
                <a:ln w="3175" cmpd="sng">
                  <a:solidFill>
                    <a:srgbClr val="0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r"/>
                  <a:r>
                    <a:rPr lang="en-US" sz="1300" dirty="0" smtClean="0">
                      <a:solidFill>
                        <a:schemeClr val="tx1"/>
                      </a:solidFill>
                      <a:latin typeface="Times New Roman"/>
                      <a:cs typeface="Times New Roman"/>
                    </a:rPr>
                    <a:t>State of ambivalence: </a:t>
                  </a:r>
                  <a:endParaRPr lang="en-US" sz="13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r">
                    <a:spcAft>
                      <a:spcPts val="600"/>
                    </a:spcAft>
                  </a:pPr>
                  <a:r>
                    <a:rPr lang="en-US" sz="1300" b="1" dirty="0" smtClean="0">
                      <a:solidFill>
                        <a:srgbClr val="984807"/>
                      </a:solidFill>
                      <a:latin typeface="Times New Roman"/>
                      <a:cs typeface="Times New Roman"/>
                    </a:rPr>
                    <a:t>High Negative – High Positive (</a:t>
                  </a:r>
                  <a:r>
                    <a:rPr lang="en-US" sz="1300" b="1" dirty="0">
                      <a:solidFill>
                        <a:srgbClr val="984807"/>
                      </a:solidFill>
                      <a:latin typeface="Times New Roman"/>
                      <a:cs typeface="Times New Roman"/>
                    </a:rPr>
                    <a:t>H-H</a:t>
                  </a:r>
                  <a:r>
                    <a:rPr lang="en-US" sz="1300" b="1" dirty="0" smtClean="0">
                      <a:solidFill>
                        <a:srgbClr val="984807"/>
                      </a:solidFill>
                      <a:latin typeface="Times New Roman"/>
                      <a:cs typeface="Times New Roman"/>
                    </a:rPr>
                    <a:t>)</a:t>
                  </a:r>
                </a:p>
                <a:p>
                  <a:pPr algn="r">
                    <a:tabLst>
                      <a:tab pos="455613" algn="l"/>
                    </a:tabLst>
                  </a:pPr>
                  <a:r>
                    <a:rPr lang="en-US" sz="1300" dirty="0" smtClean="0">
                      <a:solidFill>
                        <a:schemeClr val="tx1"/>
                      </a:solidFill>
                      <a:latin typeface="Times New Roman"/>
                      <a:cs typeface="Times New Roman"/>
                    </a:rPr>
                    <a:t>Proposed responses:   </a:t>
                  </a:r>
                  <a:endParaRPr lang="en-US" sz="13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r">
                    <a:spcAft>
                      <a:spcPts val="600"/>
                    </a:spcAft>
                  </a:pPr>
                  <a:r>
                    <a:rPr lang="en-US" sz="1300" dirty="0" smtClean="0">
                      <a:solidFill>
                        <a:schemeClr val="tx1"/>
                      </a:solidFill>
                      <a:latin typeface="Times New Roman"/>
                      <a:cs typeface="Times New Roman"/>
                    </a:rPr>
                    <a:t>(H7)</a:t>
                  </a:r>
                  <a:r>
                    <a:rPr lang="en-US" sz="1300" dirty="0" smtClean="0">
                      <a:solidFill>
                        <a:srgbClr val="0000FF"/>
                      </a:solidFill>
                      <a:latin typeface="Times New Roman"/>
                      <a:cs typeface="Times New Roman"/>
                    </a:rPr>
                    <a:t> </a:t>
                  </a:r>
                  <a:r>
                    <a:rPr lang="en-US" sz="1300" b="1" dirty="0" smtClean="0">
                      <a:solidFill>
                        <a:srgbClr val="0000FF"/>
                      </a:solidFill>
                      <a:latin typeface="Times New Roman"/>
                      <a:cs typeface="Times New Roman"/>
                    </a:rPr>
                    <a:t>Holistic adaptations of the SNS is significantly more likely.</a:t>
                  </a:r>
                  <a:endParaRPr lang="en-US" sz="1300" b="1" dirty="0">
                    <a:solidFill>
                      <a:srgbClr val="984807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sz="1400" dirty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  <a:p>
                  <a:pPr algn="ctr">
                    <a:spcAft>
                      <a:spcPts val="600"/>
                    </a:spcAft>
                  </a:pPr>
                  <a:endParaRPr lang="en-US" sz="1400" dirty="0" smtClean="0">
                    <a:solidFill>
                      <a:schemeClr val="tx1"/>
                    </a:solidFill>
                    <a:latin typeface="Times New Roman"/>
                    <a:cs typeface="Times New Roman"/>
                  </a:endParaRPr>
                </a:p>
              </p:txBody>
            </p:sp>
          </p:grpSp>
          <p:sp>
            <p:nvSpPr>
              <p:cNvPr id="2" name="Oval 1"/>
              <p:cNvSpPr/>
              <p:nvPr/>
            </p:nvSpPr>
            <p:spPr>
              <a:xfrm>
                <a:off x="3838406" y="2219043"/>
                <a:ext cx="2479282" cy="2417470"/>
              </a:xfrm>
              <a:prstGeom prst="ellipse">
                <a:avLst/>
              </a:prstGeom>
              <a:solidFill>
                <a:schemeClr val="bg1"/>
              </a:solidFill>
              <a:ln w="3175" cmpd="sng">
                <a:solidFill>
                  <a:srgbClr val="7F7F7F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State of ambivalence: </a:t>
                </a:r>
                <a:endParaRPr lang="en-US" sz="1400" dirty="0">
                  <a:solidFill>
                    <a:srgbClr val="A6A6A6"/>
                  </a:solidFill>
                  <a:latin typeface="Times New Roman"/>
                  <a:cs typeface="Times New Roman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n-US" sz="1300" b="1" dirty="0" smtClean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Medium Negative – Medium Positive   (</a:t>
                </a:r>
                <a:r>
                  <a:rPr lang="en-US" sz="1300" b="1" dirty="0">
                    <a:solidFill>
                      <a:srgbClr val="A6A6A6"/>
                    </a:solidFill>
                    <a:latin typeface="Times New Roman"/>
                    <a:cs typeface="Times New Roman"/>
                  </a:rPr>
                  <a:t>M-M)</a:t>
                </a:r>
              </a:p>
            </p:txBody>
          </p:sp>
        </p:grpSp>
        <p:sp>
          <p:nvSpPr>
            <p:cNvPr id="14" name="TextBox 13"/>
            <p:cNvSpPr txBox="1"/>
            <p:nvPr/>
          </p:nvSpPr>
          <p:spPr>
            <a:xfrm>
              <a:off x="6419162" y="2428919"/>
              <a:ext cx="1562571" cy="10002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300" dirty="0" smtClean="0">
                  <a:solidFill>
                    <a:srgbClr val="000000"/>
                  </a:solidFill>
                  <a:latin typeface="Times New Roman"/>
                  <a:cs typeface="Times New Roman"/>
                </a:rPr>
                <a:t>(H8)</a:t>
              </a:r>
              <a:r>
                <a:rPr lang="en-US" sz="1300" dirty="0" smtClean="0">
                  <a:solidFill>
                    <a:srgbClr val="0000FF"/>
                  </a:solidFill>
                  <a:latin typeface="Times New Roman"/>
                  <a:cs typeface="Times New Roman"/>
                </a:rPr>
                <a:t> </a:t>
              </a:r>
              <a:r>
                <a:rPr lang="en-US" sz="1300" b="1" dirty="0" smtClean="0">
                  <a:solidFill>
                    <a:srgbClr val="0000FF"/>
                  </a:solidFill>
                  <a:latin typeface="Times New Roman"/>
                  <a:cs typeface="Times New Roman"/>
                </a:rPr>
                <a:t>Significantly higher ambivalence salience.  </a:t>
              </a:r>
            </a:p>
            <a:p>
              <a:pPr algn="r"/>
              <a:endParaRPr lang="en-US" sz="700" b="1" dirty="0" smtClean="0">
                <a:solidFill>
                  <a:srgbClr val="0000FF"/>
                </a:solidFill>
                <a:latin typeface="Times New Roman"/>
                <a:cs typeface="Times New Roman"/>
              </a:endParaRPr>
            </a:p>
            <a:p>
              <a:pPr algn="r"/>
              <a:r>
                <a:rPr lang="en-US" sz="1300" dirty="0" smtClean="0">
                  <a:solidFill>
                    <a:schemeClr val="accent6">
                      <a:lumMod val="50000"/>
                    </a:schemeClr>
                  </a:solidFill>
                  <a:latin typeface="Times New Roman"/>
                  <a:cs typeface="Times New Roman"/>
                </a:rPr>
                <a:t>(Holism)</a:t>
              </a:r>
              <a:endParaRPr lang="en-US" sz="1300" dirty="0">
                <a:solidFill>
                  <a:schemeClr val="accent6">
                    <a:lumMod val="50000"/>
                  </a:schemeClr>
                </a:solidFill>
                <a:latin typeface="Times New Roman"/>
                <a:cs typeface="Times New Roman"/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243154" y="5996700"/>
            <a:ext cx="209038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latin typeface="Times New Roman"/>
                <a:cs typeface="Times New Roman"/>
              </a:rPr>
              <a:t>(e.g., </a:t>
            </a:r>
            <a:r>
              <a:rPr lang="en-US" sz="1100" dirty="0" err="1" smtClean="0">
                <a:latin typeface="Times New Roman"/>
                <a:cs typeface="Times New Roman"/>
              </a:rPr>
              <a:t>Ashforth</a:t>
            </a:r>
            <a:r>
              <a:rPr lang="en-US" sz="1100" dirty="0" smtClean="0">
                <a:latin typeface="Times New Roman"/>
                <a:cs typeface="Times New Roman"/>
              </a:rPr>
              <a:t> et al. 2014; </a:t>
            </a:r>
          </a:p>
          <a:p>
            <a:r>
              <a:rPr lang="en-US" sz="1100" dirty="0" smtClean="0">
                <a:latin typeface="Times New Roman"/>
                <a:cs typeface="Times New Roman"/>
              </a:rPr>
              <a:t>Pratt and </a:t>
            </a:r>
            <a:r>
              <a:rPr lang="en-US" sz="1100" dirty="0" err="1" smtClean="0">
                <a:latin typeface="Times New Roman"/>
                <a:cs typeface="Times New Roman"/>
              </a:rPr>
              <a:t>Pradies</a:t>
            </a:r>
            <a:r>
              <a:rPr lang="en-US" sz="1100" dirty="0" smtClean="0">
                <a:latin typeface="Times New Roman"/>
                <a:cs typeface="Times New Roman"/>
              </a:rPr>
              <a:t> 2012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217388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3904"/>
            <a:ext cx="8229600" cy="847117"/>
          </a:xfrm>
        </p:spPr>
        <p:txBody>
          <a:bodyPr/>
          <a:lstStyle/>
          <a:p>
            <a:r>
              <a:rPr lang="en-US" dirty="0" smtClean="0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65280"/>
            <a:ext cx="8229600" cy="5976719"/>
          </a:xfrm>
        </p:spPr>
        <p:txBody>
          <a:bodyPr>
            <a:normAutofit fontScale="85000" lnSpcReduction="20000"/>
          </a:bodyPr>
          <a:lstStyle/>
          <a:p>
            <a:pPr algn="just">
              <a:lnSpc>
                <a:spcPct val="130000"/>
              </a:lnSpc>
            </a:pPr>
            <a:r>
              <a:rPr lang="en-US" dirty="0" smtClean="0"/>
              <a:t>Sample</a:t>
            </a:r>
          </a:p>
          <a:p>
            <a:pPr lvl="1" algn="just">
              <a:lnSpc>
                <a:spcPct val="130000"/>
              </a:lnSpc>
            </a:pPr>
            <a:r>
              <a:rPr lang="en-US" dirty="0" smtClean="0"/>
              <a:t>An online survey was used for data collection from 442 Facebook users who were undergraduate and graduate students at a large North American university – a response rate of 81%.</a:t>
            </a:r>
          </a:p>
          <a:p>
            <a:pPr algn="just">
              <a:lnSpc>
                <a:spcPct val="130000"/>
              </a:lnSpc>
            </a:pPr>
            <a:r>
              <a:rPr lang="en-US" dirty="0" smtClean="0"/>
              <a:t>Measures</a:t>
            </a:r>
          </a:p>
          <a:p>
            <a:pPr lvl="1" algn="just">
              <a:lnSpc>
                <a:spcPct val="130000"/>
              </a:lnSpc>
            </a:pPr>
            <a:r>
              <a:rPr lang="en-US" dirty="0" smtClean="0"/>
              <a:t>Adapted from well</a:t>
            </a:r>
            <a:r>
              <a:rPr lang="en-US" dirty="0"/>
              <a:t>-</a:t>
            </a:r>
            <a:r>
              <a:rPr lang="en-US" dirty="0" smtClean="0"/>
              <a:t>established and reliable research instruments in all but one case, in which a measure was self</a:t>
            </a:r>
            <a:r>
              <a:rPr lang="en-US" dirty="0"/>
              <a:t>-</a:t>
            </a:r>
            <a:r>
              <a:rPr lang="en-US" dirty="0" smtClean="0"/>
              <a:t>developed.</a:t>
            </a:r>
          </a:p>
          <a:p>
            <a:pPr lvl="2" algn="just">
              <a:lnSpc>
                <a:spcPct val="130000"/>
              </a:lnSpc>
            </a:pPr>
            <a:r>
              <a:rPr lang="en-US" b="1" dirty="0" smtClean="0"/>
              <a:t>Holistic adaptation</a:t>
            </a:r>
            <a:r>
              <a:rPr lang="en-US" dirty="0" smtClean="0"/>
              <a:t> was operationalized based the sum of percentages </a:t>
            </a:r>
            <a:r>
              <a:rPr lang="en-US" dirty="0"/>
              <a:t>of daily time </a:t>
            </a:r>
            <a:r>
              <a:rPr lang="en-US" dirty="0" smtClean="0"/>
              <a:t>participants </a:t>
            </a:r>
            <a:r>
              <a:rPr lang="en-US" dirty="0"/>
              <a:t>spend on Facebook </a:t>
            </a:r>
            <a:r>
              <a:rPr lang="en-US" dirty="0" smtClean="0"/>
              <a:t>to:</a:t>
            </a:r>
          </a:p>
          <a:p>
            <a:pPr lvl="3" algn="just">
              <a:lnSpc>
                <a:spcPct val="130000"/>
              </a:lnSpc>
            </a:pPr>
            <a:r>
              <a:rPr lang="en-US" dirty="0" smtClean="0"/>
              <a:t>Perform </a:t>
            </a:r>
            <a:r>
              <a:rPr lang="en-US" dirty="0"/>
              <a:t>school related tasks for which Facebook use is not </a:t>
            </a:r>
            <a:r>
              <a:rPr lang="en-US" dirty="0" smtClean="0"/>
              <a:t>mandatory.</a:t>
            </a:r>
          </a:p>
          <a:p>
            <a:pPr lvl="3" algn="just">
              <a:lnSpc>
                <a:spcPct val="130000"/>
              </a:lnSpc>
            </a:pPr>
            <a:r>
              <a:rPr lang="en-US" dirty="0"/>
              <a:t>P</a:t>
            </a:r>
            <a:r>
              <a:rPr lang="en-US" dirty="0" smtClean="0"/>
              <a:t>erform </a:t>
            </a:r>
            <a:r>
              <a:rPr lang="en-US" dirty="0"/>
              <a:t>work related tasks for which Facebook use is not </a:t>
            </a:r>
            <a:r>
              <a:rPr lang="en-US" dirty="0" smtClean="0"/>
              <a:t>mandatory.</a:t>
            </a:r>
          </a:p>
          <a:p>
            <a:pPr lvl="2" algn="just">
              <a:lnSpc>
                <a:spcPct val="130000"/>
              </a:lnSpc>
            </a:pPr>
            <a:r>
              <a:rPr lang="en-US" b="1" dirty="0" smtClean="0"/>
              <a:t>Positive and negative orientations </a:t>
            </a:r>
            <a:r>
              <a:rPr lang="en-US" dirty="0" smtClean="0"/>
              <a:t>were measured in terms of positive and negative attitudes toward continue using Facebook.</a:t>
            </a:r>
          </a:p>
          <a:p>
            <a:pPr algn="just">
              <a:lnSpc>
                <a:spcPct val="130000"/>
              </a:lnSpc>
            </a:pPr>
            <a:r>
              <a:rPr lang="en-US" dirty="0" smtClean="0"/>
              <a:t>Preliminary Analyses</a:t>
            </a:r>
          </a:p>
          <a:p>
            <a:pPr lvl="2" algn="just">
              <a:lnSpc>
                <a:spcPct val="130000"/>
              </a:lnSpc>
            </a:pPr>
            <a:r>
              <a:rPr lang="en-US" dirty="0" smtClean="0"/>
              <a:t>Reliability</a:t>
            </a:r>
          </a:p>
          <a:p>
            <a:pPr lvl="2" algn="just">
              <a:lnSpc>
                <a:spcPct val="130000"/>
              </a:lnSpc>
            </a:pPr>
            <a:r>
              <a:rPr lang="en-US" dirty="0" smtClean="0"/>
              <a:t>Validity</a:t>
            </a:r>
          </a:p>
          <a:p>
            <a:pPr lvl="2" algn="just">
              <a:lnSpc>
                <a:spcPct val="130000"/>
              </a:lnSpc>
            </a:pPr>
            <a:r>
              <a:rPr lang="en-US" dirty="0" smtClean="0"/>
              <a:t>Normality Assumption</a:t>
            </a:r>
          </a:p>
          <a:p>
            <a:pPr lvl="2" algn="just">
              <a:lnSpc>
                <a:spcPct val="130000"/>
              </a:lnSpc>
            </a:pPr>
            <a:r>
              <a:rPr lang="en-US" dirty="0" smtClean="0"/>
              <a:t>Absence of Multicollinearity</a:t>
            </a:r>
          </a:p>
          <a:p>
            <a:pPr lvl="2" algn="just">
              <a:lnSpc>
                <a:spcPct val="130000"/>
              </a:lnSpc>
            </a:pPr>
            <a:r>
              <a:rPr lang="en-US" dirty="0" smtClean="0"/>
              <a:t>Absence of Common Method Variance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0028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for Testing Hypothesis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015861" cy="5051617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 smtClean="0"/>
              <a:t>Latent Profile Analysis (LPA)</a:t>
            </a:r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To identify the optimal number of distinct classes of participants that demonstrate the best fit to the data</a:t>
            </a:r>
          </a:p>
          <a:p>
            <a:pPr lvl="2" algn="just">
              <a:lnSpc>
                <a:spcPct val="120000"/>
              </a:lnSpc>
            </a:pPr>
            <a:r>
              <a:rPr lang="en-US" dirty="0" smtClean="0"/>
              <a:t>Based on participants’ level of positive and negative orientations (</a:t>
            </a:r>
            <a:r>
              <a:rPr lang="en-US" dirty="0"/>
              <a:t>i.e.</a:t>
            </a:r>
            <a:r>
              <a:rPr lang="en-US" dirty="0" smtClean="0"/>
              <a:t>, attitudes) toward continuing to use Facebook.</a:t>
            </a:r>
          </a:p>
          <a:p>
            <a:pPr lvl="2" algn="just">
              <a:lnSpc>
                <a:spcPct val="120000"/>
              </a:lnSpc>
            </a:pPr>
            <a:endParaRPr lang="en-US" dirty="0" smtClean="0"/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LPA was conducted using the “</a:t>
            </a:r>
            <a:r>
              <a:rPr lang="en-US" dirty="0" err="1"/>
              <a:t>mclust</a:t>
            </a:r>
            <a:r>
              <a:rPr lang="en-US" dirty="0" smtClean="0"/>
              <a:t>” package version 5.0.2 in R version </a:t>
            </a:r>
            <a:r>
              <a:rPr lang="en-US" dirty="0"/>
              <a:t>3.2.2 (Fraley et al., 2012)</a:t>
            </a:r>
            <a:r>
              <a:rPr lang="en-US" dirty="0" smtClean="0"/>
              <a:t>.</a:t>
            </a:r>
          </a:p>
          <a:p>
            <a:pPr lvl="2" algn="just">
              <a:lnSpc>
                <a:spcPct val="120000"/>
              </a:lnSpc>
            </a:pPr>
            <a:r>
              <a:rPr lang="en-US" dirty="0" smtClean="0"/>
              <a:t>Optimum number of classes is determined based on Bayesian Information Criterion (</a:t>
            </a:r>
            <a:r>
              <a:rPr lang="en-US" dirty="0"/>
              <a:t>BIC</a:t>
            </a:r>
            <a:r>
              <a:rPr lang="en-US" dirty="0" smtClean="0"/>
              <a:t>) (Schwarz 1978</a:t>
            </a:r>
            <a:r>
              <a:rPr lang="en-US" dirty="0"/>
              <a:t>)</a:t>
            </a:r>
            <a:r>
              <a:rPr lang="en-US" dirty="0" smtClean="0"/>
              <a:t>.</a:t>
            </a:r>
            <a:endParaRPr lang="en-US" dirty="0"/>
          </a:p>
          <a:p>
            <a:pPr lvl="1" algn="just">
              <a:lnSpc>
                <a:spcPct val="120000"/>
              </a:lnSpc>
            </a:pPr>
            <a:endParaRPr lang="en-US" dirty="0" smtClean="0"/>
          </a:p>
          <a:p>
            <a:pPr lvl="1" algn="just">
              <a:lnSpc>
                <a:spcPct val="120000"/>
              </a:lnSpc>
            </a:pPr>
            <a:r>
              <a:rPr lang="en-US" dirty="0" smtClean="0"/>
              <a:t>LPA results showed that the data best fit a five</a:t>
            </a:r>
            <a:r>
              <a:rPr lang="en-US" dirty="0"/>
              <a:t>-</a:t>
            </a:r>
            <a:r>
              <a:rPr lang="en-US" dirty="0" smtClean="0"/>
              <a:t>cluster solution, as expected.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276670" y="5996700"/>
            <a:ext cx="268693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>
                <a:latin typeface="Times New Roman"/>
                <a:cs typeface="Times New Roman"/>
              </a:rPr>
              <a:t>(e.g., Schwarz 1978; </a:t>
            </a:r>
            <a:r>
              <a:rPr lang="en-US" sz="1200" dirty="0" err="1" smtClean="0">
                <a:latin typeface="Times New Roman"/>
                <a:cs typeface="Times New Roman"/>
              </a:rPr>
              <a:t>Melas</a:t>
            </a:r>
            <a:r>
              <a:rPr lang="en-US" sz="1200" dirty="0" smtClean="0">
                <a:latin typeface="Times New Roman"/>
                <a:cs typeface="Times New Roman"/>
              </a:rPr>
              <a:t> et al., 2014)</a:t>
            </a:r>
            <a:endParaRPr lang="en-US"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7421371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5820"/>
            <a:ext cx="8229600" cy="847117"/>
          </a:xfrm>
        </p:spPr>
        <p:txBody>
          <a:bodyPr>
            <a:noAutofit/>
          </a:bodyPr>
          <a:lstStyle/>
          <a:p>
            <a:r>
              <a:rPr lang="en-US" sz="2400" dirty="0" smtClean="0"/>
              <a:t>LPA (</a:t>
            </a:r>
            <a:r>
              <a:rPr lang="en-US" sz="2400" dirty="0" err="1" smtClean="0"/>
              <a:t>mclust</a:t>
            </a:r>
            <a:r>
              <a:rPr lang="en-US" sz="2400" dirty="0" smtClean="0"/>
              <a:t> package in R) Results for Testing Hypothesis 1</a:t>
            </a:r>
            <a:endParaRPr lang="en-US" sz="20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18</a:t>
            </a:fld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881659" y="1634975"/>
            <a:ext cx="5068421" cy="4214868"/>
            <a:chOff x="1559471" y="270934"/>
            <a:chExt cx="7192017" cy="5783991"/>
          </a:xfrm>
        </p:grpSpPr>
        <p:pic>
          <p:nvPicPr>
            <p:cNvPr id="8" name="Picture 7" descr="DATA5_Clusters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69067" y="270934"/>
              <a:ext cx="6358467" cy="5314261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2659828" y="5632568"/>
              <a:ext cx="6091660" cy="4223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FF0000"/>
                  </a:solidFill>
                  <a:latin typeface="Times New Roman"/>
                  <a:cs typeface="Times New Roman"/>
                </a:rPr>
                <a:t>Negative</a:t>
              </a:r>
              <a:r>
                <a:rPr lang="en-US" sz="1400" dirty="0" smtClean="0">
                  <a:latin typeface="Times New Roman"/>
                  <a:cs typeface="Times New Roman"/>
                </a:rPr>
                <a:t> Attitudes Toward Continuing to Use Facebook </a:t>
              </a:r>
              <a:endParaRPr lang="en-US" sz="1400" dirty="0">
                <a:latin typeface="Times New Roman"/>
                <a:cs typeface="Times New Roman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 rot="16200000">
              <a:off x="-538020" y="2388120"/>
              <a:ext cx="4937423" cy="7424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 smtClean="0">
                  <a:solidFill>
                    <a:srgbClr val="008000"/>
                  </a:solidFill>
                  <a:latin typeface="Times New Roman"/>
                  <a:cs typeface="Times New Roman"/>
                </a:rPr>
                <a:t>Positive </a:t>
              </a:r>
              <a:r>
                <a:rPr lang="en-US" sz="1400" dirty="0" smtClean="0">
                  <a:latin typeface="Times New Roman"/>
                  <a:cs typeface="Times New Roman"/>
                </a:rPr>
                <a:t>Attitudes Toward Continuing to Use Facebook </a:t>
              </a:r>
              <a:endParaRPr lang="en-US" sz="1400" dirty="0">
                <a:latin typeface="Times New Roman"/>
                <a:cs typeface="Times New Roman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3441491" y="1678498"/>
              <a:ext cx="735071" cy="415379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sz="1400" b="1" dirty="0" smtClean="0">
                  <a:latin typeface="Times New Roman"/>
                  <a:cs typeface="Times New Roman"/>
                </a:rPr>
                <a:t>L-H</a:t>
              </a:r>
              <a:endParaRPr lang="en-US" sz="1400" b="1" dirty="0">
                <a:latin typeface="Times New Roman"/>
                <a:cs typeface="Times New Roman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370654" y="3640430"/>
              <a:ext cx="691588" cy="415379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sz="1400" b="1" dirty="0" smtClean="0">
                  <a:latin typeface="Times New Roman"/>
                  <a:cs typeface="Times New Roman"/>
                </a:rPr>
                <a:t>L-L</a:t>
              </a:r>
              <a:endParaRPr lang="en-US" sz="1400" b="1" dirty="0">
                <a:latin typeface="Times New Roman"/>
                <a:cs typeface="Times New Roman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33870" y="2798373"/>
              <a:ext cx="851072" cy="415379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sz="1400" b="1" dirty="0" smtClean="0">
                  <a:latin typeface="Times New Roman"/>
                  <a:cs typeface="Times New Roman"/>
                </a:rPr>
                <a:t>M-M</a:t>
              </a:r>
              <a:endParaRPr lang="en-US" sz="1400" b="1" dirty="0">
                <a:latin typeface="Times New Roman"/>
                <a:cs typeface="Times New Roman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511004" y="2952263"/>
              <a:ext cx="720619" cy="415379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sz="1400" b="1" dirty="0" smtClean="0">
                  <a:latin typeface="Times New Roman"/>
                  <a:cs typeface="Times New Roman"/>
                </a:rPr>
                <a:t>H-L</a:t>
              </a:r>
              <a:endParaRPr lang="en-US" sz="1400" b="1" dirty="0">
                <a:latin typeface="Times New Roman"/>
                <a:cs typeface="Times New Roman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909234" y="1072917"/>
              <a:ext cx="764103" cy="415379"/>
            </a:xfrm>
            <a:prstGeom prst="rect">
              <a:avLst/>
            </a:prstGeom>
            <a:solidFill>
              <a:srgbClr val="FFFFFF">
                <a:alpha val="53000"/>
              </a:srgbClr>
            </a:solidFill>
          </p:spPr>
          <p:txBody>
            <a:bodyPr wrap="none" rtlCol="0" anchor="ctr">
              <a:spAutoFit/>
            </a:bodyPr>
            <a:lstStyle/>
            <a:p>
              <a:r>
                <a:rPr lang="en-US" sz="1400" b="1" dirty="0" smtClean="0">
                  <a:latin typeface="Times New Roman"/>
                  <a:cs typeface="Times New Roman"/>
                </a:rPr>
                <a:t>H-H</a:t>
              </a:r>
              <a:endParaRPr lang="en-US" sz="1400" b="1" dirty="0">
                <a:latin typeface="Times New Roman"/>
                <a:cs typeface="Times New Roman"/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92704" y="1603827"/>
            <a:ext cx="3840518" cy="4332742"/>
            <a:chOff x="92704" y="1603827"/>
            <a:chExt cx="3840518" cy="4332742"/>
          </a:xfrm>
        </p:grpSpPr>
        <p:pic>
          <p:nvPicPr>
            <p:cNvPr id="6" name="Picture 5" descr="Rplot01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2704" y="1603827"/>
              <a:ext cx="3840518" cy="4332742"/>
            </a:xfrm>
            <a:prstGeom prst="rect">
              <a:avLst/>
            </a:prstGeom>
          </p:spPr>
        </p:pic>
        <p:cxnSp>
          <p:nvCxnSpPr>
            <p:cNvPr id="17" name="Straight Connector 16"/>
            <p:cNvCxnSpPr/>
            <p:nvPr/>
          </p:nvCxnSpPr>
          <p:spPr>
            <a:xfrm flipH="1">
              <a:off x="2159982" y="2259800"/>
              <a:ext cx="9270" cy="2959604"/>
            </a:xfrm>
            <a:prstGeom prst="line">
              <a:avLst/>
            </a:prstGeom>
            <a:ln w="6350" cmpd="sng">
              <a:solidFill>
                <a:schemeClr val="tx1"/>
              </a:solidFill>
              <a:prstDash val="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" name="Straight Connector 3"/>
          <p:cNvCxnSpPr/>
          <p:nvPr/>
        </p:nvCxnSpPr>
        <p:spPr>
          <a:xfrm>
            <a:off x="3717397" y="1195920"/>
            <a:ext cx="0" cy="5160430"/>
          </a:xfrm>
          <a:prstGeom prst="lin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0483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dirty="0" smtClean="0"/>
              <a:t>LPA (</a:t>
            </a:r>
            <a:r>
              <a:rPr lang="en-US" sz="2800" dirty="0" err="1"/>
              <a:t>mclust</a:t>
            </a:r>
            <a:r>
              <a:rPr lang="en-US" sz="2800" dirty="0" smtClean="0"/>
              <a:t>) Results for Testing Hypothesis 1: </a:t>
            </a:r>
            <a:r>
              <a:rPr lang="en-US" sz="2800" dirty="0"/>
              <a:t/>
            </a:r>
            <a:br>
              <a:rPr lang="en-US" sz="2800" dirty="0"/>
            </a:br>
            <a:r>
              <a:rPr lang="en-US" sz="2700" dirty="0" smtClean="0"/>
              <a:t>Summary of the Five</a:t>
            </a:r>
            <a:r>
              <a:rPr lang="en-US" sz="2700" dirty="0"/>
              <a:t>-</a:t>
            </a:r>
            <a:r>
              <a:rPr lang="en-US" sz="2700" dirty="0" smtClean="0"/>
              <a:t>Class Solution</a:t>
            </a:r>
            <a:endParaRPr lang="en-US" sz="27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035022"/>
              </p:ext>
            </p:extLst>
          </p:nvPr>
        </p:nvGraphicFramePr>
        <p:xfrm>
          <a:off x="457200" y="1479137"/>
          <a:ext cx="8229600" cy="4255292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2549047"/>
                <a:gridCol w="1220357"/>
                <a:gridCol w="1289809"/>
                <a:gridCol w="1002082"/>
                <a:gridCol w="1250122"/>
                <a:gridCol w="918183"/>
              </a:tblGrid>
              <a:tr h="306671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dirty="0" smtClean="0">
                          <a:effectLst/>
                          <a:latin typeface="Times New Roman"/>
                          <a:cs typeface="Times New Roman"/>
                        </a:rPr>
                        <a:t>Class #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400" dirty="0">
                          <a:effectLst/>
                          <a:latin typeface="Times New Roman"/>
                          <a:cs typeface="Times New Roman"/>
                        </a:rPr>
                        <a:t>5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57484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Class</a:t>
                      </a:r>
                      <a:r>
                        <a:rPr lang="en-CA" sz="1200" b="1" baseline="0" dirty="0" smtClean="0">
                          <a:effectLst/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lang="en-CA" sz="1200" b="1" baseline="30000" dirty="0" smtClean="0">
                          <a:effectLst/>
                          <a:latin typeface="Times New Roman"/>
                          <a:cs typeface="Times New Roman"/>
                        </a:rPr>
                        <a:t>*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L-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H (Positive Domination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H-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L (Negative Domination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L-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L (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Avoidance)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M-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M (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Compromise)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H-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H (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Holism)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1242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Negative Orientation  toward Continuing to Use Facebook (Class Centers – Standardized Scores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Times New Roman"/>
                          <a:cs typeface="Times New Roman"/>
                        </a:rPr>
                        <a:t>-0.535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Times New Roman"/>
                          <a:cs typeface="Times New Roman"/>
                        </a:rPr>
                        <a:t>1.134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Times New Roman"/>
                          <a:cs typeface="Times New Roman"/>
                        </a:rPr>
                        <a:t>-0.570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Times New Roman"/>
                          <a:cs typeface="Times New Roman"/>
                        </a:rPr>
                        <a:t>0.209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>
                          <a:effectLst/>
                          <a:latin typeface="Times New Roman"/>
                          <a:cs typeface="Times New Roman"/>
                        </a:rPr>
                        <a:t>1.349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82345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Positive Orientation toward Continuing to Use Facebook (Class Centers – Standardized Scores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dirty="0">
                          <a:effectLst/>
                          <a:latin typeface="Times New Roman"/>
                          <a:cs typeface="Times New Roman"/>
                        </a:rPr>
                        <a:t>0.725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>
                          <a:effectLst/>
                          <a:latin typeface="Times New Roman"/>
                          <a:cs typeface="Times New Roman"/>
                        </a:rPr>
                        <a:t>-0.388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>
                          <a:effectLst/>
                          <a:latin typeface="Times New Roman"/>
                          <a:cs typeface="Times New Roman"/>
                        </a:rPr>
                        <a:t>-1.001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>
                          <a:effectLst/>
                          <a:latin typeface="Times New Roman"/>
                          <a:cs typeface="Times New Roman"/>
                        </a:rPr>
                        <a:t>-0.262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>
                          <a:effectLst/>
                          <a:latin typeface="Times New Roman"/>
                          <a:cs typeface="Times New Roman"/>
                        </a:rPr>
                        <a:t>1.268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8692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Class Size</a:t>
                      </a:r>
                      <a:endParaRPr lang="en-US" sz="105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solidFill>
                            <a:srgbClr val="0000FF"/>
                          </a:solidFill>
                          <a:effectLst/>
                          <a:latin typeface="Times New Roman"/>
                          <a:cs typeface="Times New Roman"/>
                        </a:rPr>
                        <a:t>149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solidFill>
                            <a:srgbClr val="0000FF"/>
                          </a:solidFill>
                          <a:effectLst/>
                          <a:latin typeface="Times New Roman"/>
                          <a:cs typeface="Times New Roman"/>
                        </a:rPr>
                        <a:t>56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solidFill>
                            <a:srgbClr val="0000FF"/>
                          </a:solidFill>
                          <a:effectLst/>
                          <a:latin typeface="Times New Roman"/>
                          <a:cs typeface="Times New Roman"/>
                        </a:rPr>
                        <a:t>141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>
                          <a:solidFill>
                            <a:srgbClr val="0000FF"/>
                          </a:solidFill>
                          <a:effectLst/>
                          <a:latin typeface="Times New Roman"/>
                          <a:cs typeface="Times New Roman"/>
                        </a:rPr>
                        <a:t>86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u="non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800" b="1" u="none" dirty="0">
                        <a:solidFill>
                          <a:srgbClr val="FF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86136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Proportion of participants in Each Class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/>
                          <a:cs typeface="Times New Roman"/>
                        </a:rPr>
                        <a:t>33.7%</a:t>
                      </a:r>
                      <a:endParaRPr lang="en-US" sz="18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cs typeface="Times New Roman"/>
                        </a:rPr>
                        <a:t>12.7%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cs typeface="Times New Roman"/>
                        </a:rPr>
                        <a:t>31.9%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cs typeface="Times New Roman"/>
                        </a:rPr>
                        <a:t>19.5%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/>
                          <a:cs typeface="Times New Roman"/>
                        </a:rPr>
                        <a:t>2.3%</a:t>
                      </a:r>
                      <a:endParaRPr lang="en-US" sz="18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45748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BIC for Five</a:t>
                      </a:r>
                      <a:r>
                        <a:rPr lang="en-CA" sz="1200" b="1" dirty="0">
                          <a:effectLst/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en-CA" sz="1200" b="1" dirty="0" smtClean="0">
                          <a:effectLst/>
                          <a:latin typeface="Times New Roman"/>
                          <a:cs typeface="Times New Roman"/>
                        </a:rPr>
                        <a:t>Class Solution</a:t>
                      </a:r>
                      <a:endParaRPr lang="en-US" sz="1800" b="1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5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200" b="0" dirty="0">
                          <a:effectLst/>
                          <a:latin typeface="Times New Roman"/>
                          <a:cs typeface="Times New Roman"/>
                        </a:rPr>
                        <a:t>-1957.539</a:t>
                      </a:r>
                      <a:endParaRPr lang="en-US" sz="1800" b="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4711">
                <a:tc gridSpan="6">
                  <a:txBody>
                    <a:bodyPr/>
                    <a:lstStyle/>
                    <a:p>
                      <a:pPr marL="119063" marR="0" indent="-119063" algn="just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 i="1" baseline="30000" dirty="0" smtClean="0">
                          <a:effectLst/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en-US" sz="1100" i="1" dirty="0" smtClean="0">
                          <a:effectLst/>
                          <a:latin typeface="Times New Roman"/>
                          <a:cs typeface="Times New Roman"/>
                        </a:rPr>
                        <a:t> The notation we use for cluster description is: 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the level of negative orientation (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, M, or H) - the level of positive orientation (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, M, or H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; where L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=Low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, M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=Medium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, and H</a:t>
                      </a:r>
                      <a:r>
                        <a:rPr lang="en-CA" sz="1100" i="1" dirty="0">
                          <a:effectLst/>
                          <a:latin typeface="Times New Roman"/>
                          <a:cs typeface="Times New Roman"/>
                        </a:rPr>
                        <a:t>=High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78635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Testing Hypotheses 2 to 8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5759883"/>
              </p:ext>
            </p:extLst>
          </p:nvPr>
        </p:nvGraphicFramePr>
        <p:xfrm>
          <a:off x="568443" y="1557855"/>
          <a:ext cx="8229600" cy="482835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3264"/>
                <a:gridCol w="5923727"/>
                <a:gridCol w="1752609"/>
              </a:tblGrid>
              <a:tr h="38685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/>
                          <a:cs typeface="Times New Roman"/>
                        </a:rPr>
                        <a:t>Hypotheses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/>
                          <a:cs typeface="Times New Roman"/>
                        </a:rPr>
                        <a:t>Results (p &lt; 0.05)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H2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L-H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intention to continue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H3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H-L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intention to discontinue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H4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L-L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lower level of ambivalence salience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H5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M-M state of ambivalence have made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more attempts to reduce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0116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H6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M-M state of ambivalence have made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more attempts to stop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**</a:t>
                      </a:r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H7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The holistic adaptations of the SNS is significantly more likely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among the users in H-H state of ambivalence 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Not Supported </a:t>
                      </a:r>
                      <a:endParaRPr lang="en-US" sz="1400" b="0" i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H8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H-H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level of ambivalence salience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 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1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Not Supported </a:t>
                      </a:r>
                      <a:endParaRPr lang="en-US" sz="1400" b="0" i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53">
                <a:tc gridSpan="3">
                  <a:txBody>
                    <a:bodyPr/>
                    <a:lstStyle/>
                    <a:p>
                      <a:r>
                        <a:rPr lang="en-US" sz="1200" b="0" i="1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* Except for H-H</a:t>
                      </a:r>
                      <a:r>
                        <a:rPr lang="en-US" sz="1200" b="0" i="1" baseline="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state of ambivalence (N = 10).</a:t>
                      </a:r>
                    </a:p>
                    <a:p>
                      <a:r>
                        <a:rPr lang="en-US" sz="12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** </a:t>
                      </a:r>
                      <a:r>
                        <a:rPr lang="en-US" sz="1200" b="0" i="1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Except for H-H</a:t>
                      </a:r>
                      <a:r>
                        <a:rPr lang="en-US" sz="1200" b="0" i="1" baseline="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 and H-L states of ambivalence.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460030"/>
            <a:ext cx="2133600" cy="365125"/>
          </a:xfrm>
        </p:spPr>
        <p:txBody>
          <a:bodyPr/>
          <a:lstStyle/>
          <a:p>
            <a:fld id="{9E0F272A-0FC0-1943-B826-E8D4777EEB37}" type="slidenum">
              <a:rPr lang="en-US" smtClean="0"/>
              <a:t>20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57200" y="962226"/>
            <a:ext cx="8229600" cy="5051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742950" indent="-28575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0000FF"/>
                </a:solidFill>
                <a:latin typeface="Times New Roman"/>
                <a:ea typeface="+mn-ea"/>
                <a:cs typeface="Times New Roman"/>
              </a:defRPr>
            </a:lvl2pPr>
            <a:lvl3pPr marL="11430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000090"/>
                </a:solidFill>
                <a:latin typeface="Times New Roman"/>
                <a:ea typeface="+mn-ea"/>
                <a:cs typeface="Times New Roman"/>
              </a:defRPr>
            </a:lvl3pPr>
            <a:lvl4pPr marL="16002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800000"/>
                </a:solidFill>
                <a:latin typeface="Times New Roman"/>
                <a:ea typeface="+mn-ea"/>
                <a:cs typeface="Times New Roman"/>
              </a:defRPr>
            </a:lvl4pPr>
            <a:lvl5pPr marL="20574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accent6">
                    <a:lumMod val="50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Based on a series of between-class ANOVA tests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4704795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Means and Standard Errors of our Six Dependent Factors in the Five States of Ambivalence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Chart 4"/>
          <p:cNvGraphicFramePr/>
          <p:nvPr>
            <p:extLst>
              <p:ext uri="{D42A27DB-BD31-4B8C-83A1-F6EECF244321}">
                <p14:modId xmlns:p14="http://schemas.microsoft.com/office/powerpoint/2010/main" val="2379671577"/>
              </p:ext>
            </p:extLst>
          </p:nvPr>
        </p:nvGraphicFramePr>
        <p:xfrm>
          <a:off x="1131795" y="1359630"/>
          <a:ext cx="6738935" cy="47661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369072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104201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Post-hoc Analysis:</a:t>
            </a:r>
            <a:br>
              <a:rPr lang="en-US" dirty="0" smtClean="0"/>
            </a:br>
            <a:r>
              <a:rPr lang="en-US" sz="2200" dirty="0" smtClean="0"/>
              <a:t>ANOVA Results for Testing Hypotheses 2 to 8 </a:t>
            </a:r>
            <a:br>
              <a:rPr lang="en-US" sz="2200" dirty="0" smtClean="0"/>
            </a:br>
            <a:r>
              <a:rPr lang="en-US" sz="1800" dirty="0" smtClean="0"/>
              <a:t>(After Jittered Replication of H-H class to 100 cases)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22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4681759"/>
              </p:ext>
            </p:extLst>
          </p:nvPr>
        </p:nvGraphicFramePr>
        <p:xfrm>
          <a:off x="568443" y="1359135"/>
          <a:ext cx="8229600" cy="50332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53264"/>
                <a:gridCol w="5923727"/>
                <a:gridCol w="1752609"/>
              </a:tblGrid>
              <a:tr h="38685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/>
                          <a:cs typeface="Times New Roman"/>
                        </a:rPr>
                        <a:t>Hypotheses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Times New Roman"/>
                          <a:cs typeface="Times New Roman"/>
                        </a:rPr>
                        <a:t>Results (p &lt; 0.05)</a:t>
                      </a:r>
                      <a:endParaRPr lang="en-US" sz="1600" b="1" dirty="0">
                        <a:solidFill>
                          <a:schemeClr val="bg1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H2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L-H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intention to continue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H3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H-L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intention to discontinue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*^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H4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L-L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lower level of ambivalence salience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H5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M-M state of ambivalence have made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more attempts to reduce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H6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M-M state of ambivalence have made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more attempts to</a:t>
                      </a:r>
                      <a:r>
                        <a:rPr lang="en-US" sz="1400" baseline="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stop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 using the SNS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Supported *^^</a:t>
                      </a: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106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H7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The holistic adaptations of the SNS is significantly more likely 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among the users in H-H state of ambivalence 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0534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latin typeface="Times New Roman"/>
                          <a:cs typeface="Times New Roman"/>
                        </a:rPr>
                        <a:t>H8</a:t>
                      </a:r>
                      <a:endParaRPr lang="en-US" sz="1400" b="1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Users in H-H state of ambivalence have significantly </a:t>
                      </a:r>
                      <a:r>
                        <a:rPr lang="en-US" sz="1400" dirty="0" smtClean="0">
                          <a:solidFill>
                            <a:srgbClr val="0000FF"/>
                          </a:solidFill>
                          <a:latin typeface="Times New Roman"/>
                          <a:cs typeface="Times New Roman"/>
                        </a:rPr>
                        <a:t>higher level of ambivalence salience</a:t>
                      </a:r>
                      <a:r>
                        <a:rPr lang="en-US" sz="1400" dirty="0" smtClean="0">
                          <a:latin typeface="Times New Roman"/>
                          <a:cs typeface="Times New Roman"/>
                        </a:rPr>
                        <a:t> than users experiencing other states of ambivalence.</a:t>
                      </a: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dirty="0" smtClean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Supported *</a:t>
                      </a:r>
                    </a:p>
                    <a:p>
                      <a:pPr algn="ctr"/>
                      <a:endParaRPr lang="en-US" sz="1400" b="0" dirty="0">
                        <a:solidFill>
                          <a:srgbClr val="FF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853">
                <a:tc gridSpan="3">
                  <a:txBody>
                    <a:bodyPr/>
                    <a:lstStyle/>
                    <a:p>
                      <a:r>
                        <a:rPr lang="en-US" sz="1200" b="0" i="1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* Based on H-H class</a:t>
                      </a:r>
                      <a:r>
                        <a:rPr lang="en-US" sz="1200" b="0" i="1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 of 100 (after jittered replication).</a:t>
                      </a:r>
                    </a:p>
                    <a:p>
                      <a:r>
                        <a:rPr lang="en-US" sz="1200" b="0" i="1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^ Except for H-H </a:t>
                      </a:r>
                      <a:r>
                        <a:rPr lang="en-US" sz="1200" b="0" i="1" baseline="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state of ambivalence</a:t>
                      </a:r>
                      <a:r>
                        <a:rPr lang="en-US" sz="1200" b="0" i="1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</a:p>
                    <a:p>
                      <a:r>
                        <a:rPr lang="en-US" sz="1200" b="0" i="1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^^ Except for H-L and H-H </a:t>
                      </a:r>
                      <a:r>
                        <a:rPr lang="en-US" sz="1200" b="0" i="1" baseline="0" dirty="0" smtClean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states of ambivalence</a:t>
                      </a:r>
                      <a:r>
                        <a:rPr lang="en-US" sz="1200" b="0" i="1" baseline="0" dirty="0" smtClean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dirty="0" smtClean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400" b="0" dirty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7514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1119776"/>
          </a:xfrm>
        </p:spPr>
        <p:txBody>
          <a:bodyPr>
            <a:normAutofit fontScale="90000"/>
          </a:bodyPr>
          <a:lstStyle/>
          <a:p>
            <a:r>
              <a:rPr lang="en-US" dirty="0"/>
              <a:t>Post-hoc Analysis:</a:t>
            </a:r>
            <a:br>
              <a:rPr lang="en-US" dirty="0"/>
            </a:br>
            <a:r>
              <a:rPr lang="en-US" sz="2200" dirty="0" smtClean="0"/>
              <a:t>Means </a:t>
            </a:r>
            <a:r>
              <a:rPr lang="en-US" sz="2200" dirty="0"/>
              <a:t>and Standard Errors of our Six Dependent Factors in the Five States of Ambivalence</a:t>
            </a:r>
            <a:endParaRPr lang="en-US" sz="31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150864494"/>
              </p:ext>
            </p:extLst>
          </p:nvPr>
        </p:nvGraphicFramePr>
        <p:xfrm>
          <a:off x="1045399" y="1425600"/>
          <a:ext cx="6859889" cy="471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199379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Discussions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smtClean="0"/>
              <a:t>Some of the Main Theoretical Contributions:</a:t>
            </a:r>
            <a:endParaRPr lang="en-US" dirty="0"/>
          </a:p>
          <a:p>
            <a:pPr lvl="1" algn="just"/>
            <a:r>
              <a:rPr lang="en-US" dirty="0" smtClean="0"/>
              <a:t>Extends the oft-taken </a:t>
            </a:r>
            <a:r>
              <a:rPr lang="en-US" dirty="0" err="1" smtClean="0"/>
              <a:t>unidimensional</a:t>
            </a:r>
            <a:r>
              <a:rPr lang="en-US" dirty="0" smtClean="0"/>
              <a:t> bipolar view of IS users’ decision making to a bi</a:t>
            </a:r>
            <a:r>
              <a:rPr lang="en-US" dirty="0"/>
              <a:t>-</a:t>
            </a:r>
            <a:r>
              <a:rPr lang="en-US" dirty="0" smtClean="0"/>
              <a:t>dimensional view, which is more elaborate and realistic.</a:t>
            </a:r>
          </a:p>
          <a:p>
            <a:pPr lvl="1" algn="just"/>
            <a:endParaRPr lang="en-US" dirty="0"/>
          </a:p>
          <a:p>
            <a:pPr lvl="1" algn="just"/>
            <a:r>
              <a:rPr lang="en-US" dirty="0" smtClean="0"/>
              <a:t>Helps explain IS use behaviors from a more holistic standpoint, taking into account different types of situations and responses to them</a:t>
            </a:r>
            <a:r>
              <a:rPr lang="en-US" dirty="0"/>
              <a:t>.</a:t>
            </a:r>
          </a:p>
          <a:p>
            <a:pPr lvl="2" algn="just"/>
            <a:r>
              <a:rPr lang="en-US" dirty="0" smtClean="0"/>
              <a:t>By showing that different states of ambivalence lead to different responses, this study provides an explanation for the different patterns of IS use.</a:t>
            </a:r>
          </a:p>
          <a:p>
            <a:pPr lvl="2" algn="just"/>
            <a:endParaRPr lang="en-US" dirty="0"/>
          </a:p>
          <a:p>
            <a:pPr lvl="1" algn="just"/>
            <a:r>
              <a:rPr lang="en-US" dirty="0" smtClean="0"/>
              <a:t>Points to less</a:t>
            </a:r>
            <a:r>
              <a:rPr lang="en-US" dirty="0"/>
              <a:t>-</a:t>
            </a:r>
            <a:r>
              <a:rPr lang="en-US" dirty="0" smtClean="0"/>
              <a:t>often explored patterns of IS use</a:t>
            </a:r>
            <a:r>
              <a:rPr lang="en-US" dirty="0"/>
              <a:t>.</a:t>
            </a:r>
          </a:p>
          <a:p>
            <a:pPr lvl="2" algn="just"/>
            <a:r>
              <a:rPr lang="en-US" dirty="0" smtClean="0"/>
              <a:t>This study paves the way for further research on IS users’ mindsets, ambivalence in IS use contexts and responses to different types of ambivalence among IS users.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3692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4546"/>
            <a:ext cx="8229600" cy="4959897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 smtClean="0"/>
              <a:t>One of the Main Practical Implications</a:t>
            </a:r>
            <a:r>
              <a:rPr lang="en-US" dirty="0"/>
              <a:t>:</a:t>
            </a:r>
          </a:p>
          <a:p>
            <a:pPr lvl="1" algn="just"/>
            <a:r>
              <a:rPr lang="en-US" dirty="0" smtClean="0"/>
              <a:t>Our findings point to the need to adopt the more realistic, bi</a:t>
            </a:r>
            <a:r>
              <a:rPr lang="en-US" dirty="0"/>
              <a:t>-</a:t>
            </a:r>
            <a:r>
              <a:rPr lang="en-US" dirty="0" smtClean="0"/>
              <a:t>dimensional view to system implementation by simultaneously focusing on both positive and negative orientations toward system use. </a:t>
            </a:r>
          </a:p>
          <a:p>
            <a:pPr algn="just"/>
            <a:endParaRPr lang="en-US" dirty="0" smtClean="0"/>
          </a:p>
          <a:p>
            <a:pPr algn="just"/>
            <a:r>
              <a:rPr lang="en-US" dirty="0" smtClean="0"/>
              <a:t>Limitations</a:t>
            </a:r>
            <a:r>
              <a:rPr lang="en-US" dirty="0"/>
              <a:t>:</a:t>
            </a:r>
          </a:p>
          <a:p>
            <a:pPr lvl="1" algn="just"/>
            <a:r>
              <a:rPr lang="en-US" dirty="0" smtClean="0"/>
              <a:t>This study examined a snapshot of ambivalence states without considering their potential changes over time. </a:t>
            </a:r>
          </a:p>
          <a:p>
            <a:pPr lvl="2" algn="just"/>
            <a:r>
              <a:rPr lang="en-US" dirty="0" smtClean="0"/>
              <a:t>Requires a longitudinal empirical study (an avenue for future research).</a:t>
            </a:r>
          </a:p>
          <a:p>
            <a:pPr lvl="2" algn="just"/>
            <a:endParaRPr lang="en-US" dirty="0"/>
          </a:p>
          <a:p>
            <a:pPr lvl="1" algn="just"/>
            <a:r>
              <a:rPr lang="en-US" dirty="0" smtClean="0"/>
              <a:t>The hypotheses were empirically validated in a single context, namely the use of a SNS. </a:t>
            </a:r>
          </a:p>
          <a:p>
            <a:pPr lvl="2" algn="just"/>
            <a:r>
              <a:rPr lang="en-US" dirty="0" smtClean="0"/>
              <a:t>Extension to other contexts, such as organizational contexts, is an </a:t>
            </a:r>
            <a:r>
              <a:rPr lang="en-US" dirty="0"/>
              <a:t>avenue for future </a:t>
            </a:r>
            <a:r>
              <a:rPr lang="en-US" dirty="0" smtClean="0"/>
              <a:t>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759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375"/>
            <a:ext cx="8229600" cy="605546"/>
          </a:xfrm>
        </p:spPr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349" y="717121"/>
            <a:ext cx="8674217" cy="5987074"/>
          </a:xfrm>
        </p:spPr>
        <p:txBody>
          <a:bodyPr>
            <a:normAutofit lnSpcReduction="10000"/>
          </a:bodyPr>
          <a:lstStyle/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 err="1"/>
              <a:t>Ashforth</a:t>
            </a:r>
            <a:r>
              <a:rPr lang="en-US" sz="1200" dirty="0" smtClean="0"/>
              <a:t>, B.E</a:t>
            </a:r>
            <a:r>
              <a:rPr lang="en-US" sz="1200" dirty="0"/>
              <a:t>.</a:t>
            </a:r>
            <a:r>
              <a:rPr lang="en-US" sz="1200" dirty="0" smtClean="0"/>
              <a:t>, Rogers, K.M</a:t>
            </a:r>
            <a:r>
              <a:rPr lang="en-US" sz="1200" dirty="0"/>
              <a:t>.</a:t>
            </a:r>
            <a:r>
              <a:rPr lang="en-US" sz="1200" dirty="0" smtClean="0"/>
              <a:t>, Pratt, M.G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Pradies</a:t>
            </a:r>
            <a:r>
              <a:rPr lang="en-US" sz="1200" dirty="0" smtClean="0"/>
              <a:t>, C. 2014. "Ambivalence in Organizations: A Multilevel Approach</a:t>
            </a:r>
            <a:r>
              <a:rPr lang="en-US" sz="1200" dirty="0"/>
              <a:t>,</a:t>
            </a:r>
            <a:r>
              <a:rPr lang="en-US" sz="1200" dirty="0" smtClean="0"/>
              <a:t>" Organization Science (</a:t>
            </a:r>
            <a:r>
              <a:rPr lang="en-US" sz="1200" dirty="0"/>
              <a:t>25:5)</a:t>
            </a:r>
            <a:r>
              <a:rPr lang="en-US" sz="1200" dirty="0" smtClean="0"/>
              <a:t>, pp. 1453</a:t>
            </a:r>
            <a:r>
              <a:rPr lang="en-US" sz="1200" dirty="0"/>
              <a:t>-1478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 err="1"/>
              <a:t>Cenfetelli</a:t>
            </a:r>
            <a:r>
              <a:rPr lang="en-US" sz="1200" dirty="0" smtClean="0"/>
              <a:t>, R.T</a:t>
            </a:r>
            <a:r>
              <a:rPr lang="en-US" sz="1200" dirty="0"/>
              <a:t>.</a:t>
            </a:r>
            <a:r>
              <a:rPr lang="en-US" sz="1200" dirty="0" smtClean="0"/>
              <a:t>, and Schwarz, A. 2011. "Identifying and Testing the Inhibitors of Technology Usage Intentions</a:t>
            </a:r>
            <a:r>
              <a:rPr lang="en-US" sz="1200" dirty="0"/>
              <a:t>,</a:t>
            </a:r>
            <a:r>
              <a:rPr lang="en-US" sz="1200" dirty="0" smtClean="0"/>
              <a:t>" Information Systems Research (</a:t>
            </a:r>
            <a:r>
              <a:rPr lang="en-US" sz="1200" dirty="0"/>
              <a:t>22:4)</a:t>
            </a:r>
            <a:r>
              <a:rPr lang="en-US" sz="1200" dirty="0" smtClean="0"/>
              <a:t>, Dec, pp. 808</a:t>
            </a:r>
            <a:r>
              <a:rPr lang="en-US" sz="1200" dirty="0"/>
              <a:t>-823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Conner</a:t>
            </a:r>
            <a:r>
              <a:rPr lang="en-US" sz="1200" dirty="0" smtClean="0"/>
              <a:t>, M</a:t>
            </a:r>
            <a:r>
              <a:rPr lang="en-US" sz="1200" dirty="0"/>
              <a:t>.</a:t>
            </a:r>
            <a:r>
              <a:rPr lang="en-US" sz="1200" dirty="0" smtClean="0"/>
              <a:t>, Sparks, P</a:t>
            </a:r>
            <a:r>
              <a:rPr lang="en-US" sz="1200" dirty="0"/>
              <a:t>.</a:t>
            </a:r>
            <a:r>
              <a:rPr lang="en-US" sz="1200" dirty="0" smtClean="0"/>
              <a:t>, </a:t>
            </a:r>
            <a:r>
              <a:rPr lang="en-US" sz="1200" dirty="0" err="1" smtClean="0"/>
              <a:t>Povey</a:t>
            </a:r>
            <a:r>
              <a:rPr lang="en-US" sz="1200" dirty="0" smtClean="0"/>
              <a:t>, R</a:t>
            </a:r>
            <a:r>
              <a:rPr lang="en-US" sz="1200" dirty="0"/>
              <a:t>.</a:t>
            </a:r>
            <a:r>
              <a:rPr lang="en-US" sz="1200" dirty="0" smtClean="0"/>
              <a:t>, James, R</a:t>
            </a:r>
            <a:r>
              <a:rPr lang="en-US" sz="1200" dirty="0"/>
              <a:t>.</a:t>
            </a:r>
            <a:r>
              <a:rPr lang="en-US" sz="1200" dirty="0" smtClean="0"/>
              <a:t>, Shepherd, R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Armitage</a:t>
            </a:r>
            <a:r>
              <a:rPr lang="en-US" sz="1200" dirty="0" smtClean="0"/>
              <a:t>, C.J. 2002. "Moderator Effects of Attitudinal Ambivalence on Attitude</a:t>
            </a:r>
            <a:r>
              <a:rPr lang="en-US" sz="1200" dirty="0"/>
              <a:t>–</a:t>
            </a:r>
            <a:r>
              <a:rPr lang="en-US" sz="1200" dirty="0" err="1" smtClean="0"/>
              <a:t>Behaviour</a:t>
            </a:r>
            <a:r>
              <a:rPr lang="en-US" sz="1200" dirty="0" smtClean="0"/>
              <a:t> Relationships</a:t>
            </a:r>
            <a:r>
              <a:rPr lang="en-US" sz="1200" dirty="0"/>
              <a:t>,</a:t>
            </a:r>
            <a:r>
              <a:rPr lang="en-US" sz="1200" dirty="0" smtClean="0"/>
              <a:t>" European Journal of Social Psychology (</a:t>
            </a:r>
            <a:r>
              <a:rPr lang="en-US" sz="1200" dirty="0"/>
              <a:t>32:5)</a:t>
            </a:r>
            <a:r>
              <a:rPr lang="en-US" sz="1200" dirty="0" smtClean="0"/>
              <a:t>, pp. 705</a:t>
            </a:r>
            <a:r>
              <a:rPr lang="en-US" sz="1200" dirty="0"/>
              <a:t>-718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Davis</a:t>
            </a:r>
            <a:r>
              <a:rPr lang="en-US" sz="1200" dirty="0" smtClean="0"/>
              <a:t>, F.D. 1993. "User Acceptance of Information Technology: System Characteristics, User Perceptions and Behavioral Impacts</a:t>
            </a:r>
            <a:r>
              <a:rPr lang="en-US" sz="1200" dirty="0"/>
              <a:t>,</a:t>
            </a:r>
            <a:r>
              <a:rPr lang="en-US" sz="1200" dirty="0" smtClean="0"/>
              <a:t>" International Journal of Man</a:t>
            </a:r>
            <a:r>
              <a:rPr lang="en-US" sz="1200" dirty="0"/>
              <a:t>-</a:t>
            </a:r>
            <a:r>
              <a:rPr lang="en-US" sz="1200" dirty="0" smtClean="0"/>
              <a:t>Machine Studies (</a:t>
            </a:r>
            <a:r>
              <a:rPr lang="en-US" sz="1200" dirty="0"/>
              <a:t>38:3)</a:t>
            </a:r>
            <a:r>
              <a:rPr lang="en-US" sz="1200" dirty="0" smtClean="0"/>
              <a:t>, pp. 475</a:t>
            </a:r>
            <a:r>
              <a:rPr lang="en-US" sz="1200" dirty="0"/>
              <a:t>-487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Davis</a:t>
            </a:r>
            <a:r>
              <a:rPr lang="en-US" sz="1200" dirty="0" smtClean="0"/>
              <a:t>, F.D</a:t>
            </a:r>
            <a:r>
              <a:rPr lang="en-US" sz="1200" dirty="0"/>
              <a:t>.</a:t>
            </a:r>
            <a:r>
              <a:rPr lang="en-US" sz="1200" dirty="0" smtClean="0"/>
              <a:t>, </a:t>
            </a:r>
            <a:r>
              <a:rPr lang="en-US" sz="1200" dirty="0" err="1" smtClean="0"/>
              <a:t>Bagozzi</a:t>
            </a:r>
            <a:r>
              <a:rPr lang="en-US" sz="1200" dirty="0" smtClean="0"/>
              <a:t>, R.P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Warshaw</a:t>
            </a:r>
            <a:r>
              <a:rPr lang="en-US" sz="1200" dirty="0" smtClean="0"/>
              <a:t>, P.R. 1992. "Extrinsic and Intrinsic Motivation to Use Computers in Workplace</a:t>
            </a:r>
            <a:r>
              <a:rPr lang="en-US" sz="1200" dirty="0"/>
              <a:t>,</a:t>
            </a:r>
            <a:r>
              <a:rPr lang="en-US" sz="1200" dirty="0" smtClean="0"/>
              <a:t>" Journal of Applied and Social Psychology (</a:t>
            </a:r>
            <a:r>
              <a:rPr lang="en-US" sz="1200" dirty="0"/>
              <a:t>22:14)</a:t>
            </a:r>
            <a:r>
              <a:rPr lang="en-US" sz="1200" dirty="0" smtClean="0"/>
              <a:t>, pp. 1111</a:t>
            </a:r>
            <a:r>
              <a:rPr lang="en-US" sz="1200" dirty="0"/>
              <a:t>-1132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Davis</a:t>
            </a:r>
            <a:r>
              <a:rPr lang="en-US" sz="1200" dirty="0" smtClean="0"/>
              <a:t>, J.L. 2012. "Social Media and Experiential Ambivalence</a:t>
            </a:r>
            <a:r>
              <a:rPr lang="en-US" sz="1200" dirty="0"/>
              <a:t>,</a:t>
            </a:r>
            <a:r>
              <a:rPr lang="en-US" sz="1200" dirty="0" smtClean="0"/>
              <a:t>" Future Internet (</a:t>
            </a:r>
            <a:r>
              <a:rPr lang="en-US" sz="1200" dirty="0"/>
              <a:t>4:4)</a:t>
            </a:r>
            <a:r>
              <a:rPr lang="en-US" sz="1200" dirty="0" smtClean="0"/>
              <a:t>, pp. 955</a:t>
            </a:r>
            <a:r>
              <a:rPr lang="en-US" sz="1200" dirty="0"/>
              <a:t>-970</a:t>
            </a:r>
            <a:r>
              <a:rPr lang="en-US" sz="1200" dirty="0" smtClean="0"/>
              <a:t>. </a:t>
            </a:r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Fraley C, </a:t>
            </a:r>
            <a:r>
              <a:rPr lang="en-US" sz="1200" dirty="0" err="1"/>
              <a:t>Raftery</a:t>
            </a:r>
            <a:r>
              <a:rPr lang="en-US" sz="1200" dirty="0"/>
              <a:t> AE, Murphy TB, </a:t>
            </a:r>
            <a:r>
              <a:rPr lang="en-US" sz="1200" dirty="0" err="1"/>
              <a:t>Scrucca</a:t>
            </a:r>
            <a:r>
              <a:rPr lang="en-US" sz="1200" dirty="0"/>
              <a:t> L (2012). </a:t>
            </a:r>
            <a:r>
              <a:rPr lang="en-US" sz="1200" dirty="0" err="1"/>
              <a:t>Mclust</a:t>
            </a:r>
            <a:r>
              <a:rPr lang="en-US" sz="1200" dirty="0"/>
              <a:t> version 4 for </a:t>
            </a:r>
            <a:r>
              <a:rPr lang="en-US" sz="1200" dirty="0" smtClean="0"/>
              <a:t>R: Normal mixture </a:t>
            </a:r>
            <a:r>
              <a:rPr lang="en-US" sz="1200" dirty="0"/>
              <a:t>modeling for model-based clustering, classification, and </a:t>
            </a:r>
            <a:r>
              <a:rPr lang="en-US" sz="1200" dirty="0" smtClean="0"/>
              <a:t>density estimation</a:t>
            </a:r>
            <a:r>
              <a:rPr lang="en-US" sz="1200" dirty="0"/>
              <a:t>.</a:t>
            </a:r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Hirschman</a:t>
            </a:r>
            <a:r>
              <a:rPr lang="en-US" sz="1200" dirty="0" smtClean="0"/>
              <a:t>, A.O. 1970. Exit, Voice, and Loyalty: Responses to Decline in Firms, Organizations, and States. USA: Harvard University Press.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Horney</a:t>
            </a:r>
            <a:r>
              <a:rPr lang="en-US" sz="1200" dirty="0" smtClean="0"/>
              <a:t>, K. 1946. Our Inner Conflicts: A Constructive Theory of Neurosis. </a:t>
            </a:r>
            <a:r>
              <a:rPr lang="en-US" sz="1200" dirty="0" err="1" smtClean="0"/>
              <a:t>Oxfordshire</a:t>
            </a:r>
            <a:r>
              <a:rPr lang="en-US" sz="1200" dirty="0" smtClean="0"/>
              <a:t>, UK: </a:t>
            </a:r>
            <a:r>
              <a:rPr lang="en-US" sz="1200" dirty="0" err="1" smtClean="0"/>
              <a:t>Routledge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Maier</a:t>
            </a:r>
            <a:r>
              <a:rPr lang="en-US" sz="1200" dirty="0" smtClean="0"/>
              <a:t>, C</a:t>
            </a:r>
            <a:r>
              <a:rPr lang="en-US" sz="1200" dirty="0"/>
              <a:t>.</a:t>
            </a:r>
            <a:r>
              <a:rPr lang="en-US" sz="1200" dirty="0" smtClean="0"/>
              <a:t>, </a:t>
            </a:r>
            <a:r>
              <a:rPr lang="en-US" sz="1200" dirty="0" err="1" smtClean="0"/>
              <a:t>Laumer</a:t>
            </a:r>
            <a:r>
              <a:rPr lang="en-US" sz="1200" dirty="0" smtClean="0"/>
              <a:t>, S</a:t>
            </a:r>
            <a:r>
              <a:rPr lang="en-US" sz="1200" dirty="0"/>
              <a:t>.</a:t>
            </a:r>
            <a:r>
              <a:rPr lang="en-US" sz="1200" dirty="0" smtClean="0"/>
              <a:t>, </a:t>
            </a:r>
            <a:r>
              <a:rPr lang="en-US" sz="1200" dirty="0" err="1" smtClean="0"/>
              <a:t>Eckhardt</a:t>
            </a:r>
            <a:r>
              <a:rPr lang="en-US" sz="1200" dirty="0" smtClean="0"/>
              <a:t>, A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Weitzel</a:t>
            </a:r>
            <a:r>
              <a:rPr lang="en-US" sz="1200" dirty="0" smtClean="0"/>
              <a:t>, T. 2015. "Giving Too Much Social Support: Social Overload on Social Networking Sites</a:t>
            </a:r>
            <a:r>
              <a:rPr lang="en-US" sz="1200" dirty="0"/>
              <a:t>,</a:t>
            </a:r>
            <a:r>
              <a:rPr lang="en-US" sz="1200" dirty="0" smtClean="0"/>
              <a:t>" European Journal of Information Systems (</a:t>
            </a:r>
            <a:r>
              <a:rPr lang="en-US" sz="1200" dirty="0"/>
              <a:t>Forthcoming:-)</a:t>
            </a:r>
            <a:r>
              <a:rPr lang="en-US" sz="1200" dirty="0" smtClean="0"/>
              <a:t>, pp. 1</a:t>
            </a:r>
            <a:r>
              <a:rPr lang="en-US" sz="1200" dirty="0"/>
              <a:t>-18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Pratt</a:t>
            </a:r>
            <a:r>
              <a:rPr lang="en-US" sz="1200" dirty="0" smtClean="0"/>
              <a:t>, M.G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Doucet</a:t>
            </a:r>
            <a:r>
              <a:rPr lang="en-US" sz="1200" dirty="0" smtClean="0"/>
              <a:t>, L. 2000. "Ambivalent Feelings in Organizational Relationships</a:t>
            </a:r>
            <a:r>
              <a:rPr lang="en-US" sz="1200" dirty="0"/>
              <a:t>,</a:t>
            </a:r>
            <a:r>
              <a:rPr lang="en-US" sz="1200" dirty="0" smtClean="0"/>
              <a:t>" in Emotion in Organizations, S. </a:t>
            </a:r>
            <a:r>
              <a:rPr lang="en-US" sz="1200" dirty="0" err="1" smtClean="0"/>
              <a:t>Fineman</a:t>
            </a:r>
            <a:r>
              <a:rPr lang="en-US" sz="1200" dirty="0" smtClean="0"/>
              <a:t> (</a:t>
            </a:r>
            <a:r>
              <a:rPr lang="en-US" sz="1200" dirty="0"/>
              <a:t>ed.)</a:t>
            </a:r>
            <a:r>
              <a:rPr lang="en-US" sz="1200" dirty="0" smtClean="0"/>
              <a:t>. London, UK: Sage, pp. 204</a:t>
            </a:r>
            <a:r>
              <a:rPr lang="en-US" sz="1200" dirty="0"/>
              <a:t>–226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Schwarz</a:t>
            </a:r>
            <a:r>
              <a:rPr lang="en-US" sz="1200" dirty="0" smtClean="0"/>
              <a:t>, G. 1978. "Estimating the Dimension of a Model</a:t>
            </a:r>
            <a:r>
              <a:rPr lang="en-US" sz="1200" dirty="0"/>
              <a:t>,</a:t>
            </a:r>
            <a:r>
              <a:rPr lang="en-US" sz="1200" dirty="0" smtClean="0"/>
              <a:t>" The annals of statistics (</a:t>
            </a:r>
            <a:r>
              <a:rPr lang="en-US" sz="1200" dirty="0"/>
              <a:t>6:2)</a:t>
            </a:r>
            <a:r>
              <a:rPr lang="en-US" sz="1200" dirty="0" smtClean="0"/>
              <a:t>, pp. 461</a:t>
            </a:r>
            <a:r>
              <a:rPr lang="en-US" sz="1200" dirty="0"/>
              <a:t>-464</a:t>
            </a:r>
            <a:r>
              <a:rPr lang="en-US" sz="1200" dirty="0" smtClean="0"/>
              <a:t>. </a:t>
            </a:r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/>
              <a:t>Stein MK, Newell S, Wagner EL, </a:t>
            </a:r>
            <a:r>
              <a:rPr lang="en-US" sz="1200" dirty="0" err="1"/>
              <a:t>Galliers</a:t>
            </a:r>
            <a:r>
              <a:rPr lang="en-US" sz="1200" dirty="0"/>
              <a:t> RD (2015). Coping with </a:t>
            </a:r>
            <a:r>
              <a:rPr lang="en-US" sz="1200" dirty="0" smtClean="0"/>
              <a:t>information technology</a:t>
            </a:r>
            <a:r>
              <a:rPr lang="en-US" sz="1200" dirty="0"/>
              <a:t>: Mixed emotions, vacillation, and nonconforming use patterns. </a:t>
            </a:r>
            <a:r>
              <a:rPr lang="en-US" sz="1200" dirty="0" smtClean="0"/>
              <a:t>MIS Quarterly</a:t>
            </a:r>
            <a:r>
              <a:rPr lang="en-US" sz="1200" dirty="0"/>
              <a:t>. 39(2): 367-392.</a:t>
            </a:r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 err="1"/>
              <a:t>Venkatesh</a:t>
            </a:r>
            <a:r>
              <a:rPr lang="en-US" sz="1200" dirty="0" smtClean="0"/>
              <a:t>, V</a:t>
            </a:r>
            <a:r>
              <a:rPr lang="en-US" sz="1200" dirty="0"/>
              <a:t>.</a:t>
            </a:r>
            <a:r>
              <a:rPr lang="en-US" sz="1200" dirty="0" smtClean="0"/>
              <a:t>, Brown, S.A</a:t>
            </a:r>
            <a:r>
              <a:rPr lang="en-US" sz="1200" dirty="0"/>
              <a:t>.</a:t>
            </a:r>
            <a:r>
              <a:rPr lang="en-US" sz="1200" dirty="0" smtClean="0"/>
              <a:t>, </a:t>
            </a:r>
            <a:r>
              <a:rPr lang="en-US" sz="1200" dirty="0" err="1" smtClean="0"/>
              <a:t>Maruping</a:t>
            </a:r>
            <a:r>
              <a:rPr lang="en-US" sz="1200" dirty="0" smtClean="0"/>
              <a:t>, L.M</a:t>
            </a:r>
            <a:r>
              <a:rPr lang="en-US" sz="1200" dirty="0"/>
              <a:t>.</a:t>
            </a:r>
            <a:r>
              <a:rPr lang="en-US" sz="1200" dirty="0" smtClean="0"/>
              <a:t>, and </a:t>
            </a:r>
            <a:r>
              <a:rPr lang="en-US" sz="1200" dirty="0" err="1" smtClean="0"/>
              <a:t>Bala</a:t>
            </a:r>
            <a:r>
              <a:rPr lang="en-US" sz="1200" dirty="0" smtClean="0"/>
              <a:t>, H. 2008. "Predicting Different Conceptualizations of System Use: The Competing Roles of Behavioral Intention, Facilitating Conditions, and Behavioral Expectation</a:t>
            </a:r>
            <a:r>
              <a:rPr lang="en-US" sz="1200" dirty="0"/>
              <a:t>,</a:t>
            </a:r>
            <a:r>
              <a:rPr lang="en-US" sz="1200" dirty="0" smtClean="0"/>
              <a:t>" MIS Quarterly (</a:t>
            </a:r>
            <a:r>
              <a:rPr lang="en-US" sz="1200" dirty="0"/>
              <a:t>32:3)</a:t>
            </a:r>
            <a:r>
              <a:rPr lang="en-US" sz="1200" dirty="0" smtClean="0"/>
              <a:t>, pp. 483</a:t>
            </a:r>
            <a:r>
              <a:rPr lang="en-US" sz="1200" dirty="0"/>
              <a:t>-502</a:t>
            </a:r>
            <a:r>
              <a:rPr lang="en-US" sz="1200" dirty="0" smtClean="0"/>
              <a:t>. </a:t>
            </a:r>
            <a:endParaRPr lang="en-US" sz="1200" dirty="0"/>
          </a:p>
          <a:p>
            <a:pPr marL="227013" indent="-227013" algn="just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 err="1"/>
              <a:t>Venkatesh</a:t>
            </a:r>
            <a:r>
              <a:rPr lang="en-US" sz="1200" dirty="0" smtClean="0"/>
              <a:t>, V</a:t>
            </a:r>
            <a:r>
              <a:rPr lang="en-US" sz="1200" dirty="0"/>
              <a:t>.</a:t>
            </a:r>
            <a:r>
              <a:rPr lang="en-US" sz="1200" dirty="0" smtClean="0"/>
              <a:t>, Morris, M.G</a:t>
            </a:r>
            <a:r>
              <a:rPr lang="en-US" sz="1200" dirty="0"/>
              <a:t>.</a:t>
            </a:r>
            <a:r>
              <a:rPr lang="en-US" sz="1200" dirty="0" smtClean="0"/>
              <a:t>, Davis, G.B</a:t>
            </a:r>
            <a:r>
              <a:rPr lang="en-US" sz="1200" dirty="0"/>
              <a:t>.</a:t>
            </a:r>
            <a:r>
              <a:rPr lang="en-US" sz="1200" dirty="0" smtClean="0"/>
              <a:t>, and Davis, F.D. 2003. "User Acceptance of Information Technology: Toward a Unified View</a:t>
            </a:r>
            <a:r>
              <a:rPr lang="en-US" sz="1200" dirty="0"/>
              <a:t>,</a:t>
            </a:r>
            <a:r>
              <a:rPr lang="en-US" sz="1200" dirty="0" smtClean="0"/>
              <a:t>" MIS Quarterly (</a:t>
            </a:r>
            <a:r>
              <a:rPr lang="en-US" sz="1200" dirty="0"/>
              <a:t>27:3)</a:t>
            </a:r>
            <a:r>
              <a:rPr lang="en-US" sz="1200" dirty="0" smtClean="0"/>
              <a:t>, Sep</a:t>
            </a:r>
            <a:r>
              <a:rPr lang="en-US" sz="1200" dirty="0"/>
              <a:t>.</a:t>
            </a:r>
            <a:r>
              <a:rPr lang="en-US" sz="1200" dirty="0" smtClean="0"/>
              <a:t>, pp. 425</a:t>
            </a:r>
            <a:r>
              <a:rPr lang="en-US" sz="1200" dirty="0"/>
              <a:t>-478</a:t>
            </a:r>
            <a:r>
              <a:rPr lang="en-US" sz="1200" dirty="0" smtClean="0"/>
              <a:t>. 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4264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547227" y="6387887"/>
            <a:ext cx="2255311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i="1" dirty="0" smtClean="0">
                <a:solidFill>
                  <a:srgbClr val="FF6600"/>
                </a:solidFill>
                <a:latin typeface="Georgia"/>
                <a:cs typeface="Georgia"/>
              </a:rPr>
              <a:t>Image by </a:t>
            </a:r>
            <a:r>
              <a:rPr lang="en-US" sz="1050" i="1" dirty="0" err="1" smtClean="0">
                <a:solidFill>
                  <a:srgbClr val="FF6600"/>
                </a:solidFill>
                <a:latin typeface="Georgia"/>
                <a:cs typeface="Georgia"/>
              </a:rPr>
              <a:t>WoodleyWonderWorks</a:t>
            </a:r>
            <a:endParaRPr lang="en-US" sz="1050" i="1" dirty="0">
              <a:solidFill>
                <a:srgbClr val="FF6600"/>
              </a:solidFill>
              <a:latin typeface="Georgia"/>
              <a:cs typeface="Georgia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508068" y="0"/>
            <a:ext cx="4506405" cy="6858000"/>
            <a:chOff x="2508068" y="0"/>
            <a:chExt cx="4506405" cy="6858000"/>
          </a:xfrm>
        </p:grpSpPr>
        <p:grpSp>
          <p:nvGrpSpPr>
            <p:cNvPr id="9" name="Group 8"/>
            <p:cNvGrpSpPr/>
            <p:nvPr/>
          </p:nvGrpSpPr>
          <p:grpSpPr>
            <a:xfrm>
              <a:off x="2508068" y="0"/>
              <a:ext cx="4506405" cy="6858000"/>
              <a:chOff x="2508068" y="0"/>
              <a:chExt cx="4506405" cy="6858000"/>
            </a:xfrm>
          </p:grpSpPr>
          <p:pic>
            <p:nvPicPr>
              <p:cNvPr id="7" name="Picture 6" descr="4759535970_3467f04902_o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508068" y="0"/>
                <a:ext cx="4506405" cy="6858000"/>
              </a:xfrm>
              <a:prstGeom prst="rect">
                <a:avLst/>
              </a:prstGeom>
            </p:spPr>
          </p:pic>
          <p:sp>
            <p:nvSpPr>
              <p:cNvPr id="4" name="TextBox 3"/>
              <p:cNvSpPr txBox="1"/>
              <p:nvPr/>
            </p:nvSpPr>
            <p:spPr>
              <a:xfrm>
                <a:off x="2870097" y="1261242"/>
                <a:ext cx="787395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ar-IQ" dirty="0" smtClean="0">
                    <a:latin typeface="Arial Black"/>
                    <a:cs typeface="Arial Black"/>
                  </a:rPr>
                  <a:t>سپاس</a:t>
                </a:r>
                <a:endParaRPr lang="en-US" dirty="0">
                  <a:latin typeface="Arial Black"/>
                  <a:cs typeface="Arial Black"/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5022869" y="2075794"/>
                <a:ext cx="633507" cy="369332"/>
              </a:xfrm>
              <a:prstGeom prst="rect">
                <a:avLst/>
              </a:prstGeom>
              <a:noFill/>
            </p:spPr>
            <p:txBody>
              <a:bodyPr wrap="none" rtlCol="0" anchor="ctr">
                <a:spAutoFit/>
              </a:bodyPr>
              <a:lstStyle/>
              <a:p>
                <a:pPr algn="ctr"/>
                <a:r>
                  <a:rPr lang="ar-IQ" dirty="0" smtClean="0">
                    <a:latin typeface="Arial Black"/>
                    <a:cs typeface="Arial Black"/>
                  </a:rPr>
                  <a:t>شکرا‍‍‍‍</a:t>
                </a:r>
                <a:endParaRPr lang="en-US" dirty="0">
                  <a:latin typeface="Arial Black"/>
                  <a:cs typeface="Arial Black"/>
                </a:endParaRPr>
              </a:p>
            </p:txBody>
          </p:sp>
          <p:sp>
            <p:nvSpPr>
              <p:cNvPr id="5" name="Rectangle 4"/>
              <p:cNvSpPr/>
              <p:nvPr/>
            </p:nvSpPr>
            <p:spPr>
              <a:xfrm>
                <a:off x="4603679" y="348876"/>
                <a:ext cx="75078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he-IL" b="1" dirty="0"/>
                  <a:t>תודה</a:t>
                </a:r>
                <a:endParaRPr lang="en-US" b="1" dirty="0"/>
              </a:p>
            </p:txBody>
          </p:sp>
        </p:grpSp>
        <p:sp>
          <p:nvSpPr>
            <p:cNvPr id="8" name="Rectangle 7"/>
            <p:cNvSpPr/>
            <p:nvPr/>
          </p:nvSpPr>
          <p:spPr>
            <a:xfrm>
              <a:off x="5559741" y="3300422"/>
              <a:ext cx="65915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b="1" dirty="0"/>
                <a:t>谢谢</a:t>
              </a:r>
              <a:endParaRPr lang="en-US" b="1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76" y="161750"/>
            <a:ext cx="3333037" cy="995361"/>
          </a:xfrm>
        </p:spPr>
        <p:txBody>
          <a:bodyPr>
            <a:normAutofit/>
          </a:bodyPr>
          <a:lstStyle/>
          <a:p>
            <a:r>
              <a:rPr lang="en-US" sz="4000" dirty="0" smtClean="0">
                <a:solidFill>
                  <a:srgbClr val="FF66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Q&amp;A</a:t>
            </a:r>
            <a:endParaRPr lang="en-US" sz="4000" dirty="0">
              <a:solidFill>
                <a:srgbClr val="FF66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3358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Constructs &amp; Measurement Instruments (1/2)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6168753"/>
              </p:ext>
            </p:extLst>
          </p:nvPr>
        </p:nvGraphicFramePr>
        <p:xfrm>
          <a:off x="500995" y="1241159"/>
          <a:ext cx="8229600" cy="5117377"/>
        </p:xfrm>
        <a:graphic>
          <a:graphicData uri="http://schemas.openxmlformats.org/drawingml/2006/table">
            <a:tbl>
              <a:tblPr bandRow="1">
                <a:tableStyleId>{10A1B5D5-9B99-4C35-A422-299274C87663}</a:tableStyleId>
              </a:tblPr>
              <a:tblGrid>
                <a:gridCol w="1233214"/>
                <a:gridCol w="6996386"/>
              </a:tblGrid>
              <a:tr h="176188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effectLst/>
                          <a:latin typeface="Times New Roman"/>
                          <a:cs typeface="Times New Roman"/>
                        </a:rPr>
                        <a:t>Positive Attitude Toward Continuing to Use Facebook (Positive Orientation</a:t>
                      </a:r>
                      <a:r>
                        <a:rPr lang="en-US" sz="10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200" b="1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Please indicate the likelihood that continuing to use Facebook would result in each of these seven different outcomes (1 = extremely unlikely to 7 = extremely likely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).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, please indicate how good or bad each of the seven possible outcomes presented would be for you (1 = Not good at all to 7 = extremely good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).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Free up my time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Allow me to improve my relationship with family and friends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Help me improve my academic achievement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Reduce my stress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Improve my mood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Reduce my negative feelings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Reduce my need to come up with excuses explaining my behavior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1753400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  <a:cs typeface="Times New Roman"/>
                        </a:rPr>
                        <a:t>Negative Attitude Toward Continuing to Use Facebook (Negative Orientation</a:t>
                      </a:r>
                      <a:r>
                        <a:rPr lang="en-US" sz="1000" b="1" dirty="0">
                          <a:effectLst/>
                          <a:latin typeface="Times New Roman"/>
                          <a:cs typeface="Times New Roman"/>
                        </a:rPr>
                        <a:t>)</a:t>
                      </a:r>
                      <a:endParaRPr lang="en-US" sz="1200" b="1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Please indicate the likelihood that continuing to use Facebook would result in each of these seven different outcomes (1 = extremely unlikely to 7 = extremely likely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).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Also</a:t>
                      </a: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, please indicate how good or bad each of the seven possible outcomes presented would be for you (1 = Not bad at all to 7 = extremely bad)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Negatively affect my social life 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Ruin my relationship with friends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Hurt my academic achievement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Increase my stress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Negatively affect my mood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Increase my negative feelings 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Increase my need to come up with excuses explaining my behavior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827748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  <a:cs typeface="Times New Roman"/>
                        </a:rPr>
                        <a:t>Intention to Continue Using Facebook</a:t>
                      </a:r>
                      <a:endParaRPr lang="en-US" sz="1200" b="1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Please reflect on your experience with Facebook. Then indicate the extent of your future intentions to use it, as per the statements below (1 = not at all to 7 = to a very large extent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).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intend to use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predict I would use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plan to use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74344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  <a:cs typeface="Times New Roman"/>
                        </a:rPr>
                        <a:t>Intention to Discontinue Using Facebook</a:t>
                      </a:r>
                      <a:endParaRPr lang="en-US" sz="1200" b="1" dirty="0"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Please reflect on your experience with Facebook. Then indicate the extent of your future intentions to stop using it, as per the statements below (1 = not at all to 7 = to a very large extent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).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intend to stop using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predict I would stop using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cs typeface="Times New Roman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cs typeface="Times New Roman"/>
                        </a:rPr>
                        <a:t>I plan to stop using Facebook in the next 3 months</a:t>
                      </a:r>
                      <a:r>
                        <a:rPr lang="en-US" sz="10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18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Constructs &amp; Measurement Instruments (2/2)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29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6856531"/>
              </p:ext>
            </p:extLst>
          </p:nvPr>
        </p:nvGraphicFramePr>
        <p:xfrm>
          <a:off x="860098" y="2003159"/>
          <a:ext cx="7469350" cy="3026075"/>
        </p:xfrm>
        <a:graphic>
          <a:graphicData uri="http://schemas.openxmlformats.org/drawingml/2006/table">
            <a:tbl>
              <a:tblPr bandRow="1">
                <a:tableStyleId>{10A1B5D5-9B99-4C35-A422-299274C87663}</a:tableStyleId>
              </a:tblPr>
              <a:tblGrid>
                <a:gridCol w="1236172"/>
                <a:gridCol w="6233178"/>
              </a:tblGrid>
              <a:tr h="950351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</a:rPr>
                        <a:t>Ambivalence Salience</a:t>
                      </a:r>
                      <a:endParaRPr lang="en-US" sz="1200" b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Reflecting on your experience with Facebook, how often did you face internal struggles between intentions to continue using it and intentions to discontinue using it… (1 = never 7 = extremely often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)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...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in the last week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...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in the last month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...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in the last 3 months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618220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</a:rPr>
                        <a:t>Number of Use Reduction Attempts</a:t>
                      </a:r>
                      <a:endParaRPr lang="en-US" sz="1200" b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Please reflect on your experience with Facebook (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1=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never to 7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=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more than 10 times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)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How many times have you tried to reduce the time you spend on Facebook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?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How many times have you tried to reduce your use of Facebook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?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28752">
                <a:tc>
                  <a:txBody>
                    <a:bodyPr/>
                    <a:lstStyle/>
                    <a:p>
                      <a:r>
                        <a:rPr lang="en-US" sz="1000" b="1" dirty="0">
                          <a:effectLst/>
                          <a:latin typeface="Times New Roman"/>
                        </a:rPr>
                        <a:t>Number of Use Stop Attempts</a:t>
                      </a: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Please reflect on your experience with Facebook (1=never to 7=more than 10 times)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romanLcPeriod"/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How many times have you tried to stop using Facebook?</a:t>
                      </a:r>
                    </a:p>
                    <a:p>
                      <a:pPr marL="342900" marR="0" lvl="0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romanLcPeriod"/>
                      </a:pP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How many times have you tried to stop using Facebook in the last three months?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  <a:tr h="728752">
                <a:tc>
                  <a:txBody>
                    <a:bodyPr/>
                    <a:lstStyle/>
                    <a:p>
                      <a:r>
                        <a:rPr lang="en-US" sz="1000" b="1" dirty="0" smtClean="0">
                          <a:effectLst/>
                          <a:latin typeface="Times New Roman"/>
                        </a:rPr>
                        <a:t>Holistic Adaptation</a:t>
                      </a:r>
                      <a:endParaRPr lang="en-US" sz="1200" b="1" dirty="0">
                        <a:effectLst/>
                        <a:latin typeface="Times New Roman"/>
                      </a:endParaRPr>
                    </a:p>
                  </a:txBody>
                  <a:tcPr marL="68580" marR="68580" marT="0" marB="0"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Please consider a typical day, and allocate the percentage of time you spend on using Facebook for each one of these purposes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: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To perform school related tasks (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e.g.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, ask for help with assignments or collaborate on school projects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)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800100" marR="0" lvl="1" indent="-34290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To perform work related tasks (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e.g.</a:t>
                      </a:r>
                      <a:r>
                        <a:rPr lang="en-US" sz="1000" dirty="0" smtClean="0">
                          <a:effectLst/>
                          <a:latin typeface="Times New Roman"/>
                          <a:ea typeface="ＭＳ 明朝"/>
                        </a:rPr>
                        <a:t>, communicate with customers or advertise the business</a:t>
                      </a:r>
                      <a:r>
                        <a:rPr lang="en-US" sz="1000" dirty="0">
                          <a:effectLst/>
                          <a:latin typeface="Times New Roman"/>
                          <a:ea typeface="ＭＳ 明朝"/>
                        </a:rPr>
                        <a:t>)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27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Descriptive Statistics, Reliabilities, 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Square </a:t>
            </a:r>
            <a:r>
              <a:rPr lang="en-US" sz="2400" dirty="0"/>
              <a:t>Root of AVEs (on diagonal), and Correlations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3097201"/>
              </p:ext>
            </p:extLst>
          </p:nvPr>
        </p:nvGraphicFramePr>
        <p:xfrm>
          <a:off x="261310" y="1191751"/>
          <a:ext cx="8671759" cy="5259220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426145"/>
                <a:gridCol w="526164"/>
                <a:gridCol w="587208"/>
                <a:gridCol w="617573"/>
                <a:gridCol w="495798"/>
                <a:gridCol w="487100"/>
                <a:gridCol w="461006"/>
                <a:gridCol w="478402"/>
                <a:gridCol w="443609"/>
                <a:gridCol w="452307"/>
                <a:gridCol w="461006"/>
                <a:gridCol w="426212"/>
                <a:gridCol w="461006"/>
                <a:gridCol w="440442"/>
                <a:gridCol w="444771"/>
                <a:gridCol w="463010"/>
              </a:tblGrid>
              <a:tr h="438300">
                <a:tc>
                  <a:txBody>
                    <a:bodyPr/>
                    <a:lstStyle/>
                    <a:p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Mean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(SD)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 err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Skewness</a:t>
                      </a: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 (Kurtosis)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Comp Rel.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</a:t>
                      </a:r>
                      <a:r>
                        <a:rPr lang="en-CA" sz="800" b="1" dirty="0" err="1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Cronbach</a:t>
                      </a:r>
                      <a:r>
                        <a:rPr lang="en-CA" sz="800" b="1" baseline="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 alpha)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7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8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9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11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12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rgbClr val="FAC09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(1) Behavioural intention to discontinue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1.79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1.73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(2.42)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0.98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(0.96)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0.97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(2) Behavioural intention to continue 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5.80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-1.10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(0.94)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0.98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-0.57**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(3) Negative </a:t>
                      </a:r>
                      <a:r>
                        <a:rPr lang="en-CA" sz="8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Attitude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6.72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(4.5)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0.946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(0.66)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0.35**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-0.30**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0.82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(4) Positive </a:t>
                      </a:r>
                      <a:r>
                        <a:rPr lang="en-CA" sz="800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Attitude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18.68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(7.7)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(-0.725)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(0.87)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0.12*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0.76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(5) Ambivalence Salience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1.74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(1.0)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1.44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(1.46)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(0.93)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0.32**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-0.21**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0.21**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0.19**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(6) Number of Use Reduction Attempts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2.34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(1.7)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1.19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(0.49)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0.22**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-0.08*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0.09*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0.36**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0.96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(7) Number of Use Stop Attempts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1.60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(0.98)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2.32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(4.01)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0.83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(0.75)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0.23**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-0.17**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0.11*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0.10*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0.34**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0.53**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100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0.84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(8) Holistic Adaptation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13.78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(18)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1.96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(4.24)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0.11*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-0.17**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0.77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(9) Age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24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(5.0)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-0.14**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-0.11*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-0.10*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-0.09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(10) Gender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0.53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(0.5)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-0.04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-0.12*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-0.10*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-0.04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(11) Years of Facebook Experience 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3.7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(1.6)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0.17**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0.13**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0.10*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 b="1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 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(12) Number of Contacts on Facebook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320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(284)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-0.06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0.11*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0.00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0.20**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0.08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0.12*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-0.30**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0.08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  <a:tr h="37084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ＭＳ 明朝"/>
                        </a:rPr>
                        <a:t>(13) Other Social Networking Sites Used</a:t>
                      </a:r>
                    </a:p>
                  </a:txBody>
                  <a:tcPr marL="68580" marR="68580" marT="0" marB="0" anchor="ctr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1.2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(1.2)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NA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-0.10*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0.15**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0.09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0.07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0.01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-0.05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-0.02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0.03</a:t>
                      </a:r>
                      <a:endParaRPr lang="en-US" sz="80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ea typeface="Times New Roman"/>
                        </a:rPr>
                        <a:t>0.23**</a:t>
                      </a:r>
                      <a:endParaRPr lang="en-US" sz="800" dirty="0">
                        <a:solidFill>
                          <a:schemeClr val="tx1"/>
                        </a:solidFill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5082" y="6440681"/>
            <a:ext cx="2133600" cy="365125"/>
          </a:xfrm>
        </p:spPr>
        <p:txBody>
          <a:bodyPr/>
          <a:lstStyle/>
          <a:p>
            <a:fld id="{9E0F272A-0FC0-1943-B826-E8D4777EEB37}" type="slidenum">
              <a:rPr lang="en-US" sz="1100" smtClean="0"/>
              <a:t>30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246714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2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636904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0.648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0.308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0.036*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0.043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1.253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L-L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0.262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0.111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0.018*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0.045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0.480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M-M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0.354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0.128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0.006***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0.103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0.605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H-L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0.918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0.148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cs typeface="Times New Roman"/>
                        </a:rPr>
                        <a:t>0.000***</a:t>
                      </a:r>
                      <a:endParaRPr lang="en-US" sz="120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0.628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1.209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* Sig. at 0.05; *</a:t>
                      </a: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* Sig. at 0.001</a:t>
                      </a:r>
                      <a:r>
                        <a:rPr lang="en-CA" sz="1100" dirty="0">
                          <a:effectLst/>
                          <a:latin typeface="Times New Roman"/>
                          <a:cs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7645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32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5628664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0.877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0.586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1.169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-0.266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0.325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0.414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-0.904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0.372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0.752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0.459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1.046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0.537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0.162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0.001**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0.218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0.856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*</a:t>
                      </a: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0.01; *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*</a:t>
                      </a: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0.001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1277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33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838180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-0.279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0.114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0.015*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-0.504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-0.054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-0.766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0.319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0.017*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-1.393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-0.140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-0.263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0.133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0.049*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-0.525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-0.001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-0.486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0.154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0.002**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-0.788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-0.183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0.05; ** Sig. at 0.01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9094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34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5319636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0.325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0.010*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0.077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0.573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0.457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0.311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-0.155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1.068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0.409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0.001**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0.159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0.660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0.368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0.160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0.022*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0.053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0.682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0.05; ** Sig. at 0.01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28810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ANOVA Results for Hypothesis </a:t>
            </a:r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35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0568605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0.290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0.134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0.031*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0.027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0.554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0.152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0.331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0.647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-0.499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0.802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0.471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0.136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0.001**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0.205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0.737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0.255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0.170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0.134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-0.079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0.590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0.05; ** Sig. at 0.01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2314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36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039293"/>
              </p:ext>
            </p:extLst>
          </p:nvPr>
        </p:nvGraphicFramePr>
        <p:xfrm>
          <a:off x="1199931" y="2127437"/>
          <a:ext cx="6201103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42275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0.610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0.325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0.061</a:t>
                      </a:r>
                      <a:r>
                        <a:rPr lang="en-CA" sz="1100">
                          <a:effectLst/>
                          <a:latin typeface="Times New Roman"/>
                          <a:ea typeface="Times New Roman"/>
                        </a:rPr>
                        <a:t>†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-0.029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1.250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Times New Roman"/>
                        </a:rPr>
                        <a:t>Marginally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0.500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0.326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-0.141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1.140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0.311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0.333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0.351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-0.343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0.965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0.441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0.342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0.198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-0.231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1.113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† Sig. at 0.1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994964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ANOVA Results for Hypothesis 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37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364142"/>
              </p:ext>
            </p:extLst>
          </p:nvPr>
        </p:nvGraphicFramePr>
        <p:xfrm>
          <a:off x="1199931" y="2127437"/>
          <a:ext cx="6183586" cy="2497115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370840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1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0.487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0.318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-0.138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1.113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0.766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0.319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0.017*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0.140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1.393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0.503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0.325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-0.136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1.143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0.281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0.334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0.402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-0.376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0.938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*</a:t>
                      </a: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0.01; *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*</a:t>
                      </a:r>
                      <a:r>
                        <a:rPr lang="en-CA" sz="1100" dirty="0" smtClean="0">
                          <a:effectLst/>
                          <a:latin typeface="Times New Roman"/>
                          <a:ea typeface="Times New Roman"/>
                        </a:rPr>
                        <a:t>* Sig. at 0.001</a:t>
                      </a:r>
                      <a:r>
                        <a:rPr lang="en-CA" sz="1100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040441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5"/>
            <a:ext cx="8229600" cy="713696"/>
          </a:xfrm>
        </p:spPr>
        <p:txBody>
          <a:bodyPr>
            <a:noAutofit/>
          </a:bodyPr>
          <a:lstStyle/>
          <a:p>
            <a:r>
              <a:rPr lang="en-US" sz="1800" dirty="0" smtClean="0"/>
              <a:t>ANOVA Tests for Hypotheses 2-8 with extended H</a:t>
            </a:r>
            <a:r>
              <a:rPr lang="en-US" sz="1800" dirty="0"/>
              <a:t>-</a:t>
            </a:r>
            <a:r>
              <a:rPr lang="en-US" sz="1800" dirty="0" smtClean="0"/>
              <a:t>H (</a:t>
            </a:r>
            <a:r>
              <a:rPr lang="en-US" sz="1800" dirty="0"/>
              <a:t>Holism</a:t>
            </a:r>
            <a:r>
              <a:rPr lang="en-US" sz="1800" dirty="0" smtClean="0"/>
              <a:t>) Class (</a:t>
            </a:r>
            <a:r>
              <a:rPr lang="en-US" sz="1800" dirty="0"/>
              <a:t>n=100</a:t>
            </a:r>
            <a:r>
              <a:rPr lang="en-US" sz="1800" dirty="0" smtClean="0"/>
              <a:t>) 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38</a:t>
            </a:fld>
            <a:endParaRPr lang="en-US"/>
          </a:p>
        </p:txBody>
      </p:sp>
      <p:graphicFrame>
        <p:nvGraphicFramePr>
          <p:cNvPr id="5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2742402"/>
              </p:ext>
            </p:extLst>
          </p:nvPr>
        </p:nvGraphicFramePr>
        <p:xfrm>
          <a:off x="1296276" y="786159"/>
          <a:ext cx="6183586" cy="5658827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48138"/>
                <a:gridCol w="691931"/>
                <a:gridCol w="924472"/>
                <a:gridCol w="678356"/>
                <a:gridCol w="665655"/>
                <a:gridCol w="762000"/>
                <a:gridCol w="788276"/>
                <a:gridCol w="1024758"/>
              </a:tblGrid>
              <a:tr h="220935"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(I</a:t>
                      </a:r>
                      <a:r>
                        <a:rPr lang="en-CA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(J</a:t>
                      </a:r>
                      <a:r>
                        <a:rPr lang="en-CA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) Class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Mean Difference (</a:t>
                      </a: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I-J)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Std</a:t>
                      </a:r>
                      <a:r>
                        <a:rPr lang="en-CA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. Error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Sig.</a:t>
                      </a:r>
                      <a:endParaRPr lang="en-US" sz="105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95</a:t>
                      </a:r>
                      <a:r>
                        <a:rPr lang="en-CA" sz="105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% Confidence Interval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Result</a:t>
                      </a:r>
                      <a:endParaRPr lang="en-US" sz="105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2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 smtClean="0">
                          <a:effectLst/>
                          <a:latin typeface="Times New Roman"/>
                          <a:cs typeface="Times New Roman"/>
                        </a:rPr>
                        <a:t>Lower Bound</a:t>
                      </a:r>
                      <a:endParaRPr lang="en-US" sz="105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050" dirty="0" smtClean="0">
                          <a:effectLst/>
                          <a:latin typeface="Times New Roman"/>
                          <a:cs typeface="Times New Roman"/>
                        </a:rPr>
                        <a:t>Upper Bound</a:t>
                      </a:r>
                      <a:endParaRPr lang="en-US" sz="1050" dirty="0"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4853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2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390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0.676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0.123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0.434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0.919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8965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3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27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-0.230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0.155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Times New Roman"/>
                        </a:rPr>
                        <a:t>0.108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-0.534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0.074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i="1" dirty="0" smtClean="0">
                          <a:effectLst/>
                          <a:highlight>
                            <a:srgbClr val="FFFF00"/>
                          </a:highlight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931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4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6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-0.745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-0.994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-0.496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3931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5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0.507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0.146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0.001**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0.221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0.793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8042">
                <a:tc gridSpan="8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6 (n=100):</a:t>
                      </a:r>
                      <a:endParaRPr lang="en-US" sz="1100" dirty="0" smtClean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9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/>
                          <a:ea typeface="Times New Roman"/>
                        </a:rPr>
                        <a:t>0.150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/>
                          <a:ea typeface="Times New Roman"/>
                        </a:rPr>
                        <a:t>0.146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  <a:latin typeface="Times New Roman"/>
                          <a:ea typeface="Times New Roman"/>
                        </a:rPr>
                        <a:t>0.303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/>
                          <a:ea typeface="Times New Roman"/>
                        </a:rPr>
                        <a:t>-0.136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  <a:latin typeface="Times New Roman"/>
                          <a:ea typeface="Times New Roman"/>
                        </a:rPr>
                        <a:t>0.437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 dirty="0">
                          <a:effectLst/>
                          <a:latin typeface="Times New Roman"/>
                          <a:ea typeface="Times New Roman"/>
                        </a:rPr>
                        <a:t>Not Supported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2603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7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7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0.618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0.369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0.867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4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0.508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0.257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0.760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1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0.320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0.027*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0.037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0.603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2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0.450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0.163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0.006**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0.771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1361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Results for Testing Hypothesis 8 (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n=100):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49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0.473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0.125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0.226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0.719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96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L-L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0.745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0.127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0.000***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0.496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0.994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078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M-M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0.488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0.143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0.001**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0.208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0.769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8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H-H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H-L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0.271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0.162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/>
                          <a:ea typeface="Times New Roman"/>
                        </a:rPr>
                        <a:t>0.095†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-0.047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/>
                          <a:ea typeface="Times New Roman"/>
                        </a:rPr>
                        <a:t>0.589</a:t>
                      </a:r>
                      <a:endParaRPr lang="en-US" sz="16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effectLst/>
                          <a:latin typeface="Times New Roman"/>
                          <a:ea typeface="Times New Roman"/>
                        </a:rPr>
                        <a:t>Marginally Supported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075">
                <a:tc gridSpan="8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Note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: † Sig. at 0.1; * Sig. at 0.05; ** Sig. at 0.01; *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*</a:t>
                      </a:r>
                      <a:r>
                        <a:rPr lang="en-CA" sz="1100" i="1" dirty="0" smtClean="0">
                          <a:effectLst/>
                          <a:latin typeface="Times New Roman"/>
                          <a:ea typeface="Times New Roman"/>
                        </a:rPr>
                        <a:t>* Sig. at 0.001</a:t>
                      </a:r>
                      <a:r>
                        <a:rPr lang="en-CA" sz="1100" i="1" dirty="0">
                          <a:effectLst/>
                          <a:latin typeface="Times New Roman"/>
                          <a:ea typeface="Times New Roman"/>
                        </a:rPr>
                        <a:t>.</a:t>
                      </a:r>
                      <a:endParaRPr lang="en-US" sz="16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43661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Responses to Ambivalence towards Using an IS in the Prior IS Research </a:t>
            </a:r>
            <a:endParaRPr lang="en-US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4286779"/>
              </p:ext>
            </p:extLst>
          </p:nvPr>
        </p:nvGraphicFramePr>
        <p:xfrm>
          <a:off x="1103117" y="1220286"/>
          <a:ext cx="6856248" cy="519958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76234"/>
                <a:gridCol w="2488222"/>
                <a:gridCol w="838047"/>
                <a:gridCol w="754117"/>
                <a:gridCol w="770759"/>
                <a:gridCol w="628869"/>
              </a:tblGrid>
              <a:tr h="63209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Responses to the Ambivalence Towards Using an IS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Examples of Constructs used in the Prior IS Research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Research Method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Individual Level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Collective Level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cs typeface="Times New Roman"/>
                        </a:rPr>
                        <a:t>Multi-level</a:t>
                      </a:r>
                      <a:endParaRPr lang="en-US" sz="1100" dirty="0">
                        <a:solidFill>
                          <a:srgbClr val="00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</a:tr>
              <a:tr h="255415"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Holistic Adaptation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Adaptation of IT and processes (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Goh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al. 2011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Adaptive system use (Sun 2012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Innovative use (Li et al. 2013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Quantitative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6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5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Qualitative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453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Theoretical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58"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Continuance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Adoption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Niculescu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al. 2012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Assimilation of Enterprise Systems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Liang et al. 2007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Intention to Continue Using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Ortiz de Guinea and Markus 2009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System Acceptance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van 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Offenbeek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al. 2013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Technology Use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Kim 2009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Quantitative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53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19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04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Qualitative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5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2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Mixed-Methods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67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Theoretical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2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3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Simulation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5562"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Discontinuance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Intention to Discontinue Using (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e.g.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, Sun 2013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Discontinuance Intentions (Turel 2015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Discontinued Use (Maier et al. 2015)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Switching Behavior (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Ranganathan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al. 2006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Quantitative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7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6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Qualitative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22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Mixed-Methods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261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Theoretical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0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Use Reduction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Diversity of Electronic Patient Record Use (</a:t>
                      </a:r>
                      <a:r>
                        <a:rPr lang="en-US" sz="1000" dirty="0" err="1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Oborn</a:t>
                      </a: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 et al. 2011</a:t>
                      </a: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Qualitative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1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Vacillation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Vacillating between focusing on positive and negative orientations toward using the IS (Stein, et al., 2015)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Qualitative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1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-</a:t>
                      </a:r>
                      <a:endParaRPr lang="en-US" sz="120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</a:rPr>
                        <a:t>-</a:t>
                      </a:r>
                      <a:endParaRPr lang="en-US" sz="1200" dirty="0">
                        <a:effectLst/>
                        <a:latin typeface="Times New Roman"/>
                        <a:ea typeface="ＭＳ 明朝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47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 smtClean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Ambivalence Salience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Times New Roman"/>
                        <a:ea typeface="ＭＳ 明朝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2230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2764" y="1500086"/>
            <a:ext cx="4125562" cy="4474693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/>
              <a:t>Between M-M and H-H for vacillation strategy </a:t>
            </a:r>
            <a:r>
              <a:rPr lang="en-US" sz="1600" dirty="0" smtClean="0"/>
              <a:t>(</a:t>
            </a:r>
            <a:r>
              <a:rPr lang="en-US" sz="1600" dirty="0"/>
              <a:t>H6):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/>
              <a:t>The direction of differences in means is consistent with our hypothesis.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 smtClean="0"/>
              <a:t>Our </a:t>
            </a:r>
            <a:r>
              <a:rPr lang="en-US" sz="1400" dirty="0"/>
              <a:t>findings show that vacillation strategy is not </a:t>
            </a:r>
            <a:r>
              <a:rPr lang="en-US" sz="1400" dirty="0" smtClean="0"/>
              <a:t>significantly more </a:t>
            </a:r>
            <a:r>
              <a:rPr lang="en-US" sz="1400" dirty="0"/>
              <a:t>plausible in M-M cluster as compared to H-H cluster</a:t>
            </a:r>
            <a:r>
              <a:rPr lang="en-US" sz="1400" dirty="0" smtClean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 smtClean="0"/>
              <a:t>This finding is consistent </a:t>
            </a:r>
            <a:r>
              <a:rPr lang="en-US" sz="1400" dirty="0"/>
              <a:t>with Stein et al., (2015) </a:t>
            </a:r>
            <a:r>
              <a:rPr lang="en-US" sz="1400" dirty="0" smtClean="0"/>
              <a:t>suggestion that </a:t>
            </a:r>
            <a:r>
              <a:rPr lang="en-US" sz="1400" dirty="0"/>
              <a:t>it is difficult to differ the vacillation strategy between H-H and M-M classes.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 smtClean="0"/>
              <a:t>Future </a:t>
            </a:r>
            <a:r>
              <a:rPr lang="en-US" sz="1400" dirty="0"/>
              <a:t>studies can shed a better light on </a:t>
            </a:r>
            <a:r>
              <a:rPr lang="en-US" sz="1400" dirty="0" smtClean="0"/>
              <a:t>this issue.</a:t>
            </a:r>
            <a:endParaRPr lang="en-US" sz="14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6913"/>
          </a:xfrm>
        </p:spPr>
        <p:txBody>
          <a:bodyPr>
            <a:normAutofit fontScale="90000"/>
          </a:bodyPr>
          <a:lstStyle/>
          <a:p>
            <a:r>
              <a:rPr lang="en-US" sz="2800" dirty="0" smtClean="0"/>
              <a:t>Lack of Significance in an ANOVA Test in Support of H6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40</a:t>
            </a:fld>
            <a:endParaRPr lang="en-US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676485477"/>
              </p:ext>
            </p:extLst>
          </p:nvPr>
        </p:nvGraphicFramePr>
        <p:xfrm>
          <a:off x="4488598" y="2292757"/>
          <a:ext cx="4453114" cy="3526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ine Callout 1 2"/>
          <p:cNvSpPr/>
          <p:nvPr/>
        </p:nvSpPr>
        <p:spPr>
          <a:xfrm>
            <a:off x="7620356" y="1236389"/>
            <a:ext cx="1269632" cy="612648"/>
          </a:xfrm>
          <a:prstGeom prst="borderCallout1">
            <a:avLst>
              <a:gd name="adj1" fmla="val 100832"/>
              <a:gd name="adj2" fmla="val 49619"/>
              <a:gd name="adj3" fmla="val 307269"/>
              <a:gd name="adj4" fmla="val 19479"/>
            </a:avLst>
          </a:prstGeom>
          <a:noFill/>
          <a:ln w="127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A Non-Significant ANOVA Result for H6.</a:t>
            </a:r>
            <a:endParaRPr lang="en-US" sz="1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8" name="Straight Connector 7"/>
          <p:cNvCxnSpPr>
            <a:endCxn id="3" idx="1"/>
          </p:cNvCxnSpPr>
          <p:nvPr/>
        </p:nvCxnSpPr>
        <p:spPr>
          <a:xfrm flipH="1" flipV="1">
            <a:off x="8255172" y="1849037"/>
            <a:ext cx="311336" cy="1509124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83388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72764" y="1500086"/>
            <a:ext cx="4125562" cy="4474693"/>
          </a:xfrm>
        </p:spPr>
        <p:txBody>
          <a:bodyPr>
            <a:noAutofit/>
          </a:bodyPr>
          <a:lstStyle/>
          <a:p>
            <a:pPr algn="just">
              <a:lnSpc>
                <a:spcPct val="120000"/>
              </a:lnSpc>
            </a:pPr>
            <a:r>
              <a:rPr lang="en-US" sz="1600" dirty="0"/>
              <a:t>Between M-M and </a:t>
            </a:r>
            <a:r>
              <a:rPr lang="en-US" sz="1600" dirty="0" smtClean="0"/>
              <a:t>H-L </a:t>
            </a:r>
            <a:r>
              <a:rPr lang="en-US" sz="1600" dirty="0"/>
              <a:t>for vacillation strategy </a:t>
            </a:r>
            <a:r>
              <a:rPr lang="en-US" sz="1600" dirty="0" smtClean="0"/>
              <a:t>(</a:t>
            </a:r>
            <a:r>
              <a:rPr lang="en-US" sz="1600" dirty="0"/>
              <a:t>H6):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/>
              <a:t>The direction of differences in means is consistent with our hypothesis.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/>
              <a:t>Considering that H-L represents participants with stronger intention to </a:t>
            </a:r>
            <a:r>
              <a:rPr lang="en-US" sz="1400" dirty="0" smtClean="0"/>
              <a:t>discontinue </a:t>
            </a:r>
            <a:r>
              <a:rPr lang="en-US" sz="1400" dirty="0"/>
              <a:t>using SNS, perhaps the number of attempts to stop using </a:t>
            </a:r>
            <a:r>
              <a:rPr lang="en-US" sz="1400" dirty="0" smtClean="0"/>
              <a:t>can not adequately distinguish the vacillation </a:t>
            </a:r>
            <a:r>
              <a:rPr lang="en-US" sz="1400" dirty="0"/>
              <a:t>strategy </a:t>
            </a:r>
            <a:r>
              <a:rPr lang="en-US" sz="1400" dirty="0" smtClean="0"/>
              <a:t>between </a:t>
            </a:r>
            <a:r>
              <a:rPr lang="en-US" sz="1400" dirty="0"/>
              <a:t>these two clusters.</a:t>
            </a:r>
          </a:p>
          <a:p>
            <a:pPr lvl="1" algn="just">
              <a:lnSpc>
                <a:spcPct val="120000"/>
              </a:lnSpc>
            </a:pPr>
            <a:r>
              <a:rPr lang="en-US" sz="1400" dirty="0"/>
              <a:t>This study is the first </a:t>
            </a:r>
            <a:r>
              <a:rPr lang="en-US" sz="1400" dirty="0" smtClean="0"/>
              <a:t>study that </a:t>
            </a:r>
            <a:r>
              <a:rPr lang="en-US" sz="1400" dirty="0"/>
              <a:t>is quantitatively measuring the vacillation strategy. </a:t>
            </a:r>
            <a:r>
              <a:rPr lang="en-US" sz="1400" dirty="0" smtClean="0"/>
              <a:t>Future </a:t>
            </a:r>
            <a:r>
              <a:rPr lang="en-US" sz="1400" dirty="0"/>
              <a:t>studies should use other operationalizations to shed a better light on this.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6913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Lack of Significance in an ANOVA Test in Support of H6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801139457"/>
              </p:ext>
            </p:extLst>
          </p:nvPr>
        </p:nvGraphicFramePr>
        <p:xfrm>
          <a:off x="4488598" y="2292757"/>
          <a:ext cx="4453114" cy="3526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Line Callout 1 2"/>
          <p:cNvSpPr/>
          <p:nvPr/>
        </p:nvSpPr>
        <p:spPr>
          <a:xfrm>
            <a:off x="6912864" y="1014791"/>
            <a:ext cx="1269632" cy="612648"/>
          </a:xfrm>
          <a:prstGeom prst="borderCallout1">
            <a:avLst>
              <a:gd name="adj1" fmla="val 100832"/>
              <a:gd name="adj2" fmla="val 49619"/>
              <a:gd name="adj3" fmla="val 392133"/>
              <a:gd name="adj4" fmla="val -38930"/>
            </a:avLst>
          </a:prstGeom>
          <a:noFill/>
          <a:ln w="127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A Non-Significant ANOVA Result for H6.</a:t>
            </a:r>
            <a:endParaRPr lang="en-US" sz="1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8" name="Straight Connector 7"/>
          <p:cNvCxnSpPr>
            <a:endCxn id="3" idx="1"/>
          </p:cNvCxnSpPr>
          <p:nvPr/>
        </p:nvCxnSpPr>
        <p:spPr>
          <a:xfrm flipH="1" flipV="1">
            <a:off x="7547680" y="1627439"/>
            <a:ext cx="311336" cy="1509124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5654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1954" y="1832485"/>
            <a:ext cx="4236372" cy="3869553"/>
          </a:xfrm>
        </p:spPr>
        <p:txBody>
          <a:bodyPr>
            <a:noAutofit/>
          </a:bodyPr>
          <a:lstStyle/>
          <a:p>
            <a:pPr algn="just"/>
            <a:r>
              <a:rPr lang="en-US" sz="1600" dirty="0"/>
              <a:t>Between </a:t>
            </a:r>
            <a:r>
              <a:rPr lang="en-US" sz="1600" dirty="0" smtClean="0"/>
              <a:t>H-H </a:t>
            </a:r>
            <a:r>
              <a:rPr lang="en-US" sz="1600" dirty="0"/>
              <a:t>and </a:t>
            </a:r>
            <a:r>
              <a:rPr lang="en-US" sz="1600" dirty="0" smtClean="0"/>
              <a:t>H-L </a:t>
            </a:r>
            <a:r>
              <a:rPr lang="en-US" sz="1600" dirty="0"/>
              <a:t>for </a:t>
            </a:r>
            <a:r>
              <a:rPr lang="en-US" sz="1600" dirty="0" smtClean="0"/>
              <a:t>intention to discontinue using (H3)</a:t>
            </a:r>
            <a:r>
              <a:rPr lang="en-US" sz="1600" dirty="0"/>
              <a:t>:</a:t>
            </a:r>
          </a:p>
          <a:p>
            <a:pPr lvl="1"/>
            <a:r>
              <a:rPr lang="en-US" sz="1400" dirty="0"/>
              <a:t>We could not find a theoretical explanation for this result.</a:t>
            </a:r>
          </a:p>
          <a:p>
            <a:pPr lvl="1"/>
            <a:r>
              <a:rPr lang="en-US" sz="1400" dirty="0"/>
              <a:t>However, it can be a consequence of inflated outlier effect in a small class:</a:t>
            </a:r>
          </a:p>
          <a:p>
            <a:pPr lvl="2"/>
            <a:r>
              <a:rPr lang="en-US" sz="1200" dirty="0"/>
              <a:t>Considering the small size of H-H, it is more prone to inflated effects of outliers. This problem is not resolved, if not extended, by jittered replication.</a:t>
            </a:r>
          </a:p>
          <a:p>
            <a:pPr lvl="1"/>
            <a:r>
              <a:rPr lang="en-US" sz="1400" dirty="0" smtClean="0"/>
              <a:t>Future studies </a:t>
            </a:r>
            <a:r>
              <a:rPr lang="en-US" sz="1400" dirty="0"/>
              <a:t>can shed a better light on this, as to whether this is </a:t>
            </a:r>
            <a:r>
              <a:rPr lang="en-US" sz="1400" dirty="0" smtClean="0"/>
              <a:t>the effect of outliers in a small class or it has a theoretical explanation.</a:t>
            </a:r>
          </a:p>
          <a:p>
            <a:pPr lvl="1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846913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Lack of Significance in an ANOVA Test in Support of </a:t>
            </a:r>
            <a:r>
              <a:rPr lang="en-US" sz="2800" dirty="0" smtClean="0"/>
              <a:t>H3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42</a:t>
            </a:fld>
            <a:endParaRPr lang="en-US" dirty="0"/>
          </a:p>
        </p:txBody>
      </p: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1491419666"/>
              </p:ext>
            </p:extLst>
          </p:nvPr>
        </p:nvGraphicFramePr>
        <p:xfrm>
          <a:off x="4488598" y="2582539"/>
          <a:ext cx="4453114" cy="35268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Line Callout 1 2"/>
          <p:cNvSpPr/>
          <p:nvPr/>
        </p:nvSpPr>
        <p:spPr>
          <a:xfrm>
            <a:off x="6912864" y="1304573"/>
            <a:ext cx="1269632" cy="612648"/>
          </a:xfrm>
          <a:prstGeom prst="borderCallout1">
            <a:avLst>
              <a:gd name="adj1" fmla="val 100832"/>
              <a:gd name="adj2" fmla="val 49619"/>
              <a:gd name="adj3" fmla="val 314225"/>
              <a:gd name="adj4" fmla="val -62428"/>
            </a:avLst>
          </a:prstGeom>
          <a:noFill/>
          <a:ln w="12700" cmpd="sng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smtClean="0">
                <a:solidFill>
                  <a:schemeClr val="tx1"/>
                </a:solidFill>
                <a:latin typeface="Times New Roman"/>
                <a:cs typeface="Times New Roman"/>
              </a:rPr>
              <a:t>A Non-Significant ANOVA Result for H3.</a:t>
            </a:r>
            <a:endParaRPr lang="en-US" sz="10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cxnSp>
        <p:nvCxnSpPr>
          <p:cNvPr id="8" name="Straight Connector 7"/>
          <p:cNvCxnSpPr>
            <a:endCxn id="3" idx="1"/>
          </p:cNvCxnSpPr>
          <p:nvPr/>
        </p:nvCxnSpPr>
        <p:spPr>
          <a:xfrm flipH="1" flipV="1">
            <a:off x="7547680" y="1917221"/>
            <a:ext cx="729014" cy="1048854"/>
          </a:xfrm>
          <a:prstGeom prst="line">
            <a:avLst/>
          </a:prstGeom>
          <a:ln w="12700" cmpd="sng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49424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0304"/>
            <a:ext cx="8229600" cy="923622"/>
          </a:xfrm>
        </p:spPr>
        <p:txBody>
          <a:bodyPr>
            <a:noAutofit/>
          </a:bodyPr>
          <a:lstStyle/>
          <a:p>
            <a:r>
              <a:rPr lang="en-US" sz="2400" dirty="0"/>
              <a:t>Lack of Significance in an ANOVA Test in Support of </a:t>
            </a:r>
            <a:r>
              <a:rPr lang="en-US" sz="2400" dirty="0" smtClean="0"/>
              <a:t>H3:</a:t>
            </a:r>
            <a:br>
              <a:rPr lang="en-US" sz="2400" dirty="0" smtClean="0"/>
            </a:br>
            <a:r>
              <a:rPr lang="en-US" sz="2000" dirty="0" smtClean="0"/>
              <a:t>Distribution of “Intention to Discontinue Using SNS” Factor in H-H Class</a:t>
            </a:r>
            <a:endParaRPr lang="en-US" sz="2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5681318"/>
              </p:ext>
            </p:extLst>
          </p:nvPr>
        </p:nvGraphicFramePr>
        <p:xfrm>
          <a:off x="3793129" y="1760477"/>
          <a:ext cx="5171424" cy="3447356"/>
        </p:xfrm>
        <a:graphic>
          <a:graphicData uri="http://schemas.openxmlformats.org/drawingml/2006/table">
            <a:tbl>
              <a:tblPr firstRow="1" lastRow="1" bandRow="1">
                <a:tableStyleId>{10A1B5D5-9B99-4C35-A422-299274C87663}</a:tableStyleId>
              </a:tblPr>
              <a:tblGrid>
                <a:gridCol w="1034285"/>
                <a:gridCol w="1034285"/>
                <a:gridCol w="517142"/>
                <a:gridCol w="517142"/>
                <a:gridCol w="1034285"/>
                <a:gridCol w="1034285"/>
              </a:tblGrid>
              <a:tr h="43199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Values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Frequency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Percent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Valid Percent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Cumulative Percent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30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nb-NO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nb-NO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is-I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60</a:t>
                      </a:r>
                      <a:endParaRPr lang="en-U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4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</a:t>
                      </a:r>
                      <a:endParaRPr lang="is-I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u="none" strike="noStrike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20</a:t>
                      </a:r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u="none" strike="noStrike" dirty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80</a:t>
                      </a:r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6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90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7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1" i="0" u="none" strike="noStrike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/>
                          <a:cs typeface="Times New Roman"/>
                        </a:rPr>
                        <a:t>100</a:t>
                      </a:r>
                      <a:endParaRPr lang="is-IS" sz="11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36528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Total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</a:t>
                      </a:r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s-IS" sz="11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100</a:t>
                      </a:r>
                      <a:endParaRPr lang="is-IS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s-IS" sz="1100" b="1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100</a:t>
                      </a:r>
                      <a:endParaRPr lang="is-IS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  <a:tr h="458393">
                <a:tc gridSpan="3">
                  <a:txBody>
                    <a:bodyPr/>
                    <a:lstStyle/>
                    <a:p>
                      <a:pPr algn="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Mean:  </a:t>
                      </a:r>
                    </a:p>
                    <a:p>
                      <a:pPr algn="r" fontAlgn="b"/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Standard Deviation: </a:t>
                      </a:r>
                      <a:endParaRPr lang="en-US" sz="1100" b="1" i="0" u="none" strike="noStrike" dirty="0" smtClean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1" i="0" u="none" strike="noStrike" dirty="0" smtClean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gridSpan="3">
                  <a:txBody>
                    <a:bodyPr/>
                    <a:lstStyle/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  2.9</a:t>
                      </a:r>
                    </a:p>
                    <a:p>
                      <a:pPr marL="0" marR="0" indent="0" algn="l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 smtClean="0">
                          <a:solidFill>
                            <a:schemeClr val="tx1"/>
                          </a:solidFill>
                          <a:effectLst/>
                          <a:latin typeface="Times New Roman"/>
                          <a:cs typeface="Times New Roman"/>
                        </a:rPr>
                        <a:t>  2.3</a:t>
                      </a:r>
                      <a:endParaRPr lang="en-US" sz="1100" b="1" i="0" u="none" strike="noStrike" dirty="0" smtClean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is-IS" sz="1100" b="0" i="0" u="none" strike="noStrike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12700" marR="12700" marT="12700" marB="0" anchor="ctr"/>
                </a:tc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0F272A-0FC0-1943-B826-E8D4777EEB37}" type="slidenum">
              <a:rPr lang="en-US" smtClean="0"/>
              <a:t>43</a:t>
            </a:fld>
            <a:endParaRPr lang="en-US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3096" y="1619415"/>
            <a:ext cx="3435127" cy="40229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Times New Roman"/>
                <a:ea typeface="+mn-ea"/>
                <a:cs typeface="Times New Roman"/>
              </a:defRPr>
            </a:lvl1pPr>
            <a:lvl2pPr marL="742950" indent="-28575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0000FF"/>
                </a:solidFill>
                <a:latin typeface="Times New Roman"/>
                <a:ea typeface="+mn-ea"/>
                <a:cs typeface="Times New Roman"/>
              </a:defRPr>
            </a:lvl2pPr>
            <a:lvl3pPr marL="11430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000090"/>
                </a:solidFill>
                <a:latin typeface="Times New Roman"/>
                <a:ea typeface="+mn-ea"/>
                <a:cs typeface="Times New Roman"/>
              </a:defRPr>
            </a:lvl3pPr>
            <a:lvl4pPr marL="16002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800000"/>
                </a:solidFill>
                <a:latin typeface="Times New Roman"/>
                <a:ea typeface="+mn-ea"/>
                <a:cs typeface="Times New Roman"/>
              </a:defRPr>
            </a:lvl4pPr>
            <a:lvl5pPr marL="2057400" indent="-228600" algn="l" defTabSz="457200" rtl="0" eaLnBrk="1" latinLnBrk="0" hangingPunct="1">
              <a:lnSpc>
                <a:spcPct val="110000"/>
              </a:lnSpc>
              <a:spcBef>
                <a:spcPct val="20000"/>
              </a:spcBef>
              <a:buFont typeface="Arial"/>
              <a:buChar char="»"/>
              <a:defRPr sz="1600" kern="1200">
                <a:solidFill>
                  <a:schemeClr val="accent6">
                    <a:lumMod val="50000"/>
                  </a:schemeClr>
                </a:solidFill>
                <a:latin typeface="Times New Roman"/>
                <a:ea typeface="+mn-ea"/>
                <a:cs typeface="Times New Roman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dirty="0" smtClean="0"/>
              <a:t>Our examination of the distribution of “intention to discontinue using” factor in H-H class shows that while the mean is 2.9, the standard deviation is 2.3, which indicates a large range of values.</a:t>
            </a:r>
          </a:p>
          <a:p>
            <a:pPr lvl="1">
              <a:lnSpc>
                <a:spcPct val="120000"/>
              </a:lnSpc>
            </a:pPr>
            <a:r>
              <a:rPr lang="en-US" sz="1200" dirty="0" smtClean="0"/>
              <a:t>In particular, while 8 out of 10 participants (80% of values) scored 4 or below out of 7, two participants (20% of values) scored 6 and 7 out of 7 for intention to discontinue using.</a:t>
            </a:r>
          </a:p>
          <a:p>
            <a:pPr lvl="1">
              <a:lnSpc>
                <a:spcPct val="120000"/>
              </a:lnSpc>
            </a:pPr>
            <a:r>
              <a:rPr lang="en-US" sz="1200" dirty="0" smtClean="0"/>
              <a:t>We believe that these two data points (out of 10)  have inflated the mean</a:t>
            </a:r>
            <a:r>
              <a:rPr lang="en-US" sz="1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8523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9356</TotalTime>
  <Words>6896</Words>
  <Application>Microsoft Macintosh PowerPoint</Application>
  <PresentationFormat>On-screen Show (4:3)</PresentationFormat>
  <Paragraphs>1382</Paragraphs>
  <Slides>43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Office Theme</vt:lpstr>
      <vt:lpstr>A little about myself… Hamed Qahri-Saremi</vt:lpstr>
      <vt:lpstr>A little about myself… Research Interests &amp; Examples</vt:lpstr>
      <vt:lpstr>Ambivalence and Its Responses in Information System Use:  An Integrative Framework And Empirical Examination </vt:lpstr>
      <vt:lpstr>Conceptualization of Users’ Orientations toward Information Systems (IS) as a Unidimensional Bipolar Continuum</vt:lpstr>
      <vt:lpstr>“Ambivalence”</vt:lpstr>
      <vt:lpstr>Responses to Ambivalence</vt:lpstr>
      <vt:lpstr>Ambivalence:  A Bi-dimensional View Of Users’ Orientations</vt:lpstr>
      <vt:lpstr>Objectives and the Scope of the Study</vt:lpstr>
      <vt:lpstr>Context of the Study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Methodology</vt:lpstr>
      <vt:lpstr>Results for Testing Hypothesis 1</vt:lpstr>
      <vt:lpstr>LPA (mclust package in R) Results for Testing Hypothesis 1</vt:lpstr>
      <vt:lpstr>LPA (mclust) Results for Testing Hypothesis 1:  Summary of the Five-Class Solution</vt:lpstr>
      <vt:lpstr>ANOVA Results for Testing Hypotheses 2 to 8</vt:lpstr>
      <vt:lpstr>Means and Standard Errors of our Six Dependent Factors in the Five States of Ambivalence</vt:lpstr>
      <vt:lpstr>Post-hoc Analysis: ANOVA Results for Testing Hypotheses 2 to 8  (After Jittered Replication of H-H class to 100 cases)</vt:lpstr>
      <vt:lpstr>Post-hoc Analysis: Means and Standard Errors of our Six Dependent Factors in the Five States of Ambivalence</vt:lpstr>
      <vt:lpstr>Discussions</vt:lpstr>
      <vt:lpstr>Discussions</vt:lpstr>
      <vt:lpstr>References</vt:lpstr>
      <vt:lpstr>Q&amp;A</vt:lpstr>
      <vt:lpstr>Constructs &amp; Measurement Instruments (1/2) </vt:lpstr>
      <vt:lpstr>Constructs &amp; Measurement Instruments (2/2)</vt:lpstr>
      <vt:lpstr>Descriptive Statistics, Reliabilities,  Square Root of AVEs (on diagonal), and Correlations</vt:lpstr>
      <vt:lpstr>ANOVA Results for Hypothesis 2 </vt:lpstr>
      <vt:lpstr>ANOVA Results for Hypothesis 3</vt:lpstr>
      <vt:lpstr>ANOVA Results for Hypothesis 4</vt:lpstr>
      <vt:lpstr>ANOVA Results for Hypothesis 5</vt:lpstr>
      <vt:lpstr>ANOVA Results for Hypothesis 6</vt:lpstr>
      <vt:lpstr>ANOVA Results for Hypothesis 7</vt:lpstr>
      <vt:lpstr>ANOVA Results for Hypothesis 8</vt:lpstr>
      <vt:lpstr>ANOVA Tests for Hypotheses 2-8 with extended H-H (Holism) Class (n=100) </vt:lpstr>
      <vt:lpstr>Responses to Ambivalence towards Using an IS in the Prior IS Research </vt:lpstr>
      <vt:lpstr>Lack of Significance in an ANOVA Test in Support of H6</vt:lpstr>
      <vt:lpstr>Lack of Significance in an ANOVA Test in Support of H6</vt:lpstr>
      <vt:lpstr>Lack of Significance in an ANOVA Test in Support of H3</vt:lpstr>
      <vt:lpstr>Lack of Significance in an ANOVA Test in Support of H3: Distribution of “Intention to Discontinue Using SNS” Factor in H-H Class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Hamed Qahri-Saremi</dc:creator>
  <cp:lastModifiedBy>Hamed Qahri-Saremi</cp:lastModifiedBy>
  <cp:revision>825</cp:revision>
  <dcterms:created xsi:type="dcterms:W3CDTF">2015-10-04T21:24:22Z</dcterms:created>
  <dcterms:modified xsi:type="dcterms:W3CDTF">2016-04-15T16:16:00Z</dcterms:modified>
</cp:coreProperties>
</file>